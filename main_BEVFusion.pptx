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71C0185-353E-4D3C-B1A5-6A45B35ED85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6" name="PlaceHolder 1"/>
          <p:cNvSpPr>
            <a:spLocks noGrp="1"/>
          </p:cNvSpPr>
          <p:nvPr>
            <p:ph type="sldImg"/>
          </p:nvPr>
        </p:nvSpPr>
        <p:spPr>
          <a:xfrm>
            <a:off x="0" y="0"/>
            <a:ext cx="0" cy="0"/>
          </a:xfrm>
          <a:prstGeom prst="rect">
            <a:avLst/>
          </a:prstGeom>
          <a:ln w="0">
            <a:noFill/>
          </a:ln>
        </p:spPr>
      </p:sp>
      <p:sp>
        <p:nvSpPr>
          <p:cNvPr id="1497"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project extends BEVFusion in two places. First, a spatial gate changes the camera–LiDAR mixture at each BEV cell. Second, a local refinement branch resamples the fused feature map around each coarse object proposal. I will follow the data through the network, then separate what I implemented from what the recorded experiments establish.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https://github.com/Ulteraa/research-projects/blob/main/bevfusion-reliable-refinement/RESULTS.md</a:t>
            </a:r>
            <a:endParaRPr b="0" lang="en-US" sz="2000" spc="-1" strike="noStrike">
              <a:solidFill>
                <a:srgbClr val="000000"/>
              </a:solidFill>
              <a:latin typeface="Arial"/>
            </a:endParaRPr>
          </a:p>
        </p:txBody>
      </p:sp>
      <p:sp>
        <p:nvSpPr>
          <p:cNvPr id="1498" name="PlaceHolder 3"/>
          <p:cNvSpPr>
            <a:spLocks noGrp="1"/>
          </p:cNvSpPr>
          <p:nvPr>
            <p:ph type="sldNum" idx="4"/>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9" name="PlaceHolder 1"/>
          <p:cNvSpPr>
            <a:spLocks noGrp="1"/>
          </p:cNvSpPr>
          <p:nvPr>
            <p:ph type="sldImg"/>
          </p:nvPr>
        </p:nvSpPr>
        <p:spPr>
          <a:xfrm>
            <a:off x="0" y="0"/>
            <a:ext cx="0" cy="0"/>
          </a:xfrm>
          <a:prstGeom prst="rect">
            <a:avLst/>
          </a:prstGeom>
          <a:ln w="0">
            <a:noFill/>
          </a:ln>
        </p:spPr>
      </p:sp>
      <p:sp>
        <p:nvSpPr>
          <p:cNvPr id="1500"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Read the two sensor streams from left to right. The camera path extracts image features and lifts them into metric space. The LiDAR path voxelizes points and uses a sparse 3D encoder. Both produce aligned 180 by 180 BEV maps. My gate replaces the original concatenation fuser. The shared backbone and TransFusion head produce coarse proposals. My second addition samples local BEV evidence and predicts residual corrections. The dashed connection matters: this DepthLSS camera path also uses projected LiDAR depth.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p:txBody>
      </p:sp>
      <p:sp>
        <p:nvSpPr>
          <p:cNvPr id="1501" name="PlaceHolder 3"/>
          <p:cNvSpPr>
            <a:spLocks noGrp="1"/>
          </p:cNvSpPr>
          <p:nvPr>
            <p:ph type="sldNum" idx="5"/>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2" name="PlaceHolder 1"/>
          <p:cNvSpPr>
            <a:spLocks noGrp="1"/>
          </p:cNvSpPr>
          <p:nvPr>
            <p:ph type="sldImg"/>
          </p:nvPr>
        </p:nvSpPr>
        <p:spPr>
          <a:xfrm>
            <a:off x="0" y="0"/>
            <a:ext cx="0" cy="0"/>
          </a:xfrm>
          <a:prstGeom prst="rect">
            <a:avLst/>
          </a:prstGeom>
          <a:ln w="0">
            <a:noFill/>
          </a:ln>
        </p:spPr>
      </p:sp>
      <p:sp>
        <p:nvSpPr>
          <p:cNvPr id="1503"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representation is the key design choice. Each BEV cell indexes the same metric x–y location for both modalities, even though the channel counts differ. The LiDAR voxel size is 7.5 centimetres in x and y, followed by a spatial stride of eight. The camera transform pools on a 30-centimetre grid and downsamples by two. Both paths therefore finish at 60 centimetres per cell across a 108-metre square. The small grid and object outline are explanatory schematics.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04" name="PlaceHolder 3"/>
          <p:cNvSpPr>
            <a:spLocks noGrp="1"/>
          </p:cNvSpPr>
          <p:nvPr>
            <p:ph type="sldNum" idx="6"/>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5" name="PlaceHolder 1"/>
          <p:cNvSpPr>
            <a:spLocks noGrp="1"/>
          </p:cNvSpPr>
          <p:nvPr>
            <p:ph type="sldImg"/>
          </p:nvPr>
        </p:nvSpPr>
        <p:spPr>
          <a:xfrm>
            <a:off x="0" y="0"/>
            <a:ext cx="0" cy="0"/>
          </a:xfrm>
          <a:prstGeom prst="rect">
            <a:avLst/>
          </a:prstGeom>
          <a:ln w="0">
            <a:noFill/>
          </a:ln>
        </p:spPr>
      </p:sp>
      <p:sp>
        <p:nvSpPr>
          <p:cNvPr id="150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Swin-T uses a four-pixel patch embedding and four stages with channel widths 96, 192, 384 and 768. The configured depths are 2, 2, 6 and 2 blocks. The FPN receives the last three stages, converts them to 256 channels, and merges information across scales. BEVFusion selects the 32 by 88 feature map for the view transform. Shapes shown omit batch size and camera count. Patch merging between stages halves the spatial resolution.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p:txBody>
      </p:sp>
      <p:sp>
        <p:nvSpPr>
          <p:cNvPr id="1507" name="PlaceHolder 3"/>
          <p:cNvSpPr>
            <a:spLocks noGrp="1"/>
          </p:cNvSpPr>
          <p:nvPr>
            <p:ph type="sldNum" idx="7"/>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8" name="PlaceHolder 1"/>
          <p:cNvSpPr>
            <a:spLocks noGrp="1"/>
          </p:cNvSpPr>
          <p:nvPr>
            <p:ph type="sldImg"/>
          </p:nvPr>
        </p:nvSpPr>
        <p:spPr>
          <a:xfrm>
            <a:off x="0" y="0"/>
            <a:ext cx="0" cy="0"/>
          </a:xfrm>
          <a:prstGeom prst="rect">
            <a:avLst/>
          </a:prstGeom>
          <a:ln w="0">
            <a:noFill/>
          </a:ln>
        </p:spPr>
      </p:sp>
      <p:sp>
        <p:nvSpPr>
          <p:cNvPr id="1509"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Start with the orange point cloud and select one point l. Calibration converts it into camera coordinates c = Rl + t. R is a 3×3 rotation and t a 3D translation. The pinhole camera divides X and Y by camera-forward depth Z, then uses focal lengths and principal point to obtain pixel coordinates. K is the matrix [[fx,0,cx],[0,fy,cy],[0,0,1]]. For an illustrative K with fx=fy=800 px, principal point (352,128) px, and c=(2,1,20) m, the projected pixel is (432,168) and its depth is 20 m. These are teaching numbers, not calibration values from the dataset. The right image stores camera-axis depth at projected pixels, with zeros where no point is written. Six views produce six sparse depth images. Geometry shown assumes Z&gt;0. The referenced implementation first undoes LiDAR augmentation, applies lidar2image, clamps the divisor, divides into pixel coordinates, applies image augmentation and checks image bounds before a direct integer-pixel scatter. It does not implement an explicit nearest-depth z-buffer for collisions; do not claim that it does. Pixel coordinates use (u,v), while image array indexing uses (v,u).</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10" name="PlaceHolder 3"/>
          <p:cNvSpPr>
            <a:spLocks noGrp="1"/>
          </p:cNvSpPr>
          <p:nvPr>
            <p:ph type="sldNum" idx="8"/>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1" name="PlaceHolder 1"/>
          <p:cNvSpPr>
            <a:spLocks noGrp="1"/>
          </p:cNvSpPr>
          <p:nvPr>
            <p:ph type="sldImg"/>
          </p:nvPr>
        </p:nvSpPr>
        <p:spPr>
          <a:xfrm>
            <a:off x="0" y="0"/>
            <a:ext cx="0" cy="0"/>
          </a:xfrm>
          <a:prstGeom prst="rect">
            <a:avLst/>
          </a:prstGeom>
          <a:ln w="0">
            <a:noFill/>
          </a:ln>
        </p:spPr>
      </p:sp>
      <p:sp>
        <p:nvSpPr>
          <p:cNvPr id="1512"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DepthLSS concatenates a 64-channel encoding of sparse projected LiDAR depth with the 256-channel image feature. Two 3 by 3 convolutions then produce a shared representation. The final 1 by 1 convolution outputs 198 channels, split into 118 depth logits and 80 image-context channels. Softmax acts only along the depth bins. This is why the inherited camera path depends on LiDAR even before fusion. All spatially aligned tensors at the concatenation have resolution 32 by 88.</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Point first to the sparse-depth encoder. Its three convolutions reduce image-resolution depth to 64 channels at 32 by 88. Concatenate with I, the 256-channel image feature. hdepth denotes the two 3×3 convolutions and final 1×1 convolution in the diagram. z is the vector of 118 depth logits and f is the 80-dimensional context feature. At a fixed image location, softmax compares depth bins only: exp(z_k) divided by the sum of exp(z_j) across all 118 bins. It creates a categorical depth distribution, not 118 independent confidences. The depth hypotheses are 1.0, 1.5, …, 59.5 metres. f is not passed through this softmax. Intermediate convolutions use BatchNorm and ReLU. This implementation consumes LiDAR depth as an input and does not add a separate supervised depth-loss term in the shown configuration.</a:t>
            </a:r>
            <a:endParaRPr b="0" lang="en-US" sz="2000" spc="-1" strike="noStrike">
              <a:solidFill>
                <a:srgbClr val="000000"/>
              </a:solidFill>
              <a:latin typeface="Arial"/>
            </a:endParaRPr>
          </a:p>
        </p:txBody>
      </p:sp>
      <p:sp>
        <p:nvSpPr>
          <p:cNvPr id="1513" name="PlaceHolder 3"/>
          <p:cNvSpPr>
            <a:spLocks noGrp="1"/>
          </p:cNvSpPr>
          <p:nvPr>
            <p:ph type="sldNum" idx="9"/>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4" name="PlaceHolder 1"/>
          <p:cNvSpPr>
            <a:spLocks noGrp="1"/>
          </p:cNvSpPr>
          <p:nvPr>
            <p:ph type="sldImg"/>
          </p:nvPr>
        </p:nvSpPr>
        <p:spPr>
          <a:xfrm>
            <a:off x="0" y="0"/>
            <a:ext cx="0" cy="0"/>
          </a:xfrm>
          <a:prstGeom prst="rect">
            <a:avLst/>
          </a:prstGeom>
          <a:ln w="0">
            <a:noFill/>
          </a:ln>
        </p:spPr>
      </p:sp>
      <p:sp>
        <p:nvSpPr>
          <p:cNvPr id="1515"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Use one pixel to explain the whole lifting operation. Its image-context vector is copied along 118 possible depths, with each copy scaled by the predicted probability. Camera intrinsics turn image coordinates and depth into a camera ray, and camera-to-LiDAR extrinsics place that ray in the common frame. The implementation undoes image augmentation and applies the LiDAR augmentation consistently. It pools valid points into a 0.3-metre BEV grid, collapses the vertical bin, then downsamples to 0.6 metres. The four probabilities and highlighted cells are illustrative, not model outputs.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Technical detail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Geometry after undoing image augmentation: x_L = R_camera_to_lidar [d K^{-1}(u,v,1)^T] + t_camera_to_lidar. Lifting creates B × 6 × 118 × 32 × 88 × 80 logical values.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 is the lifted feature tensor, avoiding confusion with V, which later denotes the projected LiDAR BEV feature. This is an outer product between an 118-bin depth distribution and an 80-channel context vector at every pixel location. Every depth hypothesis gets the same context direction, scaled by its probability. The schematic shows four bins for readability; the network uses 118. The six-camera lifted tensor is 6×118×32×88×80 before pooling.</a:t>
            </a:r>
            <a:endParaRPr b="0" lang="en-US" sz="2000" spc="-1" strike="noStrike">
              <a:solidFill>
                <a:srgbClr val="000000"/>
              </a:solidFill>
              <a:latin typeface="Arial"/>
            </a:endParaRPr>
          </a:p>
        </p:txBody>
      </p:sp>
      <p:sp>
        <p:nvSpPr>
          <p:cNvPr id="1516" name="PlaceHolder 3"/>
          <p:cNvSpPr>
            <a:spLocks noGrp="1"/>
          </p:cNvSpPr>
          <p:nvPr>
            <p:ph type="sldNum" idx="10"/>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7" name="PlaceHolder 1"/>
          <p:cNvSpPr>
            <a:spLocks noGrp="1"/>
          </p:cNvSpPr>
          <p:nvPr>
            <p:ph type="sldImg"/>
          </p:nvPr>
        </p:nvSpPr>
        <p:spPr>
          <a:xfrm>
            <a:off x="0" y="0"/>
            <a:ext cx="0" cy="0"/>
          </a:xfrm>
          <a:prstGeom prst="rect">
            <a:avLst/>
          </a:prstGeom>
          <a:ln w="0">
            <a:noFill/>
          </a:ln>
        </p:spPr>
      </p:sp>
      <p:sp>
        <p:nvSpPr>
          <p:cNvPr id="1518"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is the inverse of the previous projection. First undo image augmentation. K inverse converts a pixel into a camera ray, and d_k gives its distance along the camera Z axis. Because the forward transform was c=Rl+t, the inverse is l=R^T(c−t), not R^Tc−t. Apply the LiDAR augmentation afterward so this geometry aligns with the LiDAR branch during training. The network creates 118 depth samples at each selected image feature location. The frustum samples image coordinates using linspace over the image endpoints; the selected feature map is 32×88. A lifted context vector p_n,k(u,v) f_n(u,v) contributes to the cell containing its point. x and y are in metres in the augmented LiDAR frame. The displayed floor index is the mathematical in-range cell index; the implementation casts normalized coordinates to long, with truncation behavior near a negative boundary. Valid x–y indices run from 0 to 359. The camera zbound is [−10,10) with one 20 m bin. Pooling sums, rather than averages, contributions over views, pixels and depth bins, then collapses the height dimension. Three 3×3 conv/BN/ReLU blocks perform the output processing, with stride 2 in the middle block. The result is 80×180×180, aligned with the LiDAR BEV. At x=y=0 the nominal 0.3 m cell index is (180,180).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p:txBody>
      </p:sp>
      <p:sp>
        <p:nvSpPr>
          <p:cNvPr id="1519" name="PlaceHolder 3"/>
          <p:cNvSpPr>
            <a:spLocks noGrp="1"/>
          </p:cNvSpPr>
          <p:nvPr>
            <p:ph type="sldNum" idx="11"/>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0" name="PlaceHolder 1"/>
          <p:cNvSpPr>
            <a:spLocks noGrp="1"/>
          </p:cNvSpPr>
          <p:nvPr>
            <p:ph type="sldImg"/>
          </p:nvPr>
        </p:nvSpPr>
        <p:spPr>
          <a:xfrm>
            <a:off x="0" y="0"/>
            <a:ext cx="0" cy="0"/>
          </a:xfrm>
          <a:prstGeom prst="rect">
            <a:avLst/>
          </a:prstGeom>
          <a:ln w="0">
            <a:noFill/>
          </a:ln>
        </p:spPr>
      </p:sp>
      <p:sp>
        <p:nvSpPr>
          <p:cNvPr id="1521"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input contains five features per point and accumulates nine prior sweeps with the current scan. Hard voxelization groups points into 7.5-centimetre x–y cells and 20-centimetre vertical cells. Mean reduction produces a voxel feature from at most ten points. Sparse convolution stages increase channel capacity while reducing resolution. The final sparse volume folds height into channels, giving a 256-channel 180 by 180 BEV map. The points and voxels shown are an explanatory schematic, not a recorded point cloud. Stage labels summarize the configured sparse-encoder channel progression, not every basic block.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For voxel j, p_i is the five-dimensional retained point feature (x, y, z, intensity, time), N_j is the retained count, and v_j is its mean. Hard voxelization retains at most ten points per voxel in this configuration. An index is floor((point − range_min)/voxel_size) in each axis, for valid in-range points. The x–y range is [−54,54) metres and the LiDAR z range is [−5,3) metres.</a:t>
            </a:r>
            <a:endParaRPr b="0" lang="en-US" sz="2000" spc="-1" strike="noStrike">
              <a:solidFill>
                <a:srgbClr val="000000"/>
              </a:solidFill>
              <a:latin typeface="Arial"/>
            </a:endParaRPr>
          </a:p>
        </p:txBody>
      </p:sp>
      <p:sp>
        <p:nvSpPr>
          <p:cNvPr id="1522" name="PlaceHolder 3"/>
          <p:cNvSpPr>
            <a:spLocks noGrp="1"/>
          </p:cNvSpPr>
          <p:nvPr>
            <p:ph type="sldNum" idx="12"/>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3" name="PlaceHolder 1"/>
          <p:cNvSpPr>
            <a:spLocks noGrp="1"/>
          </p:cNvSpPr>
          <p:nvPr>
            <p:ph type="sldImg"/>
          </p:nvPr>
        </p:nvSpPr>
        <p:spPr>
          <a:xfrm>
            <a:off x="0" y="0"/>
            <a:ext cx="0" cy="0"/>
          </a:xfrm>
          <a:prstGeom prst="rect">
            <a:avLst/>
          </a:prstGeom>
          <a:ln w="0">
            <a:noFill/>
          </a:ln>
        </p:spPr>
      </p:sp>
      <p:sp>
        <p:nvSpPr>
          <p:cNvPr id="1524"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Both modalities first project to 128 channels. R is a learned camera proxy computed by a small convolutional network and sigmoid. O is the normalized L2 magnitude of the projected LiDAR feature, so it is an occupancy-like proxy rather than a direct point count. The gate sees U, V and both scalar maps, totaling 258 channels. A 3 by 3 convolution, BatchNorm, ReLU and a 1 by 1 convolution produce one sigmoid weight at every BEV cell. The detection objective trains this computation end to end.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The implementation concatenates U, V, O, R in that order. R is the sigmoid of a learned camera-convolution output. O is the L2 norm across the 128 LiDAR feature channels, divided by the maximum norm over spatial positions in that sample. The denominator is clamped to at least 10^−6 to avoid division by zero. O is therefore a feature-magnitude proxy, not measured occupancy. hgate is the displayed 3×3/BN/ReLU/1×1 network. Both maps and the gate receive their learning signal through the detection objective, with no separate reliability labels.</a:t>
            </a:r>
            <a:endParaRPr b="0" lang="en-US" sz="2000" spc="-1" strike="noStrike">
              <a:solidFill>
                <a:srgbClr val="000000"/>
              </a:solidFill>
              <a:latin typeface="Arial"/>
            </a:endParaRPr>
          </a:p>
        </p:txBody>
      </p:sp>
      <p:sp>
        <p:nvSpPr>
          <p:cNvPr id="1525" name="PlaceHolder 3"/>
          <p:cNvSpPr>
            <a:spLocks noGrp="1"/>
          </p:cNvSpPr>
          <p:nvPr>
            <p:ph type="sldNum" idx="13"/>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6" name="PlaceHolder 1"/>
          <p:cNvSpPr>
            <a:spLocks noGrp="1"/>
          </p:cNvSpPr>
          <p:nvPr>
            <p:ph type="sldImg"/>
          </p:nvPr>
        </p:nvSpPr>
        <p:spPr>
          <a:xfrm>
            <a:off x="0" y="0"/>
            <a:ext cx="0" cy="0"/>
          </a:xfrm>
          <a:prstGeom prst="rect">
            <a:avLst/>
          </a:prstGeom>
          <a:ln w="0">
            <a:noFill/>
          </a:ln>
        </p:spPr>
      </p:sp>
      <p:sp>
        <p:nvSpPr>
          <p:cNvPr id="1527"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map shows an example of what spatial gating means, not an extracted activation. A gate value of 0.8 weights the camera projection by 0.8 and the LiDAR projection by 0.2 before concatenation. The output block learns how to combine those weighted features. A separate 1 by 1 LiDAR residual adds another geometry path. This is not a convex average of final features because the output convolution and residual change the result. High G also does not imply exclusive camera use.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28" name="PlaceHolder 3"/>
          <p:cNvSpPr>
            <a:spLocks noGrp="1"/>
          </p:cNvSpPr>
          <p:nvPr>
            <p:ph type="sldNum" idx="14"/>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PlaceHolder 1"/>
          <p:cNvSpPr>
            <a:spLocks noGrp="1"/>
          </p:cNvSpPr>
          <p:nvPr>
            <p:ph type="sldImg"/>
          </p:nvPr>
        </p:nvSpPr>
        <p:spPr>
          <a:xfrm>
            <a:off x="0" y="0"/>
            <a:ext cx="0" cy="0"/>
          </a:xfrm>
          <a:prstGeom prst="rect">
            <a:avLst/>
          </a:prstGeom>
          <a:ln w="0">
            <a:noFill/>
          </a:ln>
        </p:spPr>
      </p:sp>
      <p:sp>
        <p:nvSpPr>
          <p:cNvPr id="1530"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shared SECOND backbone has stages with 128 and 256 channels. The FPN brings them to a common resolution and concatenates two 256-channel outputs, producing 512 channels. The head reduces that to 128. A dense heatmap predicts ten class scores at each cell, local maximum filtering suppresses neighboring peaks, and the top 200 scores across classes initialize queries. The model gathers the BEV feature at each selected index and adds a learned class embedding. The heatmap shown is illustrative. Query selection is discrete and uses a detached heatmap.</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 is the 10-class dense heatmap logits. The actual selection uses detached H. Local-maximum filtering uses a 3×3 window, with a 1×1 exception for pedestrian and traffic-cone classes. The top 200 entries are selected across classes and positions. s_i is a spatial index and c_i is its class. B(s_i) is the 128-channel gathered BEV feature, E is a learned 1×1 Conv1d class embedding, and q_i is their sum. The discrete top-k indices do not carry a gradient back into the heatmap. The heatmap has its own dense focal loss.</a:t>
            </a:r>
            <a:endParaRPr b="0" lang="en-US" sz="2000" spc="-1" strike="noStrike">
              <a:solidFill>
                <a:srgbClr val="000000"/>
              </a:solidFill>
              <a:latin typeface="Arial"/>
            </a:endParaRPr>
          </a:p>
        </p:txBody>
      </p:sp>
      <p:sp>
        <p:nvSpPr>
          <p:cNvPr id="1531" name="PlaceHolder 3"/>
          <p:cNvSpPr>
            <a:spLocks noGrp="1"/>
          </p:cNvSpPr>
          <p:nvPr>
            <p:ph type="sldNum" idx="15"/>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2" name="PlaceHolder 1"/>
          <p:cNvSpPr>
            <a:spLocks noGrp="1"/>
          </p:cNvSpPr>
          <p:nvPr>
            <p:ph type="sldImg"/>
          </p:nvPr>
        </p:nvSpPr>
        <p:spPr>
          <a:xfrm>
            <a:off x="0" y="0"/>
            <a:ext cx="0" cy="0"/>
          </a:xfrm>
          <a:prstGeom prst="rect">
            <a:avLst/>
          </a:prstGeom>
          <a:ln w="0">
            <a:noFill/>
          </a:ln>
        </p:spPr>
      </p:sp>
      <p:sp>
        <p:nvSpPr>
          <p:cNvPr id="1533"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configured head uses one transformer decoder layer. Self-attention lets candidate objects interact. Cross-attention lets each query inspect all 32,400 BEV positions. Positional encodings tell attention where a query and each feature belong. The feed-forward sublayer has width 256, with residual paths and LayerNorm inside the decoder. Separate prediction heads produce x–y center, height, logarithmic dimensions, sine/cosine rotation and velocity. Classification uses ten logits. The center head predicts an offset added to the query position.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Explain one attention head. Q contains the query vectors and K,V the memory vectors after learned projections. QK^T computes compatibility. Dividing by sqrt(d_head), with d_head = 128/8 = 16, controls scale. Row-wise softmax turns those scores into weights over keys, and multiplying V computes a weighted feature sum. In self-attention, query/key/value positions all come from the 200 proposals. In cross-attention there are 200 query rows and 32,400 key columns per head. Position encodings enter the query and key computation. Eight head outputs concatenate and project back to 128 channels. The displayed formula omits dropout and output projection for readability. Residual connections and LayerNorm follow the sublayers.</a:t>
            </a:r>
            <a:endParaRPr b="0" lang="en-US" sz="2000" spc="-1" strike="noStrike">
              <a:solidFill>
                <a:srgbClr val="000000"/>
              </a:solidFill>
              <a:latin typeface="Arial"/>
            </a:endParaRPr>
          </a:p>
        </p:txBody>
      </p:sp>
      <p:sp>
        <p:nvSpPr>
          <p:cNvPr id="1534" name="PlaceHolder 3"/>
          <p:cNvSpPr>
            <a:spLocks noGrp="1"/>
          </p:cNvSpPr>
          <p:nvPr>
            <p:ph type="sldNum" idx="16"/>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5" name="PlaceHolder 1"/>
          <p:cNvSpPr>
            <a:spLocks noGrp="1"/>
          </p:cNvSpPr>
          <p:nvPr>
            <p:ph type="sldImg"/>
          </p:nvPr>
        </p:nvSpPr>
        <p:spPr>
          <a:xfrm>
            <a:off x="0" y="0"/>
            <a:ext cx="0" cy="0"/>
          </a:xfrm>
          <a:prstGeom prst="rect">
            <a:avLst/>
          </a:prstGeom>
          <a:ln w="0">
            <a:noFill/>
          </a:ln>
        </p:spPr>
      </p:sp>
      <p:sp>
        <p:nvSpPr>
          <p:cNvPr id="153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For every coarse center the refinement branch builds offsets from minus two to plus two cells in x and y. That produces 25 sample centers with a 0.6-metre spacing. The outer centers span 2.4 metres, which is not the network receptive field or a guaranteed object-coverage size. Bilinear interpolation retrieves a 128-channel vector at each sample. Mean pooling collapses the 25 vectors to a single local-context vector. There are 200 proposals, so the sampler evaluates 5,000 positions per sample. The box and grid are schematics.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c_i is the predicted coarse center in BEV feature coordinates. delta enumerates the 25 fixed integer offsets. B tilde is a bilinear extension of the 128-channel discrete BEV feature map. l_i is the 128-dimensional mean of sampled vectors. The offsets follow the center but do not rotate or scale with the box. The fixed patch has a 2.4 m outer-center span because four intervals separate the five sample centers.</a:t>
            </a:r>
            <a:endParaRPr b="0" lang="en-US" sz="2000" spc="-1" strike="noStrike">
              <a:solidFill>
                <a:srgbClr val="000000"/>
              </a:solidFill>
              <a:latin typeface="Arial"/>
            </a:endParaRPr>
          </a:p>
        </p:txBody>
      </p:sp>
      <p:sp>
        <p:nvSpPr>
          <p:cNvPr id="1537" name="PlaceHolder 3"/>
          <p:cNvSpPr>
            <a:spLocks noGrp="1"/>
          </p:cNvSpPr>
          <p:nvPr>
            <p:ph type="sldNum" idx="17"/>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8" name="PlaceHolder 1"/>
          <p:cNvSpPr>
            <a:spLocks noGrp="1"/>
          </p:cNvSpPr>
          <p:nvPr>
            <p:ph type="sldImg"/>
          </p:nvPr>
        </p:nvSpPr>
        <p:spPr>
          <a:xfrm>
            <a:off x="0" y="0"/>
            <a:ext cx="0" cy="0"/>
          </a:xfrm>
          <a:prstGeom prst="rect">
            <a:avLst/>
          </a:prstGeom>
          <a:ln w="0">
            <a:noFill/>
          </a:ln>
        </p:spPr>
      </p:sp>
      <p:sp>
        <p:nvSpPr>
          <p:cNvPr id="1539"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query already summarizes global context. The sampled patch contributes local evidence around the predicted object center. Concatenating those two 128-channel vectors produces 256 channels. A 1 by 1 Conv1d, BatchNorm and ReLU reduce this back to 128 before separate residual heads. In this configuration each head uses two convolutions. The residual adds to the coarse center, height, log dimensions, sine/cosine rotation and velocity with weight one. There is no extra classification residual. Because the sampler uses the predicted center without detaching it, box loss can also influence where it samples.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h_refine denotes the 256-to-128 Conv1d fusion followed by the separate residual heads. The residual acts on the encoded ten-value box vector, not directly on decoded dimensions or yaw. For example, adding a residual to a log dimension becomes a multiplicative size correction after exponentiation. Alpha is the configured refine_weight, equal to one. The coarse center stays attached to the computation graph before sampling.</a:t>
            </a:r>
            <a:endParaRPr b="0" lang="en-US" sz="2000" spc="-1" strike="noStrike">
              <a:solidFill>
                <a:srgbClr val="000000"/>
              </a:solidFill>
              <a:latin typeface="Arial"/>
            </a:endParaRPr>
          </a:p>
        </p:txBody>
      </p:sp>
      <p:sp>
        <p:nvSpPr>
          <p:cNvPr id="1540" name="PlaceHolder 3"/>
          <p:cNvSpPr>
            <a:spLocks noGrp="1"/>
          </p:cNvSpPr>
          <p:nvPr>
            <p:ph type="sldNum" idx="18"/>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1" name="PlaceHolder 1"/>
          <p:cNvSpPr>
            <a:spLocks noGrp="1"/>
          </p:cNvSpPr>
          <p:nvPr>
            <p:ph type="sldImg"/>
          </p:nvPr>
        </p:nvSpPr>
        <p:spPr>
          <a:xfrm>
            <a:off x="0" y="0"/>
            <a:ext cx="0" cy="0"/>
          </a:xfrm>
          <a:prstGeom prst="rect">
            <a:avLst/>
          </a:prstGeom>
          <a:ln w="0">
            <a:noFill/>
          </a:ln>
        </p:spPr>
      </p:sp>
      <p:sp>
        <p:nvSpPr>
          <p:cNvPr id="1542"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Training combines dense Gaussian focal loss, sigmoid focal classification loss and weighted L1 regression with weight 0.25. The regression target uses the final refined box. Hungarian matching is a discrete target assignment step with a separate weighted cost: 0.15 classification, 0.25 BEV-center and 0.25 IoU. The IoU term in matching is not an additional differentiable IoU loss. Velocity has regression code weight 0.2 for each component, while the first eight components use one. The mini configuration uses six epochs and batch size one. The recorded run summary does not preserve every resolved run detail.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https://github.com/Ulteraa/research-projects/blob/main/bevfusion-reliable-refinement/configs/bevfusion_lidar-cam_reliablefuser_objectrefine_6e_mini.py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Added formula explanation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The lower equation is the assignment cost, not an extra training-loss term. C_BE V is L1 distance between x–y centers normalized by the 108 m point-cloud extent. IoU3DCost is negative 3D IoU, which rewards overlap when minimizing assignment cost. Hungarian matching selects a one-to-one subset of proposals for ground-truth targets. Backpropagation uses the focal and L1 losses after assignment. Mini settings remain 8 training scenes, 2 validation scenes, 6 epochs and batch size 1. See the loss-formula backup for the per-element terms and normalizers.</a:t>
            </a:r>
            <a:endParaRPr b="0" lang="en-US" sz="2000" spc="-1" strike="noStrike">
              <a:solidFill>
                <a:srgbClr val="000000"/>
              </a:solidFill>
              <a:latin typeface="Arial"/>
            </a:endParaRPr>
          </a:p>
        </p:txBody>
      </p:sp>
      <p:sp>
        <p:nvSpPr>
          <p:cNvPr id="1543" name="PlaceHolder 3"/>
          <p:cNvSpPr>
            <a:spLocks noGrp="1"/>
          </p:cNvSpPr>
          <p:nvPr>
            <p:ph type="sldNum" idx="19"/>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4" name="PlaceHolder 1"/>
          <p:cNvSpPr>
            <a:spLocks noGrp="1"/>
          </p:cNvSpPr>
          <p:nvPr>
            <p:ph type="sldImg"/>
          </p:nvPr>
        </p:nvSpPr>
        <p:spPr>
          <a:xfrm>
            <a:off x="0" y="0"/>
            <a:ext cx="0" cy="0"/>
          </a:xfrm>
          <a:prstGeom prst="rect">
            <a:avLst/>
          </a:prstGeom>
          <a:ln w="0">
            <a:noFill/>
          </a:ln>
        </p:spPr>
      </p:sp>
      <p:sp>
        <p:nvSpPr>
          <p:cNvPr id="1545"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This is the visualization supplied in the original deck, preserved without changing its boxes. It is useful for showing how the 3D predictions appear in camera views and for discussing localization quality. I would point to box centers, extents and orientation and explain how local BEV context could affect them. The available frame does not independently identify the exact model variant or checkpoint, so I do not present it as a verified before-and-after refinement comparison. Source: supplied BEVFusion technical presentation.</a:t>
            </a:r>
            <a:endParaRPr b="0" lang="en-US" sz="2000" spc="-1" strike="noStrike">
              <a:solidFill>
                <a:srgbClr val="000000"/>
              </a:solidFill>
              <a:latin typeface="Arial"/>
            </a:endParaRPr>
          </a:p>
        </p:txBody>
      </p:sp>
      <p:sp>
        <p:nvSpPr>
          <p:cNvPr id="1546" name="PlaceHolder 3"/>
          <p:cNvSpPr>
            <a:spLocks noGrp="1"/>
          </p:cNvSpPr>
          <p:nvPr>
            <p:ph type="sldNum" idx="20"/>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7" name="PlaceHolder 1"/>
          <p:cNvSpPr>
            <a:spLocks noGrp="1"/>
          </p:cNvSpPr>
          <p:nvPr>
            <p:ph type="sldImg"/>
          </p:nvPr>
        </p:nvSpPr>
        <p:spPr>
          <a:xfrm>
            <a:off x="0" y="0"/>
            <a:ext cx="0" cy="0"/>
          </a:xfrm>
          <a:prstGeom prst="rect">
            <a:avLst/>
          </a:prstGeom>
          <a:ln w="0">
            <a:noFill/>
          </a:ln>
        </p:spPr>
      </p:sp>
      <p:sp>
        <p:nvSpPr>
          <p:cNvPr id="1548"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four numbers are an illustrative scalar channel. At x equal to 0.25 and y equal to 0.75, the weights are 0.1875, 0.0625, 0.5625 and 0.1875, giving 5.5. The actual sampler operates independently across 128 feature channels at every one of the 25 offsets per proposal. It uses align_corners=True, so indices zero and W minus one map exactly to minus one and plus one. Out-of-bounds samples use zero padding and remain part of the mean, which can dilute boundary context. Coarse centers are not detached before grid_sample. The earlier top-k query selection is discrete.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49" name="PlaceHolder 3"/>
          <p:cNvSpPr>
            <a:spLocks noGrp="1"/>
          </p:cNvSpPr>
          <p:nvPr>
            <p:ph type="sldNum" idx="21"/>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0" name="PlaceHolder 1"/>
          <p:cNvSpPr>
            <a:spLocks noGrp="1"/>
          </p:cNvSpPr>
          <p:nvPr>
            <p:ph type="sldImg"/>
          </p:nvPr>
        </p:nvSpPr>
        <p:spPr>
          <a:xfrm>
            <a:off x="0" y="0"/>
            <a:ext cx="0" cy="0"/>
          </a:xfrm>
          <a:prstGeom prst="rect">
            <a:avLst/>
          </a:prstGeom>
          <a:ln w="0">
            <a:noFill/>
          </a:ln>
        </p:spPr>
      </p:sp>
      <p:sp>
        <p:nvSpPr>
          <p:cNvPr id="1551"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a and b are the fractional parts of a sampling location within one feature-grid cell. The bilinear result is a convex combination of four neighboring feature vectors when all four samples are in bounds. The equations apply independently to each of 128 channels. Holding the surrounding values fixed inside a cell, the derivative in x compares left and right neighbors and the derivative in y compares top and bottom neighbors. The refinement loss can therefore move the coarse sampling center as well as update sampled features. The custom code does not detach the coarse center before grid_sample. It does detach query positions after a decoder iteration, but the active configuration uses one decoder layer, and that later detach does not remove the current sampler gradient. The displayed arrows indicate backpropagation, not forward feature flow. Piecewise derivatives can be zero on locally constant features. At boundaries, zero padding can change both the value and gradient. With values 2,4,6,8 and a=.25,b=.75, the weights are .1875,.0625,.5625,.1875, yielding 5.5.</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52" name="PlaceHolder 3"/>
          <p:cNvSpPr>
            <a:spLocks noGrp="1"/>
          </p:cNvSpPr>
          <p:nvPr>
            <p:ph type="sldNum" idx="22"/>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3" name="PlaceHolder 1"/>
          <p:cNvSpPr>
            <a:spLocks noGrp="1"/>
          </p:cNvSpPr>
          <p:nvPr>
            <p:ph type="sldImg"/>
          </p:nvPr>
        </p:nvSpPr>
        <p:spPr>
          <a:xfrm>
            <a:off x="0" y="0"/>
            <a:ext cx="0" cy="0"/>
          </a:xfrm>
          <a:prstGeom prst="rect">
            <a:avLst/>
          </a:prstGeom>
          <a:ln w="0">
            <a:noFill/>
          </a:ln>
        </p:spPr>
      </p:sp>
      <p:sp>
        <p:nvSpPr>
          <p:cNvPr id="1554"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residual branch operates in the inherited encoded space. A center residual of one means 0.6 metres after decoding. A dimension residual adds to a log dimension, so it becomes a multiplicative change after exponentiation. Rotation corrections add to sine and cosine components before atan2. The code does not normalize that pair onto the unit circle. The decoder returns z as the box-center height and the inherited output path converts to the expected bottom-center box convention. The table and wireframe explain representation, not measured predictions.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https://github.com/open-mmlab/mmdetection3d/blob/v1.4.0/projects/BEVFusion/bevfusion/utils.py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p:txBody>
      </p:sp>
      <p:sp>
        <p:nvSpPr>
          <p:cNvPr id="1555" name="PlaceHolder 3"/>
          <p:cNvSpPr>
            <a:spLocks noGrp="1"/>
          </p:cNvSpPr>
          <p:nvPr>
            <p:ph type="sldNum" idx="23"/>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6" name="PlaceHolder 1"/>
          <p:cNvSpPr>
            <a:spLocks noGrp="1"/>
          </p:cNvSpPr>
          <p:nvPr>
            <p:ph type="sldImg"/>
          </p:nvPr>
        </p:nvSpPr>
        <p:spPr>
          <a:xfrm>
            <a:off x="0" y="0"/>
            <a:ext cx="0" cy="0"/>
          </a:xfrm>
          <a:prstGeom prst="rect">
            <a:avLst/>
          </a:prstGeom>
          <a:ln w="0">
            <a:noFill/>
          </a:ln>
        </p:spPr>
      </p:sp>
      <p:sp>
        <p:nvSpPr>
          <p:cNvPr id="1557"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left terms describe Gaussian focal loss per class and spatial location. The loss is summed and divided by max(number of exact center targets,1). The target y has a Gaussian bump, and only y=1 is a positive center. The (1−y)^4 term downweights nearby negatives. On the right, sigmoid focal classification uses gamma=2 and alpha=.25. Its per-class terms sum over proposals and normalize by max(number of matched proposals,1). There is no explicit background logit: unmatched proposals are negatives for all classes. Lbox sums absolute errors over matched proposals and all ten encoded components, weighted by code_weights and divided by N_plus=max(number of positives,1). Missing/invalid targets are masked by the implementation. The global coefficient .25 is applied in the main loss equation. In the assignment equation sigma maps a ground-truth object to a unique selected proposal. The BEV centers with hats are metric x–y coordinates normalized as (center−[−54,−54])/[108,108]. Cfocal is the focal matching cost, which uses the target class and is distinct from the aggregated classification training loss. IoU3DCost is −IoU3D. The combinatorial matching step selects targets; it is not differentiated as part of the loss. Epsilon/clipping for numerical stability is omitted in the displayed formulas.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https://github.com/open-mmlab/mmdetection3d/blob/v1.4.0/projects/BEVFusion/bevfusion/utils.py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https://github.com/open-mmlab/mmdetection/blob/v3.3.0/mmdet/models/losses/gaussian_focal_loss.py</a:t>
            </a:r>
            <a:endParaRPr b="0" lang="en-US" sz="2000" spc="-1" strike="noStrike">
              <a:solidFill>
                <a:srgbClr val="000000"/>
              </a:solidFill>
              <a:latin typeface="Arial"/>
            </a:endParaRPr>
          </a:p>
        </p:txBody>
      </p:sp>
      <p:sp>
        <p:nvSpPr>
          <p:cNvPr id="1558" name="PlaceHolder 3"/>
          <p:cNvSpPr>
            <a:spLocks noGrp="1"/>
          </p:cNvSpPr>
          <p:nvPr>
            <p:ph type="sldNum" idx="24"/>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9" name="PlaceHolder 1"/>
          <p:cNvSpPr>
            <a:spLocks noGrp="1"/>
          </p:cNvSpPr>
          <p:nvPr>
            <p:ph type="sldImg"/>
          </p:nvPr>
        </p:nvSpPr>
        <p:spPr>
          <a:xfrm>
            <a:off x="0" y="0"/>
            <a:ext cx="0" cy="0"/>
          </a:xfrm>
          <a:prstGeom prst="rect">
            <a:avLst/>
          </a:prstGeom>
          <a:ln w="0">
            <a:noFill/>
          </a:ln>
        </p:spPr>
      </p:sp>
      <p:sp>
        <p:nvSpPr>
          <p:cNvPr id="1560"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mAP averages average precision across ten detection classes and four ground-plane center-distance matching thresholds: .5, 1, 2 and 4 metres. The official AP calculation removes the region below .1 recall and precision; it is not generic box-IoU AP. NDS combines mAP, given weight five, with five clipped true-positive quality scores, each with weight one, then divides by ten. Use mAP as a number between zero and one in the equation; the presentation displays percentages. TP errors are evaluated using the 2 m matching threshold with benchmark-defined recall averaging and class exceptions. mATE is translation error; mASE is one minus aligned scale IoU after matching center and orientation; mAOE is yaw error; mAVE is ground-plane velocity error; mAAE is one minus attribute accuracy. Lower errors are better. The summary mAP and NDS values alone do not reveal which error changed; do not infer unreported localization improvements. The recorded NDS difference is .2415−.2520=−.0105, or −1.05 percentage points. This slide gives definitions, not additional experiment results.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https://github.com/nutonomy/nuscenes-devkit/blob/master/python-sdk/nuscenes/eval/detection/README.md</a:t>
            </a:r>
            <a:endParaRPr b="0" lang="en-US" sz="2000" spc="-1" strike="noStrike">
              <a:solidFill>
                <a:srgbClr val="000000"/>
              </a:solidFill>
              <a:latin typeface="Arial"/>
            </a:endParaRPr>
          </a:p>
        </p:txBody>
      </p:sp>
      <p:sp>
        <p:nvSpPr>
          <p:cNvPr id="1561" name="PlaceHolder 3"/>
          <p:cNvSpPr>
            <a:spLocks noGrp="1"/>
          </p:cNvSpPr>
          <p:nvPr>
            <p:ph type="sldNum" idx="25"/>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2" name="PlaceHolder 1"/>
          <p:cNvSpPr>
            <a:spLocks noGrp="1"/>
          </p:cNvSpPr>
          <p:nvPr>
            <p:ph type="sldImg"/>
          </p:nvPr>
        </p:nvSpPr>
        <p:spPr>
          <a:xfrm>
            <a:off x="0" y="0"/>
            <a:ext cx="0" cy="0"/>
          </a:xfrm>
          <a:prstGeom prst="rect">
            <a:avLst/>
          </a:prstGeom>
          <a:ln w="0">
            <a:noFill/>
          </a:ln>
        </p:spPr>
      </p:sp>
      <p:sp>
        <p:nvSpPr>
          <p:cNvPr id="1563"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All shapes omit batch dimension. The 80 or 256 entry denotes separate camera and LiDAR maps, not a fractional dimension. The backbone and head row similarly denotes the FPN output followed by the shared head convolution. The frustum shape follows the code after permutation to put context channels last. It is a logical activation shape and should not be treated as a measured memory footprint.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Sources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https://github.com/open-mmlab/mmdetection3d/blob/v1.4.0/projects/BEVFusion/configs/bevfusion_lidar-cam_voxel0075_second_secfpn_8xb4-cyclic-20e_nus-3d.py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https://github.com/open-mmlab/mmdetection3d/blob/v1.4.0/projects/BEVFusion/configs/bevfusion_lidar_voxel0075_second_secfpn_8xb4-cyclic-20e_nus-3d.py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https://github.com/open-mmlab/mmdetection3d/blob/v1.4.0/projects/BEVFusion/bevfusion/depth_lss.py</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ea typeface="Arial"/>
              </a:rPr>
              <a:t>https://github.com/Ulteraa/research-projects/blob/main/bevfusion-reliable-refinement/src/transfusion_head.py</a:t>
            </a:r>
            <a:endParaRPr b="0" lang="en-US" sz="2000" spc="-1" strike="noStrike">
              <a:solidFill>
                <a:srgbClr val="000000"/>
              </a:solidFill>
              <a:latin typeface="Arial"/>
            </a:endParaRPr>
          </a:p>
        </p:txBody>
      </p:sp>
      <p:sp>
        <p:nvSpPr>
          <p:cNvPr id="1564" name="PlaceHolder 3"/>
          <p:cNvSpPr>
            <a:spLocks noGrp="1"/>
          </p:cNvSpPr>
          <p:nvPr>
            <p:ph type="sldNum" idx="26"/>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5" name="PlaceHolder 1"/>
          <p:cNvSpPr>
            <a:spLocks noGrp="1"/>
          </p:cNvSpPr>
          <p:nvPr>
            <p:ph type="sldImg"/>
          </p:nvPr>
        </p:nvSpPr>
        <p:spPr>
          <a:xfrm>
            <a:off x="-360" y="-360"/>
            <a:ext cx="360" cy="360"/>
          </a:xfrm>
          <a:prstGeom prst="rect">
            <a:avLst/>
          </a:prstGeom>
          <a:ln w="0">
            <a:noFill/>
          </a:ln>
        </p:spPr>
      </p:sp>
      <p:sp>
        <p:nvSpPr>
          <p:cNvPr id="1566" name="PlaceHolder 2"/>
          <p:cNvSpPr>
            <a:spLocks noGrp="1"/>
          </p:cNvSpPr>
          <p:nvPr>
            <p:ph type="body"/>
          </p:nvPr>
        </p:nvSpPr>
        <p:spPr>
          <a:xfrm>
            <a:off x="0" y="0"/>
            <a:ext cx="0" cy="0"/>
          </a:xfrm>
          <a:prstGeom prst="rect">
            <a:avLst/>
          </a:prstGeom>
          <a:noFill/>
          <a:ln w="0">
            <a:noFill/>
          </a:ln>
        </p:spPr>
        <p:txBody>
          <a:bodyPr lIns="90000" rIns="90000" tIns="0" bIns="0" anchor="t">
            <a:noAutofit/>
          </a:bodyPr>
          <a:p>
            <a:pPr marL="216000" indent="0">
              <a:lnSpc>
                <a:spcPct val="100000"/>
              </a:lnSpc>
              <a:buNone/>
              <a:tabLst>
                <a:tab algn="l" pos="0"/>
              </a:tabLst>
            </a:pPr>
            <a:r>
              <a:rPr b="0" lang="en-US" sz="2000" spc="-1" strike="noStrike">
                <a:solidFill>
                  <a:srgbClr val="000000"/>
                </a:solidFill>
                <a:latin typeface="Arial"/>
                <a:ea typeface="Arial"/>
              </a:rPr>
              <a:t>The first two rows reproduce the mAP and NDS values in the user-provided results-table screenshot. Baseline: mAP 25.78%, NDS 25.20%. Spatial gate: mAP 23.92%, NDS 24.15%. Localization metrics were not supplied. The last two rows are hypothetical planning targets, not experiment results or predictions: approximately 26.8% / 26.2% for baseline plus refinement and 27.3% / 26.7% for gate plus refinement. The relative error reduction targets of 5% and 10% are arbitrary illustrative goals. They require measured baseline errors before converting to numeric mATE, mASE and mAOE. These targets do not establish a positive contribution. A claim of improvement requires actual comparable evaluation results. In a 2×2 ablation, refinement versus baseline isolates refinement, and gate-plus-refinement versus baseline-plus-refinement assesses the gate within the refined system.</a:t>
            </a:r>
            <a:endParaRPr b="0" lang="en-US" sz="2000" spc="-1" strike="noStrike">
              <a:solidFill>
                <a:srgbClr val="000000"/>
              </a:solidFill>
              <a:latin typeface="Arial"/>
            </a:endParaRPr>
          </a:p>
        </p:txBody>
      </p:sp>
      <p:sp>
        <p:nvSpPr>
          <p:cNvPr id="1567" name="PlaceHolder 3"/>
          <p:cNvSpPr>
            <a:spLocks noGrp="1"/>
          </p:cNvSpPr>
          <p:nvPr>
            <p:ph type="sldNum" idx="27"/>
          </p:nvPr>
        </p:nvSpPr>
        <p:spPr>
          <a:xfrm>
            <a:off x="0" y="0"/>
            <a:ext cx="0" cy="0"/>
          </a:xfrm>
          <a:prstGeom prst="rect">
            <a:avLst/>
          </a:prstGeom>
          <a:noFill/>
          <a:ln w="0">
            <a:noFill/>
          </a:ln>
        </p:spPr>
        <p:txBody>
          <a:bodyPr lIns="90000" rIns="90000" tIns="0" bIns="0" anchor="t">
            <a:noAutofit/>
          </a:bodyPr>
          <a:p>
            <a:pPr indent="0">
              <a:buNone/>
            </a:pPr>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http://drive.google.com/file/d/1zqhTejqaJqQr_Xe_Kbu0FF3xGEkhfH6Z/view" TargetMode="Externa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d31"/>
        </a:solidFill>
      </p:bgPr>
    </p:bg>
    <p:spTree>
      <p:nvGrpSpPr>
        <p:cNvPr id="1" name=""/>
        <p:cNvGrpSpPr/>
        <p:nvPr/>
      </p:nvGrpSpPr>
      <p:grpSpPr>
        <a:xfrm>
          <a:off x="0" y="0"/>
          <a:ext cx="0" cy="0"/>
          <a:chOff x="0" y="0"/>
          <a:chExt cx="0" cy="0"/>
        </a:xfrm>
      </p:grpSpPr>
      <p:sp>
        <p:nvSpPr>
          <p:cNvPr id="10" name="Google Shape;20;p1"/>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ffffff"/>
                </a:solidFill>
                <a:latin typeface="Verdana"/>
                <a:ea typeface="Verdana"/>
              </a:rPr>
              <a:t>BEVFusion</a:t>
            </a:r>
            <a:endParaRPr b="0" lang="en-US" sz="3300" spc="-1" strike="noStrike">
              <a:solidFill>
                <a:srgbClr val="ffffff"/>
              </a:solidFill>
              <a:latin typeface="Arial"/>
            </a:endParaRPr>
          </a:p>
        </p:txBody>
      </p:sp>
      <p:sp>
        <p:nvSpPr>
          <p:cNvPr id="11" name="Google Shape;21;p1"/>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a9b8cd"/>
                </a:solidFill>
                <a:latin typeface="Verdana"/>
                <a:ea typeface="Verdana"/>
              </a:rPr>
              <a:t>01</a:t>
            </a:r>
            <a:endParaRPr b="0" lang="en-US" sz="1200" spc="-1" strike="noStrike">
              <a:solidFill>
                <a:srgbClr val="ffffff"/>
              </a:solidFill>
              <a:latin typeface="Arial"/>
            </a:endParaRPr>
          </a:p>
        </p:txBody>
      </p:sp>
      <p:sp>
        <p:nvSpPr>
          <p:cNvPr id="12" name="Google Shape;22;p1"/>
          <p:cNvSpPr/>
          <p:nvPr/>
        </p:nvSpPr>
        <p:spPr>
          <a:xfrm>
            <a:off x="533520" y="1695600"/>
            <a:ext cx="6666840" cy="1666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4200" spc="-1" strike="noStrike">
                <a:solidFill>
                  <a:srgbClr val="ffffff"/>
                </a:solidFill>
                <a:latin typeface="Verdana"/>
                <a:ea typeface="Verdana"/>
              </a:rPr>
              <a:t>Spatial fusion and</a:t>
            </a:r>
            <a:endParaRPr b="0" lang="en-US" sz="4200" spc="-1" strike="noStrike">
              <a:solidFill>
                <a:srgbClr val="ffffff"/>
              </a:solidFill>
              <a:latin typeface="Arial"/>
            </a:endParaRPr>
          </a:p>
          <a:p>
            <a:pPr>
              <a:lnSpc>
                <a:spcPct val="100000"/>
              </a:lnSpc>
              <a:tabLst>
                <a:tab algn="l" pos="0"/>
              </a:tabLst>
            </a:pPr>
            <a:r>
              <a:rPr b="1" lang="en-US" sz="4200" spc="-1" strike="noStrike">
                <a:solidFill>
                  <a:srgbClr val="ffffff"/>
                </a:solidFill>
                <a:latin typeface="Verdana"/>
                <a:ea typeface="Verdana"/>
              </a:rPr>
              <a:t>local box refinement</a:t>
            </a:r>
            <a:endParaRPr b="0" lang="en-US" sz="4200" spc="-1" strike="noStrike">
              <a:solidFill>
                <a:srgbClr val="ffffff"/>
              </a:solidFill>
              <a:latin typeface="Arial"/>
            </a:endParaRPr>
          </a:p>
        </p:txBody>
      </p:sp>
      <p:sp>
        <p:nvSpPr>
          <p:cNvPr id="13" name="Google Shape;23;p1"/>
          <p:cNvSpPr/>
          <p:nvPr/>
        </p:nvSpPr>
        <p:spPr>
          <a:xfrm>
            <a:off x="561960" y="3676680"/>
            <a:ext cx="6190560" cy="428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250" spc="-1" strike="noStrike">
                <a:solidFill>
                  <a:srgbClr val="a9bcd5"/>
                </a:solidFill>
                <a:latin typeface="Verdana"/>
                <a:ea typeface="Verdana"/>
              </a:rPr>
              <a:t>Camera–LiDAR 3D detection</a:t>
            </a:r>
            <a:endParaRPr b="0" lang="en-US" sz="2250" spc="-1" strike="noStrike">
              <a:solidFill>
                <a:srgbClr val="ffffff"/>
              </a:solidFill>
              <a:latin typeface="Arial"/>
            </a:endParaRPr>
          </a:p>
        </p:txBody>
      </p:sp>
      <p:sp>
        <p:nvSpPr>
          <p:cNvPr id="14" name="Google Shape;25;p1"/>
          <p:cNvSpPr/>
          <p:nvPr/>
        </p:nvSpPr>
        <p:spPr>
          <a:xfrm>
            <a:off x="8286840" y="1371600"/>
            <a:ext cx="1304280" cy="208800"/>
          </a:xfrm>
          <a:custGeom>
            <a:avLst/>
            <a:gdLst>
              <a:gd name="textAreaLeft" fmla="*/ 0 w 1304280"/>
              <a:gd name="textAreaRight" fmla="*/ 1304640 w 1304280"/>
              <a:gd name="textAreaTop" fmla="*/ 0 h 208800"/>
              <a:gd name="textAreaBottom" fmla="*/ 209160 h 208800"/>
            </a:gdLst>
            <a:ahLst/>
            <a:rect l="textAreaLeft" t="textAreaTop" r="textAreaRight" b="textAreaBottom"/>
            <a:pathLst>
              <a:path w="1304925" h="209550">
                <a:moveTo>
                  <a:pt x="0" y="209550"/>
                </a:moveTo>
                <a:lnTo>
                  <a:pt x="209550" y="0"/>
                </a:lnTo>
                <a:lnTo>
                  <a:pt x="1304925" y="0"/>
                </a:lnTo>
                <a:lnTo>
                  <a:pt x="1095375" y="2095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 name="Google Shape;26;p1"/>
          <p:cNvSpPr/>
          <p:nvPr/>
        </p:nvSpPr>
        <p:spPr>
          <a:xfrm>
            <a:off x="9381960" y="1371600"/>
            <a:ext cx="208800" cy="1065960"/>
          </a:xfrm>
          <a:custGeom>
            <a:avLst/>
            <a:gdLst>
              <a:gd name="textAreaLeft" fmla="*/ 0 w 208800"/>
              <a:gd name="textAreaRight" fmla="*/ 209160 w 208800"/>
              <a:gd name="textAreaTop" fmla="*/ 0 h 1065960"/>
              <a:gd name="textAreaBottom" fmla="*/ 1066320 h 1065960"/>
            </a:gdLst>
            <a:ahLst/>
            <a:rect l="textAreaLeft" t="textAreaTop" r="textAreaRight" b="textAreaBottom"/>
            <a:pathLst>
              <a:path w="209550" h="1066800">
                <a:moveTo>
                  <a:pt x="0" y="209550"/>
                </a:moveTo>
                <a:lnTo>
                  <a:pt x="209550" y="0"/>
                </a:lnTo>
                <a:lnTo>
                  <a:pt x="209550" y="857250"/>
                </a:lnTo>
                <a:lnTo>
                  <a:pt x="0" y="10668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6" name="Google Shape;27;p1"/>
          <p:cNvSpPr/>
          <p:nvPr/>
        </p:nvSpPr>
        <p:spPr>
          <a:xfrm>
            <a:off x="8286840" y="1581120"/>
            <a:ext cx="1094760" cy="85644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 name="Google Shape;28;p1"/>
          <p:cNvSpPr/>
          <p:nvPr/>
        </p:nvSpPr>
        <p:spPr>
          <a:xfrm>
            <a:off x="8560440" y="158112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8" name="Google Shape;29;p1"/>
          <p:cNvSpPr/>
          <p:nvPr/>
        </p:nvSpPr>
        <p:spPr>
          <a:xfrm>
            <a:off x="8834400" y="158112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9" name="Google Shape;30;p1"/>
          <p:cNvSpPr/>
          <p:nvPr/>
        </p:nvSpPr>
        <p:spPr>
          <a:xfrm>
            <a:off x="9108360" y="158112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0" name="Google Shape;31;p1"/>
          <p:cNvSpPr/>
          <p:nvPr/>
        </p:nvSpPr>
        <p:spPr>
          <a:xfrm>
            <a:off x="8286840" y="179532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1" name="Google Shape;32;p1"/>
          <p:cNvSpPr/>
          <p:nvPr/>
        </p:nvSpPr>
        <p:spPr>
          <a:xfrm>
            <a:off x="8286840" y="200988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2" name="Google Shape;33;p1"/>
          <p:cNvSpPr/>
          <p:nvPr/>
        </p:nvSpPr>
        <p:spPr>
          <a:xfrm>
            <a:off x="8286840" y="222408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23" name="Google Shape;34;p1"/>
          <p:cNvSpPr/>
          <p:nvPr/>
        </p:nvSpPr>
        <p:spPr>
          <a:xfrm>
            <a:off x="8325000" y="1657440"/>
            <a:ext cx="1018440" cy="704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Image</a:t>
            </a:r>
            <a:endParaRPr b="0" lang="en-US" sz="1729" spc="-1" strike="noStrike">
              <a:solidFill>
                <a:srgbClr val="ffffff"/>
              </a:solidFill>
              <a:latin typeface="Arial"/>
            </a:endParaRPr>
          </a:p>
        </p:txBody>
      </p:sp>
      <p:sp>
        <p:nvSpPr>
          <p:cNvPr id="24" name="Google Shape;35;p1"/>
          <p:cNvSpPr/>
          <p:nvPr/>
        </p:nvSpPr>
        <p:spPr>
          <a:xfrm>
            <a:off x="8096400" y="2571840"/>
            <a:ext cx="147564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Camera BEV</a:t>
            </a:r>
            <a:endParaRPr b="0" lang="en-US" sz="1500" spc="-1" strike="noStrike">
              <a:solidFill>
                <a:srgbClr val="ffffff"/>
              </a:solidFill>
              <a:latin typeface="Arial"/>
            </a:endParaRPr>
          </a:p>
        </p:txBody>
      </p:sp>
      <p:sp>
        <p:nvSpPr>
          <p:cNvPr id="25" name="Google Shape;36;p1"/>
          <p:cNvSpPr/>
          <p:nvPr/>
        </p:nvSpPr>
        <p:spPr>
          <a:xfrm>
            <a:off x="9715680" y="2190600"/>
            <a:ext cx="1304280" cy="208800"/>
          </a:xfrm>
          <a:custGeom>
            <a:avLst/>
            <a:gdLst>
              <a:gd name="textAreaLeft" fmla="*/ 0 w 1304280"/>
              <a:gd name="textAreaRight" fmla="*/ 1304640 w 1304280"/>
              <a:gd name="textAreaTop" fmla="*/ 0 h 208800"/>
              <a:gd name="textAreaBottom" fmla="*/ 209160 h 208800"/>
            </a:gdLst>
            <a:ahLst/>
            <a:rect l="textAreaLeft" t="textAreaTop" r="textAreaRight" b="textAreaBottom"/>
            <a:pathLst>
              <a:path w="1304925" h="209550">
                <a:moveTo>
                  <a:pt x="0" y="209550"/>
                </a:moveTo>
                <a:lnTo>
                  <a:pt x="209550" y="0"/>
                </a:lnTo>
                <a:lnTo>
                  <a:pt x="1304925" y="0"/>
                </a:lnTo>
                <a:lnTo>
                  <a:pt x="1095375" y="2095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 name="Google Shape;37;p1"/>
          <p:cNvSpPr/>
          <p:nvPr/>
        </p:nvSpPr>
        <p:spPr>
          <a:xfrm>
            <a:off x="10810800" y="2190600"/>
            <a:ext cx="208800" cy="1065960"/>
          </a:xfrm>
          <a:custGeom>
            <a:avLst/>
            <a:gdLst>
              <a:gd name="textAreaLeft" fmla="*/ 0 w 208800"/>
              <a:gd name="textAreaRight" fmla="*/ 209160 w 208800"/>
              <a:gd name="textAreaTop" fmla="*/ 0 h 1065960"/>
              <a:gd name="textAreaBottom" fmla="*/ 1066320 h 1065960"/>
            </a:gdLst>
            <a:ahLst/>
            <a:rect l="textAreaLeft" t="textAreaTop" r="textAreaRight" b="textAreaBottom"/>
            <a:pathLst>
              <a:path w="209550" h="1066800">
                <a:moveTo>
                  <a:pt x="0" y="209550"/>
                </a:moveTo>
                <a:lnTo>
                  <a:pt x="209550" y="0"/>
                </a:lnTo>
                <a:lnTo>
                  <a:pt x="209550" y="857250"/>
                </a:lnTo>
                <a:lnTo>
                  <a:pt x="0" y="10668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 name="Google Shape;38;p1"/>
          <p:cNvSpPr/>
          <p:nvPr/>
        </p:nvSpPr>
        <p:spPr>
          <a:xfrm>
            <a:off x="9715680" y="2400480"/>
            <a:ext cx="1094760" cy="85644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8" name="Google Shape;39;p1"/>
          <p:cNvSpPr/>
          <p:nvPr/>
        </p:nvSpPr>
        <p:spPr>
          <a:xfrm>
            <a:off x="9989280" y="240048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9" name="Google Shape;40;p1"/>
          <p:cNvSpPr/>
          <p:nvPr/>
        </p:nvSpPr>
        <p:spPr>
          <a:xfrm>
            <a:off x="10263240" y="240048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 name="Google Shape;41;p1"/>
          <p:cNvSpPr/>
          <p:nvPr/>
        </p:nvSpPr>
        <p:spPr>
          <a:xfrm>
            <a:off x="10537200" y="2400480"/>
            <a:ext cx="360" cy="856440"/>
          </a:xfrm>
          <a:custGeom>
            <a:avLst/>
            <a:gdLst>
              <a:gd name="textAreaLeft" fmla="*/ 0 w 360"/>
              <a:gd name="textAreaRight" fmla="*/ 720 w 360"/>
              <a:gd name="textAreaTop" fmla="*/ 0 h 856440"/>
              <a:gd name="textAreaBottom" fmla="*/ 856800 h 856440"/>
            </a:gdLst>
            <a:ahLst/>
            <a:rect l="textAreaLeft" t="textAreaTop" r="textAreaRight" b="textAreaBottom"/>
            <a:pathLst>
              <a:path w="953" h="857250">
                <a:moveTo>
                  <a:pt x="0" y="0"/>
                </a:moveTo>
                <a:lnTo>
                  <a:pt x="0" y="85725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1" name="Google Shape;42;p1"/>
          <p:cNvSpPr/>
          <p:nvPr/>
        </p:nvSpPr>
        <p:spPr>
          <a:xfrm>
            <a:off x="9715680" y="261468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 name="Google Shape;43;p1"/>
          <p:cNvSpPr/>
          <p:nvPr/>
        </p:nvSpPr>
        <p:spPr>
          <a:xfrm>
            <a:off x="9715680" y="282888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 name="Google Shape;44;p1"/>
          <p:cNvSpPr/>
          <p:nvPr/>
        </p:nvSpPr>
        <p:spPr>
          <a:xfrm>
            <a:off x="9715680" y="3043080"/>
            <a:ext cx="1094760" cy="360"/>
          </a:xfrm>
          <a:custGeom>
            <a:avLst/>
            <a:gdLst>
              <a:gd name="textAreaLeft" fmla="*/ 0 w 1094760"/>
              <a:gd name="textAreaRight" fmla="*/ 1095120 w 1094760"/>
              <a:gd name="textAreaTop" fmla="*/ 0 h 360"/>
              <a:gd name="textAreaBottom" fmla="*/ 720 h 360"/>
            </a:gdLst>
            <a:ahLst/>
            <a:rect l="textAreaLeft" t="textAreaTop" r="textAreaRight" b="textAreaBottom"/>
            <a:pathLst>
              <a:path w="1095375" h="953">
                <a:moveTo>
                  <a:pt x="0" y="0"/>
                </a:moveTo>
                <a:lnTo>
                  <a:pt x="10953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 name="Google Shape;45;p1"/>
          <p:cNvSpPr/>
          <p:nvPr/>
        </p:nvSpPr>
        <p:spPr>
          <a:xfrm>
            <a:off x="9753480" y="2476440"/>
            <a:ext cx="1018440" cy="704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3D</a:t>
            </a:r>
            <a:endParaRPr b="0" lang="en-US" sz="1729" spc="-1" strike="noStrike">
              <a:solidFill>
                <a:srgbClr val="ffffff"/>
              </a:solidFill>
              <a:latin typeface="Arial"/>
            </a:endParaRPr>
          </a:p>
        </p:txBody>
      </p:sp>
      <p:sp>
        <p:nvSpPr>
          <p:cNvPr id="35" name="Google Shape;46;p1"/>
          <p:cNvSpPr/>
          <p:nvPr/>
        </p:nvSpPr>
        <p:spPr>
          <a:xfrm>
            <a:off x="9524880" y="3390840"/>
            <a:ext cx="147564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LiDAR BEV</a:t>
            </a:r>
            <a:endParaRPr b="0" lang="en-US" sz="1500" spc="-1" strike="noStrike">
              <a:solidFill>
                <a:srgbClr val="ffffff"/>
              </a:solidFill>
              <a:latin typeface="Arial"/>
            </a:endParaRPr>
          </a:p>
        </p:txBody>
      </p:sp>
      <p:sp>
        <p:nvSpPr>
          <p:cNvPr id="36" name="Google Shape;47;p1"/>
          <p:cNvSpPr/>
          <p:nvPr/>
        </p:nvSpPr>
        <p:spPr>
          <a:xfrm>
            <a:off x="8839080" y="2857680"/>
            <a:ext cx="360" cy="818280"/>
          </a:xfrm>
          <a:custGeom>
            <a:avLst/>
            <a:gdLst>
              <a:gd name="textAreaLeft" fmla="*/ 0 w 360"/>
              <a:gd name="textAreaRight" fmla="*/ 720 w 360"/>
              <a:gd name="textAreaTop" fmla="*/ 0 h 818280"/>
              <a:gd name="textAreaBottom" fmla="*/ 818640 h 818280"/>
            </a:gdLst>
            <a:ahLst/>
            <a:rect l="textAreaLeft" t="textAreaTop" r="textAreaRight" b="textAreaBottom"/>
            <a:pathLst>
              <a:path w="953" h="819150">
                <a:moveTo>
                  <a:pt x="0" y="0"/>
                </a:moveTo>
                <a:lnTo>
                  <a:pt x="0" y="819150"/>
                </a:lnTo>
              </a:path>
            </a:pathLst>
          </a:custGeom>
          <a:noFill/>
          <a:ln w="22850">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 name="Google Shape;48;p1"/>
          <p:cNvSpPr/>
          <p:nvPr/>
        </p:nvSpPr>
        <p:spPr>
          <a:xfrm>
            <a:off x="8795520" y="358128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8ca1bd"/>
          </a:solidFill>
          <a:ln w="9525">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 name="Google Shape;49;p1"/>
          <p:cNvSpPr/>
          <p:nvPr/>
        </p:nvSpPr>
        <p:spPr>
          <a:xfrm>
            <a:off x="9620280" y="3695760"/>
            <a:ext cx="646920" cy="304200"/>
          </a:xfrm>
          <a:custGeom>
            <a:avLst/>
            <a:gdLst>
              <a:gd name="textAreaLeft" fmla="*/ 0 w 646920"/>
              <a:gd name="textAreaRight" fmla="*/ 647280 w 646920"/>
              <a:gd name="textAreaTop" fmla="*/ 0 h 304200"/>
              <a:gd name="textAreaBottom" fmla="*/ 304560 h 304200"/>
            </a:gdLst>
            <a:ahLst/>
            <a:rect l="textAreaLeft" t="textAreaTop" r="textAreaRight" b="textAreaBottom"/>
            <a:pathLst>
              <a:path w="647700" h="304800">
                <a:moveTo>
                  <a:pt x="647700" y="0"/>
                </a:moveTo>
                <a:lnTo>
                  <a:pt x="647700" y="304800"/>
                </a:lnTo>
                <a:lnTo>
                  <a:pt x="0" y="304800"/>
                </a:lnTo>
              </a:path>
            </a:pathLst>
          </a:custGeom>
          <a:noFill/>
          <a:ln w="22850">
            <a:solidFill>
              <a:srgbClr val="8ca1b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9" name="Google Shape;50;p1"/>
          <p:cNvSpPr/>
          <p:nvPr/>
        </p:nvSpPr>
        <p:spPr>
          <a:xfrm>
            <a:off x="9620280" y="39567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8ca1bd"/>
          </a:solidFill>
          <a:ln w="9525">
            <a:solidFill>
              <a:srgbClr val="8ca1bd"/>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000000"/>
              </a:solidFill>
              <a:latin typeface="Arial"/>
            </a:endParaRPr>
          </a:p>
        </p:txBody>
      </p:sp>
      <p:sp>
        <p:nvSpPr>
          <p:cNvPr id="40" name="Google Shape;51;p1"/>
          <p:cNvSpPr/>
          <p:nvPr/>
        </p:nvSpPr>
        <p:spPr>
          <a:xfrm>
            <a:off x="8048520" y="3857760"/>
            <a:ext cx="1571040" cy="1332720"/>
          </a:xfrm>
          <a:prstGeom prst="rect">
            <a:avLst/>
          </a:prstGeom>
          <a:solidFill>
            <a:srgbClr val="1f304b"/>
          </a:solidFill>
          <a:ln w="114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1" name="Google Shape;52;p1"/>
          <p:cNvSpPr/>
          <p:nvPr/>
        </p:nvSpPr>
        <p:spPr>
          <a:xfrm>
            <a:off x="8310600" y="385776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2" name="Google Shape;53;p1"/>
          <p:cNvSpPr/>
          <p:nvPr/>
        </p:nvSpPr>
        <p:spPr>
          <a:xfrm>
            <a:off x="8572680" y="385776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3" name="Google Shape;54;p1"/>
          <p:cNvSpPr/>
          <p:nvPr/>
        </p:nvSpPr>
        <p:spPr>
          <a:xfrm>
            <a:off x="8834400" y="385776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4" name="Google Shape;55;p1"/>
          <p:cNvSpPr/>
          <p:nvPr/>
        </p:nvSpPr>
        <p:spPr>
          <a:xfrm>
            <a:off x="9096480" y="385776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5" name="Google Shape;56;p1"/>
          <p:cNvSpPr/>
          <p:nvPr/>
        </p:nvSpPr>
        <p:spPr>
          <a:xfrm>
            <a:off x="9358200" y="385776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0"/>
                </a:moveTo>
                <a:lnTo>
                  <a:pt x="0" y="1333500"/>
                </a:lnTo>
              </a:path>
            </a:pathLst>
          </a:custGeom>
          <a:noFill/>
          <a:ln w="9525">
            <a:solidFill>
              <a:srgbClr val="50627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6" name="Google Shape;57;p1"/>
          <p:cNvSpPr/>
          <p:nvPr/>
        </p:nvSpPr>
        <p:spPr>
          <a:xfrm>
            <a:off x="8048520" y="4124160"/>
            <a:ext cx="1571040" cy="360"/>
          </a:xfrm>
          <a:custGeom>
            <a:avLst/>
            <a:gdLst>
              <a:gd name="textAreaLeft" fmla="*/ 0 w 1571040"/>
              <a:gd name="textAreaRight" fmla="*/ 1571400 w 1571040"/>
              <a:gd name="textAreaTop" fmla="*/ 0 h 360"/>
              <a:gd name="textAreaBottom" fmla="*/ 72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7" name="Google Shape;58;p1"/>
          <p:cNvSpPr/>
          <p:nvPr/>
        </p:nvSpPr>
        <p:spPr>
          <a:xfrm>
            <a:off x="8048520" y="4390920"/>
            <a:ext cx="1571040" cy="360"/>
          </a:xfrm>
          <a:custGeom>
            <a:avLst/>
            <a:gdLst>
              <a:gd name="textAreaLeft" fmla="*/ 0 w 1571040"/>
              <a:gd name="textAreaRight" fmla="*/ 1571400 w 1571040"/>
              <a:gd name="textAreaTop" fmla="*/ 0 h 360"/>
              <a:gd name="textAreaBottom" fmla="*/ 72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8" name="Google Shape;59;p1"/>
          <p:cNvSpPr/>
          <p:nvPr/>
        </p:nvSpPr>
        <p:spPr>
          <a:xfrm>
            <a:off x="8048520" y="4657680"/>
            <a:ext cx="1571040" cy="360"/>
          </a:xfrm>
          <a:custGeom>
            <a:avLst/>
            <a:gdLst>
              <a:gd name="textAreaLeft" fmla="*/ 0 w 1571040"/>
              <a:gd name="textAreaRight" fmla="*/ 1571400 w 1571040"/>
              <a:gd name="textAreaTop" fmla="*/ 0 h 360"/>
              <a:gd name="textAreaBottom" fmla="*/ 72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49" name="Google Shape;60;p1"/>
          <p:cNvSpPr/>
          <p:nvPr/>
        </p:nvSpPr>
        <p:spPr>
          <a:xfrm>
            <a:off x="8048520" y="4924440"/>
            <a:ext cx="1571040" cy="360"/>
          </a:xfrm>
          <a:custGeom>
            <a:avLst/>
            <a:gdLst>
              <a:gd name="textAreaLeft" fmla="*/ 0 w 1571040"/>
              <a:gd name="textAreaRight" fmla="*/ 1571400 w 1571040"/>
              <a:gd name="textAreaTop" fmla="*/ 0 h 360"/>
              <a:gd name="textAreaBottom" fmla="*/ 720 h 360"/>
            </a:gdLst>
            <a:ahLst/>
            <a:rect l="textAreaLeft" t="textAreaTop" r="textAreaRight" b="textAreaBottom"/>
            <a:pathLst>
              <a:path w="1571625" h="953">
                <a:moveTo>
                  <a:pt x="0" y="0"/>
                </a:moveTo>
                <a:lnTo>
                  <a:pt x="1571625" y="0"/>
                </a:lnTo>
              </a:path>
            </a:pathLst>
          </a:custGeom>
          <a:noFill/>
          <a:ln w="9525">
            <a:solidFill>
              <a:srgbClr val="50627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0" name="Google Shape;61;p1"/>
          <p:cNvSpPr/>
          <p:nvPr/>
        </p:nvSpPr>
        <p:spPr>
          <a:xfrm>
            <a:off x="8363880" y="4257360"/>
            <a:ext cx="778680" cy="590400"/>
          </a:xfrm>
          <a:custGeom>
            <a:avLst/>
            <a:gdLst>
              <a:gd name="textAreaLeft" fmla="*/ 0 w 778680"/>
              <a:gd name="textAreaRight" fmla="*/ 779040 w 778680"/>
              <a:gd name="textAreaTop" fmla="*/ 0 h 590400"/>
              <a:gd name="textAreaBottom" fmla="*/ 590760 h 590400"/>
            </a:gdLst>
            <a:ahLst/>
            <a:rect l="textAreaLeft" t="textAreaTop" r="textAreaRight" b="textAreaBottom"/>
            <a:pathLst>
              <a:path w="779508" h="591242">
                <a:moveTo>
                  <a:pt x="0" y="286688"/>
                </a:moveTo>
                <a:lnTo>
                  <a:pt x="643913" y="0"/>
                </a:lnTo>
                <a:lnTo>
                  <a:pt x="779508" y="304553"/>
                </a:lnTo>
                <a:lnTo>
                  <a:pt x="135596" y="591242"/>
                </a:lnTo>
                <a:close/>
              </a:path>
            </a:pathLst>
          </a:custGeom>
          <a:noFill/>
          <a:ln w="28575">
            <a:solidFill>
              <a:srgbClr val="c6b6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1" name="Google Shape;62;p1"/>
          <p:cNvSpPr/>
          <p:nvPr/>
        </p:nvSpPr>
        <p:spPr>
          <a:xfrm>
            <a:off x="8753400" y="4409640"/>
            <a:ext cx="321120" cy="142560"/>
          </a:xfrm>
          <a:custGeom>
            <a:avLst/>
            <a:gdLst>
              <a:gd name="textAreaLeft" fmla="*/ 0 w 321120"/>
              <a:gd name="textAreaRight" fmla="*/ 321480 w 321120"/>
              <a:gd name="textAreaTop" fmla="*/ 0 h 142560"/>
              <a:gd name="textAreaBottom" fmla="*/ 142920 h 142560"/>
            </a:gdLst>
            <a:ahLst/>
            <a:rect l="textAreaLeft" t="textAreaTop" r="textAreaRight" b="textAreaBottom"/>
            <a:pathLst>
              <a:path w="321956" h="143344">
                <a:moveTo>
                  <a:pt x="0" y="143344"/>
                </a:moveTo>
                <a:lnTo>
                  <a:pt x="321956" y="0"/>
                </a:lnTo>
              </a:path>
            </a:pathLst>
          </a:custGeom>
          <a:noFill/>
          <a:ln w="28575">
            <a:solidFill>
              <a:srgbClr val="c6b6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2" name="Google Shape;63;p1"/>
          <p:cNvSpPr/>
          <p:nvPr/>
        </p:nvSpPr>
        <p:spPr>
          <a:xfrm>
            <a:off x="8929440" y="4025520"/>
            <a:ext cx="389880" cy="330120"/>
          </a:xfrm>
          <a:custGeom>
            <a:avLst/>
            <a:gdLst>
              <a:gd name="textAreaLeft" fmla="*/ 0 w 389880"/>
              <a:gd name="textAreaRight" fmla="*/ 390240 w 389880"/>
              <a:gd name="textAreaTop" fmla="*/ 0 h 330120"/>
              <a:gd name="textAreaBottom" fmla="*/ 330480 h 330120"/>
            </a:gdLst>
            <a:ahLst/>
            <a:rect l="textAreaLeft" t="textAreaTop" r="textAreaRight" b="textAreaBottom"/>
            <a:pathLst>
              <a:path w="390700" h="330807">
                <a:moveTo>
                  <a:pt x="88560" y="0"/>
                </a:moveTo>
                <a:lnTo>
                  <a:pt x="390700" y="140890"/>
                </a:lnTo>
                <a:lnTo>
                  <a:pt x="302140" y="330807"/>
                </a:lnTo>
                <a:lnTo>
                  <a:pt x="0" y="189917"/>
                </a:lnTo>
                <a:close/>
              </a:path>
            </a:pathLst>
          </a:custGeom>
          <a:noFill/>
          <a:ln w="19050">
            <a:solidFill>
              <a:srgbClr val="73cbb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3" name="Google Shape;64;p1"/>
          <p:cNvSpPr/>
          <p:nvPr/>
        </p:nvSpPr>
        <p:spPr>
          <a:xfrm>
            <a:off x="9124920" y="4191120"/>
            <a:ext cx="150480" cy="69840"/>
          </a:xfrm>
          <a:custGeom>
            <a:avLst/>
            <a:gdLst>
              <a:gd name="textAreaLeft" fmla="*/ 0 w 150480"/>
              <a:gd name="textAreaRight" fmla="*/ 150840 w 150480"/>
              <a:gd name="textAreaTop" fmla="*/ 0 h 69840"/>
              <a:gd name="textAreaBottom" fmla="*/ 70200 h 69840"/>
            </a:gdLst>
            <a:ahLst/>
            <a:rect l="textAreaLeft" t="textAreaTop" r="textAreaRight" b="textAreaBottom"/>
            <a:pathLst>
              <a:path w="151070" h="70445">
                <a:moveTo>
                  <a:pt x="0" y="0"/>
                </a:moveTo>
                <a:lnTo>
                  <a:pt x="151070" y="70445"/>
                </a:lnTo>
              </a:path>
            </a:pathLst>
          </a:custGeom>
          <a:noFill/>
          <a:ln w="19050">
            <a:solidFill>
              <a:srgbClr val="73cbb6"/>
            </a:solidFill>
            <a:round/>
          </a:ln>
        </p:spPr>
        <p:style>
          <a:lnRef idx="0"/>
          <a:fillRef idx="0"/>
          <a:effectRef idx="0"/>
          <a:fontRef idx="minor"/>
        </p:style>
        <p:txBody>
          <a:bodyPr lIns="90000" rIns="90000" tIns="25200" bIns="25200" anchor="t">
            <a:noAutofit/>
          </a:bodyPr>
          <a:p>
            <a:pPr>
              <a:lnSpc>
                <a:spcPct val="100000"/>
              </a:lnSpc>
              <a:tabLst>
                <a:tab algn="l" pos="0"/>
              </a:tabLst>
            </a:pPr>
            <a:endParaRPr b="0" lang="en-US" sz="1400" spc="-1" strike="noStrike">
              <a:solidFill>
                <a:srgbClr val="ffffff"/>
              </a:solidFill>
              <a:latin typeface="Arial"/>
            </a:endParaRPr>
          </a:p>
        </p:txBody>
      </p:sp>
      <p:sp>
        <p:nvSpPr>
          <p:cNvPr id="54" name="Google Shape;65;p1"/>
          <p:cNvSpPr/>
          <p:nvPr/>
        </p:nvSpPr>
        <p:spPr>
          <a:xfrm>
            <a:off x="7819920" y="5391000"/>
            <a:ext cx="3475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d5deeb"/>
                </a:solidFill>
                <a:latin typeface="Verdana"/>
                <a:ea typeface="Verdana"/>
              </a:rPr>
              <a:t>Shared BEV → 3D boxes</a:t>
            </a:r>
            <a:endParaRPr b="0" lang="en-US" sz="1729" spc="-1" strike="noStrike">
              <a:solidFill>
                <a:srgbClr val="ffffff"/>
              </a:solidFill>
              <a:latin typeface="Arial"/>
            </a:endParaRPr>
          </a:p>
        </p:txBody>
      </p:sp>
      <p:sp>
        <p:nvSpPr>
          <p:cNvPr id="55" name="Google Shape;66;p1"/>
          <p:cNvSpPr/>
          <p:nvPr/>
        </p:nvSpPr>
        <p:spPr>
          <a:xfrm>
            <a:off x="561960" y="4334040"/>
            <a:ext cx="6666840" cy="428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afc5df"/>
                </a:solidFill>
                <a:latin typeface="Verdana"/>
                <a:ea typeface="Verdana"/>
              </a:rPr>
              <a:t>With Fortna RGB-D robotic picking</a:t>
            </a:r>
            <a:endParaRPr b="0" lang="en-US" sz="1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6" name="Google Shape;72;p2"/>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complete detection network</a:t>
            </a:r>
            <a:endParaRPr b="0" lang="en-US" sz="3300" spc="-1" strike="noStrike">
              <a:solidFill>
                <a:srgbClr val="000000"/>
              </a:solidFill>
              <a:latin typeface="Arial"/>
            </a:endParaRPr>
          </a:p>
        </p:txBody>
      </p:sp>
      <p:sp>
        <p:nvSpPr>
          <p:cNvPr id="57" name="Google Shape;73;p2"/>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02</a:t>
            </a:r>
            <a:endParaRPr b="0" lang="en-US" sz="1200" spc="-1" strike="noStrike">
              <a:solidFill>
                <a:srgbClr val="000000"/>
              </a:solidFill>
              <a:latin typeface="Arial"/>
            </a:endParaRPr>
          </a:p>
        </p:txBody>
      </p:sp>
      <p:sp>
        <p:nvSpPr>
          <p:cNvPr id="58" name="Google Shape;74;p2"/>
          <p:cNvSpPr/>
          <p:nvPr/>
        </p:nvSpPr>
        <p:spPr>
          <a:xfrm>
            <a:off x="533520" y="1400040"/>
            <a:ext cx="45712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1674d1"/>
                </a:solidFill>
                <a:latin typeface="Verdana"/>
                <a:ea typeface="Verdana"/>
              </a:rPr>
              <a:t>Camera branch</a:t>
            </a:r>
            <a:endParaRPr b="0" lang="en-US" sz="1950" spc="-1" strike="noStrike">
              <a:solidFill>
                <a:srgbClr val="000000"/>
              </a:solidFill>
              <a:latin typeface="Arial"/>
            </a:endParaRPr>
          </a:p>
        </p:txBody>
      </p:sp>
      <p:sp>
        <p:nvSpPr>
          <p:cNvPr id="59" name="Google Shape;75;p2"/>
          <p:cNvSpPr/>
          <p:nvPr/>
        </p:nvSpPr>
        <p:spPr>
          <a:xfrm>
            <a:off x="552600" y="2038320"/>
            <a:ext cx="1009080" cy="113760"/>
          </a:xfrm>
          <a:custGeom>
            <a:avLst/>
            <a:gdLst>
              <a:gd name="textAreaLeft" fmla="*/ 0 w 1009080"/>
              <a:gd name="textAreaRight" fmla="*/ 1009440 w 1009080"/>
              <a:gd name="textAreaTop" fmla="*/ 0 h 113760"/>
              <a:gd name="textAreaBottom" fmla="*/ 114120 h 113760"/>
            </a:gdLst>
            <a:ahLst/>
            <a:rect l="textAreaLeft" t="textAreaTop" r="textAreaRight" b="textAreaBottom"/>
            <a:pathLst>
              <a:path w="1009650" h="114300">
                <a:moveTo>
                  <a:pt x="0" y="114300"/>
                </a:moveTo>
                <a:lnTo>
                  <a:pt x="114300" y="0"/>
                </a:lnTo>
                <a:lnTo>
                  <a:pt x="1009650" y="0"/>
                </a:lnTo>
                <a:lnTo>
                  <a:pt x="895350"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0" name="Google Shape;76;p2"/>
          <p:cNvSpPr/>
          <p:nvPr/>
        </p:nvSpPr>
        <p:spPr>
          <a:xfrm>
            <a:off x="1447920" y="2038320"/>
            <a:ext cx="113760" cy="799560"/>
          </a:xfrm>
          <a:custGeom>
            <a:avLst/>
            <a:gdLst>
              <a:gd name="textAreaLeft" fmla="*/ 0 w 113760"/>
              <a:gd name="textAreaRight" fmla="*/ 114120 w 113760"/>
              <a:gd name="textAreaTop" fmla="*/ 0 h 799560"/>
              <a:gd name="textAreaBottom" fmla="*/ 799920 h 799560"/>
            </a:gdLst>
            <a:ahLst/>
            <a:rect l="textAreaLeft" t="textAreaTop" r="textAreaRight" b="textAreaBottom"/>
            <a:pathLst>
              <a:path w="114300" h="800100">
                <a:moveTo>
                  <a:pt x="0" y="114300"/>
                </a:moveTo>
                <a:lnTo>
                  <a:pt x="114300" y="0"/>
                </a:lnTo>
                <a:lnTo>
                  <a:pt x="114300" y="685800"/>
                </a:lnTo>
                <a:lnTo>
                  <a:pt x="0" y="8001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61" name="Google Shape;77;p2"/>
          <p:cNvSpPr/>
          <p:nvPr/>
        </p:nvSpPr>
        <p:spPr>
          <a:xfrm>
            <a:off x="552600" y="2152800"/>
            <a:ext cx="894600" cy="68508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2" name="Google Shape;78;p2"/>
          <p:cNvSpPr/>
          <p:nvPr/>
        </p:nvSpPr>
        <p:spPr>
          <a:xfrm>
            <a:off x="776160" y="215280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3" name="Google Shape;79;p2"/>
          <p:cNvSpPr/>
          <p:nvPr/>
        </p:nvSpPr>
        <p:spPr>
          <a:xfrm>
            <a:off x="1000080" y="215280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4" name="Google Shape;80;p2"/>
          <p:cNvSpPr/>
          <p:nvPr/>
        </p:nvSpPr>
        <p:spPr>
          <a:xfrm>
            <a:off x="1224000" y="215280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5" name="Google Shape;81;p2"/>
          <p:cNvSpPr/>
          <p:nvPr/>
        </p:nvSpPr>
        <p:spPr>
          <a:xfrm>
            <a:off x="552600" y="232416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6" name="Google Shape;82;p2"/>
          <p:cNvSpPr/>
          <p:nvPr/>
        </p:nvSpPr>
        <p:spPr>
          <a:xfrm>
            <a:off x="552600" y="249552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7" name="Google Shape;83;p2"/>
          <p:cNvSpPr/>
          <p:nvPr/>
        </p:nvSpPr>
        <p:spPr>
          <a:xfrm>
            <a:off x="552600" y="266688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68" name="Google Shape;84;p2"/>
          <p:cNvSpPr/>
          <p:nvPr/>
        </p:nvSpPr>
        <p:spPr>
          <a:xfrm>
            <a:off x="590400" y="2228760"/>
            <a:ext cx="818280" cy="532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6 RGB</a:t>
            </a:r>
            <a:endParaRPr b="0" lang="en-US" sz="1729" spc="-1" strike="noStrike">
              <a:solidFill>
                <a:srgbClr val="000000"/>
              </a:solidFill>
              <a:latin typeface="Arial"/>
            </a:endParaRPr>
          </a:p>
        </p:txBody>
      </p:sp>
      <p:sp>
        <p:nvSpPr>
          <p:cNvPr id="69" name="Google Shape;85;p2"/>
          <p:cNvSpPr/>
          <p:nvPr/>
        </p:nvSpPr>
        <p:spPr>
          <a:xfrm>
            <a:off x="361800" y="2971800"/>
            <a:ext cx="127548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256 × 704</a:t>
            </a:r>
            <a:endParaRPr b="0" lang="en-US" sz="1500" spc="-1" strike="noStrike">
              <a:solidFill>
                <a:srgbClr val="000000"/>
              </a:solidFill>
              <a:latin typeface="Arial"/>
            </a:endParaRPr>
          </a:p>
        </p:txBody>
      </p:sp>
      <p:sp>
        <p:nvSpPr>
          <p:cNvPr id="70" name="Google Shape;86;p2"/>
          <p:cNvSpPr/>
          <p:nvPr/>
        </p:nvSpPr>
        <p:spPr>
          <a:xfrm>
            <a:off x="1981080" y="2028960"/>
            <a:ext cx="1456560" cy="9327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 name="Google Shape;87;p2"/>
          <p:cNvSpPr/>
          <p:nvPr/>
        </p:nvSpPr>
        <p:spPr>
          <a:xfrm>
            <a:off x="2057400" y="2076480"/>
            <a:ext cx="130428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1674d1"/>
                </a:solidFill>
                <a:latin typeface="Verdana"/>
                <a:ea typeface="Verdana"/>
              </a:rPr>
              <a:t>Swin-T</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1674d1"/>
                </a:solidFill>
                <a:latin typeface="Verdana"/>
                <a:ea typeface="Verdana"/>
              </a:rPr>
              <a:t>+ FPN</a:t>
            </a:r>
            <a:endParaRPr b="0" lang="en-US" sz="1950" spc="-1" strike="noStrike">
              <a:solidFill>
                <a:srgbClr val="000000"/>
              </a:solidFill>
              <a:latin typeface="Arial"/>
            </a:endParaRPr>
          </a:p>
        </p:txBody>
      </p:sp>
      <p:sp>
        <p:nvSpPr>
          <p:cNvPr id="72" name="Google Shape;88;p2"/>
          <p:cNvSpPr/>
          <p:nvPr/>
        </p:nvSpPr>
        <p:spPr>
          <a:xfrm>
            <a:off x="1581120" y="2476440"/>
            <a:ext cx="399240" cy="360"/>
          </a:xfrm>
          <a:custGeom>
            <a:avLst/>
            <a:gdLst>
              <a:gd name="textAreaLeft" fmla="*/ 0 w 399240"/>
              <a:gd name="textAreaRight" fmla="*/ 399600 w 399240"/>
              <a:gd name="textAreaTop" fmla="*/ 0 h 360"/>
              <a:gd name="textAreaBottom" fmla="*/ 720 h 360"/>
            </a:gdLst>
            <a:ahLst/>
            <a:rect l="textAreaLeft" t="textAreaTop" r="textAreaRight" b="textAreaBottom"/>
            <a:pathLst>
              <a:path w="400050" h="953">
                <a:moveTo>
                  <a:pt x="0" y="0"/>
                </a:moveTo>
                <a:lnTo>
                  <a:pt x="4000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 name="Google Shape;89;p2"/>
          <p:cNvSpPr/>
          <p:nvPr/>
        </p:nvSpPr>
        <p:spPr>
          <a:xfrm>
            <a:off x="1886040" y="2432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4" name="Google Shape;90;p2"/>
          <p:cNvSpPr/>
          <p:nvPr/>
        </p:nvSpPr>
        <p:spPr>
          <a:xfrm>
            <a:off x="3933720" y="2028960"/>
            <a:ext cx="1666080" cy="93276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 name="Google Shape;91;p2"/>
          <p:cNvSpPr/>
          <p:nvPr/>
        </p:nvSpPr>
        <p:spPr>
          <a:xfrm>
            <a:off x="4010040" y="2076480"/>
            <a:ext cx="151380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DepthLSS</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lift + pool</a:t>
            </a:r>
            <a:endParaRPr b="0" lang="en-US" sz="1870" spc="-1" strike="noStrike">
              <a:solidFill>
                <a:srgbClr val="000000"/>
              </a:solidFill>
              <a:latin typeface="Arial"/>
            </a:endParaRPr>
          </a:p>
        </p:txBody>
      </p:sp>
      <p:sp>
        <p:nvSpPr>
          <p:cNvPr id="76" name="Google Shape;92;p2"/>
          <p:cNvSpPr/>
          <p:nvPr/>
        </p:nvSpPr>
        <p:spPr>
          <a:xfrm>
            <a:off x="3438360" y="2476440"/>
            <a:ext cx="494640" cy="360"/>
          </a:xfrm>
          <a:custGeom>
            <a:avLst/>
            <a:gdLst>
              <a:gd name="textAreaLeft" fmla="*/ 0 w 494640"/>
              <a:gd name="textAreaRight" fmla="*/ 495000 w 494640"/>
              <a:gd name="textAreaTop" fmla="*/ 0 h 360"/>
              <a:gd name="textAreaBottom" fmla="*/ 720 h 360"/>
            </a:gdLst>
            <a:ahLst/>
            <a:rect l="textAreaLeft" t="textAreaTop" r="textAreaRight" b="textAreaBottom"/>
            <a:pathLst>
              <a:path w="495300" h="953">
                <a:moveTo>
                  <a:pt x="0" y="0"/>
                </a:moveTo>
                <a:lnTo>
                  <a:pt x="4953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 name="Google Shape;93;p2"/>
          <p:cNvSpPr/>
          <p:nvPr/>
        </p:nvSpPr>
        <p:spPr>
          <a:xfrm>
            <a:off x="3838680" y="2432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8" name="Google Shape;94;p2"/>
          <p:cNvSpPr/>
          <p:nvPr/>
        </p:nvSpPr>
        <p:spPr>
          <a:xfrm>
            <a:off x="6191280" y="2009880"/>
            <a:ext cx="1142280" cy="132480"/>
          </a:xfrm>
          <a:custGeom>
            <a:avLst/>
            <a:gdLst>
              <a:gd name="textAreaLeft" fmla="*/ 0 w 1142280"/>
              <a:gd name="textAreaRight" fmla="*/ 1142640 w 1142280"/>
              <a:gd name="textAreaTop" fmla="*/ 0 h 132480"/>
              <a:gd name="textAreaBottom" fmla="*/ 132840 h 132480"/>
            </a:gdLst>
            <a:ahLst/>
            <a:rect l="textAreaLeft" t="textAreaTop" r="textAreaRight" b="textAreaBottom"/>
            <a:pathLst>
              <a:path w="1143000" h="133350">
                <a:moveTo>
                  <a:pt x="0" y="133350"/>
                </a:moveTo>
                <a:lnTo>
                  <a:pt x="133350" y="0"/>
                </a:lnTo>
                <a:lnTo>
                  <a:pt x="1143000" y="0"/>
                </a:lnTo>
                <a:lnTo>
                  <a:pt x="1009650" y="1333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9" name="Google Shape;95;p2"/>
          <p:cNvSpPr/>
          <p:nvPr/>
        </p:nvSpPr>
        <p:spPr>
          <a:xfrm>
            <a:off x="7201080" y="2009880"/>
            <a:ext cx="132480" cy="866160"/>
          </a:xfrm>
          <a:custGeom>
            <a:avLst/>
            <a:gdLst>
              <a:gd name="textAreaLeft" fmla="*/ 0 w 132480"/>
              <a:gd name="textAreaRight" fmla="*/ 132840 w 132480"/>
              <a:gd name="textAreaTop" fmla="*/ 0 h 866160"/>
              <a:gd name="textAreaBottom" fmla="*/ 866520 h 866160"/>
            </a:gdLst>
            <a:ahLst/>
            <a:rect l="textAreaLeft" t="textAreaTop" r="textAreaRight" b="textAreaBottom"/>
            <a:pathLst>
              <a:path w="133350" h="866775">
                <a:moveTo>
                  <a:pt x="0" y="133350"/>
                </a:moveTo>
                <a:lnTo>
                  <a:pt x="133350" y="0"/>
                </a:lnTo>
                <a:lnTo>
                  <a:pt x="133350" y="733425"/>
                </a:lnTo>
                <a:lnTo>
                  <a:pt x="0" y="8667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0" name="Google Shape;96;p2"/>
          <p:cNvSpPr/>
          <p:nvPr/>
        </p:nvSpPr>
        <p:spPr>
          <a:xfrm>
            <a:off x="6191280" y="2143080"/>
            <a:ext cx="1009080" cy="73260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 name="Google Shape;97;p2"/>
          <p:cNvSpPr/>
          <p:nvPr/>
        </p:nvSpPr>
        <p:spPr>
          <a:xfrm>
            <a:off x="6443640" y="214308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 name="Google Shape;98;p2"/>
          <p:cNvSpPr/>
          <p:nvPr/>
        </p:nvSpPr>
        <p:spPr>
          <a:xfrm>
            <a:off x="6696000" y="214308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 name="Google Shape;99;p2"/>
          <p:cNvSpPr/>
          <p:nvPr/>
        </p:nvSpPr>
        <p:spPr>
          <a:xfrm>
            <a:off x="6948360" y="214308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 name="Google Shape;100;p2"/>
          <p:cNvSpPr/>
          <p:nvPr/>
        </p:nvSpPr>
        <p:spPr>
          <a:xfrm>
            <a:off x="6191280" y="232632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5" name="Google Shape;101;p2"/>
          <p:cNvSpPr/>
          <p:nvPr/>
        </p:nvSpPr>
        <p:spPr>
          <a:xfrm>
            <a:off x="6191280" y="250992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6" name="Google Shape;102;p2"/>
          <p:cNvSpPr/>
          <p:nvPr/>
        </p:nvSpPr>
        <p:spPr>
          <a:xfrm>
            <a:off x="6191280" y="269316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7" name="Google Shape;103;p2"/>
          <p:cNvSpPr/>
          <p:nvPr/>
        </p:nvSpPr>
        <p:spPr>
          <a:xfrm>
            <a:off x="6229440" y="2219400"/>
            <a:ext cx="932760" cy="580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80</a:t>
            </a:r>
            <a:endParaRPr b="0" lang="en-US" sz="1729" spc="-1" strike="noStrike">
              <a:solidFill>
                <a:srgbClr val="000000"/>
              </a:solidFill>
              <a:latin typeface="Arial"/>
            </a:endParaRPr>
          </a:p>
        </p:txBody>
      </p:sp>
      <p:sp>
        <p:nvSpPr>
          <p:cNvPr id="88" name="Google Shape;104;p2"/>
          <p:cNvSpPr/>
          <p:nvPr/>
        </p:nvSpPr>
        <p:spPr>
          <a:xfrm>
            <a:off x="6000840" y="300996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180 × 180</a:t>
            </a:r>
            <a:endParaRPr b="0" lang="en-US" sz="1500" spc="-1" strike="noStrike">
              <a:solidFill>
                <a:srgbClr val="000000"/>
              </a:solidFill>
              <a:latin typeface="Arial"/>
            </a:endParaRPr>
          </a:p>
        </p:txBody>
      </p:sp>
      <p:sp>
        <p:nvSpPr>
          <p:cNvPr id="89" name="Google Shape;105;p2"/>
          <p:cNvSpPr/>
          <p:nvPr/>
        </p:nvSpPr>
        <p:spPr>
          <a:xfrm>
            <a:off x="5600880" y="2476440"/>
            <a:ext cx="551880" cy="360"/>
          </a:xfrm>
          <a:custGeom>
            <a:avLst/>
            <a:gdLst>
              <a:gd name="textAreaLeft" fmla="*/ 0 w 551880"/>
              <a:gd name="textAreaRight" fmla="*/ 552240 w 551880"/>
              <a:gd name="textAreaTop" fmla="*/ 0 h 360"/>
              <a:gd name="textAreaBottom" fmla="*/ 720 h 360"/>
            </a:gdLst>
            <a:ahLst/>
            <a:rect l="textAreaLeft" t="textAreaTop" r="textAreaRight" b="textAreaBottom"/>
            <a:pathLst>
              <a:path w="552450" h="953">
                <a:moveTo>
                  <a:pt x="0" y="0"/>
                </a:moveTo>
                <a:lnTo>
                  <a:pt x="5524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0" name="Google Shape;106;p2"/>
          <p:cNvSpPr/>
          <p:nvPr/>
        </p:nvSpPr>
        <p:spPr>
          <a:xfrm>
            <a:off x="6058080" y="2432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1" name="Google Shape;107;p2"/>
          <p:cNvSpPr/>
          <p:nvPr/>
        </p:nvSpPr>
        <p:spPr>
          <a:xfrm>
            <a:off x="533520" y="3676680"/>
            <a:ext cx="45712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c86a1b"/>
                </a:solidFill>
                <a:latin typeface="Verdana"/>
                <a:ea typeface="Verdana"/>
              </a:rPr>
              <a:t>LiDAR branch</a:t>
            </a:r>
            <a:endParaRPr b="0" lang="en-US" sz="1950" spc="-1" strike="noStrike">
              <a:solidFill>
                <a:srgbClr val="000000"/>
              </a:solidFill>
              <a:latin typeface="Arial"/>
            </a:endParaRPr>
          </a:p>
        </p:txBody>
      </p:sp>
      <p:sp>
        <p:nvSpPr>
          <p:cNvPr id="92" name="Google Shape;108;p2"/>
          <p:cNvSpPr/>
          <p:nvPr/>
        </p:nvSpPr>
        <p:spPr>
          <a:xfrm>
            <a:off x="552600" y="4276800"/>
            <a:ext cx="1009080" cy="113760"/>
          </a:xfrm>
          <a:custGeom>
            <a:avLst/>
            <a:gdLst>
              <a:gd name="textAreaLeft" fmla="*/ 0 w 1009080"/>
              <a:gd name="textAreaRight" fmla="*/ 1009440 w 1009080"/>
              <a:gd name="textAreaTop" fmla="*/ 0 h 113760"/>
              <a:gd name="textAreaBottom" fmla="*/ 114120 h 113760"/>
            </a:gdLst>
            <a:ahLst/>
            <a:rect l="textAreaLeft" t="textAreaTop" r="textAreaRight" b="textAreaBottom"/>
            <a:pathLst>
              <a:path w="1009650" h="114300">
                <a:moveTo>
                  <a:pt x="0" y="114300"/>
                </a:moveTo>
                <a:lnTo>
                  <a:pt x="114300" y="0"/>
                </a:lnTo>
                <a:lnTo>
                  <a:pt x="1009650" y="0"/>
                </a:lnTo>
                <a:lnTo>
                  <a:pt x="895350" y="11430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 name="Google Shape;109;p2"/>
          <p:cNvSpPr/>
          <p:nvPr/>
        </p:nvSpPr>
        <p:spPr>
          <a:xfrm>
            <a:off x="1447920" y="4276800"/>
            <a:ext cx="113760" cy="799560"/>
          </a:xfrm>
          <a:custGeom>
            <a:avLst/>
            <a:gdLst>
              <a:gd name="textAreaLeft" fmla="*/ 0 w 113760"/>
              <a:gd name="textAreaRight" fmla="*/ 114120 w 113760"/>
              <a:gd name="textAreaTop" fmla="*/ 0 h 799560"/>
              <a:gd name="textAreaBottom" fmla="*/ 799920 h 799560"/>
            </a:gdLst>
            <a:ahLst/>
            <a:rect l="textAreaLeft" t="textAreaTop" r="textAreaRight" b="textAreaBottom"/>
            <a:pathLst>
              <a:path w="114300" h="800100">
                <a:moveTo>
                  <a:pt x="0" y="114300"/>
                </a:moveTo>
                <a:lnTo>
                  <a:pt x="114300" y="0"/>
                </a:lnTo>
                <a:lnTo>
                  <a:pt x="114300" y="685800"/>
                </a:lnTo>
                <a:lnTo>
                  <a:pt x="0" y="8001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 name="Google Shape;110;p2"/>
          <p:cNvSpPr/>
          <p:nvPr/>
        </p:nvSpPr>
        <p:spPr>
          <a:xfrm>
            <a:off x="552600" y="4390920"/>
            <a:ext cx="894600" cy="68508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 name="Google Shape;111;p2"/>
          <p:cNvSpPr/>
          <p:nvPr/>
        </p:nvSpPr>
        <p:spPr>
          <a:xfrm>
            <a:off x="776160" y="439092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 name="Google Shape;112;p2"/>
          <p:cNvSpPr/>
          <p:nvPr/>
        </p:nvSpPr>
        <p:spPr>
          <a:xfrm>
            <a:off x="1000080" y="439092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 name="Google Shape;113;p2"/>
          <p:cNvSpPr/>
          <p:nvPr/>
        </p:nvSpPr>
        <p:spPr>
          <a:xfrm>
            <a:off x="1224000" y="4390920"/>
            <a:ext cx="360" cy="685080"/>
          </a:xfrm>
          <a:custGeom>
            <a:avLst/>
            <a:gdLst>
              <a:gd name="textAreaLeft" fmla="*/ 0 w 360"/>
              <a:gd name="textAreaRight" fmla="*/ 720 w 360"/>
              <a:gd name="textAreaTop" fmla="*/ 0 h 685080"/>
              <a:gd name="textAreaBottom" fmla="*/ 685440 h 685080"/>
            </a:gdLst>
            <a:ahLst/>
            <a:rect l="textAreaLeft" t="textAreaTop" r="textAreaRight" b="textAreaBottom"/>
            <a:pathLst>
              <a:path w="953" h="685800">
                <a:moveTo>
                  <a:pt x="0" y="0"/>
                </a:moveTo>
                <a:lnTo>
                  <a:pt x="0" y="685800"/>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 name="Google Shape;114;p2"/>
          <p:cNvSpPr/>
          <p:nvPr/>
        </p:nvSpPr>
        <p:spPr>
          <a:xfrm>
            <a:off x="552600" y="456264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9" name="Google Shape;115;p2"/>
          <p:cNvSpPr/>
          <p:nvPr/>
        </p:nvSpPr>
        <p:spPr>
          <a:xfrm>
            <a:off x="552600" y="473400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0" name="Google Shape;116;p2"/>
          <p:cNvSpPr/>
          <p:nvPr/>
        </p:nvSpPr>
        <p:spPr>
          <a:xfrm>
            <a:off x="552600" y="4905360"/>
            <a:ext cx="894600" cy="360"/>
          </a:xfrm>
          <a:custGeom>
            <a:avLst/>
            <a:gdLst>
              <a:gd name="textAreaLeft" fmla="*/ 0 w 894600"/>
              <a:gd name="textAreaRight" fmla="*/ 894960 w 894600"/>
              <a:gd name="textAreaTop" fmla="*/ 0 h 360"/>
              <a:gd name="textAreaBottom" fmla="*/ 720 h 360"/>
            </a:gdLst>
            <a:ahLst/>
            <a:rect l="textAreaLeft" t="textAreaTop" r="textAreaRight" b="textAreaBottom"/>
            <a:pathLst>
              <a:path w="895350" h="953">
                <a:moveTo>
                  <a:pt x="0" y="0"/>
                </a:moveTo>
                <a:lnTo>
                  <a:pt x="8953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1" name="Google Shape;117;p2"/>
          <p:cNvSpPr/>
          <p:nvPr/>
        </p:nvSpPr>
        <p:spPr>
          <a:xfrm>
            <a:off x="590400" y="4467240"/>
            <a:ext cx="818280" cy="532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Points</a:t>
            </a:r>
            <a:endParaRPr b="0" lang="en-US" sz="1729" spc="-1" strike="noStrike">
              <a:solidFill>
                <a:srgbClr val="000000"/>
              </a:solidFill>
              <a:latin typeface="Arial"/>
            </a:endParaRPr>
          </a:p>
        </p:txBody>
      </p:sp>
      <p:sp>
        <p:nvSpPr>
          <p:cNvPr id="102" name="Google Shape;118;p2"/>
          <p:cNvSpPr/>
          <p:nvPr/>
        </p:nvSpPr>
        <p:spPr>
          <a:xfrm>
            <a:off x="361800" y="5210280"/>
            <a:ext cx="127548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10 sweeps</a:t>
            </a:r>
            <a:endParaRPr b="0" lang="en-US" sz="1500" spc="-1" strike="noStrike">
              <a:solidFill>
                <a:srgbClr val="000000"/>
              </a:solidFill>
              <a:latin typeface="Arial"/>
            </a:endParaRPr>
          </a:p>
        </p:txBody>
      </p:sp>
      <p:sp>
        <p:nvSpPr>
          <p:cNvPr id="103" name="Google Shape;119;p2"/>
          <p:cNvSpPr/>
          <p:nvPr/>
        </p:nvSpPr>
        <p:spPr>
          <a:xfrm>
            <a:off x="1981080" y="4267080"/>
            <a:ext cx="1456560" cy="9327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 name="Google Shape;120;p2"/>
          <p:cNvSpPr/>
          <p:nvPr/>
        </p:nvSpPr>
        <p:spPr>
          <a:xfrm>
            <a:off x="2057400" y="4314960"/>
            <a:ext cx="130428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Voxelize</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c86a1b"/>
                </a:solidFill>
                <a:latin typeface="Verdana"/>
                <a:ea typeface="Verdana"/>
              </a:rPr>
              <a:t>+ mean VFE</a:t>
            </a:r>
            <a:endParaRPr b="0" lang="en-US" sz="1729" spc="-1" strike="noStrike">
              <a:solidFill>
                <a:srgbClr val="000000"/>
              </a:solidFill>
              <a:latin typeface="Arial"/>
            </a:endParaRPr>
          </a:p>
        </p:txBody>
      </p:sp>
      <p:sp>
        <p:nvSpPr>
          <p:cNvPr id="105" name="Google Shape;121;p2"/>
          <p:cNvSpPr/>
          <p:nvPr/>
        </p:nvSpPr>
        <p:spPr>
          <a:xfrm>
            <a:off x="1581120" y="4724280"/>
            <a:ext cx="399240" cy="360"/>
          </a:xfrm>
          <a:custGeom>
            <a:avLst/>
            <a:gdLst>
              <a:gd name="textAreaLeft" fmla="*/ 0 w 399240"/>
              <a:gd name="textAreaRight" fmla="*/ 399600 w 399240"/>
              <a:gd name="textAreaTop" fmla="*/ 0 h 360"/>
              <a:gd name="textAreaBottom" fmla="*/ 720 h 360"/>
            </a:gdLst>
            <a:ahLst/>
            <a:rect l="textAreaLeft" t="textAreaTop" r="textAreaRight" b="textAreaBottom"/>
            <a:pathLst>
              <a:path w="400050" h="953">
                <a:moveTo>
                  <a:pt x="0" y="0"/>
                </a:moveTo>
                <a:lnTo>
                  <a:pt x="4000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6" name="Google Shape;122;p2"/>
          <p:cNvSpPr/>
          <p:nvPr/>
        </p:nvSpPr>
        <p:spPr>
          <a:xfrm>
            <a:off x="1886040" y="46807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7" name="Google Shape;123;p2"/>
          <p:cNvSpPr/>
          <p:nvPr/>
        </p:nvSpPr>
        <p:spPr>
          <a:xfrm>
            <a:off x="3933720" y="4267080"/>
            <a:ext cx="1666080" cy="93276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 name="Google Shape;124;p2"/>
          <p:cNvSpPr/>
          <p:nvPr/>
        </p:nvSpPr>
        <p:spPr>
          <a:xfrm>
            <a:off x="4010040" y="4314960"/>
            <a:ext cx="151380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c86a1b"/>
                </a:solidFill>
                <a:latin typeface="Verdana"/>
                <a:ea typeface="Verdana"/>
              </a:rPr>
              <a:t>Sparse 3D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c86a1b"/>
                </a:solidFill>
                <a:latin typeface="Verdana"/>
                <a:ea typeface="Verdana"/>
              </a:rPr>
              <a:t>encoder</a:t>
            </a:r>
            <a:endParaRPr b="0" lang="en-US" sz="1870" spc="-1" strike="noStrike">
              <a:solidFill>
                <a:srgbClr val="000000"/>
              </a:solidFill>
              <a:latin typeface="Arial"/>
            </a:endParaRPr>
          </a:p>
        </p:txBody>
      </p:sp>
      <p:sp>
        <p:nvSpPr>
          <p:cNvPr id="109" name="Google Shape;125;p2"/>
          <p:cNvSpPr/>
          <p:nvPr/>
        </p:nvSpPr>
        <p:spPr>
          <a:xfrm>
            <a:off x="3438360" y="4724280"/>
            <a:ext cx="494640" cy="360"/>
          </a:xfrm>
          <a:custGeom>
            <a:avLst/>
            <a:gdLst>
              <a:gd name="textAreaLeft" fmla="*/ 0 w 494640"/>
              <a:gd name="textAreaRight" fmla="*/ 495000 w 494640"/>
              <a:gd name="textAreaTop" fmla="*/ 0 h 360"/>
              <a:gd name="textAreaBottom" fmla="*/ 720 h 360"/>
            </a:gdLst>
            <a:ahLst/>
            <a:rect l="textAreaLeft" t="textAreaTop" r="textAreaRight" b="textAreaBottom"/>
            <a:pathLst>
              <a:path w="495300" h="953">
                <a:moveTo>
                  <a:pt x="0" y="0"/>
                </a:moveTo>
                <a:lnTo>
                  <a:pt x="4953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0" name="Google Shape;126;p2"/>
          <p:cNvSpPr/>
          <p:nvPr/>
        </p:nvSpPr>
        <p:spPr>
          <a:xfrm>
            <a:off x="3838680" y="46807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1" name="Google Shape;127;p2"/>
          <p:cNvSpPr/>
          <p:nvPr/>
        </p:nvSpPr>
        <p:spPr>
          <a:xfrm>
            <a:off x="6191280" y="4248000"/>
            <a:ext cx="1142280" cy="132480"/>
          </a:xfrm>
          <a:custGeom>
            <a:avLst/>
            <a:gdLst>
              <a:gd name="textAreaLeft" fmla="*/ 0 w 1142280"/>
              <a:gd name="textAreaRight" fmla="*/ 1142640 w 1142280"/>
              <a:gd name="textAreaTop" fmla="*/ 0 h 132480"/>
              <a:gd name="textAreaBottom" fmla="*/ 132840 h 132480"/>
            </a:gdLst>
            <a:ahLst/>
            <a:rect l="textAreaLeft" t="textAreaTop" r="textAreaRight" b="textAreaBottom"/>
            <a:pathLst>
              <a:path w="1143000" h="133350">
                <a:moveTo>
                  <a:pt x="0" y="133350"/>
                </a:moveTo>
                <a:lnTo>
                  <a:pt x="133350" y="0"/>
                </a:lnTo>
                <a:lnTo>
                  <a:pt x="1143000" y="0"/>
                </a:lnTo>
                <a:lnTo>
                  <a:pt x="1009650" y="1333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 name="Google Shape;128;p2"/>
          <p:cNvSpPr/>
          <p:nvPr/>
        </p:nvSpPr>
        <p:spPr>
          <a:xfrm>
            <a:off x="7201080" y="4248000"/>
            <a:ext cx="132480" cy="866160"/>
          </a:xfrm>
          <a:custGeom>
            <a:avLst/>
            <a:gdLst>
              <a:gd name="textAreaLeft" fmla="*/ 0 w 132480"/>
              <a:gd name="textAreaRight" fmla="*/ 132840 w 132480"/>
              <a:gd name="textAreaTop" fmla="*/ 0 h 866160"/>
              <a:gd name="textAreaBottom" fmla="*/ 866520 h 866160"/>
            </a:gdLst>
            <a:ahLst/>
            <a:rect l="textAreaLeft" t="textAreaTop" r="textAreaRight" b="textAreaBottom"/>
            <a:pathLst>
              <a:path w="133350" h="866775">
                <a:moveTo>
                  <a:pt x="0" y="133350"/>
                </a:moveTo>
                <a:lnTo>
                  <a:pt x="133350" y="0"/>
                </a:lnTo>
                <a:lnTo>
                  <a:pt x="133350" y="733425"/>
                </a:lnTo>
                <a:lnTo>
                  <a:pt x="0" y="8667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 name="Google Shape;129;p2"/>
          <p:cNvSpPr/>
          <p:nvPr/>
        </p:nvSpPr>
        <p:spPr>
          <a:xfrm>
            <a:off x="6191280" y="4381560"/>
            <a:ext cx="1009080" cy="73260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 name="Google Shape;130;p2"/>
          <p:cNvSpPr/>
          <p:nvPr/>
        </p:nvSpPr>
        <p:spPr>
          <a:xfrm>
            <a:off x="6443640" y="438156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5" name="Google Shape;131;p2"/>
          <p:cNvSpPr/>
          <p:nvPr/>
        </p:nvSpPr>
        <p:spPr>
          <a:xfrm>
            <a:off x="6696000" y="438156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6" name="Google Shape;132;p2"/>
          <p:cNvSpPr/>
          <p:nvPr/>
        </p:nvSpPr>
        <p:spPr>
          <a:xfrm>
            <a:off x="6948360" y="4381560"/>
            <a:ext cx="360" cy="732600"/>
          </a:xfrm>
          <a:custGeom>
            <a:avLst/>
            <a:gdLst>
              <a:gd name="textAreaLeft" fmla="*/ 0 w 360"/>
              <a:gd name="textAreaRight" fmla="*/ 720 w 360"/>
              <a:gd name="textAreaTop" fmla="*/ 0 h 732600"/>
              <a:gd name="textAreaBottom" fmla="*/ 732960 h 732600"/>
            </a:gdLst>
            <a:ahLst/>
            <a:rect l="textAreaLeft" t="textAreaTop" r="textAreaRight" b="textAreaBottom"/>
            <a:pathLst>
              <a:path w="953" h="733425">
                <a:moveTo>
                  <a:pt x="0" y="0"/>
                </a:moveTo>
                <a:lnTo>
                  <a:pt x="0" y="7334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 name="Google Shape;133;p2"/>
          <p:cNvSpPr/>
          <p:nvPr/>
        </p:nvSpPr>
        <p:spPr>
          <a:xfrm>
            <a:off x="6191280" y="456480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8" name="Google Shape;134;p2"/>
          <p:cNvSpPr/>
          <p:nvPr/>
        </p:nvSpPr>
        <p:spPr>
          <a:xfrm>
            <a:off x="6191280" y="474804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9" name="Google Shape;135;p2"/>
          <p:cNvSpPr/>
          <p:nvPr/>
        </p:nvSpPr>
        <p:spPr>
          <a:xfrm>
            <a:off x="6191280" y="4931640"/>
            <a:ext cx="1009080" cy="360"/>
          </a:xfrm>
          <a:custGeom>
            <a:avLst/>
            <a:gdLst>
              <a:gd name="textAreaLeft" fmla="*/ 0 w 1009080"/>
              <a:gd name="textAreaRight" fmla="*/ 1009440 w 1009080"/>
              <a:gd name="textAreaTop" fmla="*/ 0 h 360"/>
              <a:gd name="textAreaBottom" fmla="*/ 720 h 360"/>
            </a:gdLst>
            <a:ahLst/>
            <a:rect l="textAreaLeft" t="textAreaTop" r="textAreaRight" b="textAreaBottom"/>
            <a:pathLst>
              <a:path w="1009650" h="953">
                <a:moveTo>
                  <a:pt x="0" y="0"/>
                </a:moveTo>
                <a:lnTo>
                  <a:pt x="100965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 name="Google Shape;136;p2"/>
          <p:cNvSpPr/>
          <p:nvPr/>
        </p:nvSpPr>
        <p:spPr>
          <a:xfrm>
            <a:off x="6229440" y="4457880"/>
            <a:ext cx="932760" cy="580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a:t>
            </a:r>
            <a:endParaRPr b="0" lang="en-US" sz="1729" spc="-1" strike="noStrike">
              <a:solidFill>
                <a:srgbClr val="000000"/>
              </a:solidFill>
              <a:latin typeface="Arial"/>
            </a:endParaRPr>
          </a:p>
        </p:txBody>
      </p:sp>
      <p:sp>
        <p:nvSpPr>
          <p:cNvPr id="121" name="Google Shape;137;p2"/>
          <p:cNvSpPr/>
          <p:nvPr/>
        </p:nvSpPr>
        <p:spPr>
          <a:xfrm>
            <a:off x="6000840" y="524844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c86a1b"/>
                </a:solidFill>
                <a:latin typeface="Verdana"/>
                <a:ea typeface="Verdana"/>
              </a:rPr>
              <a:t>180 × 180</a:t>
            </a:r>
            <a:endParaRPr b="0" lang="en-US" sz="1500" spc="-1" strike="noStrike">
              <a:solidFill>
                <a:srgbClr val="000000"/>
              </a:solidFill>
              <a:latin typeface="Arial"/>
            </a:endParaRPr>
          </a:p>
        </p:txBody>
      </p:sp>
      <p:sp>
        <p:nvSpPr>
          <p:cNvPr id="122" name="Google Shape;138;p2"/>
          <p:cNvSpPr/>
          <p:nvPr/>
        </p:nvSpPr>
        <p:spPr>
          <a:xfrm>
            <a:off x="5600880" y="4724280"/>
            <a:ext cx="551880" cy="360"/>
          </a:xfrm>
          <a:custGeom>
            <a:avLst/>
            <a:gdLst>
              <a:gd name="textAreaLeft" fmla="*/ 0 w 551880"/>
              <a:gd name="textAreaRight" fmla="*/ 552240 w 551880"/>
              <a:gd name="textAreaTop" fmla="*/ 0 h 360"/>
              <a:gd name="textAreaBottom" fmla="*/ 720 h 360"/>
            </a:gdLst>
            <a:ahLst/>
            <a:rect l="textAreaLeft" t="textAreaTop" r="textAreaRight" b="textAreaBottom"/>
            <a:pathLst>
              <a:path w="552450" h="953">
                <a:moveTo>
                  <a:pt x="0" y="0"/>
                </a:moveTo>
                <a:lnTo>
                  <a:pt x="5524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 name="Google Shape;139;p2"/>
          <p:cNvSpPr/>
          <p:nvPr/>
        </p:nvSpPr>
        <p:spPr>
          <a:xfrm>
            <a:off x="6058080" y="46807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4" name="Google Shape;140;p2"/>
          <p:cNvSpPr/>
          <p:nvPr/>
        </p:nvSpPr>
        <p:spPr>
          <a:xfrm>
            <a:off x="1047600" y="2962440"/>
            <a:ext cx="3704400" cy="1208880"/>
          </a:xfrm>
          <a:custGeom>
            <a:avLst/>
            <a:gdLst>
              <a:gd name="textAreaLeft" fmla="*/ 0 w 3704400"/>
              <a:gd name="textAreaRight" fmla="*/ 3704760 w 3704400"/>
              <a:gd name="textAreaTop" fmla="*/ 0 h 1208880"/>
              <a:gd name="textAreaBottom" fmla="*/ 1209240 h 1208880"/>
            </a:gdLst>
            <a:ahLst/>
            <a:rect l="textAreaLeft" t="textAreaTop" r="textAreaRight" b="textAreaBottom"/>
            <a:pathLst>
              <a:path w="3705225" h="1209675">
                <a:moveTo>
                  <a:pt x="0" y="1209675"/>
                </a:moveTo>
                <a:lnTo>
                  <a:pt x="0" y="495300"/>
                </a:lnTo>
                <a:lnTo>
                  <a:pt x="3705225" y="495300"/>
                </a:lnTo>
                <a:lnTo>
                  <a:pt x="3705225" y="0"/>
                </a:lnTo>
              </a:path>
            </a:pathLst>
          </a:custGeom>
          <a:noFill/>
          <a:ln w="19050">
            <a:solidFill>
              <a:srgbClr val="c86a1b"/>
            </a:solidFill>
            <a:prstDash val="dash"/>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5" name="Google Shape;141;p2"/>
          <p:cNvSpPr/>
          <p:nvPr/>
        </p:nvSpPr>
        <p:spPr>
          <a:xfrm>
            <a:off x="4709160" y="29624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26" name="Google Shape;142;p2"/>
          <p:cNvSpPr/>
          <p:nvPr/>
        </p:nvSpPr>
        <p:spPr>
          <a:xfrm>
            <a:off x="1752480" y="3171960"/>
            <a:ext cx="3332880" cy="266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00" spc="-1" strike="noStrike">
                <a:solidFill>
                  <a:srgbClr val="c86a1b"/>
                </a:solidFill>
                <a:latin typeface="Verdana"/>
                <a:ea typeface="Verdana"/>
              </a:rPr>
              <a:t>Projected sparse depth</a:t>
            </a:r>
            <a:endParaRPr b="0" lang="en-US" sz="1500" spc="-1" strike="noStrike">
              <a:solidFill>
                <a:srgbClr val="000000"/>
              </a:solidFill>
              <a:latin typeface="Arial"/>
            </a:endParaRPr>
          </a:p>
        </p:txBody>
      </p:sp>
      <p:sp>
        <p:nvSpPr>
          <p:cNvPr id="127" name="Google Shape;143;p2"/>
          <p:cNvSpPr/>
          <p:nvPr/>
        </p:nvSpPr>
        <p:spPr>
          <a:xfrm>
            <a:off x="7867800" y="2867040"/>
            <a:ext cx="1666080" cy="97092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8" name="Google Shape;144;p2"/>
          <p:cNvSpPr/>
          <p:nvPr/>
        </p:nvSpPr>
        <p:spPr>
          <a:xfrm>
            <a:off x="7943760" y="2914560"/>
            <a:ext cx="1513800" cy="875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Spatial</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fusion gate</a:t>
            </a:r>
            <a:endParaRPr b="0" lang="en-US" sz="1870" spc="-1" strike="noStrike">
              <a:solidFill>
                <a:srgbClr val="000000"/>
              </a:solidFill>
              <a:latin typeface="Arial"/>
            </a:endParaRPr>
          </a:p>
        </p:txBody>
      </p:sp>
      <p:sp>
        <p:nvSpPr>
          <p:cNvPr id="129" name="Google Shape;145;p2"/>
          <p:cNvSpPr/>
          <p:nvPr/>
        </p:nvSpPr>
        <p:spPr>
          <a:xfrm>
            <a:off x="7334280" y="2514600"/>
            <a:ext cx="532800" cy="618480"/>
          </a:xfrm>
          <a:custGeom>
            <a:avLst/>
            <a:gdLst>
              <a:gd name="textAreaLeft" fmla="*/ 0 w 532800"/>
              <a:gd name="textAreaRight" fmla="*/ 533160 w 532800"/>
              <a:gd name="textAreaTop" fmla="*/ 0 h 618480"/>
              <a:gd name="textAreaBottom" fmla="*/ 618840 h 618480"/>
            </a:gdLst>
            <a:ahLst/>
            <a:rect l="textAreaLeft" t="textAreaTop" r="textAreaRight" b="textAreaBottom"/>
            <a:pathLst>
              <a:path w="533400" h="619125">
                <a:moveTo>
                  <a:pt x="0" y="0"/>
                </a:moveTo>
                <a:lnTo>
                  <a:pt x="257175" y="0"/>
                </a:lnTo>
                <a:lnTo>
                  <a:pt x="257175" y="619125"/>
                </a:lnTo>
                <a:lnTo>
                  <a:pt x="533400" y="6191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 name="Google Shape;146;p2"/>
          <p:cNvSpPr/>
          <p:nvPr/>
        </p:nvSpPr>
        <p:spPr>
          <a:xfrm>
            <a:off x="7772400" y="30898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1" name="Google Shape;147;p2"/>
          <p:cNvSpPr/>
          <p:nvPr/>
        </p:nvSpPr>
        <p:spPr>
          <a:xfrm>
            <a:off x="7334280" y="3571920"/>
            <a:ext cx="532800" cy="1161360"/>
          </a:xfrm>
          <a:custGeom>
            <a:avLst/>
            <a:gdLst>
              <a:gd name="textAreaLeft" fmla="*/ 0 w 532800"/>
              <a:gd name="textAreaRight" fmla="*/ 533160 w 532800"/>
              <a:gd name="textAreaTop" fmla="*/ 0 h 1161360"/>
              <a:gd name="textAreaBottom" fmla="*/ 1161720 h 1161360"/>
            </a:gdLst>
            <a:ahLst/>
            <a:rect l="textAreaLeft" t="textAreaTop" r="textAreaRight" b="textAreaBottom"/>
            <a:pathLst>
              <a:path w="533400" h="1162050">
                <a:moveTo>
                  <a:pt x="0" y="1162050"/>
                </a:moveTo>
                <a:lnTo>
                  <a:pt x="257175" y="1162050"/>
                </a:lnTo>
                <a:lnTo>
                  <a:pt x="257175" y="0"/>
                </a:lnTo>
                <a:lnTo>
                  <a:pt x="533400"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2" name="Google Shape;148;p2"/>
          <p:cNvSpPr/>
          <p:nvPr/>
        </p:nvSpPr>
        <p:spPr>
          <a:xfrm>
            <a:off x="7772400" y="3528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3" name="Google Shape;149;p2"/>
          <p:cNvSpPr/>
          <p:nvPr/>
        </p:nvSpPr>
        <p:spPr>
          <a:xfrm>
            <a:off x="8696160" y="3838680"/>
            <a:ext cx="360" cy="484920"/>
          </a:xfrm>
          <a:custGeom>
            <a:avLst/>
            <a:gdLst>
              <a:gd name="textAreaLeft" fmla="*/ 0 w 360"/>
              <a:gd name="textAreaRight" fmla="*/ 720 w 360"/>
              <a:gd name="textAreaTop" fmla="*/ 0 h 484920"/>
              <a:gd name="textAreaBottom" fmla="*/ 485280 h 484920"/>
            </a:gdLst>
            <a:ahLst/>
            <a:rect l="textAreaLeft" t="textAreaTop" r="textAreaRight" b="textAreaBottom"/>
            <a:pathLst>
              <a:path w="953" h="485775">
                <a:moveTo>
                  <a:pt x="0" y="0"/>
                </a:moveTo>
                <a:lnTo>
                  <a:pt x="0" y="4857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 name="Google Shape;150;p2"/>
          <p:cNvSpPr/>
          <p:nvPr/>
        </p:nvSpPr>
        <p:spPr>
          <a:xfrm>
            <a:off x="8652600" y="422928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5" name="Google Shape;151;p2"/>
          <p:cNvSpPr/>
          <p:nvPr/>
        </p:nvSpPr>
        <p:spPr>
          <a:xfrm>
            <a:off x="7867800" y="4324320"/>
            <a:ext cx="1666080" cy="8755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6" name="Google Shape;152;p2"/>
          <p:cNvSpPr/>
          <p:nvPr/>
        </p:nvSpPr>
        <p:spPr>
          <a:xfrm>
            <a:off x="7943760" y="4371840"/>
            <a:ext cx="1513800" cy="780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SECOND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 FPN</a:t>
            </a:r>
            <a:endParaRPr b="0" lang="en-US" sz="1870" spc="-1" strike="noStrike">
              <a:solidFill>
                <a:srgbClr val="000000"/>
              </a:solidFill>
              <a:latin typeface="Arial"/>
            </a:endParaRPr>
          </a:p>
        </p:txBody>
      </p:sp>
      <p:sp>
        <p:nvSpPr>
          <p:cNvPr id="137" name="Google Shape;153;p2"/>
          <p:cNvSpPr/>
          <p:nvPr/>
        </p:nvSpPr>
        <p:spPr>
          <a:xfrm>
            <a:off x="9534600" y="1895400"/>
            <a:ext cx="380160" cy="2866320"/>
          </a:xfrm>
          <a:custGeom>
            <a:avLst/>
            <a:gdLst>
              <a:gd name="textAreaLeft" fmla="*/ 0 w 380160"/>
              <a:gd name="textAreaRight" fmla="*/ 380520 w 380160"/>
              <a:gd name="textAreaTop" fmla="*/ 0 h 2866320"/>
              <a:gd name="textAreaBottom" fmla="*/ 2866680 h 2866320"/>
            </a:gdLst>
            <a:ahLst/>
            <a:rect l="textAreaLeft" t="textAreaTop" r="textAreaRight" b="textAreaBottom"/>
            <a:pathLst>
              <a:path w="381000" h="2867025">
                <a:moveTo>
                  <a:pt x="0" y="2867025"/>
                </a:moveTo>
                <a:lnTo>
                  <a:pt x="180975" y="2867025"/>
                </a:lnTo>
                <a:lnTo>
                  <a:pt x="180975" y="0"/>
                </a:lnTo>
                <a:lnTo>
                  <a:pt x="381000"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8" name="Google Shape;154;p2"/>
          <p:cNvSpPr/>
          <p:nvPr/>
        </p:nvSpPr>
        <p:spPr>
          <a:xfrm>
            <a:off x="9820440" y="18518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9" name="Google Shape;155;p2"/>
          <p:cNvSpPr/>
          <p:nvPr/>
        </p:nvSpPr>
        <p:spPr>
          <a:xfrm>
            <a:off x="9915480" y="1438200"/>
            <a:ext cx="1742400" cy="88524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0" name="Google Shape;156;p2"/>
          <p:cNvSpPr/>
          <p:nvPr/>
        </p:nvSpPr>
        <p:spPr>
          <a:xfrm>
            <a:off x="9991800" y="1486080"/>
            <a:ext cx="1590120" cy="789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TransFusion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200 queries</a:t>
            </a:r>
            <a:endParaRPr b="0" lang="en-US" sz="1800" spc="-1" strike="noStrike">
              <a:solidFill>
                <a:srgbClr val="000000"/>
              </a:solidFill>
              <a:latin typeface="Arial"/>
            </a:endParaRPr>
          </a:p>
        </p:txBody>
      </p:sp>
      <p:sp>
        <p:nvSpPr>
          <p:cNvPr id="141" name="Google Shape;157;p2"/>
          <p:cNvSpPr/>
          <p:nvPr/>
        </p:nvSpPr>
        <p:spPr>
          <a:xfrm>
            <a:off x="10782360" y="2324160"/>
            <a:ext cx="360" cy="532800"/>
          </a:xfrm>
          <a:custGeom>
            <a:avLst/>
            <a:gdLst>
              <a:gd name="textAreaLeft" fmla="*/ 0 w 360"/>
              <a:gd name="textAreaRight" fmla="*/ 720 w 360"/>
              <a:gd name="textAreaTop" fmla="*/ 0 h 532800"/>
              <a:gd name="textAreaBottom" fmla="*/ 533160 h 532800"/>
            </a:gdLst>
            <a:ahLst/>
            <a:rect l="textAreaLeft" t="textAreaTop" r="textAreaRight" b="textAreaBottom"/>
            <a:pathLst>
              <a:path w="953" h="533400">
                <a:moveTo>
                  <a:pt x="0" y="0"/>
                </a:moveTo>
                <a:lnTo>
                  <a:pt x="0" y="53340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2" name="Google Shape;158;p2"/>
          <p:cNvSpPr/>
          <p:nvPr/>
        </p:nvSpPr>
        <p:spPr>
          <a:xfrm>
            <a:off x="10738440" y="276228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3" name="Google Shape;159;p2"/>
          <p:cNvSpPr/>
          <p:nvPr/>
        </p:nvSpPr>
        <p:spPr>
          <a:xfrm>
            <a:off x="9915480" y="2857680"/>
            <a:ext cx="1742400" cy="9802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4" name="Google Shape;160;p2"/>
          <p:cNvSpPr/>
          <p:nvPr/>
        </p:nvSpPr>
        <p:spPr>
          <a:xfrm>
            <a:off x="9991800" y="2905200"/>
            <a:ext cx="1590120" cy="885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Local box</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refinement</a:t>
            </a:r>
            <a:endParaRPr b="0" lang="en-US" sz="1870" spc="-1" strike="noStrike">
              <a:solidFill>
                <a:srgbClr val="000000"/>
              </a:solidFill>
              <a:latin typeface="Arial"/>
            </a:endParaRPr>
          </a:p>
        </p:txBody>
      </p:sp>
      <p:sp>
        <p:nvSpPr>
          <p:cNvPr id="145" name="Google Shape;161;p2"/>
          <p:cNvSpPr/>
          <p:nvPr/>
        </p:nvSpPr>
        <p:spPr>
          <a:xfrm>
            <a:off x="10782360" y="3838680"/>
            <a:ext cx="360" cy="494640"/>
          </a:xfrm>
          <a:custGeom>
            <a:avLst/>
            <a:gdLst>
              <a:gd name="textAreaLeft" fmla="*/ 0 w 360"/>
              <a:gd name="textAreaRight" fmla="*/ 720 w 360"/>
              <a:gd name="textAreaTop" fmla="*/ 0 h 494640"/>
              <a:gd name="textAreaBottom" fmla="*/ 495000 h 494640"/>
            </a:gdLst>
            <a:ahLst/>
            <a:rect l="textAreaLeft" t="textAreaTop" r="textAreaRight" b="textAreaBottom"/>
            <a:pathLst>
              <a:path w="953" h="495300">
                <a:moveTo>
                  <a:pt x="0" y="0"/>
                </a:moveTo>
                <a:lnTo>
                  <a:pt x="0" y="49530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6" name="Google Shape;162;p2"/>
          <p:cNvSpPr/>
          <p:nvPr/>
        </p:nvSpPr>
        <p:spPr>
          <a:xfrm>
            <a:off x="10738440" y="42386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7" name="Google Shape;163;p2"/>
          <p:cNvSpPr/>
          <p:nvPr/>
        </p:nvSpPr>
        <p:spPr>
          <a:xfrm>
            <a:off x="10382400" y="4695840"/>
            <a:ext cx="618480" cy="294480"/>
          </a:xfrm>
          <a:custGeom>
            <a:avLst/>
            <a:gdLst>
              <a:gd name="textAreaLeft" fmla="*/ 0 w 618480"/>
              <a:gd name="textAreaRight" fmla="*/ 618840 w 618480"/>
              <a:gd name="textAreaTop" fmla="*/ 0 h 294480"/>
              <a:gd name="textAreaBottom" fmla="*/ 294840 h 294480"/>
            </a:gdLst>
            <a:ahLst/>
            <a:rect l="textAreaLeft" t="textAreaTop" r="textAreaRight" b="textAreaBottom"/>
            <a:pathLst>
              <a:path w="619125" h="295275">
                <a:moveTo>
                  <a:pt x="0" y="0"/>
                </a:moveTo>
                <a:lnTo>
                  <a:pt x="619125" y="0"/>
                </a:lnTo>
                <a:lnTo>
                  <a:pt x="619125" y="295275"/>
                </a:lnTo>
                <a:lnTo>
                  <a:pt x="0" y="295275"/>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8" name="Google Shape;164;p2"/>
          <p:cNvSpPr/>
          <p:nvPr/>
        </p:nvSpPr>
        <p:spPr>
          <a:xfrm>
            <a:off x="10582200" y="4495680"/>
            <a:ext cx="618480" cy="294480"/>
          </a:xfrm>
          <a:custGeom>
            <a:avLst/>
            <a:gdLst>
              <a:gd name="textAreaLeft" fmla="*/ 0 w 618480"/>
              <a:gd name="textAreaRight" fmla="*/ 618840 w 618480"/>
              <a:gd name="textAreaTop" fmla="*/ 0 h 294480"/>
              <a:gd name="textAreaBottom" fmla="*/ 294840 h 294480"/>
            </a:gdLst>
            <a:ahLst/>
            <a:rect l="textAreaLeft" t="textAreaTop" r="textAreaRight" b="textAreaBottom"/>
            <a:pathLst>
              <a:path w="619125" h="295275">
                <a:moveTo>
                  <a:pt x="0" y="0"/>
                </a:moveTo>
                <a:lnTo>
                  <a:pt x="619125" y="0"/>
                </a:lnTo>
                <a:lnTo>
                  <a:pt x="619125" y="295275"/>
                </a:lnTo>
                <a:lnTo>
                  <a:pt x="0" y="295275"/>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9" name="Google Shape;165;p2"/>
          <p:cNvSpPr/>
          <p:nvPr/>
        </p:nvSpPr>
        <p:spPr>
          <a:xfrm>
            <a:off x="10382400" y="4495680"/>
            <a:ext cx="199440" cy="199440"/>
          </a:xfrm>
          <a:custGeom>
            <a:avLst/>
            <a:gdLst>
              <a:gd name="textAreaLeft" fmla="*/ 0 w 199440"/>
              <a:gd name="textAreaRight" fmla="*/ 199800 w 199440"/>
              <a:gd name="textAreaTop" fmla="*/ 0 h 199440"/>
              <a:gd name="textAreaBottom" fmla="*/ 199800 h 19944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0" name="Google Shape;166;p2"/>
          <p:cNvSpPr/>
          <p:nvPr/>
        </p:nvSpPr>
        <p:spPr>
          <a:xfrm>
            <a:off x="11001240" y="4495680"/>
            <a:ext cx="199440" cy="199440"/>
          </a:xfrm>
          <a:custGeom>
            <a:avLst/>
            <a:gdLst>
              <a:gd name="textAreaLeft" fmla="*/ 0 w 199440"/>
              <a:gd name="textAreaRight" fmla="*/ 199800 w 199440"/>
              <a:gd name="textAreaTop" fmla="*/ 0 h 199440"/>
              <a:gd name="textAreaBottom" fmla="*/ 199800 h 19944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1" name="Google Shape;167;p2"/>
          <p:cNvSpPr/>
          <p:nvPr/>
        </p:nvSpPr>
        <p:spPr>
          <a:xfrm>
            <a:off x="11001240" y="4791240"/>
            <a:ext cx="199440" cy="199440"/>
          </a:xfrm>
          <a:custGeom>
            <a:avLst/>
            <a:gdLst>
              <a:gd name="textAreaLeft" fmla="*/ 0 w 199440"/>
              <a:gd name="textAreaRight" fmla="*/ 199800 w 199440"/>
              <a:gd name="textAreaTop" fmla="*/ 0 h 199440"/>
              <a:gd name="textAreaBottom" fmla="*/ 199800 h 19944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2" name="Google Shape;168;p2"/>
          <p:cNvSpPr/>
          <p:nvPr/>
        </p:nvSpPr>
        <p:spPr>
          <a:xfrm>
            <a:off x="10382400" y="4791240"/>
            <a:ext cx="199440" cy="199440"/>
          </a:xfrm>
          <a:custGeom>
            <a:avLst/>
            <a:gdLst>
              <a:gd name="textAreaLeft" fmla="*/ 0 w 199440"/>
              <a:gd name="textAreaRight" fmla="*/ 199800 w 199440"/>
              <a:gd name="textAreaTop" fmla="*/ 0 h 199440"/>
              <a:gd name="textAreaBottom" fmla="*/ 199800 h 199440"/>
            </a:gdLst>
            <a:ahLst/>
            <a:rect l="textAreaLeft" t="textAreaTop" r="textAreaRight" b="textAreaBottom"/>
            <a:pathLst>
              <a:path w="200025" h="200025">
                <a:moveTo>
                  <a:pt x="0" y="200025"/>
                </a:moveTo>
                <a:lnTo>
                  <a:pt x="20002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3" name="Google Shape;169;p2"/>
          <p:cNvSpPr/>
          <p:nvPr/>
        </p:nvSpPr>
        <p:spPr>
          <a:xfrm>
            <a:off x="9953640" y="5238720"/>
            <a:ext cx="166608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00" spc="-1" strike="noStrike">
                <a:solidFill>
                  <a:srgbClr val="087f6c"/>
                </a:solidFill>
                <a:latin typeface="Verdana"/>
                <a:ea typeface="Verdana"/>
              </a:rPr>
              <a:t>3D boxes</a:t>
            </a:r>
            <a:endParaRPr b="0" lang="en-US" sz="1800" spc="-1" strike="noStrike">
              <a:solidFill>
                <a:srgbClr val="000000"/>
              </a:solidFill>
              <a:latin typeface="Arial"/>
            </a:endParaRPr>
          </a:p>
        </p:txBody>
      </p:sp>
      <p:sp>
        <p:nvSpPr>
          <p:cNvPr id="154" name="Google Shape;170;p2"/>
          <p:cNvSpPr/>
          <p:nvPr/>
        </p:nvSpPr>
        <p:spPr>
          <a:xfrm>
            <a:off x="533520" y="5533920"/>
            <a:ext cx="6952680" cy="28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650" spc="-1" strike="noStrike">
                <a:solidFill>
                  <a:srgbClr val="7351c7"/>
                </a:solidFill>
                <a:latin typeface="Verdana"/>
                <a:ea typeface="Verdana"/>
              </a:rPr>
              <a:t>Purple modules are the project additions</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55" name="Google Shape;176;p3"/>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A shared grid aligns both sensor streams</a:t>
            </a:r>
            <a:endParaRPr b="0" lang="en-US" sz="3300" spc="-1" strike="noStrike">
              <a:solidFill>
                <a:srgbClr val="000000"/>
              </a:solidFill>
              <a:latin typeface="Arial"/>
            </a:endParaRPr>
          </a:p>
        </p:txBody>
      </p:sp>
      <p:sp>
        <p:nvSpPr>
          <p:cNvPr id="156" name="Google Shape;177;p3"/>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03</a:t>
            </a:r>
            <a:endParaRPr b="0" lang="en-US" sz="1200" spc="-1" strike="noStrike">
              <a:solidFill>
                <a:srgbClr val="000000"/>
              </a:solidFill>
              <a:latin typeface="Arial"/>
            </a:endParaRPr>
          </a:p>
        </p:txBody>
      </p:sp>
      <p:sp>
        <p:nvSpPr>
          <p:cNvPr id="157" name="Google Shape;178;p3"/>
          <p:cNvSpPr/>
          <p:nvPr/>
        </p:nvSpPr>
        <p:spPr>
          <a:xfrm>
            <a:off x="552600" y="1380960"/>
            <a:ext cx="31424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Camera features</a:t>
            </a:r>
            <a:endParaRPr b="0" lang="en-US" sz="2170" spc="-1" strike="noStrike">
              <a:solidFill>
                <a:srgbClr val="000000"/>
              </a:solidFill>
              <a:latin typeface="Arial"/>
            </a:endParaRPr>
          </a:p>
        </p:txBody>
      </p:sp>
      <p:sp>
        <p:nvSpPr>
          <p:cNvPr id="158" name="Google Shape;179;p3"/>
          <p:cNvSpPr/>
          <p:nvPr/>
        </p:nvSpPr>
        <p:spPr>
          <a:xfrm>
            <a:off x="819000" y="2095560"/>
            <a:ext cx="1532880" cy="170640"/>
          </a:xfrm>
          <a:custGeom>
            <a:avLst/>
            <a:gdLst>
              <a:gd name="textAreaLeft" fmla="*/ 0 w 1532880"/>
              <a:gd name="textAreaRight" fmla="*/ 1533240 w 1532880"/>
              <a:gd name="textAreaTop" fmla="*/ 0 h 170640"/>
              <a:gd name="textAreaBottom" fmla="*/ 171000 h 170640"/>
            </a:gdLst>
            <a:ahLst/>
            <a:rect l="textAreaLeft" t="textAreaTop" r="textAreaRight" b="textAreaBottom"/>
            <a:pathLst>
              <a:path w="1533525" h="171450">
                <a:moveTo>
                  <a:pt x="0" y="171450"/>
                </a:moveTo>
                <a:lnTo>
                  <a:pt x="171450" y="0"/>
                </a:lnTo>
                <a:lnTo>
                  <a:pt x="1533525" y="0"/>
                </a:lnTo>
                <a:lnTo>
                  <a:pt x="1362075" y="1714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59" name="Google Shape;180;p3"/>
          <p:cNvSpPr/>
          <p:nvPr/>
        </p:nvSpPr>
        <p:spPr>
          <a:xfrm>
            <a:off x="2181240" y="2095560"/>
            <a:ext cx="170640" cy="1170720"/>
          </a:xfrm>
          <a:custGeom>
            <a:avLst/>
            <a:gdLst>
              <a:gd name="textAreaLeft" fmla="*/ 0 w 170640"/>
              <a:gd name="textAreaRight" fmla="*/ 171000 w 170640"/>
              <a:gd name="textAreaTop" fmla="*/ 0 h 1170720"/>
              <a:gd name="textAreaBottom" fmla="*/ 1171080 h 1170720"/>
            </a:gdLst>
            <a:ahLst/>
            <a:rect l="textAreaLeft" t="textAreaTop" r="textAreaRight" b="textAreaBottom"/>
            <a:pathLst>
              <a:path w="171450" h="1171575">
                <a:moveTo>
                  <a:pt x="0" y="171450"/>
                </a:moveTo>
                <a:lnTo>
                  <a:pt x="171450" y="0"/>
                </a:lnTo>
                <a:lnTo>
                  <a:pt x="171450" y="1000125"/>
                </a:lnTo>
                <a:lnTo>
                  <a:pt x="0" y="11715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60" name="Google Shape;181;p3"/>
          <p:cNvSpPr/>
          <p:nvPr/>
        </p:nvSpPr>
        <p:spPr>
          <a:xfrm>
            <a:off x="819000" y="2266920"/>
            <a:ext cx="1361520" cy="9993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1" name="Google Shape;182;p3"/>
          <p:cNvSpPr/>
          <p:nvPr/>
        </p:nvSpPr>
        <p:spPr>
          <a:xfrm>
            <a:off x="115956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2" name="Google Shape;183;p3"/>
          <p:cNvSpPr/>
          <p:nvPr/>
        </p:nvSpPr>
        <p:spPr>
          <a:xfrm>
            <a:off x="150012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3" name="Google Shape;184;p3"/>
          <p:cNvSpPr/>
          <p:nvPr/>
        </p:nvSpPr>
        <p:spPr>
          <a:xfrm>
            <a:off x="184068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64" name="Google Shape;185;p3"/>
          <p:cNvSpPr/>
          <p:nvPr/>
        </p:nvSpPr>
        <p:spPr>
          <a:xfrm>
            <a:off x="819000" y="251712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5" name="Google Shape;186;p3"/>
          <p:cNvSpPr/>
          <p:nvPr/>
        </p:nvSpPr>
        <p:spPr>
          <a:xfrm>
            <a:off x="819000" y="276696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6" name="Google Shape;187;p3"/>
          <p:cNvSpPr/>
          <p:nvPr/>
        </p:nvSpPr>
        <p:spPr>
          <a:xfrm>
            <a:off x="819000" y="301716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67" name="Google Shape;188;p3"/>
          <p:cNvSpPr/>
          <p:nvPr/>
        </p:nvSpPr>
        <p:spPr>
          <a:xfrm>
            <a:off x="857160" y="2343240"/>
            <a:ext cx="1285200" cy="847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80 channels</a:t>
            </a:r>
            <a:endParaRPr b="0" lang="en-US" sz="1729" spc="-1" strike="noStrike">
              <a:solidFill>
                <a:srgbClr val="000000"/>
              </a:solidFill>
              <a:latin typeface="Arial"/>
            </a:endParaRPr>
          </a:p>
        </p:txBody>
      </p:sp>
      <p:sp>
        <p:nvSpPr>
          <p:cNvPr id="168" name="Google Shape;189;p3"/>
          <p:cNvSpPr/>
          <p:nvPr/>
        </p:nvSpPr>
        <p:spPr>
          <a:xfrm>
            <a:off x="552600" y="3952800"/>
            <a:ext cx="3142440" cy="109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Calibrated lifting</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places appearance</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in metric space</a:t>
            </a:r>
            <a:endParaRPr b="0" lang="en-US" sz="2020" spc="-1" strike="noStrike">
              <a:solidFill>
                <a:srgbClr val="000000"/>
              </a:solidFill>
              <a:latin typeface="Arial"/>
            </a:endParaRPr>
          </a:p>
        </p:txBody>
      </p:sp>
      <p:sp>
        <p:nvSpPr>
          <p:cNvPr id="169" name="Google Shape;190;p3"/>
          <p:cNvSpPr/>
          <p:nvPr/>
        </p:nvSpPr>
        <p:spPr>
          <a:xfrm>
            <a:off x="8562960" y="1380960"/>
            <a:ext cx="31424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LiDAR features</a:t>
            </a:r>
            <a:endParaRPr b="0" lang="en-US" sz="2170" spc="-1" strike="noStrike">
              <a:solidFill>
                <a:srgbClr val="000000"/>
              </a:solidFill>
              <a:latin typeface="Arial"/>
            </a:endParaRPr>
          </a:p>
        </p:txBody>
      </p:sp>
      <p:sp>
        <p:nvSpPr>
          <p:cNvPr id="170" name="Google Shape;191;p3"/>
          <p:cNvSpPr/>
          <p:nvPr/>
        </p:nvSpPr>
        <p:spPr>
          <a:xfrm>
            <a:off x="8982000" y="2095560"/>
            <a:ext cx="1532880" cy="170640"/>
          </a:xfrm>
          <a:custGeom>
            <a:avLst/>
            <a:gdLst>
              <a:gd name="textAreaLeft" fmla="*/ 0 w 1532880"/>
              <a:gd name="textAreaRight" fmla="*/ 1533240 w 1532880"/>
              <a:gd name="textAreaTop" fmla="*/ 0 h 170640"/>
              <a:gd name="textAreaBottom" fmla="*/ 171000 h 170640"/>
            </a:gdLst>
            <a:ahLst/>
            <a:rect l="textAreaLeft" t="textAreaTop" r="textAreaRight" b="textAreaBottom"/>
            <a:pathLst>
              <a:path w="1533525" h="171450">
                <a:moveTo>
                  <a:pt x="0" y="171450"/>
                </a:moveTo>
                <a:lnTo>
                  <a:pt x="171450" y="0"/>
                </a:lnTo>
                <a:lnTo>
                  <a:pt x="1533525" y="0"/>
                </a:lnTo>
                <a:lnTo>
                  <a:pt x="1362075" y="1714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1" name="Google Shape;192;p3"/>
          <p:cNvSpPr/>
          <p:nvPr/>
        </p:nvSpPr>
        <p:spPr>
          <a:xfrm>
            <a:off x="10344240" y="2095560"/>
            <a:ext cx="170640" cy="1170720"/>
          </a:xfrm>
          <a:custGeom>
            <a:avLst/>
            <a:gdLst>
              <a:gd name="textAreaLeft" fmla="*/ 0 w 170640"/>
              <a:gd name="textAreaRight" fmla="*/ 171000 w 170640"/>
              <a:gd name="textAreaTop" fmla="*/ 0 h 1170720"/>
              <a:gd name="textAreaBottom" fmla="*/ 1171080 h 1170720"/>
            </a:gdLst>
            <a:ahLst/>
            <a:rect l="textAreaLeft" t="textAreaTop" r="textAreaRight" b="textAreaBottom"/>
            <a:pathLst>
              <a:path w="171450" h="1171575">
                <a:moveTo>
                  <a:pt x="0" y="171450"/>
                </a:moveTo>
                <a:lnTo>
                  <a:pt x="171450" y="0"/>
                </a:lnTo>
                <a:lnTo>
                  <a:pt x="171450" y="1000125"/>
                </a:lnTo>
                <a:lnTo>
                  <a:pt x="0" y="11715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2" name="Google Shape;193;p3"/>
          <p:cNvSpPr/>
          <p:nvPr/>
        </p:nvSpPr>
        <p:spPr>
          <a:xfrm>
            <a:off x="8982000" y="2266920"/>
            <a:ext cx="1361520" cy="99936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3" name="Google Shape;194;p3"/>
          <p:cNvSpPr/>
          <p:nvPr/>
        </p:nvSpPr>
        <p:spPr>
          <a:xfrm>
            <a:off x="932256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4" name="Google Shape;195;p3"/>
          <p:cNvSpPr/>
          <p:nvPr/>
        </p:nvSpPr>
        <p:spPr>
          <a:xfrm>
            <a:off x="966312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5" name="Google Shape;196;p3"/>
          <p:cNvSpPr/>
          <p:nvPr/>
        </p:nvSpPr>
        <p:spPr>
          <a:xfrm>
            <a:off x="10003680" y="2266920"/>
            <a:ext cx="360" cy="999360"/>
          </a:xfrm>
          <a:custGeom>
            <a:avLst/>
            <a:gdLst>
              <a:gd name="textAreaLeft" fmla="*/ 0 w 360"/>
              <a:gd name="textAreaRight" fmla="*/ 720 w 360"/>
              <a:gd name="textAreaTop" fmla="*/ 0 h 999360"/>
              <a:gd name="textAreaBottom" fmla="*/ 999720 h 999360"/>
            </a:gdLst>
            <a:ahLst/>
            <a:rect l="textAreaLeft" t="textAreaTop" r="textAreaRight" b="textAreaBottom"/>
            <a:pathLst>
              <a:path w="953" h="1000125">
                <a:moveTo>
                  <a:pt x="0" y="0"/>
                </a:moveTo>
                <a:lnTo>
                  <a:pt x="0" y="1000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76" name="Google Shape;197;p3"/>
          <p:cNvSpPr/>
          <p:nvPr/>
        </p:nvSpPr>
        <p:spPr>
          <a:xfrm>
            <a:off x="8982000" y="251712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7" name="Google Shape;198;p3"/>
          <p:cNvSpPr/>
          <p:nvPr/>
        </p:nvSpPr>
        <p:spPr>
          <a:xfrm>
            <a:off x="8982000" y="276696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8" name="Google Shape;199;p3"/>
          <p:cNvSpPr/>
          <p:nvPr/>
        </p:nvSpPr>
        <p:spPr>
          <a:xfrm>
            <a:off x="8982000" y="3017160"/>
            <a:ext cx="1361520" cy="360"/>
          </a:xfrm>
          <a:custGeom>
            <a:avLst/>
            <a:gdLst>
              <a:gd name="textAreaLeft" fmla="*/ 0 w 1361520"/>
              <a:gd name="textAreaRight" fmla="*/ 1361880 w 1361520"/>
              <a:gd name="textAreaTop" fmla="*/ 0 h 360"/>
              <a:gd name="textAreaBottom" fmla="*/ 720 h 360"/>
            </a:gdLst>
            <a:ahLst/>
            <a:rect l="textAreaLeft" t="textAreaTop" r="textAreaRight" b="textAreaBottom"/>
            <a:pathLst>
              <a:path w="1362075" h="953">
                <a:moveTo>
                  <a:pt x="0" y="0"/>
                </a:moveTo>
                <a:lnTo>
                  <a:pt x="136207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79" name="Google Shape;200;p3"/>
          <p:cNvSpPr/>
          <p:nvPr/>
        </p:nvSpPr>
        <p:spPr>
          <a:xfrm>
            <a:off x="9020160" y="2343240"/>
            <a:ext cx="1285200" cy="847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 channels</a:t>
            </a:r>
            <a:endParaRPr b="0" lang="en-US" sz="1729" spc="-1" strike="noStrike">
              <a:solidFill>
                <a:srgbClr val="000000"/>
              </a:solidFill>
              <a:latin typeface="Arial"/>
            </a:endParaRPr>
          </a:p>
        </p:txBody>
      </p:sp>
      <p:sp>
        <p:nvSpPr>
          <p:cNvPr id="180" name="Google Shape;201;p3"/>
          <p:cNvSpPr/>
          <p:nvPr/>
        </p:nvSpPr>
        <p:spPr>
          <a:xfrm>
            <a:off x="8562960" y="3952800"/>
            <a:ext cx="3094920" cy="1094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Sparse 3D encoding</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preserves geometry</a:t>
            </a:r>
            <a:endParaRPr b="0" lang="en-US" sz="2020" spc="-1" strike="noStrike">
              <a:solidFill>
                <a:srgbClr val="000000"/>
              </a:solidFill>
              <a:latin typeface="Arial"/>
            </a:endParaRPr>
          </a:p>
          <a:p>
            <a:pPr>
              <a:lnSpc>
                <a:spcPct val="100000"/>
              </a:lnSpc>
              <a:tabLst>
                <a:tab algn="l" pos="0"/>
              </a:tabLst>
            </a:pPr>
            <a:r>
              <a:rPr b="0" lang="en-US" sz="2020" spc="-1" strike="noStrike">
                <a:solidFill>
                  <a:srgbClr val="16253b"/>
                </a:solidFill>
                <a:latin typeface="Verdana"/>
                <a:ea typeface="Verdana"/>
              </a:rPr>
              <a:t>on the same grid</a:t>
            </a:r>
            <a:endParaRPr b="0" lang="en-US" sz="2020" spc="-1" strike="noStrike">
              <a:solidFill>
                <a:srgbClr val="000000"/>
              </a:solidFill>
              <a:latin typeface="Arial"/>
            </a:endParaRPr>
          </a:p>
        </p:txBody>
      </p:sp>
      <p:sp>
        <p:nvSpPr>
          <p:cNvPr id="181" name="Google Shape;202;p3"/>
          <p:cNvSpPr/>
          <p:nvPr/>
        </p:nvSpPr>
        <p:spPr>
          <a:xfrm>
            <a:off x="4286160" y="1962000"/>
            <a:ext cx="3332880" cy="333288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2" name="Google Shape;203;p3"/>
          <p:cNvSpPr/>
          <p:nvPr/>
        </p:nvSpPr>
        <p:spPr>
          <a:xfrm>
            <a:off x="461952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3" name="Google Shape;204;p3"/>
          <p:cNvSpPr/>
          <p:nvPr/>
        </p:nvSpPr>
        <p:spPr>
          <a:xfrm>
            <a:off x="495288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4" name="Google Shape;205;p3"/>
          <p:cNvSpPr/>
          <p:nvPr/>
        </p:nvSpPr>
        <p:spPr>
          <a:xfrm>
            <a:off x="528624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5" name="Google Shape;206;p3"/>
          <p:cNvSpPr/>
          <p:nvPr/>
        </p:nvSpPr>
        <p:spPr>
          <a:xfrm>
            <a:off x="561960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6" name="Google Shape;207;p3"/>
          <p:cNvSpPr/>
          <p:nvPr/>
        </p:nvSpPr>
        <p:spPr>
          <a:xfrm>
            <a:off x="595296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7" name="Google Shape;208;p3"/>
          <p:cNvSpPr/>
          <p:nvPr/>
        </p:nvSpPr>
        <p:spPr>
          <a:xfrm>
            <a:off x="628668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8" name="Google Shape;209;p3"/>
          <p:cNvSpPr/>
          <p:nvPr/>
        </p:nvSpPr>
        <p:spPr>
          <a:xfrm>
            <a:off x="662004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89" name="Google Shape;210;p3"/>
          <p:cNvSpPr/>
          <p:nvPr/>
        </p:nvSpPr>
        <p:spPr>
          <a:xfrm>
            <a:off x="695340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90" name="Google Shape;211;p3"/>
          <p:cNvSpPr/>
          <p:nvPr/>
        </p:nvSpPr>
        <p:spPr>
          <a:xfrm>
            <a:off x="728676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0"/>
                </a:moveTo>
                <a:lnTo>
                  <a:pt x="0" y="3333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91" name="Google Shape;212;p3"/>
          <p:cNvSpPr/>
          <p:nvPr/>
        </p:nvSpPr>
        <p:spPr>
          <a:xfrm>
            <a:off x="4286160" y="229536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2" name="Google Shape;213;p3"/>
          <p:cNvSpPr/>
          <p:nvPr/>
        </p:nvSpPr>
        <p:spPr>
          <a:xfrm>
            <a:off x="4286160" y="262908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3" name="Google Shape;214;p3"/>
          <p:cNvSpPr/>
          <p:nvPr/>
        </p:nvSpPr>
        <p:spPr>
          <a:xfrm>
            <a:off x="4286160" y="296244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4" name="Google Shape;215;p3"/>
          <p:cNvSpPr/>
          <p:nvPr/>
        </p:nvSpPr>
        <p:spPr>
          <a:xfrm>
            <a:off x="4286160" y="329580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5" name="Google Shape;216;p3"/>
          <p:cNvSpPr/>
          <p:nvPr/>
        </p:nvSpPr>
        <p:spPr>
          <a:xfrm>
            <a:off x="4286160" y="362916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6" name="Google Shape;217;p3"/>
          <p:cNvSpPr/>
          <p:nvPr/>
        </p:nvSpPr>
        <p:spPr>
          <a:xfrm>
            <a:off x="4286160" y="396252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7" name="Google Shape;218;p3"/>
          <p:cNvSpPr/>
          <p:nvPr/>
        </p:nvSpPr>
        <p:spPr>
          <a:xfrm>
            <a:off x="4286160" y="429588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8" name="Google Shape;219;p3"/>
          <p:cNvSpPr/>
          <p:nvPr/>
        </p:nvSpPr>
        <p:spPr>
          <a:xfrm>
            <a:off x="4286160" y="462924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99" name="Google Shape;220;p3"/>
          <p:cNvSpPr/>
          <p:nvPr/>
        </p:nvSpPr>
        <p:spPr>
          <a:xfrm>
            <a:off x="4286160" y="496260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00" name="Google Shape;221;p3"/>
          <p:cNvSpPr/>
          <p:nvPr/>
        </p:nvSpPr>
        <p:spPr>
          <a:xfrm>
            <a:off x="5619600" y="3629160"/>
            <a:ext cx="332640" cy="332640"/>
          </a:xfrm>
          <a:prstGeom prst="rect">
            <a:avLst/>
          </a:prstGeom>
          <a:solidFill>
            <a:srgbClr val="eee7fa"/>
          </a:solidFill>
          <a:ln w="2380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1" name="Google Shape;222;p3"/>
          <p:cNvSpPr/>
          <p:nvPr/>
        </p:nvSpPr>
        <p:spPr>
          <a:xfrm>
            <a:off x="5429520" y="3048120"/>
            <a:ext cx="1141920" cy="856440"/>
          </a:xfrm>
          <a:custGeom>
            <a:avLst/>
            <a:gdLst>
              <a:gd name="textAreaLeft" fmla="*/ 0 w 1141920"/>
              <a:gd name="textAreaRight" fmla="*/ 1142280 w 1141920"/>
              <a:gd name="textAreaTop" fmla="*/ 0 h 856440"/>
              <a:gd name="textAreaBottom" fmla="*/ 856800 h 856440"/>
            </a:gdLst>
            <a:ahLst/>
            <a:rect l="textAreaLeft" t="textAreaTop" r="textAreaRight" b="textAreaBottom"/>
            <a:pathLst>
              <a:path w="1142805" h="857162">
                <a:moveTo>
                  <a:pt x="0" y="442798"/>
                </a:moveTo>
                <a:lnTo>
                  <a:pt x="949584" y="0"/>
                </a:lnTo>
                <a:lnTo>
                  <a:pt x="1142805" y="414364"/>
                </a:lnTo>
                <a:lnTo>
                  <a:pt x="193221" y="857162"/>
                </a:lnTo>
                <a:close/>
              </a:path>
            </a:pathLst>
          </a:custGeom>
          <a:noFill/>
          <a:ln w="2857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2" name="Google Shape;223;p3"/>
          <p:cNvSpPr/>
          <p:nvPr/>
        </p:nvSpPr>
        <p:spPr>
          <a:xfrm>
            <a:off x="6000840" y="3255120"/>
            <a:ext cx="474120" cy="220680"/>
          </a:xfrm>
          <a:custGeom>
            <a:avLst/>
            <a:gdLst>
              <a:gd name="textAreaLeft" fmla="*/ 0 w 474120"/>
              <a:gd name="textAreaRight" fmla="*/ 474480 w 474120"/>
              <a:gd name="textAreaTop" fmla="*/ 0 h 220680"/>
              <a:gd name="textAreaBottom" fmla="*/ 221040 h 220680"/>
            </a:gdLst>
            <a:ahLst/>
            <a:rect l="textAreaLeft" t="textAreaTop" r="textAreaRight" b="textAreaBottom"/>
            <a:pathLst>
              <a:path w="474792" h="221399">
                <a:moveTo>
                  <a:pt x="0" y="221399"/>
                </a:moveTo>
                <a:lnTo>
                  <a:pt x="474792" y="0"/>
                </a:lnTo>
              </a:path>
            </a:pathLst>
          </a:custGeom>
          <a:noFill/>
          <a:ln w="2857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3" name="Google Shape;224;p3"/>
          <p:cNvSpPr/>
          <p:nvPr/>
        </p:nvSpPr>
        <p:spPr>
          <a:xfrm>
            <a:off x="4286160" y="5457960"/>
            <a:ext cx="3332880" cy="360"/>
          </a:xfrm>
          <a:custGeom>
            <a:avLst/>
            <a:gdLst>
              <a:gd name="textAreaLeft" fmla="*/ 0 w 3332880"/>
              <a:gd name="textAreaRight" fmla="*/ 3333240 w 3332880"/>
              <a:gd name="textAreaTop" fmla="*/ 0 h 360"/>
              <a:gd name="textAreaBottom" fmla="*/ 720 h 360"/>
            </a:gdLst>
            <a:ahLst/>
            <a:rect l="textAreaLeft" t="textAreaTop" r="textAreaRight" b="textAreaBottom"/>
            <a:pathLst>
              <a:path w="3333750" h="953">
                <a:moveTo>
                  <a:pt x="0" y="0"/>
                </a:moveTo>
                <a:lnTo>
                  <a:pt x="3333750" y="0"/>
                </a:lnTo>
              </a:path>
            </a:pathLst>
          </a:custGeom>
          <a:noFill/>
          <a:ln w="14275">
            <a:solidFill>
              <a:srgbClr val="16253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04" name="Google Shape;225;p3"/>
          <p:cNvSpPr/>
          <p:nvPr/>
        </p:nvSpPr>
        <p:spPr>
          <a:xfrm>
            <a:off x="7524720" y="54140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253b"/>
          </a:solidFill>
          <a:ln w="9525">
            <a:solidFill>
              <a:srgbClr val="16253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05" name="Google Shape;226;p3"/>
          <p:cNvSpPr/>
          <p:nvPr/>
        </p:nvSpPr>
        <p:spPr>
          <a:xfrm>
            <a:off x="4057560" y="5591160"/>
            <a:ext cx="3828240" cy="2660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108 m   (−54 m to +54 m)</a:t>
            </a:r>
            <a:endParaRPr b="0" lang="en-US" sz="1729" spc="-1" strike="noStrike">
              <a:solidFill>
                <a:srgbClr val="000000"/>
              </a:solidFill>
              <a:latin typeface="Arial"/>
            </a:endParaRPr>
          </a:p>
        </p:txBody>
      </p:sp>
      <p:sp>
        <p:nvSpPr>
          <p:cNvPr id="206" name="Google Shape;227;p3"/>
          <p:cNvSpPr/>
          <p:nvPr/>
        </p:nvSpPr>
        <p:spPr>
          <a:xfrm>
            <a:off x="4095720" y="1962000"/>
            <a:ext cx="360" cy="3332880"/>
          </a:xfrm>
          <a:custGeom>
            <a:avLst/>
            <a:gdLst>
              <a:gd name="textAreaLeft" fmla="*/ 0 w 360"/>
              <a:gd name="textAreaRight" fmla="*/ 720 w 360"/>
              <a:gd name="textAreaTop" fmla="*/ 0 h 3332880"/>
              <a:gd name="textAreaBottom" fmla="*/ 3333240 h 3332880"/>
            </a:gdLst>
            <a:ahLst/>
            <a:rect l="textAreaLeft" t="textAreaTop" r="textAreaRight" b="textAreaBottom"/>
            <a:pathLst>
              <a:path w="953" h="3333750">
                <a:moveTo>
                  <a:pt x="0" y="3333750"/>
                </a:moveTo>
                <a:lnTo>
                  <a:pt x="0" y="0"/>
                </a:lnTo>
              </a:path>
            </a:pathLst>
          </a:custGeom>
          <a:noFill/>
          <a:ln w="14275">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07" name="Google Shape;228;p3"/>
          <p:cNvSpPr/>
          <p:nvPr/>
        </p:nvSpPr>
        <p:spPr>
          <a:xfrm>
            <a:off x="4051800" y="196200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16253b"/>
          </a:solidFill>
          <a:ln w="9525">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08" name="Google Shape;229;p3"/>
          <p:cNvSpPr/>
          <p:nvPr/>
        </p:nvSpPr>
        <p:spPr>
          <a:xfrm>
            <a:off x="3638520" y="1628640"/>
            <a:ext cx="761400" cy="28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x / y</a:t>
            </a:r>
            <a:endParaRPr b="0" lang="en-US" sz="1650" spc="-1" strike="noStrike">
              <a:solidFill>
                <a:srgbClr val="000000"/>
              </a:solidFill>
              <a:latin typeface="Arial"/>
            </a:endParaRPr>
          </a:p>
        </p:txBody>
      </p:sp>
      <p:sp>
        <p:nvSpPr>
          <p:cNvPr id="209" name="Google Shape;230;p3"/>
          <p:cNvSpPr/>
          <p:nvPr/>
        </p:nvSpPr>
        <p:spPr>
          <a:xfrm>
            <a:off x="2352600" y="2733840"/>
            <a:ext cx="1932840" cy="1075680"/>
          </a:xfrm>
          <a:custGeom>
            <a:avLst/>
            <a:gdLst>
              <a:gd name="textAreaLeft" fmla="*/ 0 w 1932840"/>
              <a:gd name="textAreaRight" fmla="*/ 1933200 w 1932840"/>
              <a:gd name="textAreaTop" fmla="*/ 0 h 1075680"/>
              <a:gd name="textAreaBottom" fmla="*/ 1076040 h 1075680"/>
            </a:gdLst>
            <a:ahLst/>
            <a:rect l="textAreaLeft" t="textAreaTop" r="textAreaRight" b="textAreaBottom"/>
            <a:pathLst>
              <a:path w="1933575" h="1076325">
                <a:moveTo>
                  <a:pt x="0" y="0"/>
                </a:moveTo>
                <a:lnTo>
                  <a:pt x="1200150" y="0"/>
                </a:lnTo>
                <a:lnTo>
                  <a:pt x="1200150" y="1076325"/>
                </a:lnTo>
                <a:lnTo>
                  <a:pt x="1933575" y="10763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10" name="Google Shape;231;p3"/>
          <p:cNvSpPr/>
          <p:nvPr/>
        </p:nvSpPr>
        <p:spPr>
          <a:xfrm>
            <a:off x="4191120" y="3766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11" name="Google Shape;232;p3"/>
          <p:cNvSpPr/>
          <p:nvPr/>
        </p:nvSpPr>
        <p:spPr>
          <a:xfrm>
            <a:off x="7620120" y="2733840"/>
            <a:ext cx="1361520" cy="1075680"/>
          </a:xfrm>
          <a:custGeom>
            <a:avLst/>
            <a:gdLst>
              <a:gd name="textAreaLeft" fmla="*/ 0 w 1361520"/>
              <a:gd name="textAreaRight" fmla="*/ 1361880 w 1361520"/>
              <a:gd name="textAreaTop" fmla="*/ 0 h 1075680"/>
              <a:gd name="textAreaBottom" fmla="*/ 1076040 h 1075680"/>
            </a:gdLst>
            <a:ahLst/>
            <a:rect l="textAreaLeft" t="textAreaTop" r="textAreaRight" b="textAreaBottom"/>
            <a:pathLst>
              <a:path w="1362075" h="1076325">
                <a:moveTo>
                  <a:pt x="1362075" y="0"/>
                </a:moveTo>
                <a:lnTo>
                  <a:pt x="552450" y="0"/>
                </a:lnTo>
                <a:lnTo>
                  <a:pt x="552450" y="1076325"/>
                </a:lnTo>
                <a:lnTo>
                  <a:pt x="0" y="107632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12" name="Google Shape;233;p3"/>
          <p:cNvSpPr/>
          <p:nvPr/>
        </p:nvSpPr>
        <p:spPr>
          <a:xfrm>
            <a:off x="7620120" y="3766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13" name="Google Shape;234;p3"/>
          <p:cNvSpPr/>
          <p:nvPr/>
        </p:nvSpPr>
        <p:spPr>
          <a:xfrm>
            <a:off x="4638600" y="1409760"/>
            <a:ext cx="2856960" cy="3326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100" spc="-1" strike="noStrike">
                <a:solidFill>
                  <a:srgbClr val="16253b"/>
                </a:solidFill>
                <a:latin typeface="Verdana"/>
                <a:ea typeface="Verdana"/>
              </a:rPr>
              <a:t>180 × 180 cells</a:t>
            </a:r>
            <a:endParaRPr b="0" lang="en-US" sz="2100" spc="-1" strike="noStrike">
              <a:solidFill>
                <a:srgbClr val="000000"/>
              </a:solidFill>
              <a:latin typeface="Arial"/>
            </a:endParaRPr>
          </a:p>
        </p:txBody>
      </p:sp>
      <p:sp>
        <p:nvSpPr>
          <p:cNvPr id="214" name="Google Shape;235;p3"/>
          <p:cNvSpPr/>
          <p:nvPr/>
        </p:nvSpPr>
        <p:spPr>
          <a:xfrm>
            <a:off x="4838760" y="5086440"/>
            <a:ext cx="2475720" cy="2660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1650" spc="-1" strike="noStrike">
                <a:solidFill>
                  <a:srgbClr val="7351c7"/>
                </a:solidFill>
                <a:latin typeface="Verdana"/>
                <a:ea typeface="Verdana"/>
              </a:rPr>
              <a:t>0.6 m per cell</a:t>
            </a:r>
            <a:endParaRPr b="0" lang="en-US" sz="1650" spc="-1" strike="noStrike">
              <a:solidFill>
                <a:srgbClr val="000000"/>
              </a:solidFill>
              <a:latin typeface="Arial"/>
            </a:endParaRPr>
          </a:p>
        </p:txBody>
      </p:sp>
      <p:sp>
        <p:nvSpPr>
          <p:cNvPr id="215" name="Google Shape;236;p3"/>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16" name="Google Shape;237;p3"/>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Fusion is spatial: the two feature vectors at one cell describe the same ground location.</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217" name="Google Shape;243;p4"/>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camera encoder builds a feature pyramid</a:t>
            </a:r>
            <a:endParaRPr b="0" lang="en-US" sz="3300" spc="-1" strike="noStrike">
              <a:solidFill>
                <a:srgbClr val="000000"/>
              </a:solidFill>
              <a:latin typeface="Arial"/>
            </a:endParaRPr>
          </a:p>
        </p:txBody>
      </p:sp>
      <p:sp>
        <p:nvSpPr>
          <p:cNvPr id="218" name="Google Shape;244;p4"/>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04</a:t>
            </a:r>
            <a:endParaRPr b="0" lang="en-US" sz="1200" spc="-1" strike="noStrike">
              <a:solidFill>
                <a:srgbClr val="000000"/>
              </a:solidFill>
              <a:latin typeface="Arial"/>
            </a:endParaRPr>
          </a:p>
        </p:txBody>
      </p:sp>
      <p:sp>
        <p:nvSpPr>
          <p:cNvPr id="219" name="Google Shape;245;p4"/>
          <p:cNvSpPr/>
          <p:nvPr/>
        </p:nvSpPr>
        <p:spPr>
          <a:xfrm>
            <a:off x="533520" y="1285920"/>
            <a:ext cx="1066716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16253b"/>
                </a:solidFill>
                <a:latin typeface="Verdana"/>
                <a:ea typeface="Verdana"/>
              </a:rPr>
              <a:t>The same Swin-T processes each of the six images</a:t>
            </a:r>
            <a:endParaRPr b="0" lang="en-US" sz="2020" spc="-1" strike="noStrike">
              <a:solidFill>
                <a:srgbClr val="000000"/>
              </a:solidFill>
              <a:latin typeface="Arial"/>
            </a:endParaRPr>
          </a:p>
        </p:txBody>
      </p:sp>
      <p:sp>
        <p:nvSpPr>
          <p:cNvPr id="220" name="Google Shape;246;p4"/>
          <p:cNvSpPr/>
          <p:nvPr/>
        </p:nvSpPr>
        <p:spPr>
          <a:xfrm>
            <a:off x="619200" y="2276640"/>
            <a:ext cx="1199520" cy="132480"/>
          </a:xfrm>
          <a:custGeom>
            <a:avLst/>
            <a:gdLst>
              <a:gd name="textAreaLeft" fmla="*/ 0 w 1199520"/>
              <a:gd name="textAreaRight" fmla="*/ 1199880 w 1199520"/>
              <a:gd name="textAreaTop" fmla="*/ 0 h 132480"/>
              <a:gd name="textAreaBottom" fmla="*/ 132840 h 132480"/>
            </a:gdLst>
            <a:ahLst/>
            <a:rect l="textAreaLeft" t="textAreaTop" r="textAreaRight" b="textAreaBottom"/>
            <a:pathLst>
              <a:path w="1200150" h="133350">
                <a:moveTo>
                  <a:pt x="0" y="133350"/>
                </a:moveTo>
                <a:lnTo>
                  <a:pt x="133350" y="0"/>
                </a:lnTo>
                <a:lnTo>
                  <a:pt x="1200150" y="0"/>
                </a:lnTo>
                <a:lnTo>
                  <a:pt x="1066800" y="13335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1" name="Google Shape;247;p4"/>
          <p:cNvSpPr/>
          <p:nvPr/>
        </p:nvSpPr>
        <p:spPr>
          <a:xfrm>
            <a:off x="1685880" y="2276640"/>
            <a:ext cx="132480" cy="1009080"/>
          </a:xfrm>
          <a:custGeom>
            <a:avLst/>
            <a:gdLst>
              <a:gd name="textAreaLeft" fmla="*/ 0 w 132480"/>
              <a:gd name="textAreaRight" fmla="*/ 132840 w 132480"/>
              <a:gd name="textAreaTop" fmla="*/ 0 h 1009080"/>
              <a:gd name="textAreaBottom" fmla="*/ 1009440 h 1009080"/>
            </a:gdLst>
            <a:ahLst/>
            <a:rect l="textAreaLeft" t="textAreaTop" r="textAreaRight" b="textAreaBottom"/>
            <a:pathLst>
              <a:path w="133350" h="1009650">
                <a:moveTo>
                  <a:pt x="0" y="133350"/>
                </a:moveTo>
                <a:lnTo>
                  <a:pt x="133350" y="0"/>
                </a:lnTo>
                <a:lnTo>
                  <a:pt x="133350" y="876300"/>
                </a:lnTo>
                <a:lnTo>
                  <a:pt x="0" y="100965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22" name="Google Shape;248;p4"/>
          <p:cNvSpPr/>
          <p:nvPr/>
        </p:nvSpPr>
        <p:spPr>
          <a:xfrm>
            <a:off x="619200" y="2409840"/>
            <a:ext cx="1065960" cy="8755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3" name="Google Shape;249;p4"/>
          <p:cNvSpPr/>
          <p:nvPr/>
        </p:nvSpPr>
        <p:spPr>
          <a:xfrm>
            <a:off x="88596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4" name="Google Shape;250;p4"/>
          <p:cNvSpPr/>
          <p:nvPr/>
        </p:nvSpPr>
        <p:spPr>
          <a:xfrm>
            <a:off x="115236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5" name="Google Shape;251;p4"/>
          <p:cNvSpPr/>
          <p:nvPr/>
        </p:nvSpPr>
        <p:spPr>
          <a:xfrm>
            <a:off x="141912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26" name="Google Shape;252;p4"/>
          <p:cNvSpPr/>
          <p:nvPr/>
        </p:nvSpPr>
        <p:spPr>
          <a:xfrm>
            <a:off x="619200" y="262908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7" name="Google Shape;253;p4"/>
          <p:cNvSpPr/>
          <p:nvPr/>
        </p:nvSpPr>
        <p:spPr>
          <a:xfrm>
            <a:off x="619200" y="284796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8" name="Google Shape;254;p4"/>
          <p:cNvSpPr/>
          <p:nvPr/>
        </p:nvSpPr>
        <p:spPr>
          <a:xfrm>
            <a:off x="619200" y="306720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29" name="Google Shape;255;p4"/>
          <p:cNvSpPr/>
          <p:nvPr/>
        </p:nvSpPr>
        <p:spPr>
          <a:xfrm>
            <a:off x="657360" y="2486160"/>
            <a:ext cx="99000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RGB</a:t>
            </a:r>
            <a:endParaRPr b="0" lang="en-US" sz="1729" spc="-1" strike="noStrike">
              <a:solidFill>
                <a:srgbClr val="000000"/>
              </a:solidFill>
              <a:latin typeface="Arial"/>
            </a:endParaRPr>
          </a:p>
        </p:txBody>
      </p:sp>
      <p:sp>
        <p:nvSpPr>
          <p:cNvPr id="230" name="Google Shape;256;p4"/>
          <p:cNvSpPr/>
          <p:nvPr/>
        </p:nvSpPr>
        <p:spPr>
          <a:xfrm>
            <a:off x="428760" y="3419640"/>
            <a:ext cx="14472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256 × 704</a:t>
            </a:r>
            <a:endParaRPr b="0" lang="en-US" sz="1500" spc="-1" strike="noStrike">
              <a:solidFill>
                <a:srgbClr val="000000"/>
              </a:solidFill>
              <a:latin typeface="Arial"/>
            </a:endParaRPr>
          </a:p>
        </p:txBody>
      </p:sp>
      <p:sp>
        <p:nvSpPr>
          <p:cNvPr id="231" name="Google Shape;257;p4"/>
          <p:cNvSpPr/>
          <p:nvPr/>
        </p:nvSpPr>
        <p:spPr>
          <a:xfrm>
            <a:off x="2066760" y="2400480"/>
            <a:ext cx="1018440" cy="8852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2" name="Google Shape;258;p4"/>
          <p:cNvSpPr/>
          <p:nvPr/>
        </p:nvSpPr>
        <p:spPr>
          <a:xfrm>
            <a:off x="2143080" y="2448000"/>
            <a:ext cx="866160" cy="789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Patch</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embed</a:t>
            </a:r>
            <a:endParaRPr b="0" lang="en-US" sz="1729" spc="-1" strike="noStrike">
              <a:solidFill>
                <a:srgbClr val="000000"/>
              </a:solidFill>
              <a:latin typeface="Arial"/>
            </a:endParaRPr>
          </a:p>
        </p:txBody>
      </p:sp>
      <p:sp>
        <p:nvSpPr>
          <p:cNvPr id="233" name="Google Shape;259;p4"/>
          <p:cNvSpPr/>
          <p:nvPr/>
        </p:nvSpPr>
        <p:spPr>
          <a:xfrm>
            <a:off x="1819440" y="2838600"/>
            <a:ext cx="246960" cy="360"/>
          </a:xfrm>
          <a:custGeom>
            <a:avLst/>
            <a:gdLst>
              <a:gd name="textAreaLeft" fmla="*/ 0 w 246960"/>
              <a:gd name="textAreaRight" fmla="*/ 247320 w 246960"/>
              <a:gd name="textAreaTop" fmla="*/ 0 h 360"/>
              <a:gd name="textAreaBottom" fmla="*/ 720 h 360"/>
            </a:gdLst>
            <a:ahLst/>
            <a:rect l="textAreaLeft" t="textAreaTop" r="textAreaRight" b="textAreaBottom"/>
            <a:pathLst>
              <a:path w="247650" h="953">
                <a:moveTo>
                  <a:pt x="0" y="0"/>
                </a:moveTo>
                <a:lnTo>
                  <a:pt x="2476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34" name="Google Shape;260;p4"/>
          <p:cNvSpPr/>
          <p:nvPr/>
        </p:nvSpPr>
        <p:spPr>
          <a:xfrm>
            <a:off x="1971720" y="27946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35" name="Google Shape;261;p4"/>
          <p:cNvSpPr/>
          <p:nvPr/>
        </p:nvSpPr>
        <p:spPr>
          <a:xfrm>
            <a:off x="3524400" y="2295360"/>
            <a:ext cx="1323360" cy="113760"/>
          </a:xfrm>
          <a:custGeom>
            <a:avLst/>
            <a:gdLst>
              <a:gd name="textAreaLeft" fmla="*/ 0 w 1323360"/>
              <a:gd name="textAreaRight" fmla="*/ 1323720 w 1323360"/>
              <a:gd name="textAreaTop" fmla="*/ 0 h 113760"/>
              <a:gd name="textAreaBottom" fmla="*/ 114120 h 11376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6" name="Google Shape;262;p4"/>
          <p:cNvSpPr/>
          <p:nvPr/>
        </p:nvSpPr>
        <p:spPr>
          <a:xfrm>
            <a:off x="4734000" y="2295360"/>
            <a:ext cx="113760" cy="990000"/>
          </a:xfrm>
          <a:custGeom>
            <a:avLst/>
            <a:gdLst>
              <a:gd name="textAreaLeft" fmla="*/ 0 w 113760"/>
              <a:gd name="textAreaRight" fmla="*/ 114120 w 113760"/>
              <a:gd name="textAreaTop" fmla="*/ 0 h 990000"/>
              <a:gd name="textAreaBottom" fmla="*/ 990360 h 99000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37" name="Google Shape;263;p4"/>
          <p:cNvSpPr/>
          <p:nvPr/>
        </p:nvSpPr>
        <p:spPr>
          <a:xfrm>
            <a:off x="3524400" y="2409840"/>
            <a:ext cx="1208880" cy="8755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8" name="Google Shape;264;p4"/>
          <p:cNvSpPr/>
          <p:nvPr/>
        </p:nvSpPr>
        <p:spPr>
          <a:xfrm>
            <a:off x="382680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39" name="Google Shape;265;p4"/>
          <p:cNvSpPr/>
          <p:nvPr/>
        </p:nvSpPr>
        <p:spPr>
          <a:xfrm>
            <a:off x="412920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0" name="Google Shape;266;p4"/>
          <p:cNvSpPr/>
          <p:nvPr/>
        </p:nvSpPr>
        <p:spPr>
          <a:xfrm>
            <a:off x="443160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1" name="Google Shape;267;p4"/>
          <p:cNvSpPr/>
          <p:nvPr/>
        </p:nvSpPr>
        <p:spPr>
          <a:xfrm>
            <a:off x="3524400" y="262908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2" name="Google Shape;268;p4"/>
          <p:cNvSpPr/>
          <p:nvPr/>
        </p:nvSpPr>
        <p:spPr>
          <a:xfrm>
            <a:off x="3524400" y="284796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3" name="Google Shape;269;p4"/>
          <p:cNvSpPr/>
          <p:nvPr/>
        </p:nvSpPr>
        <p:spPr>
          <a:xfrm>
            <a:off x="3524400" y="306720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44" name="Google Shape;270;p4"/>
          <p:cNvSpPr/>
          <p:nvPr/>
        </p:nvSpPr>
        <p:spPr>
          <a:xfrm>
            <a:off x="3562200" y="2486160"/>
            <a:ext cx="113292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96 ch</a:t>
            </a:r>
            <a:endParaRPr b="0" lang="en-US" sz="1729" spc="-1" strike="noStrike">
              <a:solidFill>
                <a:srgbClr val="000000"/>
              </a:solidFill>
              <a:latin typeface="Arial"/>
            </a:endParaRPr>
          </a:p>
        </p:txBody>
      </p:sp>
      <p:sp>
        <p:nvSpPr>
          <p:cNvPr id="245" name="Google Shape;271;p4"/>
          <p:cNvSpPr/>
          <p:nvPr/>
        </p:nvSpPr>
        <p:spPr>
          <a:xfrm>
            <a:off x="3438360" y="341964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64 × 176</a:t>
            </a:r>
            <a:endParaRPr b="0" lang="en-US" sz="1650" spc="-1" strike="noStrike">
              <a:solidFill>
                <a:srgbClr val="000000"/>
              </a:solidFill>
              <a:latin typeface="Arial"/>
            </a:endParaRPr>
          </a:p>
        </p:txBody>
      </p:sp>
      <p:sp>
        <p:nvSpPr>
          <p:cNvPr id="246" name="Google Shape;272;p4"/>
          <p:cNvSpPr/>
          <p:nvPr/>
        </p:nvSpPr>
        <p:spPr>
          <a:xfrm>
            <a:off x="3438360" y="377208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47" name="Google Shape;273;p4"/>
          <p:cNvSpPr/>
          <p:nvPr/>
        </p:nvSpPr>
        <p:spPr>
          <a:xfrm>
            <a:off x="5438880" y="2295360"/>
            <a:ext cx="1323360" cy="113760"/>
          </a:xfrm>
          <a:custGeom>
            <a:avLst/>
            <a:gdLst>
              <a:gd name="textAreaLeft" fmla="*/ 0 w 1323360"/>
              <a:gd name="textAreaRight" fmla="*/ 1323720 w 1323360"/>
              <a:gd name="textAreaTop" fmla="*/ 0 h 113760"/>
              <a:gd name="textAreaBottom" fmla="*/ 114120 h 11376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48" name="Google Shape;274;p4"/>
          <p:cNvSpPr/>
          <p:nvPr/>
        </p:nvSpPr>
        <p:spPr>
          <a:xfrm>
            <a:off x="6648480" y="2295360"/>
            <a:ext cx="113760" cy="990000"/>
          </a:xfrm>
          <a:custGeom>
            <a:avLst/>
            <a:gdLst>
              <a:gd name="textAreaLeft" fmla="*/ 0 w 113760"/>
              <a:gd name="textAreaRight" fmla="*/ 114120 w 113760"/>
              <a:gd name="textAreaTop" fmla="*/ 0 h 990000"/>
              <a:gd name="textAreaBottom" fmla="*/ 990360 h 99000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49" name="Google Shape;275;p4"/>
          <p:cNvSpPr/>
          <p:nvPr/>
        </p:nvSpPr>
        <p:spPr>
          <a:xfrm>
            <a:off x="5438880" y="2409840"/>
            <a:ext cx="1208880" cy="8755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0" name="Google Shape;276;p4"/>
          <p:cNvSpPr/>
          <p:nvPr/>
        </p:nvSpPr>
        <p:spPr>
          <a:xfrm>
            <a:off x="574128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1" name="Google Shape;277;p4"/>
          <p:cNvSpPr/>
          <p:nvPr/>
        </p:nvSpPr>
        <p:spPr>
          <a:xfrm>
            <a:off x="604368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2" name="Google Shape;278;p4"/>
          <p:cNvSpPr/>
          <p:nvPr/>
        </p:nvSpPr>
        <p:spPr>
          <a:xfrm>
            <a:off x="634608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53" name="Google Shape;279;p4"/>
          <p:cNvSpPr/>
          <p:nvPr/>
        </p:nvSpPr>
        <p:spPr>
          <a:xfrm>
            <a:off x="5438880" y="262908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4" name="Google Shape;280;p4"/>
          <p:cNvSpPr/>
          <p:nvPr/>
        </p:nvSpPr>
        <p:spPr>
          <a:xfrm>
            <a:off x="5438880" y="284796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5" name="Google Shape;281;p4"/>
          <p:cNvSpPr/>
          <p:nvPr/>
        </p:nvSpPr>
        <p:spPr>
          <a:xfrm>
            <a:off x="5438880" y="306720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56" name="Google Shape;282;p4"/>
          <p:cNvSpPr/>
          <p:nvPr/>
        </p:nvSpPr>
        <p:spPr>
          <a:xfrm>
            <a:off x="5477040" y="2486160"/>
            <a:ext cx="113292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192 ch</a:t>
            </a:r>
            <a:endParaRPr b="0" lang="en-US" sz="1729" spc="-1" strike="noStrike">
              <a:solidFill>
                <a:srgbClr val="000000"/>
              </a:solidFill>
              <a:latin typeface="Arial"/>
            </a:endParaRPr>
          </a:p>
        </p:txBody>
      </p:sp>
      <p:sp>
        <p:nvSpPr>
          <p:cNvPr id="257" name="Google Shape;283;p4"/>
          <p:cNvSpPr/>
          <p:nvPr/>
        </p:nvSpPr>
        <p:spPr>
          <a:xfrm>
            <a:off x="5353200" y="341964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32 × 88</a:t>
            </a:r>
            <a:endParaRPr b="0" lang="en-US" sz="1650" spc="-1" strike="noStrike">
              <a:solidFill>
                <a:srgbClr val="000000"/>
              </a:solidFill>
              <a:latin typeface="Arial"/>
            </a:endParaRPr>
          </a:p>
        </p:txBody>
      </p:sp>
      <p:sp>
        <p:nvSpPr>
          <p:cNvPr id="258" name="Google Shape;284;p4"/>
          <p:cNvSpPr/>
          <p:nvPr/>
        </p:nvSpPr>
        <p:spPr>
          <a:xfrm>
            <a:off x="5353200" y="377208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59" name="Google Shape;285;p4"/>
          <p:cNvSpPr/>
          <p:nvPr/>
        </p:nvSpPr>
        <p:spPr>
          <a:xfrm>
            <a:off x="4848120" y="2847960"/>
            <a:ext cx="542160" cy="360"/>
          </a:xfrm>
          <a:custGeom>
            <a:avLst/>
            <a:gdLst>
              <a:gd name="textAreaLeft" fmla="*/ 0 w 542160"/>
              <a:gd name="textAreaRight" fmla="*/ 542520 w 542160"/>
              <a:gd name="textAreaTop" fmla="*/ 0 h 360"/>
              <a:gd name="textAreaBottom" fmla="*/ 72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0" name="Google Shape;286;p4"/>
          <p:cNvSpPr/>
          <p:nvPr/>
        </p:nvSpPr>
        <p:spPr>
          <a:xfrm>
            <a:off x="5295960" y="28040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61" name="Google Shape;287;p4"/>
          <p:cNvSpPr/>
          <p:nvPr/>
        </p:nvSpPr>
        <p:spPr>
          <a:xfrm>
            <a:off x="7353360" y="2295360"/>
            <a:ext cx="1323360" cy="113760"/>
          </a:xfrm>
          <a:custGeom>
            <a:avLst/>
            <a:gdLst>
              <a:gd name="textAreaLeft" fmla="*/ 0 w 1323360"/>
              <a:gd name="textAreaRight" fmla="*/ 1323720 w 1323360"/>
              <a:gd name="textAreaTop" fmla="*/ 0 h 113760"/>
              <a:gd name="textAreaBottom" fmla="*/ 114120 h 11376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2" name="Google Shape;288;p4"/>
          <p:cNvSpPr/>
          <p:nvPr/>
        </p:nvSpPr>
        <p:spPr>
          <a:xfrm>
            <a:off x="8562960" y="2295360"/>
            <a:ext cx="113760" cy="990000"/>
          </a:xfrm>
          <a:custGeom>
            <a:avLst/>
            <a:gdLst>
              <a:gd name="textAreaLeft" fmla="*/ 0 w 113760"/>
              <a:gd name="textAreaRight" fmla="*/ 114120 w 113760"/>
              <a:gd name="textAreaTop" fmla="*/ 0 h 990000"/>
              <a:gd name="textAreaBottom" fmla="*/ 990360 h 99000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63" name="Google Shape;289;p4"/>
          <p:cNvSpPr/>
          <p:nvPr/>
        </p:nvSpPr>
        <p:spPr>
          <a:xfrm>
            <a:off x="7353360" y="2409840"/>
            <a:ext cx="1208880" cy="8755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4" name="Google Shape;290;p4"/>
          <p:cNvSpPr/>
          <p:nvPr/>
        </p:nvSpPr>
        <p:spPr>
          <a:xfrm>
            <a:off x="765576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5" name="Google Shape;291;p4"/>
          <p:cNvSpPr/>
          <p:nvPr/>
        </p:nvSpPr>
        <p:spPr>
          <a:xfrm>
            <a:off x="795816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6" name="Google Shape;292;p4"/>
          <p:cNvSpPr/>
          <p:nvPr/>
        </p:nvSpPr>
        <p:spPr>
          <a:xfrm>
            <a:off x="826056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67" name="Google Shape;293;p4"/>
          <p:cNvSpPr/>
          <p:nvPr/>
        </p:nvSpPr>
        <p:spPr>
          <a:xfrm>
            <a:off x="7353360" y="262908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8" name="Google Shape;294;p4"/>
          <p:cNvSpPr/>
          <p:nvPr/>
        </p:nvSpPr>
        <p:spPr>
          <a:xfrm>
            <a:off x="7353360" y="284796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69" name="Google Shape;295;p4"/>
          <p:cNvSpPr/>
          <p:nvPr/>
        </p:nvSpPr>
        <p:spPr>
          <a:xfrm>
            <a:off x="7353360" y="306720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70" name="Google Shape;296;p4"/>
          <p:cNvSpPr/>
          <p:nvPr/>
        </p:nvSpPr>
        <p:spPr>
          <a:xfrm>
            <a:off x="7391520" y="2486160"/>
            <a:ext cx="113292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384 ch</a:t>
            </a:r>
            <a:endParaRPr b="0" lang="en-US" sz="1729" spc="-1" strike="noStrike">
              <a:solidFill>
                <a:srgbClr val="000000"/>
              </a:solidFill>
              <a:latin typeface="Arial"/>
            </a:endParaRPr>
          </a:p>
        </p:txBody>
      </p:sp>
      <p:sp>
        <p:nvSpPr>
          <p:cNvPr id="271" name="Google Shape;297;p4"/>
          <p:cNvSpPr/>
          <p:nvPr/>
        </p:nvSpPr>
        <p:spPr>
          <a:xfrm>
            <a:off x="7267680" y="341964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16 × 44</a:t>
            </a:r>
            <a:endParaRPr b="0" lang="en-US" sz="1650" spc="-1" strike="noStrike">
              <a:solidFill>
                <a:srgbClr val="000000"/>
              </a:solidFill>
              <a:latin typeface="Arial"/>
            </a:endParaRPr>
          </a:p>
        </p:txBody>
      </p:sp>
      <p:sp>
        <p:nvSpPr>
          <p:cNvPr id="272" name="Google Shape;298;p4"/>
          <p:cNvSpPr/>
          <p:nvPr/>
        </p:nvSpPr>
        <p:spPr>
          <a:xfrm>
            <a:off x="7267680" y="377208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6 blocks</a:t>
            </a:r>
            <a:endParaRPr b="0" lang="en-US" sz="1580" spc="-1" strike="noStrike">
              <a:solidFill>
                <a:srgbClr val="000000"/>
              </a:solidFill>
              <a:latin typeface="Arial"/>
            </a:endParaRPr>
          </a:p>
        </p:txBody>
      </p:sp>
      <p:sp>
        <p:nvSpPr>
          <p:cNvPr id="273" name="Google Shape;299;p4"/>
          <p:cNvSpPr/>
          <p:nvPr/>
        </p:nvSpPr>
        <p:spPr>
          <a:xfrm>
            <a:off x="6762600" y="2847960"/>
            <a:ext cx="542160" cy="360"/>
          </a:xfrm>
          <a:custGeom>
            <a:avLst/>
            <a:gdLst>
              <a:gd name="textAreaLeft" fmla="*/ 0 w 542160"/>
              <a:gd name="textAreaRight" fmla="*/ 542520 w 542160"/>
              <a:gd name="textAreaTop" fmla="*/ 0 h 360"/>
              <a:gd name="textAreaBottom" fmla="*/ 72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74" name="Google Shape;300;p4"/>
          <p:cNvSpPr/>
          <p:nvPr/>
        </p:nvSpPr>
        <p:spPr>
          <a:xfrm>
            <a:off x="7210440" y="28040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75" name="Google Shape;301;p4"/>
          <p:cNvSpPr/>
          <p:nvPr/>
        </p:nvSpPr>
        <p:spPr>
          <a:xfrm>
            <a:off x="9267840" y="2295360"/>
            <a:ext cx="1323360" cy="113760"/>
          </a:xfrm>
          <a:custGeom>
            <a:avLst/>
            <a:gdLst>
              <a:gd name="textAreaLeft" fmla="*/ 0 w 1323360"/>
              <a:gd name="textAreaRight" fmla="*/ 1323720 w 1323360"/>
              <a:gd name="textAreaTop" fmla="*/ 0 h 113760"/>
              <a:gd name="textAreaBottom" fmla="*/ 114120 h 113760"/>
            </a:gdLst>
            <a:ahLst/>
            <a:rect l="textAreaLeft" t="textAreaTop" r="textAreaRight" b="textAreaBottom"/>
            <a:pathLst>
              <a:path w="1323975" h="114300">
                <a:moveTo>
                  <a:pt x="0" y="114300"/>
                </a:moveTo>
                <a:lnTo>
                  <a:pt x="114300" y="0"/>
                </a:lnTo>
                <a:lnTo>
                  <a:pt x="1323975" y="0"/>
                </a:lnTo>
                <a:lnTo>
                  <a:pt x="1209675" y="114300"/>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6" name="Google Shape;302;p4"/>
          <p:cNvSpPr/>
          <p:nvPr/>
        </p:nvSpPr>
        <p:spPr>
          <a:xfrm>
            <a:off x="10477440" y="2295360"/>
            <a:ext cx="113760" cy="990000"/>
          </a:xfrm>
          <a:custGeom>
            <a:avLst/>
            <a:gdLst>
              <a:gd name="textAreaLeft" fmla="*/ 0 w 113760"/>
              <a:gd name="textAreaRight" fmla="*/ 114120 w 113760"/>
              <a:gd name="textAreaTop" fmla="*/ 0 h 990000"/>
              <a:gd name="textAreaBottom" fmla="*/ 990360 h 990000"/>
            </a:gdLst>
            <a:ahLst/>
            <a:rect l="textAreaLeft" t="textAreaTop" r="textAreaRight" b="textAreaBottom"/>
            <a:pathLst>
              <a:path w="114300" h="990600">
                <a:moveTo>
                  <a:pt x="0" y="114300"/>
                </a:moveTo>
                <a:lnTo>
                  <a:pt x="114300" y="0"/>
                </a:lnTo>
                <a:lnTo>
                  <a:pt x="114300" y="876300"/>
                </a:lnTo>
                <a:lnTo>
                  <a:pt x="0" y="99060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77" name="Google Shape;303;p4"/>
          <p:cNvSpPr/>
          <p:nvPr/>
        </p:nvSpPr>
        <p:spPr>
          <a:xfrm>
            <a:off x="9267840" y="2409840"/>
            <a:ext cx="1208880" cy="8755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8" name="Google Shape;304;p4"/>
          <p:cNvSpPr/>
          <p:nvPr/>
        </p:nvSpPr>
        <p:spPr>
          <a:xfrm>
            <a:off x="957024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79" name="Google Shape;305;p4"/>
          <p:cNvSpPr/>
          <p:nvPr/>
        </p:nvSpPr>
        <p:spPr>
          <a:xfrm>
            <a:off x="987264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80" name="Google Shape;306;p4"/>
          <p:cNvSpPr/>
          <p:nvPr/>
        </p:nvSpPr>
        <p:spPr>
          <a:xfrm>
            <a:off x="10175040" y="240984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81" name="Google Shape;307;p4"/>
          <p:cNvSpPr/>
          <p:nvPr/>
        </p:nvSpPr>
        <p:spPr>
          <a:xfrm>
            <a:off x="9267840" y="262908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2" name="Google Shape;308;p4"/>
          <p:cNvSpPr/>
          <p:nvPr/>
        </p:nvSpPr>
        <p:spPr>
          <a:xfrm>
            <a:off x="9267840" y="284796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3" name="Google Shape;309;p4"/>
          <p:cNvSpPr/>
          <p:nvPr/>
        </p:nvSpPr>
        <p:spPr>
          <a:xfrm>
            <a:off x="9267840" y="3067200"/>
            <a:ext cx="1208880" cy="360"/>
          </a:xfrm>
          <a:custGeom>
            <a:avLst/>
            <a:gdLst>
              <a:gd name="textAreaLeft" fmla="*/ 0 w 1208880"/>
              <a:gd name="textAreaRight" fmla="*/ 1209240 w 1208880"/>
              <a:gd name="textAreaTop" fmla="*/ 0 h 360"/>
              <a:gd name="textAreaBottom" fmla="*/ 720 h 360"/>
            </a:gdLst>
            <a:ahLst/>
            <a:rect l="textAreaLeft" t="textAreaTop" r="textAreaRight" b="textAreaBottom"/>
            <a:pathLst>
              <a:path w="1209675" h="953">
                <a:moveTo>
                  <a:pt x="0" y="0"/>
                </a:moveTo>
                <a:lnTo>
                  <a:pt x="12096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4" name="Google Shape;310;p4"/>
          <p:cNvSpPr/>
          <p:nvPr/>
        </p:nvSpPr>
        <p:spPr>
          <a:xfrm>
            <a:off x="9306000" y="2486160"/>
            <a:ext cx="113292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768 ch</a:t>
            </a:r>
            <a:endParaRPr b="0" lang="en-US" sz="1729" spc="-1" strike="noStrike">
              <a:solidFill>
                <a:srgbClr val="000000"/>
              </a:solidFill>
              <a:latin typeface="Arial"/>
            </a:endParaRPr>
          </a:p>
        </p:txBody>
      </p:sp>
      <p:sp>
        <p:nvSpPr>
          <p:cNvPr id="285" name="Google Shape;311;p4"/>
          <p:cNvSpPr/>
          <p:nvPr/>
        </p:nvSpPr>
        <p:spPr>
          <a:xfrm>
            <a:off x="9182160" y="341964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8 × 22</a:t>
            </a:r>
            <a:endParaRPr b="0" lang="en-US" sz="1650" spc="-1" strike="noStrike">
              <a:solidFill>
                <a:srgbClr val="000000"/>
              </a:solidFill>
              <a:latin typeface="Arial"/>
            </a:endParaRPr>
          </a:p>
        </p:txBody>
      </p:sp>
      <p:sp>
        <p:nvSpPr>
          <p:cNvPr id="286" name="Google Shape;312;p4"/>
          <p:cNvSpPr/>
          <p:nvPr/>
        </p:nvSpPr>
        <p:spPr>
          <a:xfrm>
            <a:off x="9182160" y="3772080"/>
            <a:ext cx="13899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58677c"/>
                </a:solidFill>
                <a:latin typeface="Verdana"/>
                <a:ea typeface="Verdana"/>
              </a:rPr>
              <a:t>2 blocks</a:t>
            </a:r>
            <a:endParaRPr b="0" lang="en-US" sz="1580" spc="-1" strike="noStrike">
              <a:solidFill>
                <a:srgbClr val="000000"/>
              </a:solidFill>
              <a:latin typeface="Arial"/>
            </a:endParaRPr>
          </a:p>
        </p:txBody>
      </p:sp>
      <p:sp>
        <p:nvSpPr>
          <p:cNvPr id="287" name="Google Shape;313;p4"/>
          <p:cNvSpPr/>
          <p:nvPr/>
        </p:nvSpPr>
        <p:spPr>
          <a:xfrm>
            <a:off x="8677440" y="2847960"/>
            <a:ext cx="542160" cy="360"/>
          </a:xfrm>
          <a:custGeom>
            <a:avLst/>
            <a:gdLst>
              <a:gd name="textAreaLeft" fmla="*/ 0 w 542160"/>
              <a:gd name="textAreaRight" fmla="*/ 542520 w 542160"/>
              <a:gd name="textAreaTop" fmla="*/ 0 h 360"/>
              <a:gd name="textAreaBottom" fmla="*/ 720 h 360"/>
            </a:gdLst>
            <a:ahLst/>
            <a:rect l="textAreaLeft" t="textAreaTop" r="textAreaRight" b="textAreaBottom"/>
            <a:pathLst>
              <a:path w="542925" h="953">
                <a:moveTo>
                  <a:pt x="0" y="0"/>
                </a:moveTo>
                <a:lnTo>
                  <a:pt x="5429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88" name="Google Shape;314;p4"/>
          <p:cNvSpPr/>
          <p:nvPr/>
        </p:nvSpPr>
        <p:spPr>
          <a:xfrm>
            <a:off x="9124920" y="28040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89" name="Google Shape;315;p4"/>
          <p:cNvSpPr/>
          <p:nvPr/>
        </p:nvSpPr>
        <p:spPr>
          <a:xfrm>
            <a:off x="3086280" y="2847960"/>
            <a:ext cx="389880" cy="360"/>
          </a:xfrm>
          <a:custGeom>
            <a:avLst/>
            <a:gdLst>
              <a:gd name="textAreaLeft" fmla="*/ 0 w 389880"/>
              <a:gd name="textAreaRight" fmla="*/ 390240 w 389880"/>
              <a:gd name="textAreaTop" fmla="*/ 0 h 360"/>
              <a:gd name="textAreaBottom" fmla="*/ 720 h 360"/>
            </a:gdLst>
            <a:ahLst/>
            <a:rect l="textAreaLeft" t="textAreaTop" r="textAreaRight" b="textAreaBottom"/>
            <a:pathLst>
              <a:path w="390525" h="953">
                <a:moveTo>
                  <a:pt x="0" y="0"/>
                </a:moveTo>
                <a:lnTo>
                  <a:pt x="3905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290" name="Google Shape;316;p4"/>
          <p:cNvSpPr/>
          <p:nvPr/>
        </p:nvSpPr>
        <p:spPr>
          <a:xfrm>
            <a:off x="3381480" y="28040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291" name="Google Shape;317;p4"/>
          <p:cNvSpPr/>
          <p:nvPr/>
        </p:nvSpPr>
        <p:spPr>
          <a:xfrm>
            <a:off x="9267840" y="4467240"/>
            <a:ext cx="1323360" cy="761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2" name="Google Shape;318;p4"/>
          <p:cNvSpPr/>
          <p:nvPr/>
        </p:nvSpPr>
        <p:spPr>
          <a:xfrm>
            <a:off x="9344160" y="4514760"/>
            <a:ext cx="117072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3" name="Google Shape;319;p4"/>
          <p:cNvSpPr/>
          <p:nvPr/>
        </p:nvSpPr>
        <p:spPr>
          <a:xfrm>
            <a:off x="7353360" y="4467240"/>
            <a:ext cx="1323360" cy="761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4" name="Google Shape;320;p4"/>
          <p:cNvSpPr/>
          <p:nvPr/>
        </p:nvSpPr>
        <p:spPr>
          <a:xfrm>
            <a:off x="7429680" y="4514760"/>
            <a:ext cx="117072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5" name="Google Shape;321;p4"/>
          <p:cNvSpPr/>
          <p:nvPr/>
        </p:nvSpPr>
        <p:spPr>
          <a:xfrm>
            <a:off x="5438880" y="4467240"/>
            <a:ext cx="1323360" cy="761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6" name="Google Shape;322;p4"/>
          <p:cNvSpPr/>
          <p:nvPr/>
        </p:nvSpPr>
        <p:spPr>
          <a:xfrm>
            <a:off x="5514840" y="4514760"/>
            <a:ext cx="117072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256 ch</a:t>
            </a:r>
            <a:endParaRPr b="0" lang="en-US" sz="1800" spc="-1" strike="noStrike">
              <a:solidFill>
                <a:srgbClr val="000000"/>
              </a:solidFill>
              <a:latin typeface="Arial"/>
            </a:endParaRPr>
          </a:p>
        </p:txBody>
      </p:sp>
      <p:sp>
        <p:nvSpPr>
          <p:cNvPr id="297" name="Google Shape;323;p4"/>
          <p:cNvSpPr/>
          <p:nvPr/>
        </p:nvSpPr>
        <p:spPr>
          <a:xfrm>
            <a:off x="9925200" y="4095720"/>
            <a:ext cx="360" cy="370800"/>
          </a:xfrm>
          <a:custGeom>
            <a:avLst/>
            <a:gdLst>
              <a:gd name="textAreaLeft" fmla="*/ 0 w 360"/>
              <a:gd name="textAreaRight" fmla="*/ 720 w 360"/>
              <a:gd name="textAreaTop" fmla="*/ 0 h 370800"/>
              <a:gd name="textAreaBottom" fmla="*/ 371160 h 37080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298" name="Google Shape;324;p4"/>
          <p:cNvSpPr/>
          <p:nvPr/>
        </p:nvSpPr>
        <p:spPr>
          <a:xfrm>
            <a:off x="9881280" y="43718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299" name="Google Shape;325;p4"/>
          <p:cNvSpPr/>
          <p:nvPr/>
        </p:nvSpPr>
        <p:spPr>
          <a:xfrm>
            <a:off x="8010360" y="4095720"/>
            <a:ext cx="360" cy="370800"/>
          </a:xfrm>
          <a:custGeom>
            <a:avLst/>
            <a:gdLst>
              <a:gd name="textAreaLeft" fmla="*/ 0 w 360"/>
              <a:gd name="textAreaRight" fmla="*/ 720 w 360"/>
              <a:gd name="textAreaTop" fmla="*/ 0 h 370800"/>
              <a:gd name="textAreaBottom" fmla="*/ 371160 h 37080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00" name="Google Shape;326;p4"/>
          <p:cNvSpPr/>
          <p:nvPr/>
        </p:nvSpPr>
        <p:spPr>
          <a:xfrm>
            <a:off x="7966800" y="43718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1" name="Google Shape;327;p4"/>
          <p:cNvSpPr/>
          <p:nvPr/>
        </p:nvSpPr>
        <p:spPr>
          <a:xfrm>
            <a:off x="6095880" y="4095720"/>
            <a:ext cx="360" cy="370800"/>
          </a:xfrm>
          <a:custGeom>
            <a:avLst/>
            <a:gdLst>
              <a:gd name="textAreaLeft" fmla="*/ 0 w 360"/>
              <a:gd name="textAreaRight" fmla="*/ 720 w 360"/>
              <a:gd name="textAreaTop" fmla="*/ 0 h 370800"/>
              <a:gd name="textAreaBottom" fmla="*/ 371160 h 370800"/>
            </a:gdLst>
            <a:ahLst/>
            <a:rect l="textAreaLeft" t="textAreaTop" r="textAreaRight" b="textAreaBottom"/>
            <a:pathLst>
              <a:path w="953" h="371475">
                <a:moveTo>
                  <a:pt x="0" y="0"/>
                </a:moveTo>
                <a:lnTo>
                  <a:pt x="0" y="3714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02" name="Google Shape;328;p4"/>
          <p:cNvSpPr/>
          <p:nvPr/>
        </p:nvSpPr>
        <p:spPr>
          <a:xfrm>
            <a:off x="6052320" y="43718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03" name="Google Shape;329;p4"/>
          <p:cNvSpPr/>
          <p:nvPr/>
        </p:nvSpPr>
        <p:spPr>
          <a:xfrm>
            <a:off x="8677440" y="4857840"/>
            <a:ext cx="589680" cy="360"/>
          </a:xfrm>
          <a:custGeom>
            <a:avLst/>
            <a:gdLst>
              <a:gd name="textAreaLeft" fmla="*/ 0 w 589680"/>
              <a:gd name="textAreaRight" fmla="*/ 590040 w 589680"/>
              <a:gd name="textAreaTop" fmla="*/ 0 h 360"/>
              <a:gd name="textAreaBottom" fmla="*/ 720 h 360"/>
            </a:gdLst>
            <a:ahLst/>
            <a:rect l="textAreaLeft" t="textAreaTop" r="textAreaRight" b="textAreaBottom"/>
            <a:pathLst>
              <a:path w="590550" h="953">
                <a:moveTo>
                  <a:pt x="5905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4" name="Google Shape;330;p4"/>
          <p:cNvSpPr/>
          <p:nvPr/>
        </p:nvSpPr>
        <p:spPr>
          <a:xfrm>
            <a:off x="8677440" y="48139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05" name="Google Shape;331;p4"/>
          <p:cNvSpPr/>
          <p:nvPr/>
        </p:nvSpPr>
        <p:spPr>
          <a:xfrm>
            <a:off x="6762600" y="4857840"/>
            <a:ext cx="589680" cy="360"/>
          </a:xfrm>
          <a:custGeom>
            <a:avLst/>
            <a:gdLst>
              <a:gd name="textAreaLeft" fmla="*/ 0 w 589680"/>
              <a:gd name="textAreaRight" fmla="*/ 590040 w 589680"/>
              <a:gd name="textAreaTop" fmla="*/ 0 h 360"/>
              <a:gd name="textAreaBottom" fmla="*/ 720 h 360"/>
            </a:gdLst>
            <a:ahLst/>
            <a:rect l="textAreaLeft" t="textAreaTop" r="textAreaRight" b="textAreaBottom"/>
            <a:pathLst>
              <a:path w="590550" h="953">
                <a:moveTo>
                  <a:pt x="5905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6" name="Google Shape;332;p4"/>
          <p:cNvSpPr/>
          <p:nvPr/>
        </p:nvSpPr>
        <p:spPr>
          <a:xfrm>
            <a:off x="6762600" y="48139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07" name="Google Shape;333;p4"/>
          <p:cNvSpPr/>
          <p:nvPr/>
        </p:nvSpPr>
        <p:spPr>
          <a:xfrm>
            <a:off x="7219800" y="5362560"/>
            <a:ext cx="3590280" cy="3042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1674d1"/>
                </a:solidFill>
                <a:latin typeface="Verdana"/>
                <a:ea typeface="Verdana"/>
              </a:rPr>
              <a:t>Upsample + merge</a:t>
            </a:r>
            <a:endParaRPr b="0" lang="en-US" sz="1650" spc="-1" strike="noStrike">
              <a:solidFill>
                <a:srgbClr val="000000"/>
              </a:solidFill>
              <a:latin typeface="Arial"/>
            </a:endParaRPr>
          </a:p>
        </p:txBody>
      </p:sp>
      <p:sp>
        <p:nvSpPr>
          <p:cNvPr id="308" name="Google Shape;334;p4"/>
          <p:cNvSpPr/>
          <p:nvPr/>
        </p:nvSpPr>
        <p:spPr>
          <a:xfrm>
            <a:off x="4238640" y="4848120"/>
            <a:ext cx="1199520" cy="360"/>
          </a:xfrm>
          <a:custGeom>
            <a:avLst/>
            <a:gdLst>
              <a:gd name="textAreaLeft" fmla="*/ 0 w 1199520"/>
              <a:gd name="textAreaRight" fmla="*/ 1199880 w 1199520"/>
              <a:gd name="textAreaTop" fmla="*/ 0 h 360"/>
              <a:gd name="textAreaBottom" fmla="*/ 720 h 360"/>
            </a:gdLst>
            <a:ahLst/>
            <a:rect l="textAreaLeft" t="textAreaTop" r="textAreaRight" b="textAreaBottom"/>
            <a:pathLst>
              <a:path w="1200150" h="953">
                <a:moveTo>
                  <a:pt x="1200150" y="0"/>
                </a:moveTo>
                <a:lnTo>
                  <a:pt x="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09" name="Google Shape;335;p4"/>
          <p:cNvSpPr/>
          <p:nvPr/>
        </p:nvSpPr>
        <p:spPr>
          <a:xfrm>
            <a:off x="4238640" y="48045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10" name="Google Shape;336;p4"/>
          <p:cNvSpPr/>
          <p:nvPr/>
        </p:nvSpPr>
        <p:spPr>
          <a:xfrm>
            <a:off x="619200" y="4429080"/>
            <a:ext cx="3618720" cy="85644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11" name="Google Shape;337;p4"/>
          <p:cNvSpPr/>
          <p:nvPr/>
        </p:nvSpPr>
        <p:spPr>
          <a:xfrm>
            <a:off x="695160" y="4476600"/>
            <a:ext cx="3466440" cy="761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1674d1"/>
                </a:solidFill>
                <a:latin typeface="Verdana"/>
                <a:ea typeface="Verdana"/>
              </a:rPr>
              <a:t>Selected feature</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1674d1"/>
                </a:solidFill>
                <a:latin typeface="Verdana"/>
                <a:ea typeface="Verdana"/>
              </a:rPr>
              <a:t>256 × 32 × 88</a:t>
            </a:r>
            <a:endParaRPr b="0" lang="en-US" sz="1950" spc="-1" strike="noStrike">
              <a:solidFill>
                <a:srgbClr val="000000"/>
              </a:solidFill>
              <a:latin typeface="Arial"/>
            </a:endParaRPr>
          </a:p>
        </p:txBody>
      </p:sp>
      <p:sp>
        <p:nvSpPr>
          <p:cNvPr id="312" name="Google Shape;338;p4"/>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13" name="Google Shape;339;p4"/>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High-resolution spatial detail and deeper semantic features meet before depth lifting.</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314" name="Google Shape;345;p5"/>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Calibration projects LiDAR into the image</a:t>
            </a:r>
            <a:endParaRPr b="0" lang="en-US" sz="3300" spc="-1" strike="noStrike">
              <a:solidFill>
                <a:srgbClr val="000000"/>
              </a:solidFill>
              <a:latin typeface="Arial"/>
            </a:endParaRPr>
          </a:p>
        </p:txBody>
      </p:sp>
      <p:sp>
        <p:nvSpPr>
          <p:cNvPr id="315" name="Google Shape;346;p5"/>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05</a:t>
            </a:r>
            <a:endParaRPr b="0" lang="en-US" sz="1200" spc="-1" strike="noStrike">
              <a:solidFill>
                <a:srgbClr val="000000"/>
              </a:solidFill>
              <a:latin typeface="Arial"/>
            </a:endParaRPr>
          </a:p>
        </p:txBody>
      </p:sp>
      <p:sp>
        <p:nvSpPr>
          <p:cNvPr id="316" name="Google Shape;347;p5"/>
          <p:cNvSpPr/>
          <p:nvPr/>
        </p:nvSpPr>
        <p:spPr>
          <a:xfrm>
            <a:off x="533520" y="1380960"/>
            <a:ext cx="347580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c86a1b"/>
                </a:solidFill>
                <a:latin typeface="Verdana"/>
                <a:ea typeface="Verdana"/>
              </a:rPr>
              <a:t>1  LiDAR coordinates</a:t>
            </a:r>
            <a:endParaRPr b="0" lang="en-US" sz="2100" spc="-1" strike="noStrike">
              <a:solidFill>
                <a:srgbClr val="000000"/>
              </a:solidFill>
              <a:latin typeface="Arial"/>
            </a:endParaRPr>
          </a:p>
        </p:txBody>
      </p:sp>
      <p:sp>
        <p:nvSpPr>
          <p:cNvPr id="317" name="Google Shape;348;p5"/>
          <p:cNvSpPr/>
          <p:nvPr/>
        </p:nvSpPr>
        <p:spPr>
          <a:xfrm>
            <a:off x="4457880" y="1380960"/>
            <a:ext cx="359964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2  Camera coordinates</a:t>
            </a:r>
            <a:endParaRPr b="0" lang="en-US" sz="2100" spc="-1" strike="noStrike">
              <a:solidFill>
                <a:srgbClr val="000000"/>
              </a:solidFill>
              <a:latin typeface="Arial"/>
            </a:endParaRPr>
          </a:p>
        </p:txBody>
      </p:sp>
      <p:sp>
        <p:nvSpPr>
          <p:cNvPr id="318" name="Google Shape;349;p5"/>
          <p:cNvSpPr/>
          <p:nvPr/>
        </p:nvSpPr>
        <p:spPr>
          <a:xfrm>
            <a:off x="8420040" y="1380960"/>
            <a:ext cx="323784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3  Sparse image depth</a:t>
            </a:r>
            <a:endParaRPr b="0" lang="en-US" sz="2020" spc="-1" strike="noStrike">
              <a:solidFill>
                <a:srgbClr val="000000"/>
              </a:solidFill>
              <a:latin typeface="Arial"/>
            </a:endParaRPr>
          </a:p>
        </p:txBody>
      </p:sp>
      <p:sp>
        <p:nvSpPr>
          <p:cNvPr id="319" name="Google Shape;350;p5"/>
          <p:cNvSpPr/>
          <p:nvPr/>
        </p:nvSpPr>
        <p:spPr>
          <a:xfrm>
            <a:off x="812520" y="22604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0" name="Google Shape;351;p5"/>
          <p:cNvSpPr/>
          <p:nvPr/>
        </p:nvSpPr>
        <p:spPr>
          <a:xfrm>
            <a:off x="1222200" y="25365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1" name="Google Shape;352;p5"/>
          <p:cNvSpPr/>
          <p:nvPr/>
        </p:nvSpPr>
        <p:spPr>
          <a:xfrm>
            <a:off x="1631520" y="28126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2" name="Google Shape;353;p5"/>
          <p:cNvSpPr/>
          <p:nvPr/>
        </p:nvSpPr>
        <p:spPr>
          <a:xfrm>
            <a:off x="2041200" y="30888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3" name="Google Shape;354;p5"/>
          <p:cNvSpPr/>
          <p:nvPr/>
        </p:nvSpPr>
        <p:spPr>
          <a:xfrm>
            <a:off x="2450880" y="33652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4" name="Google Shape;355;p5"/>
          <p:cNvSpPr/>
          <p:nvPr/>
        </p:nvSpPr>
        <p:spPr>
          <a:xfrm>
            <a:off x="1098360" y="25268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5" name="Google Shape;356;p5"/>
          <p:cNvSpPr/>
          <p:nvPr/>
        </p:nvSpPr>
        <p:spPr>
          <a:xfrm>
            <a:off x="1507680" y="28033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6" name="Google Shape;357;p5"/>
          <p:cNvSpPr/>
          <p:nvPr/>
        </p:nvSpPr>
        <p:spPr>
          <a:xfrm>
            <a:off x="1917360" y="30794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7" name="Google Shape;358;p5"/>
          <p:cNvSpPr/>
          <p:nvPr/>
        </p:nvSpPr>
        <p:spPr>
          <a:xfrm>
            <a:off x="2327040" y="33555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8" name="Google Shape;359;p5"/>
          <p:cNvSpPr/>
          <p:nvPr/>
        </p:nvSpPr>
        <p:spPr>
          <a:xfrm>
            <a:off x="974520" y="25174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29" name="Google Shape;360;p5"/>
          <p:cNvSpPr/>
          <p:nvPr/>
        </p:nvSpPr>
        <p:spPr>
          <a:xfrm>
            <a:off x="1383840" y="27936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0" name="Google Shape;361;p5"/>
          <p:cNvSpPr/>
          <p:nvPr/>
        </p:nvSpPr>
        <p:spPr>
          <a:xfrm>
            <a:off x="1793520" y="30700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1" name="Google Shape;362;p5"/>
          <p:cNvSpPr/>
          <p:nvPr/>
        </p:nvSpPr>
        <p:spPr>
          <a:xfrm>
            <a:off x="2203200" y="33462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2" name="Google Shape;363;p5"/>
          <p:cNvSpPr/>
          <p:nvPr/>
        </p:nvSpPr>
        <p:spPr>
          <a:xfrm>
            <a:off x="850680" y="25077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3" name="Google Shape;364;p5"/>
          <p:cNvSpPr/>
          <p:nvPr/>
        </p:nvSpPr>
        <p:spPr>
          <a:xfrm>
            <a:off x="1260000" y="27842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4" name="Google Shape;365;p5"/>
          <p:cNvSpPr/>
          <p:nvPr/>
        </p:nvSpPr>
        <p:spPr>
          <a:xfrm>
            <a:off x="1669680" y="30603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5" name="Google Shape;366;p5"/>
          <p:cNvSpPr/>
          <p:nvPr/>
        </p:nvSpPr>
        <p:spPr>
          <a:xfrm>
            <a:off x="2079360" y="33364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6" name="Google Shape;367;p5"/>
          <p:cNvSpPr/>
          <p:nvPr/>
        </p:nvSpPr>
        <p:spPr>
          <a:xfrm>
            <a:off x="2489040" y="24984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7" name="Google Shape;368;p5"/>
          <p:cNvSpPr/>
          <p:nvPr/>
        </p:nvSpPr>
        <p:spPr>
          <a:xfrm>
            <a:off x="1136160" y="27745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8" name="Google Shape;369;p5"/>
          <p:cNvSpPr/>
          <p:nvPr/>
        </p:nvSpPr>
        <p:spPr>
          <a:xfrm>
            <a:off x="1545840" y="30510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39" name="Google Shape;370;p5"/>
          <p:cNvSpPr/>
          <p:nvPr/>
        </p:nvSpPr>
        <p:spPr>
          <a:xfrm>
            <a:off x="1955520" y="33271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0" name="Google Shape;371;p5"/>
          <p:cNvSpPr/>
          <p:nvPr/>
        </p:nvSpPr>
        <p:spPr>
          <a:xfrm>
            <a:off x="2365200" y="24890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1" name="Google Shape;372;p5"/>
          <p:cNvSpPr/>
          <p:nvPr/>
        </p:nvSpPr>
        <p:spPr>
          <a:xfrm>
            <a:off x="1012680" y="27651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2" name="Google Shape;373;p5"/>
          <p:cNvSpPr/>
          <p:nvPr/>
        </p:nvSpPr>
        <p:spPr>
          <a:xfrm>
            <a:off x="1422000" y="30412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3" name="Google Shape;374;p5"/>
          <p:cNvSpPr/>
          <p:nvPr/>
        </p:nvSpPr>
        <p:spPr>
          <a:xfrm>
            <a:off x="1831680" y="33174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4" name="Google Shape;375;p5"/>
          <p:cNvSpPr/>
          <p:nvPr/>
        </p:nvSpPr>
        <p:spPr>
          <a:xfrm>
            <a:off x="2241360" y="24793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5" name="Google Shape;376;p5"/>
          <p:cNvSpPr/>
          <p:nvPr/>
        </p:nvSpPr>
        <p:spPr>
          <a:xfrm>
            <a:off x="888840" y="27554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6" name="Google Shape;377;p5"/>
          <p:cNvSpPr/>
          <p:nvPr/>
        </p:nvSpPr>
        <p:spPr>
          <a:xfrm>
            <a:off x="1298160" y="30319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7" name="Google Shape;378;p5"/>
          <p:cNvSpPr/>
          <p:nvPr/>
        </p:nvSpPr>
        <p:spPr>
          <a:xfrm>
            <a:off x="1707840" y="33080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8" name="Google Shape;379;p5"/>
          <p:cNvSpPr/>
          <p:nvPr/>
        </p:nvSpPr>
        <p:spPr>
          <a:xfrm>
            <a:off x="2117520" y="24699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49" name="Google Shape;380;p5"/>
          <p:cNvSpPr/>
          <p:nvPr/>
        </p:nvSpPr>
        <p:spPr>
          <a:xfrm>
            <a:off x="2526840" y="27460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0" name="Google Shape;381;p5"/>
          <p:cNvSpPr/>
          <p:nvPr/>
        </p:nvSpPr>
        <p:spPr>
          <a:xfrm>
            <a:off x="1174320" y="30222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1" name="Google Shape;382;p5"/>
          <p:cNvSpPr/>
          <p:nvPr/>
        </p:nvSpPr>
        <p:spPr>
          <a:xfrm>
            <a:off x="1584000" y="32986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2" name="Google Shape;383;p5"/>
          <p:cNvSpPr/>
          <p:nvPr/>
        </p:nvSpPr>
        <p:spPr>
          <a:xfrm>
            <a:off x="1993680" y="24602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3" name="Google Shape;384;p5"/>
          <p:cNvSpPr/>
          <p:nvPr/>
        </p:nvSpPr>
        <p:spPr>
          <a:xfrm>
            <a:off x="2403000" y="27363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4" name="Google Shape;385;p5"/>
          <p:cNvSpPr/>
          <p:nvPr/>
        </p:nvSpPr>
        <p:spPr>
          <a:xfrm>
            <a:off x="1050480" y="30128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5" name="Google Shape;386;p5"/>
          <p:cNvSpPr/>
          <p:nvPr/>
        </p:nvSpPr>
        <p:spPr>
          <a:xfrm>
            <a:off x="1460160" y="32889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6" name="Google Shape;387;p5"/>
          <p:cNvSpPr/>
          <p:nvPr/>
        </p:nvSpPr>
        <p:spPr>
          <a:xfrm>
            <a:off x="1869840" y="24508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7" name="Google Shape;388;p5"/>
          <p:cNvSpPr/>
          <p:nvPr/>
        </p:nvSpPr>
        <p:spPr>
          <a:xfrm>
            <a:off x="2279160" y="27270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8" name="Google Shape;389;p5"/>
          <p:cNvSpPr/>
          <p:nvPr/>
        </p:nvSpPr>
        <p:spPr>
          <a:xfrm>
            <a:off x="926640" y="300312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59" name="Google Shape;390;p5"/>
          <p:cNvSpPr/>
          <p:nvPr/>
        </p:nvSpPr>
        <p:spPr>
          <a:xfrm>
            <a:off x="1336320" y="327960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0" name="Google Shape;391;p5"/>
          <p:cNvSpPr/>
          <p:nvPr/>
        </p:nvSpPr>
        <p:spPr>
          <a:xfrm>
            <a:off x="1746000" y="24411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1" name="Google Shape;392;p5"/>
          <p:cNvSpPr/>
          <p:nvPr/>
        </p:nvSpPr>
        <p:spPr>
          <a:xfrm>
            <a:off x="2155680" y="271764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2" name="Google Shape;393;p5"/>
          <p:cNvSpPr/>
          <p:nvPr/>
        </p:nvSpPr>
        <p:spPr>
          <a:xfrm>
            <a:off x="2565000" y="299376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3" name="Google Shape;394;p5"/>
          <p:cNvSpPr/>
          <p:nvPr/>
        </p:nvSpPr>
        <p:spPr>
          <a:xfrm>
            <a:off x="1212480" y="3269880"/>
            <a:ext cx="50760" cy="5076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364" name="Google Shape;395;p5"/>
          <p:cNvSpPr/>
          <p:nvPr/>
        </p:nvSpPr>
        <p:spPr>
          <a:xfrm>
            <a:off x="2295360" y="2324160"/>
            <a:ext cx="132480" cy="132480"/>
          </a:xfrm>
          <a:prstGeom prst="ellipse">
            <a:avLst/>
          </a:prstGeom>
          <a:solidFill>
            <a:srgbClr val="c86a1b"/>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65" name="Google Shape;396;p5"/>
          <p:cNvSpPr/>
          <p:nvPr/>
        </p:nvSpPr>
        <p:spPr>
          <a:xfrm>
            <a:off x="771480" y="3638520"/>
            <a:ext cx="261864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c86a1b"/>
                </a:solidFill>
                <a:latin typeface="Verdana"/>
                <a:ea typeface="Verdana"/>
              </a:rPr>
              <a:t>l = (x, y, z)ᵀ</a:t>
            </a:r>
            <a:endParaRPr b="0" lang="en-US" sz="2100" spc="-1" strike="noStrike">
              <a:solidFill>
                <a:srgbClr val="000000"/>
              </a:solidFill>
              <a:latin typeface="Arial"/>
            </a:endParaRPr>
          </a:p>
        </p:txBody>
      </p:sp>
      <p:sp>
        <p:nvSpPr>
          <p:cNvPr id="366" name="Google Shape;397;p5"/>
          <p:cNvSpPr/>
          <p:nvPr/>
        </p:nvSpPr>
        <p:spPr>
          <a:xfrm>
            <a:off x="2943360" y="280044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2190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67" name="Google Shape;398;p5"/>
          <p:cNvSpPr/>
          <p:nvPr/>
        </p:nvSpPr>
        <p:spPr>
          <a:xfrm>
            <a:off x="3914640" y="2756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68" name="Google Shape;399;p5"/>
          <p:cNvSpPr/>
          <p:nvPr/>
        </p:nvSpPr>
        <p:spPr>
          <a:xfrm>
            <a:off x="3133800" y="2333520"/>
            <a:ext cx="951840" cy="3326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304c68"/>
                </a:solidFill>
                <a:latin typeface="Verdana"/>
                <a:ea typeface="Verdana"/>
              </a:rPr>
              <a:t>R, t</a:t>
            </a:r>
            <a:endParaRPr b="0" lang="en-US" sz="1870" spc="-1" strike="noStrike">
              <a:solidFill>
                <a:srgbClr val="000000"/>
              </a:solidFill>
              <a:latin typeface="Arial"/>
            </a:endParaRPr>
          </a:p>
        </p:txBody>
      </p:sp>
      <p:sp>
        <p:nvSpPr>
          <p:cNvPr id="369" name="Google Shape;400;p5"/>
          <p:cNvSpPr/>
          <p:nvPr/>
        </p:nvSpPr>
        <p:spPr>
          <a:xfrm>
            <a:off x="4905360" y="3295800"/>
            <a:ext cx="2456640" cy="360"/>
          </a:xfrm>
          <a:custGeom>
            <a:avLst/>
            <a:gdLst>
              <a:gd name="textAreaLeft" fmla="*/ 0 w 2456640"/>
              <a:gd name="textAreaRight" fmla="*/ 2457000 w 2456640"/>
              <a:gd name="textAreaTop" fmla="*/ 0 h 360"/>
              <a:gd name="textAreaBottom" fmla="*/ 720 h 360"/>
            </a:gdLst>
            <a:ahLst/>
            <a:rect l="textAreaLeft" t="textAreaTop" r="textAreaRight" b="textAreaBottom"/>
            <a:pathLst>
              <a:path w="2457450" h="953">
                <a:moveTo>
                  <a:pt x="0" y="0"/>
                </a:moveTo>
                <a:lnTo>
                  <a:pt x="2457450" y="0"/>
                </a:lnTo>
              </a:path>
            </a:pathLst>
          </a:custGeom>
          <a:noFill/>
          <a:ln w="2190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70" name="Google Shape;401;p5"/>
          <p:cNvSpPr/>
          <p:nvPr/>
        </p:nvSpPr>
        <p:spPr>
          <a:xfrm>
            <a:off x="7267680" y="32518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71" name="Google Shape;402;p5"/>
          <p:cNvSpPr/>
          <p:nvPr/>
        </p:nvSpPr>
        <p:spPr>
          <a:xfrm>
            <a:off x="4905360" y="2028960"/>
            <a:ext cx="360" cy="1266120"/>
          </a:xfrm>
          <a:custGeom>
            <a:avLst/>
            <a:gdLst>
              <a:gd name="textAreaLeft" fmla="*/ 0 w 360"/>
              <a:gd name="textAreaRight" fmla="*/ 720 w 360"/>
              <a:gd name="textAreaTop" fmla="*/ 0 h 1266120"/>
              <a:gd name="textAreaBottom" fmla="*/ 1266480 h 1266120"/>
            </a:gdLst>
            <a:ahLst/>
            <a:rect l="textAreaLeft" t="textAreaTop" r="textAreaRight" b="textAreaBottom"/>
            <a:pathLst>
              <a:path w="953" h="1266825">
                <a:moveTo>
                  <a:pt x="0" y="1266825"/>
                </a:moveTo>
                <a:lnTo>
                  <a:pt x="0" y="0"/>
                </a:lnTo>
              </a:path>
            </a:pathLst>
          </a:custGeom>
          <a:noFill/>
          <a:ln w="2190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72" name="Google Shape;403;p5"/>
          <p:cNvSpPr/>
          <p:nvPr/>
        </p:nvSpPr>
        <p:spPr>
          <a:xfrm>
            <a:off x="4861440" y="202896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3" name="Google Shape;404;p5"/>
          <p:cNvSpPr/>
          <p:nvPr/>
        </p:nvSpPr>
        <p:spPr>
          <a:xfrm>
            <a:off x="4381560" y="3295800"/>
            <a:ext cx="523080" cy="408960"/>
          </a:xfrm>
          <a:custGeom>
            <a:avLst/>
            <a:gdLst>
              <a:gd name="textAreaLeft" fmla="*/ 0 w 523080"/>
              <a:gd name="textAreaRight" fmla="*/ 523440 w 523080"/>
              <a:gd name="textAreaTop" fmla="*/ 0 h 408960"/>
              <a:gd name="textAreaBottom" fmla="*/ 409320 h 408960"/>
            </a:gdLst>
            <a:ahLst/>
            <a:rect l="textAreaLeft" t="textAreaTop" r="textAreaRight" b="textAreaBottom"/>
            <a:pathLst>
              <a:path w="523875" h="409575">
                <a:moveTo>
                  <a:pt x="523875" y="0"/>
                </a:moveTo>
                <a:lnTo>
                  <a:pt x="0" y="409575"/>
                </a:lnTo>
              </a:path>
            </a:pathLst>
          </a:custGeom>
          <a:noFill/>
          <a:ln w="2190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74" name="Google Shape;405;p5"/>
          <p:cNvSpPr/>
          <p:nvPr/>
        </p:nvSpPr>
        <p:spPr>
          <a:xfrm>
            <a:off x="4381560" y="3611880"/>
            <a:ext cx="101160" cy="92520"/>
          </a:xfrm>
          <a:custGeom>
            <a:avLst/>
            <a:gdLst>
              <a:gd name="textAreaLeft" fmla="*/ 0 w 101160"/>
              <a:gd name="textAreaRight" fmla="*/ 101520 w 101160"/>
              <a:gd name="textAreaTop" fmla="*/ 0 h 92520"/>
              <a:gd name="textAreaBottom" fmla="*/ 92880 h 92520"/>
            </a:gdLst>
            <a:ahLst/>
            <a:rect l="textAreaLeft" t="textAreaTop" r="textAreaRight" b="textAreaBottom"/>
            <a:pathLst>
              <a:path w="102025" h="93184">
                <a:moveTo>
                  <a:pt x="0" y="93184"/>
                </a:moveTo>
                <a:lnTo>
                  <a:pt x="102025" y="69036"/>
                </a:lnTo>
                <a:lnTo>
                  <a:pt x="48052"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5" name="Google Shape;406;p5"/>
          <p:cNvSpPr/>
          <p:nvPr/>
        </p:nvSpPr>
        <p:spPr>
          <a:xfrm>
            <a:off x="7400880" y="3124080"/>
            <a:ext cx="332640" cy="323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Z</a:t>
            </a:r>
            <a:endParaRPr b="0" lang="en-US" sz="1650" spc="-1" strike="noStrike">
              <a:solidFill>
                <a:srgbClr val="000000"/>
              </a:solidFill>
              <a:latin typeface="Arial"/>
            </a:endParaRPr>
          </a:p>
        </p:txBody>
      </p:sp>
      <p:sp>
        <p:nvSpPr>
          <p:cNvPr id="376" name="Google Shape;407;p5"/>
          <p:cNvSpPr/>
          <p:nvPr/>
        </p:nvSpPr>
        <p:spPr>
          <a:xfrm>
            <a:off x="4705200" y="1790640"/>
            <a:ext cx="332640" cy="28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Y</a:t>
            </a:r>
            <a:endParaRPr b="0" lang="en-US" sz="1650" spc="-1" strike="noStrike">
              <a:solidFill>
                <a:srgbClr val="000000"/>
              </a:solidFill>
              <a:latin typeface="Arial"/>
            </a:endParaRPr>
          </a:p>
        </p:txBody>
      </p:sp>
      <p:sp>
        <p:nvSpPr>
          <p:cNvPr id="377" name="Google Shape;408;p5"/>
          <p:cNvSpPr/>
          <p:nvPr/>
        </p:nvSpPr>
        <p:spPr>
          <a:xfrm>
            <a:off x="4162320" y="3666960"/>
            <a:ext cx="332640" cy="28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X</a:t>
            </a:r>
            <a:endParaRPr b="0" lang="en-US" sz="1650" spc="-1" strike="noStrike">
              <a:solidFill>
                <a:srgbClr val="000000"/>
              </a:solidFill>
              <a:latin typeface="Arial"/>
            </a:endParaRPr>
          </a:p>
        </p:txBody>
      </p:sp>
      <p:sp>
        <p:nvSpPr>
          <p:cNvPr id="378" name="Google Shape;409;p5"/>
          <p:cNvSpPr/>
          <p:nvPr/>
        </p:nvSpPr>
        <p:spPr>
          <a:xfrm>
            <a:off x="6800760" y="2286000"/>
            <a:ext cx="132480" cy="132480"/>
          </a:xfrm>
          <a:prstGeom prst="ellipse">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379" name="Google Shape;410;p5"/>
          <p:cNvSpPr/>
          <p:nvPr/>
        </p:nvSpPr>
        <p:spPr>
          <a:xfrm>
            <a:off x="4905360" y="2352600"/>
            <a:ext cx="1961280" cy="942120"/>
          </a:xfrm>
          <a:custGeom>
            <a:avLst/>
            <a:gdLst>
              <a:gd name="textAreaLeft" fmla="*/ 0 w 1961280"/>
              <a:gd name="textAreaRight" fmla="*/ 1961640 w 1961280"/>
              <a:gd name="textAreaTop" fmla="*/ 0 h 942120"/>
              <a:gd name="textAreaBottom" fmla="*/ 942480 h 942120"/>
            </a:gdLst>
            <a:ahLst/>
            <a:rect l="textAreaLeft" t="textAreaTop" r="textAreaRight" b="textAreaBottom"/>
            <a:pathLst>
              <a:path w="1962150" h="942975">
                <a:moveTo>
                  <a:pt x="0" y="942975"/>
                </a:moveTo>
                <a:lnTo>
                  <a:pt x="1962150" y="0"/>
                </a:lnTo>
              </a:path>
            </a:pathLst>
          </a:custGeom>
          <a:noFill/>
          <a:ln w="190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0" name="Google Shape;411;p5"/>
          <p:cNvSpPr/>
          <p:nvPr/>
        </p:nvSpPr>
        <p:spPr>
          <a:xfrm>
            <a:off x="5381640" y="3629160"/>
            <a:ext cx="266616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304c68"/>
                </a:solidFill>
                <a:latin typeface="Verdana"/>
                <a:ea typeface="Verdana"/>
              </a:rPr>
              <a:t>c = (X,Y,Z)ᵀ</a:t>
            </a:r>
            <a:endParaRPr b="0" lang="en-US" sz="2100" spc="-1" strike="noStrike">
              <a:solidFill>
                <a:srgbClr val="000000"/>
              </a:solidFill>
              <a:latin typeface="Arial"/>
            </a:endParaRPr>
          </a:p>
        </p:txBody>
      </p:sp>
      <p:sp>
        <p:nvSpPr>
          <p:cNvPr id="381" name="Google Shape;412;p5"/>
          <p:cNvSpPr/>
          <p:nvPr/>
        </p:nvSpPr>
        <p:spPr>
          <a:xfrm>
            <a:off x="7591320" y="2800440"/>
            <a:ext cx="637560" cy="360"/>
          </a:xfrm>
          <a:custGeom>
            <a:avLst/>
            <a:gdLst>
              <a:gd name="textAreaLeft" fmla="*/ 0 w 637560"/>
              <a:gd name="textAreaRight" fmla="*/ 637920 w 637560"/>
              <a:gd name="textAreaTop" fmla="*/ 0 h 360"/>
              <a:gd name="textAreaBottom" fmla="*/ 720 h 360"/>
            </a:gdLst>
            <a:ahLst/>
            <a:rect l="textAreaLeft" t="textAreaTop" r="textAreaRight" b="textAreaBottom"/>
            <a:pathLst>
              <a:path w="638175" h="953">
                <a:moveTo>
                  <a:pt x="0" y="0"/>
                </a:moveTo>
                <a:lnTo>
                  <a:pt x="638175"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82" name="Google Shape;413;p5"/>
          <p:cNvSpPr/>
          <p:nvPr/>
        </p:nvSpPr>
        <p:spPr>
          <a:xfrm>
            <a:off x="8134200" y="2756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383" name="Google Shape;414;p5"/>
          <p:cNvSpPr/>
          <p:nvPr/>
        </p:nvSpPr>
        <p:spPr>
          <a:xfrm>
            <a:off x="8534520" y="2104920"/>
            <a:ext cx="2952000" cy="1685160"/>
          </a:xfrm>
          <a:prstGeom prst="rect">
            <a:avLst/>
          </a:prstGeom>
          <a:solidFill>
            <a:srgbClr val="dfedfc"/>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4" name="Google Shape;415;p5"/>
          <p:cNvSpPr/>
          <p:nvPr/>
        </p:nvSpPr>
        <p:spPr>
          <a:xfrm>
            <a:off x="882972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5" name="Google Shape;416;p5"/>
          <p:cNvSpPr/>
          <p:nvPr/>
        </p:nvSpPr>
        <p:spPr>
          <a:xfrm>
            <a:off x="912492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6" name="Google Shape;417;p5"/>
          <p:cNvSpPr/>
          <p:nvPr/>
        </p:nvSpPr>
        <p:spPr>
          <a:xfrm>
            <a:off x="942012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7" name="Google Shape;418;p5"/>
          <p:cNvSpPr/>
          <p:nvPr/>
        </p:nvSpPr>
        <p:spPr>
          <a:xfrm>
            <a:off x="971568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8" name="Google Shape;419;p5"/>
          <p:cNvSpPr/>
          <p:nvPr/>
        </p:nvSpPr>
        <p:spPr>
          <a:xfrm>
            <a:off x="1001088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89" name="Google Shape;420;p5"/>
          <p:cNvSpPr/>
          <p:nvPr/>
        </p:nvSpPr>
        <p:spPr>
          <a:xfrm>
            <a:off x="1030608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0" name="Google Shape;421;p5"/>
          <p:cNvSpPr/>
          <p:nvPr/>
        </p:nvSpPr>
        <p:spPr>
          <a:xfrm>
            <a:off x="1060128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1" name="Google Shape;422;p5"/>
          <p:cNvSpPr/>
          <p:nvPr/>
        </p:nvSpPr>
        <p:spPr>
          <a:xfrm>
            <a:off x="1089648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2" name="Google Shape;423;p5"/>
          <p:cNvSpPr/>
          <p:nvPr/>
        </p:nvSpPr>
        <p:spPr>
          <a:xfrm>
            <a:off x="11192040" y="2104920"/>
            <a:ext cx="360" cy="1685160"/>
          </a:xfrm>
          <a:custGeom>
            <a:avLst/>
            <a:gdLst>
              <a:gd name="textAreaLeft" fmla="*/ 0 w 360"/>
              <a:gd name="textAreaRight" fmla="*/ 720 w 360"/>
              <a:gd name="textAreaTop" fmla="*/ 0 h 1685160"/>
              <a:gd name="textAreaBottom" fmla="*/ 1685520 h 1685160"/>
            </a:gdLst>
            <a:ahLst/>
            <a:rect l="textAreaLeft" t="textAreaTop" r="textAreaRight" b="textAreaBottom"/>
            <a:pathLst>
              <a:path w="953" h="1685925">
                <a:moveTo>
                  <a:pt x="0" y="0"/>
                </a:moveTo>
                <a:lnTo>
                  <a:pt x="0" y="168592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393" name="Google Shape;424;p5"/>
          <p:cNvSpPr/>
          <p:nvPr/>
        </p:nvSpPr>
        <p:spPr>
          <a:xfrm>
            <a:off x="8534520" y="238608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4" name="Google Shape;425;p5"/>
          <p:cNvSpPr/>
          <p:nvPr/>
        </p:nvSpPr>
        <p:spPr>
          <a:xfrm>
            <a:off x="8534520" y="266688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5" name="Google Shape;426;p5"/>
          <p:cNvSpPr/>
          <p:nvPr/>
        </p:nvSpPr>
        <p:spPr>
          <a:xfrm>
            <a:off x="8534520" y="294804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6" name="Google Shape;427;p5"/>
          <p:cNvSpPr/>
          <p:nvPr/>
        </p:nvSpPr>
        <p:spPr>
          <a:xfrm>
            <a:off x="8534520" y="322884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7" name="Google Shape;428;p5"/>
          <p:cNvSpPr/>
          <p:nvPr/>
        </p:nvSpPr>
        <p:spPr>
          <a:xfrm>
            <a:off x="8534520" y="351000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398" name="Google Shape;429;p5"/>
          <p:cNvSpPr/>
          <p:nvPr/>
        </p:nvSpPr>
        <p:spPr>
          <a:xfrm>
            <a:off x="8705880" y="310500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399" name="Google Shape;430;p5"/>
          <p:cNvSpPr/>
          <p:nvPr/>
        </p:nvSpPr>
        <p:spPr>
          <a:xfrm>
            <a:off x="8962920" y="288612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0" name="Google Shape;431;p5"/>
          <p:cNvSpPr/>
          <p:nvPr/>
        </p:nvSpPr>
        <p:spPr>
          <a:xfrm>
            <a:off x="9325080" y="272412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1" name="Google Shape;432;p5"/>
          <p:cNvSpPr/>
          <p:nvPr/>
        </p:nvSpPr>
        <p:spPr>
          <a:xfrm>
            <a:off x="9610560" y="263844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2" name="Google Shape;433;p5"/>
          <p:cNvSpPr/>
          <p:nvPr/>
        </p:nvSpPr>
        <p:spPr>
          <a:xfrm>
            <a:off x="10296360" y="240984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3" name="Google Shape;434;p5"/>
          <p:cNvSpPr/>
          <p:nvPr/>
        </p:nvSpPr>
        <p:spPr>
          <a:xfrm>
            <a:off x="10686960" y="293364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4" name="Google Shape;435;p5"/>
          <p:cNvSpPr/>
          <p:nvPr/>
        </p:nvSpPr>
        <p:spPr>
          <a:xfrm>
            <a:off x="11039400" y="3247920"/>
            <a:ext cx="75600" cy="75600"/>
          </a:xfrm>
          <a:prstGeom prst="ellipse">
            <a:avLst/>
          </a:prstGeom>
          <a:solidFill>
            <a:srgbClr val="1674d1"/>
          </a:solidFill>
          <a:ln w="0">
            <a:noFill/>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405" name="Google Shape;436;p5"/>
          <p:cNvSpPr/>
          <p:nvPr/>
        </p:nvSpPr>
        <p:spPr>
          <a:xfrm>
            <a:off x="10248840" y="2362320"/>
            <a:ext cx="170640" cy="170640"/>
          </a:xfrm>
          <a:prstGeom prst="ellipse">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06" name="Google Shape;437;p5"/>
          <p:cNvSpPr/>
          <p:nvPr/>
        </p:nvSpPr>
        <p:spPr>
          <a:xfrm>
            <a:off x="8772480" y="3943440"/>
            <a:ext cx="285696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1674d1"/>
                </a:solidFill>
                <a:latin typeface="Verdana"/>
                <a:ea typeface="Verdana"/>
              </a:rPr>
              <a:t>(u,v), depth Z</a:t>
            </a:r>
            <a:endParaRPr b="0" lang="en-US" sz="1950" spc="-1" strike="noStrike">
              <a:solidFill>
                <a:srgbClr val="000000"/>
              </a:solidFill>
              <a:latin typeface="Arial"/>
            </a:endParaRPr>
          </a:p>
        </p:txBody>
      </p:sp>
      <p:sp>
        <p:nvSpPr>
          <p:cNvPr id="407" name="Google Shape;438;p5"/>
          <p:cNvSpPr/>
          <p:nvPr/>
        </p:nvSpPr>
        <p:spPr>
          <a:xfrm>
            <a:off x="533520" y="445788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08" name="Google Shape;439;p5"/>
          <p:cNvSpPr/>
          <p:nvPr/>
        </p:nvSpPr>
        <p:spPr>
          <a:xfrm>
            <a:off x="533520" y="4714920"/>
            <a:ext cx="3332880" cy="456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550" spc="-1" strike="noStrike">
                <a:solidFill>
                  <a:srgbClr val="304c68"/>
                </a:solidFill>
                <a:latin typeface="Verdana"/>
                <a:ea typeface="Verdana"/>
              </a:rPr>
              <a:t>c = Rl + t</a:t>
            </a:r>
            <a:endParaRPr b="0" lang="en-US" sz="2550" spc="-1" strike="noStrike">
              <a:solidFill>
                <a:srgbClr val="000000"/>
              </a:solidFill>
              <a:latin typeface="Arial"/>
            </a:endParaRPr>
          </a:p>
        </p:txBody>
      </p:sp>
      <p:sp>
        <p:nvSpPr>
          <p:cNvPr id="409" name="Google Shape;440;p5"/>
          <p:cNvSpPr/>
          <p:nvPr/>
        </p:nvSpPr>
        <p:spPr>
          <a:xfrm>
            <a:off x="533520" y="5267160"/>
            <a:ext cx="3714120" cy="323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R, t map LiDAR to camera.</a:t>
            </a:r>
            <a:endParaRPr b="0" lang="en-US" sz="1650" spc="-1" strike="noStrike">
              <a:solidFill>
                <a:srgbClr val="000000"/>
              </a:solidFill>
              <a:latin typeface="Arial"/>
            </a:endParaRPr>
          </a:p>
        </p:txBody>
      </p:sp>
      <p:sp>
        <p:nvSpPr>
          <p:cNvPr id="410" name="Google Shape;441;p5"/>
          <p:cNvSpPr/>
          <p:nvPr/>
        </p:nvSpPr>
        <p:spPr>
          <a:xfrm>
            <a:off x="4524480" y="4686480"/>
            <a:ext cx="352368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u = fₓ X/Z + cₓ</a:t>
            </a:r>
            <a:endParaRPr b="0" lang="en-US" sz="2250" spc="-1" strike="noStrike">
              <a:solidFill>
                <a:srgbClr val="000000"/>
              </a:solidFill>
              <a:latin typeface="Arial"/>
            </a:endParaRPr>
          </a:p>
        </p:txBody>
      </p:sp>
      <p:sp>
        <p:nvSpPr>
          <p:cNvPr id="411" name="Google Shape;442;p5"/>
          <p:cNvSpPr/>
          <p:nvPr/>
        </p:nvSpPr>
        <p:spPr>
          <a:xfrm>
            <a:off x="4524480" y="5191200"/>
            <a:ext cx="352368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v = fᵧ Y/Z + cᵧ</a:t>
            </a:r>
            <a:endParaRPr b="0" lang="en-US" sz="2250" spc="-1" strike="noStrike">
              <a:solidFill>
                <a:srgbClr val="000000"/>
              </a:solidFill>
              <a:latin typeface="Arial"/>
            </a:endParaRPr>
          </a:p>
        </p:txBody>
      </p:sp>
      <p:sp>
        <p:nvSpPr>
          <p:cNvPr id="412" name="Google Shape;443;p5"/>
          <p:cNvSpPr/>
          <p:nvPr/>
        </p:nvSpPr>
        <p:spPr>
          <a:xfrm>
            <a:off x="8582040" y="4686480"/>
            <a:ext cx="304740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1674d1"/>
                </a:solidFill>
                <a:latin typeface="Verdana"/>
                <a:ea typeface="Verdana"/>
              </a:rPr>
              <a:t>Dₛ(v,u) = Z</a:t>
            </a:r>
            <a:endParaRPr b="0" lang="en-US" sz="2250" spc="-1" strike="noStrike">
              <a:solidFill>
                <a:srgbClr val="000000"/>
              </a:solidFill>
              <a:latin typeface="Arial"/>
            </a:endParaRPr>
          </a:p>
        </p:txBody>
      </p:sp>
      <p:sp>
        <p:nvSpPr>
          <p:cNvPr id="413" name="Google Shape;444;p5"/>
          <p:cNvSpPr/>
          <p:nvPr/>
        </p:nvSpPr>
        <p:spPr>
          <a:xfrm>
            <a:off x="8582040" y="5219640"/>
            <a:ext cx="3075840" cy="6087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fₓ, fᵧ: focal lengths</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cₓ, cᵧ: principal point</a:t>
            </a:r>
            <a:endParaRPr b="0" lang="en-US" sz="1650" spc="-1" strike="noStrike">
              <a:solidFill>
                <a:srgbClr val="000000"/>
              </a:solidFill>
              <a:latin typeface="Arial"/>
            </a:endParaRPr>
          </a:p>
        </p:txBody>
      </p:sp>
      <p:sp>
        <p:nvSpPr>
          <p:cNvPr id="414" name="Google Shape;445;p5"/>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15" name="Google Shape;446;p5"/>
          <p:cNvSpPr/>
          <p:nvPr/>
        </p:nvSpPr>
        <p:spPr>
          <a:xfrm>
            <a:off x="533520" y="6181560"/>
            <a:ext cx="105721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Depth is camera-axis Z. Undo LiDAR augmentation, project, then apply image augmentation.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416" name="Google Shape;452;p6"/>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DepthLSS predicts depth and image context</a:t>
            </a:r>
            <a:endParaRPr b="0" lang="en-US" sz="3300" spc="-1" strike="noStrike">
              <a:solidFill>
                <a:srgbClr val="000000"/>
              </a:solidFill>
              <a:latin typeface="Arial"/>
            </a:endParaRPr>
          </a:p>
        </p:txBody>
      </p:sp>
      <p:sp>
        <p:nvSpPr>
          <p:cNvPr id="417" name="Google Shape;453;p6"/>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06</a:t>
            </a:r>
            <a:endParaRPr b="0" lang="en-US" sz="1200" spc="-1" strike="noStrike">
              <a:solidFill>
                <a:srgbClr val="000000"/>
              </a:solidFill>
              <a:latin typeface="Arial"/>
            </a:endParaRPr>
          </a:p>
        </p:txBody>
      </p:sp>
      <p:sp>
        <p:nvSpPr>
          <p:cNvPr id="418" name="Google Shape;454;p6"/>
          <p:cNvSpPr/>
          <p:nvPr/>
        </p:nvSpPr>
        <p:spPr>
          <a:xfrm>
            <a:off x="533520" y="1400040"/>
            <a:ext cx="3332880" cy="323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Image features</a:t>
            </a:r>
            <a:endParaRPr b="0" lang="en-US" sz="2020" spc="-1" strike="noStrike">
              <a:solidFill>
                <a:srgbClr val="000000"/>
              </a:solidFill>
              <a:latin typeface="Arial"/>
            </a:endParaRPr>
          </a:p>
        </p:txBody>
      </p:sp>
      <p:sp>
        <p:nvSpPr>
          <p:cNvPr id="419" name="Google Shape;455;p6"/>
          <p:cNvSpPr/>
          <p:nvPr/>
        </p:nvSpPr>
        <p:spPr>
          <a:xfrm>
            <a:off x="609480" y="2114640"/>
            <a:ext cx="1361520" cy="123120"/>
          </a:xfrm>
          <a:custGeom>
            <a:avLst/>
            <a:gdLst>
              <a:gd name="textAreaLeft" fmla="*/ 0 w 1361520"/>
              <a:gd name="textAreaRight" fmla="*/ 1361880 w 1361520"/>
              <a:gd name="textAreaTop" fmla="*/ 0 h 123120"/>
              <a:gd name="textAreaBottom" fmla="*/ 123480 h 123120"/>
            </a:gdLst>
            <a:ahLst/>
            <a:rect l="textAreaLeft" t="textAreaTop" r="textAreaRight" b="textAreaBottom"/>
            <a:pathLst>
              <a:path w="1362075" h="123825">
                <a:moveTo>
                  <a:pt x="0" y="123825"/>
                </a:moveTo>
                <a:lnTo>
                  <a:pt x="123825" y="0"/>
                </a:lnTo>
                <a:lnTo>
                  <a:pt x="1362075" y="0"/>
                </a:lnTo>
                <a:lnTo>
                  <a:pt x="1238250" y="123825"/>
                </a:lnTo>
                <a:close/>
              </a:path>
            </a:pathLst>
          </a:custGeom>
          <a:solidFill>
            <a:srgbClr val="a7cef6"/>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0" name="Google Shape;456;p6"/>
          <p:cNvSpPr/>
          <p:nvPr/>
        </p:nvSpPr>
        <p:spPr>
          <a:xfrm>
            <a:off x="1847880" y="2114640"/>
            <a:ext cx="123120" cy="932760"/>
          </a:xfrm>
          <a:custGeom>
            <a:avLst/>
            <a:gdLst>
              <a:gd name="textAreaLeft" fmla="*/ 0 w 123120"/>
              <a:gd name="textAreaRight" fmla="*/ 123480 w 123120"/>
              <a:gd name="textAreaTop" fmla="*/ 0 h 932760"/>
              <a:gd name="textAreaBottom" fmla="*/ 933120 h 932760"/>
            </a:gdLst>
            <a:ahLst/>
            <a:rect l="textAreaLeft" t="textAreaTop" r="textAreaRight" b="textAreaBottom"/>
            <a:pathLst>
              <a:path w="123825" h="933450">
                <a:moveTo>
                  <a:pt x="0" y="123825"/>
                </a:moveTo>
                <a:lnTo>
                  <a:pt x="123825" y="0"/>
                </a:lnTo>
                <a:lnTo>
                  <a:pt x="123825" y="809625"/>
                </a:lnTo>
                <a:lnTo>
                  <a:pt x="0" y="933450"/>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21" name="Google Shape;457;p6"/>
          <p:cNvSpPr/>
          <p:nvPr/>
        </p:nvSpPr>
        <p:spPr>
          <a:xfrm>
            <a:off x="609480" y="2238480"/>
            <a:ext cx="1237680" cy="80892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2" name="Google Shape;458;p6"/>
          <p:cNvSpPr/>
          <p:nvPr/>
        </p:nvSpPr>
        <p:spPr>
          <a:xfrm>
            <a:off x="919080" y="2238480"/>
            <a:ext cx="360" cy="808920"/>
          </a:xfrm>
          <a:custGeom>
            <a:avLst/>
            <a:gdLst>
              <a:gd name="textAreaLeft" fmla="*/ 0 w 360"/>
              <a:gd name="textAreaRight" fmla="*/ 720 w 360"/>
              <a:gd name="textAreaTop" fmla="*/ 0 h 808920"/>
              <a:gd name="textAreaBottom" fmla="*/ 809280 h 80892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3" name="Google Shape;459;p6"/>
          <p:cNvSpPr/>
          <p:nvPr/>
        </p:nvSpPr>
        <p:spPr>
          <a:xfrm>
            <a:off x="1228680" y="2238480"/>
            <a:ext cx="360" cy="808920"/>
          </a:xfrm>
          <a:custGeom>
            <a:avLst/>
            <a:gdLst>
              <a:gd name="textAreaLeft" fmla="*/ 0 w 360"/>
              <a:gd name="textAreaRight" fmla="*/ 720 w 360"/>
              <a:gd name="textAreaTop" fmla="*/ 0 h 808920"/>
              <a:gd name="textAreaBottom" fmla="*/ 809280 h 80892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4" name="Google Shape;460;p6"/>
          <p:cNvSpPr/>
          <p:nvPr/>
        </p:nvSpPr>
        <p:spPr>
          <a:xfrm>
            <a:off x="1538280" y="2238480"/>
            <a:ext cx="360" cy="808920"/>
          </a:xfrm>
          <a:custGeom>
            <a:avLst/>
            <a:gdLst>
              <a:gd name="textAreaLeft" fmla="*/ 0 w 360"/>
              <a:gd name="textAreaRight" fmla="*/ 720 w 360"/>
              <a:gd name="textAreaTop" fmla="*/ 0 h 808920"/>
              <a:gd name="textAreaBottom" fmla="*/ 809280 h 808920"/>
            </a:gdLst>
            <a:ahLst/>
            <a:rect l="textAreaLeft" t="textAreaTop" r="textAreaRight" b="textAreaBottom"/>
            <a:pathLst>
              <a:path w="953" h="809625">
                <a:moveTo>
                  <a:pt x="0" y="0"/>
                </a:moveTo>
                <a:lnTo>
                  <a:pt x="0" y="8096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25" name="Google Shape;461;p6"/>
          <p:cNvSpPr/>
          <p:nvPr/>
        </p:nvSpPr>
        <p:spPr>
          <a:xfrm>
            <a:off x="609480" y="244080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6" name="Google Shape;462;p6"/>
          <p:cNvSpPr/>
          <p:nvPr/>
        </p:nvSpPr>
        <p:spPr>
          <a:xfrm>
            <a:off x="609480" y="264312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7" name="Google Shape;463;p6"/>
          <p:cNvSpPr/>
          <p:nvPr/>
        </p:nvSpPr>
        <p:spPr>
          <a:xfrm>
            <a:off x="609480" y="284544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28" name="Google Shape;464;p6"/>
          <p:cNvSpPr/>
          <p:nvPr/>
        </p:nvSpPr>
        <p:spPr>
          <a:xfrm>
            <a:off x="647640" y="2314440"/>
            <a:ext cx="1161360" cy="6566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1674d1"/>
                </a:solidFill>
                <a:latin typeface="Verdana"/>
                <a:ea typeface="Verdana"/>
              </a:rPr>
              <a:t>I: 256 ch</a:t>
            </a:r>
            <a:endParaRPr b="0" lang="en-US" sz="1650" spc="-1" strike="noStrike">
              <a:solidFill>
                <a:srgbClr val="000000"/>
              </a:solidFill>
              <a:latin typeface="Arial"/>
            </a:endParaRPr>
          </a:p>
        </p:txBody>
      </p:sp>
      <p:sp>
        <p:nvSpPr>
          <p:cNvPr id="429" name="Google Shape;465;p6"/>
          <p:cNvSpPr/>
          <p:nvPr/>
        </p:nvSpPr>
        <p:spPr>
          <a:xfrm>
            <a:off x="419040" y="3181320"/>
            <a:ext cx="161856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32 × 88</a:t>
            </a:r>
            <a:endParaRPr b="0" lang="en-US" sz="1500" spc="-1" strike="noStrike">
              <a:solidFill>
                <a:srgbClr val="000000"/>
              </a:solidFill>
              <a:latin typeface="Arial"/>
            </a:endParaRPr>
          </a:p>
        </p:txBody>
      </p:sp>
      <p:sp>
        <p:nvSpPr>
          <p:cNvPr id="430" name="Google Shape;466;p6"/>
          <p:cNvSpPr/>
          <p:nvPr/>
        </p:nvSpPr>
        <p:spPr>
          <a:xfrm>
            <a:off x="533520" y="4010040"/>
            <a:ext cx="3809160" cy="323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c86a1b"/>
                </a:solidFill>
                <a:latin typeface="Verdana"/>
                <a:ea typeface="Verdana"/>
              </a:rPr>
              <a:t>Projected LiDAR depth</a:t>
            </a:r>
            <a:endParaRPr b="0" lang="en-US" sz="2020" spc="-1" strike="noStrike">
              <a:solidFill>
                <a:srgbClr val="000000"/>
              </a:solidFill>
              <a:latin typeface="Arial"/>
            </a:endParaRPr>
          </a:p>
        </p:txBody>
      </p:sp>
      <p:sp>
        <p:nvSpPr>
          <p:cNvPr id="431" name="Google Shape;467;p6"/>
          <p:cNvSpPr/>
          <p:nvPr/>
        </p:nvSpPr>
        <p:spPr>
          <a:xfrm>
            <a:off x="552600" y="4572000"/>
            <a:ext cx="1123200" cy="761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2" name="Google Shape;468;p6"/>
          <p:cNvSpPr/>
          <p:nvPr/>
        </p:nvSpPr>
        <p:spPr>
          <a:xfrm>
            <a:off x="628560" y="4619520"/>
            <a:ext cx="97092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 × 1</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c86a1b"/>
                </a:solidFill>
                <a:latin typeface="Verdana"/>
                <a:ea typeface="Verdana"/>
              </a:rPr>
              <a:t>1 → 8</a:t>
            </a:r>
            <a:endParaRPr b="0" lang="en-US" sz="1729" spc="-1" strike="noStrike">
              <a:solidFill>
                <a:srgbClr val="000000"/>
              </a:solidFill>
              <a:latin typeface="Arial"/>
            </a:endParaRPr>
          </a:p>
        </p:txBody>
      </p:sp>
      <p:sp>
        <p:nvSpPr>
          <p:cNvPr id="433" name="Google Shape;469;p6"/>
          <p:cNvSpPr/>
          <p:nvPr/>
        </p:nvSpPr>
        <p:spPr>
          <a:xfrm>
            <a:off x="2028960" y="4572000"/>
            <a:ext cx="1323360" cy="761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4" name="Google Shape;470;p6"/>
          <p:cNvSpPr/>
          <p:nvPr/>
        </p:nvSpPr>
        <p:spPr>
          <a:xfrm>
            <a:off x="2104920" y="4619520"/>
            <a:ext cx="117072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c86a1b"/>
                </a:solidFill>
                <a:latin typeface="Verdana"/>
                <a:ea typeface="Verdana"/>
              </a:rPr>
              <a:t>5 × 5 / s4</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c86a1b"/>
                </a:solidFill>
                <a:latin typeface="Verdana"/>
                <a:ea typeface="Verdana"/>
              </a:rPr>
              <a:t>8 → 32</a:t>
            </a:r>
            <a:endParaRPr b="0" lang="en-US" sz="1650" spc="-1" strike="noStrike">
              <a:solidFill>
                <a:srgbClr val="000000"/>
              </a:solidFill>
              <a:latin typeface="Arial"/>
            </a:endParaRPr>
          </a:p>
        </p:txBody>
      </p:sp>
      <p:sp>
        <p:nvSpPr>
          <p:cNvPr id="435" name="Google Shape;471;p6"/>
          <p:cNvSpPr/>
          <p:nvPr/>
        </p:nvSpPr>
        <p:spPr>
          <a:xfrm>
            <a:off x="3724200" y="4572000"/>
            <a:ext cx="1380240" cy="761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36" name="Google Shape;472;p6"/>
          <p:cNvSpPr/>
          <p:nvPr/>
        </p:nvSpPr>
        <p:spPr>
          <a:xfrm>
            <a:off x="3800520" y="4619520"/>
            <a:ext cx="122796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c86a1b"/>
                </a:solidFill>
                <a:latin typeface="Verdana"/>
                <a:ea typeface="Verdana"/>
              </a:rPr>
              <a:t>5 × 5 / s2</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c86a1b"/>
                </a:solidFill>
                <a:latin typeface="Verdana"/>
                <a:ea typeface="Verdana"/>
              </a:rPr>
              <a:t>32 → 64</a:t>
            </a:r>
            <a:endParaRPr b="0" lang="en-US" sz="1650" spc="-1" strike="noStrike">
              <a:solidFill>
                <a:srgbClr val="000000"/>
              </a:solidFill>
              <a:latin typeface="Arial"/>
            </a:endParaRPr>
          </a:p>
        </p:txBody>
      </p:sp>
      <p:sp>
        <p:nvSpPr>
          <p:cNvPr id="437" name="Google Shape;473;p6"/>
          <p:cNvSpPr/>
          <p:nvPr/>
        </p:nvSpPr>
        <p:spPr>
          <a:xfrm>
            <a:off x="1676520" y="4952880"/>
            <a:ext cx="351720" cy="360"/>
          </a:xfrm>
          <a:custGeom>
            <a:avLst/>
            <a:gdLst>
              <a:gd name="textAreaLeft" fmla="*/ 0 w 351720"/>
              <a:gd name="textAreaRight" fmla="*/ 352080 w 351720"/>
              <a:gd name="textAreaTop" fmla="*/ 0 h 360"/>
              <a:gd name="textAreaBottom" fmla="*/ 720 h 360"/>
            </a:gdLst>
            <a:ahLst/>
            <a:rect l="textAreaLeft" t="textAreaTop" r="textAreaRight" b="textAreaBottom"/>
            <a:pathLst>
              <a:path w="352425" h="953">
                <a:moveTo>
                  <a:pt x="0" y="0"/>
                </a:moveTo>
                <a:lnTo>
                  <a:pt x="35242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38" name="Google Shape;474;p6"/>
          <p:cNvSpPr/>
          <p:nvPr/>
        </p:nvSpPr>
        <p:spPr>
          <a:xfrm>
            <a:off x="1933560" y="4909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39" name="Google Shape;475;p6"/>
          <p:cNvSpPr/>
          <p:nvPr/>
        </p:nvSpPr>
        <p:spPr>
          <a:xfrm>
            <a:off x="3352680" y="4952880"/>
            <a:ext cx="370800" cy="360"/>
          </a:xfrm>
          <a:custGeom>
            <a:avLst/>
            <a:gdLst>
              <a:gd name="textAreaLeft" fmla="*/ 0 w 370800"/>
              <a:gd name="textAreaRight" fmla="*/ 371160 w 370800"/>
              <a:gd name="textAreaTop" fmla="*/ 0 h 360"/>
              <a:gd name="textAreaBottom" fmla="*/ 720 h 360"/>
            </a:gdLst>
            <a:ahLst/>
            <a:rect l="textAreaLeft" t="textAreaTop" r="textAreaRight" b="textAreaBottom"/>
            <a:pathLst>
              <a:path w="371475" h="953">
                <a:moveTo>
                  <a:pt x="0" y="0"/>
                </a:moveTo>
                <a:lnTo>
                  <a:pt x="3714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40" name="Google Shape;476;p6"/>
          <p:cNvSpPr/>
          <p:nvPr/>
        </p:nvSpPr>
        <p:spPr>
          <a:xfrm>
            <a:off x="3629160" y="4909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41" name="Google Shape;477;p6"/>
          <p:cNvSpPr/>
          <p:nvPr/>
        </p:nvSpPr>
        <p:spPr>
          <a:xfrm>
            <a:off x="2505240" y="2238480"/>
            <a:ext cx="1237680" cy="8089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2" name="Google Shape;478;p6"/>
          <p:cNvSpPr/>
          <p:nvPr/>
        </p:nvSpPr>
        <p:spPr>
          <a:xfrm>
            <a:off x="2581200" y="2286000"/>
            <a:ext cx="108504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320 ch</a:t>
            </a:r>
            <a:endParaRPr b="0" lang="en-US" sz="1870" spc="-1" strike="noStrike">
              <a:solidFill>
                <a:srgbClr val="000000"/>
              </a:solidFill>
              <a:latin typeface="Arial"/>
            </a:endParaRPr>
          </a:p>
        </p:txBody>
      </p:sp>
      <p:sp>
        <p:nvSpPr>
          <p:cNvPr id="443" name="Google Shape;479;p6"/>
          <p:cNvSpPr/>
          <p:nvPr/>
        </p:nvSpPr>
        <p:spPr>
          <a:xfrm>
            <a:off x="1971720" y="2647800"/>
            <a:ext cx="532800" cy="360"/>
          </a:xfrm>
          <a:custGeom>
            <a:avLst/>
            <a:gdLst>
              <a:gd name="textAreaLeft" fmla="*/ 0 w 532800"/>
              <a:gd name="textAreaRight" fmla="*/ 533160 w 532800"/>
              <a:gd name="textAreaTop" fmla="*/ 0 h 360"/>
              <a:gd name="textAreaBottom" fmla="*/ 720 h 360"/>
            </a:gdLst>
            <a:ahLst/>
            <a:rect l="textAreaLeft" t="textAreaTop" r="textAreaRight" b="textAreaBottom"/>
            <a:pathLst>
              <a:path w="533400" h="953">
                <a:moveTo>
                  <a:pt x="0" y="0"/>
                </a:moveTo>
                <a:lnTo>
                  <a:pt x="5334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44" name="Google Shape;480;p6"/>
          <p:cNvSpPr/>
          <p:nvPr/>
        </p:nvSpPr>
        <p:spPr>
          <a:xfrm>
            <a:off x="2409840" y="26042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45" name="Google Shape;481;p6"/>
          <p:cNvSpPr/>
          <p:nvPr/>
        </p:nvSpPr>
        <p:spPr>
          <a:xfrm>
            <a:off x="3133800" y="3048120"/>
            <a:ext cx="2256840" cy="1904400"/>
          </a:xfrm>
          <a:custGeom>
            <a:avLst/>
            <a:gdLst>
              <a:gd name="textAreaLeft" fmla="*/ 0 w 2256840"/>
              <a:gd name="textAreaRight" fmla="*/ 2257200 w 2256840"/>
              <a:gd name="textAreaTop" fmla="*/ 0 h 1904400"/>
              <a:gd name="textAreaBottom" fmla="*/ 1904760 h 1904400"/>
            </a:gdLst>
            <a:ahLst/>
            <a:rect l="textAreaLeft" t="textAreaTop" r="textAreaRight" b="textAreaBottom"/>
            <a:pathLst>
              <a:path w="2257425" h="1905000">
                <a:moveTo>
                  <a:pt x="1971675" y="1905000"/>
                </a:moveTo>
                <a:lnTo>
                  <a:pt x="2257425" y="1905000"/>
                </a:lnTo>
                <a:lnTo>
                  <a:pt x="2257425" y="504825"/>
                </a:lnTo>
                <a:lnTo>
                  <a:pt x="0" y="504825"/>
                </a:lnTo>
                <a:lnTo>
                  <a:pt x="0"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6" name="Google Shape;482;p6"/>
          <p:cNvSpPr/>
          <p:nvPr/>
        </p:nvSpPr>
        <p:spPr>
          <a:xfrm>
            <a:off x="3089880" y="304812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47" name="Google Shape;483;p6"/>
          <p:cNvSpPr/>
          <p:nvPr/>
        </p:nvSpPr>
        <p:spPr>
          <a:xfrm>
            <a:off x="4257720" y="2238480"/>
            <a:ext cx="1456560" cy="8089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48" name="Google Shape;484;p6"/>
          <p:cNvSpPr/>
          <p:nvPr/>
        </p:nvSpPr>
        <p:spPr>
          <a:xfrm>
            <a:off x="4334040" y="2286000"/>
            <a:ext cx="130428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320 → 256</a:t>
            </a:r>
            <a:endParaRPr b="0" lang="en-US" sz="1729" spc="-1" strike="noStrike">
              <a:solidFill>
                <a:srgbClr val="000000"/>
              </a:solidFill>
              <a:latin typeface="Arial"/>
            </a:endParaRPr>
          </a:p>
        </p:txBody>
      </p:sp>
      <p:sp>
        <p:nvSpPr>
          <p:cNvPr id="449" name="Google Shape;485;p6"/>
          <p:cNvSpPr/>
          <p:nvPr/>
        </p:nvSpPr>
        <p:spPr>
          <a:xfrm>
            <a:off x="6181560" y="2238480"/>
            <a:ext cx="1456560" cy="8089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50" name="Google Shape;486;p6"/>
          <p:cNvSpPr/>
          <p:nvPr/>
        </p:nvSpPr>
        <p:spPr>
          <a:xfrm>
            <a:off x="6257880" y="2286000"/>
            <a:ext cx="130428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256 → 256</a:t>
            </a:r>
            <a:endParaRPr b="0" lang="en-US" sz="1729" spc="-1" strike="noStrike">
              <a:solidFill>
                <a:srgbClr val="000000"/>
              </a:solidFill>
              <a:latin typeface="Arial"/>
            </a:endParaRPr>
          </a:p>
        </p:txBody>
      </p:sp>
      <p:sp>
        <p:nvSpPr>
          <p:cNvPr id="451" name="Google Shape;487;p6"/>
          <p:cNvSpPr/>
          <p:nvPr/>
        </p:nvSpPr>
        <p:spPr>
          <a:xfrm>
            <a:off x="8105760" y="2238480"/>
            <a:ext cx="1456560" cy="8089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52" name="Google Shape;488;p6"/>
          <p:cNvSpPr/>
          <p:nvPr/>
        </p:nvSpPr>
        <p:spPr>
          <a:xfrm>
            <a:off x="8182080" y="2286000"/>
            <a:ext cx="130428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1 × 1</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256 → 198</a:t>
            </a:r>
            <a:endParaRPr b="0" lang="en-US" sz="1729" spc="-1" strike="noStrike">
              <a:solidFill>
                <a:srgbClr val="000000"/>
              </a:solidFill>
              <a:latin typeface="Arial"/>
            </a:endParaRPr>
          </a:p>
        </p:txBody>
      </p:sp>
      <p:sp>
        <p:nvSpPr>
          <p:cNvPr id="453" name="Google Shape;489;p6"/>
          <p:cNvSpPr/>
          <p:nvPr/>
        </p:nvSpPr>
        <p:spPr>
          <a:xfrm>
            <a:off x="3743280" y="2647800"/>
            <a:ext cx="513720" cy="360"/>
          </a:xfrm>
          <a:custGeom>
            <a:avLst/>
            <a:gdLst>
              <a:gd name="textAreaLeft" fmla="*/ 0 w 513720"/>
              <a:gd name="textAreaRight" fmla="*/ 514080 w 513720"/>
              <a:gd name="textAreaTop" fmla="*/ 0 h 360"/>
              <a:gd name="textAreaBottom" fmla="*/ 720 h 360"/>
            </a:gdLst>
            <a:ahLst/>
            <a:rect l="textAreaLeft" t="textAreaTop" r="textAreaRight" b="textAreaBottom"/>
            <a:pathLst>
              <a:path w="514350" h="953">
                <a:moveTo>
                  <a:pt x="0" y="0"/>
                </a:moveTo>
                <a:lnTo>
                  <a:pt x="5143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4" name="Google Shape;490;p6"/>
          <p:cNvSpPr/>
          <p:nvPr/>
        </p:nvSpPr>
        <p:spPr>
          <a:xfrm>
            <a:off x="4162320" y="26042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5" name="Google Shape;491;p6"/>
          <p:cNvSpPr/>
          <p:nvPr/>
        </p:nvSpPr>
        <p:spPr>
          <a:xfrm>
            <a:off x="5715000" y="2647800"/>
            <a:ext cx="465840" cy="360"/>
          </a:xfrm>
          <a:custGeom>
            <a:avLst/>
            <a:gdLst>
              <a:gd name="textAreaLeft" fmla="*/ 0 w 465840"/>
              <a:gd name="textAreaRight" fmla="*/ 466200 w 465840"/>
              <a:gd name="textAreaTop" fmla="*/ 0 h 360"/>
              <a:gd name="textAreaBottom" fmla="*/ 720 h 360"/>
            </a:gdLst>
            <a:ahLst/>
            <a:rect l="textAreaLeft" t="textAreaTop" r="textAreaRight" b="textAreaBottom"/>
            <a:pathLst>
              <a:path w="466725" h="953">
                <a:moveTo>
                  <a:pt x="0" y="0"/>
                </a:moveTo>
                <a:lnTo>
                  <a:pt x="4667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6" name="Google Shape;492;p6"/>
          <p:cNvSpPr/>
          <p:nvPr/>
        </p:nvSpPr>
        <p:spPr>
          <a:xfrm>
            <a:off x="6086520" y="26042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7" name="Google Shape;493;p6"/>
          <p:cNvSpPr/>
          <p:nvPr/>
        </p:nvSpPr>
        <p:spPr>
          <a:xfrm>
            <a:off x="7639200" y="2647800"/>
            <a:ext cx="465840" cy="360"/>
          </a:xfrm>
          <a:custGeom>
            <a:avLst/>
            <a:gdLst>
              <a:gd name="textAreaLeft" fmla="*/ 0 w 465840"/>
              <a:gd name="textAreaRight" fmla="*/ 466200 w 465840"/>
              <a:gd name="textAreaTop" fmla="*/ 0 h 360"/>
              <a:gd name="textAreaBottom" fmla="*/ 720 h 360"/>
            </a:gdLst>
            <a:ahLst/>
            <a:rect l="textAreaLeft" t="textAreaTop" r="textAreaRight" b="textAreaBottom"/>
            <a:pathLst>
              <a:path w="466725" h="953">
                <a:moveTo>
                  <a:pt x="0" y="0"/>
                </a:moveTo>
                <a:lnTo>
                  <a:pt x="46672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58" name="Google Shape;494;p6"/>
          <p:cNvSpPr/>
          <p:nvPr/>
        </p:nvSpPr>
        <p:spPr>
          <a:xfrm>
            <a:off x="8010360" y="26042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59" name="Google Shape;495;p6"/>
          <p:cNvSpPr/>
          <p:nvPr/>
        </p:nvSpPr>
        <p:spPr>
          <a:xfrm>
            <a:off x="10191600" y="1743120"/>
            <a:ext cx="1466280" cy="8089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0" name="Google Shape;496;p6"/>
          <p:cNvSpPr/>
          <p:nvPr/>
        </p:nvSpPr>
        <p:spPr>
          <a:xfrm>
            <a:off x="10267920" y="1790640"/>
            <a:ext cx="131364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1674d1"/>
                </a:solidFill>
                <a:latin typeface="Verdana"/>
                <a:ea typeface="Verdana"/>
              </a:rPr>
              <a:t>Depth pₖ</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1674d1"/>
                </a:solidFill>
                <a:latin typeface="Verdana"/>
                <a:ea typeface="Verdana"/>
              </a:rPr>
              <a:t>118 bins</a:t>
            </a:r>
            <a:endParaRPr b="0" lang="en-US" sz="1729" spc="-1" strike="noStrike">
              <a:solidFill>
                <a:srgbClr val="000000"/>
              </a:solidFill>
              <a:latin typeface="Arial"/>
            </a:endParaRPr>
          </a:p>
        </p:txBody>
      </p:sp>
      <p:sp>
        <p:nvSpPr>
          <p:cNvPr id="461" name="Google Shape;497;p6"/>
          <p:cNvSpPr/>
          <p:nvPr/>
        </p:nvSpPr>
        <p:spPr>
          <a:xfrm>
            <a:off x="10191600" y="3257640"/>
            <a:ext cx="1466280" cy="8089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2" name="Google Shape;498;p6"/>
          <p:cNvSpPr/>
          <p:nvPr/>
        </p:nvSpPr>
        <p:spPr>
          <a:xfrm>
            <a:off x="10267920" y="3305160"/>
            <a:ext cx="1313640" cy="7135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80" spc="-1" strike="noStrike">
                <a:solidFill>
                  <a:srgbClr val="1674d1"/>
                </a:solidFill>
                <a:latin typeface="Verdana"/>
                <a:ea typeface="Verdana"/>
              </a:rPr>
              <a:t>f: 80 context</a:t>
            </a:r>
            <a:endParaRPr b="0" lang="en-US" sz="1580" spc="-1" strike="noStrike">
              <a:solidFill>
                <a:srgbClr val="000000"/>
              </a:solidFill>
              <a:latin typeface="Arial"/>
            </a:endParaRPr>
          </a:p>
          <a:p>
            <a:pPr algn="ctr">
              <a:lnSpc>
                <a:spcPct val="100000"/>
              </a:lnSpc>
              <a:tabLst>
                <a:tab algn="l" pos="0"/>
              </a:tabLst>
            </a:pPr>
            <a:r>
              <a:rPr b="1" lang="en-US" sz="1580" spc="-1" strike="noStrike">
                <a:solidFill>
                  <a:srgbClr val="1674d1"/>
                </a:solidFill>
                <a:latin typeface="Verdana"/>
                <a:ea typeface="Verdana"/>
              </a:rPr>
              <a:t>channels</a:t>
            </a:r>
            <a:endParaRPr b="0" lang="en-US" sz="1580" spc="-1" strike="noStrike">
              <a:solidFill>
                <a:srgbClr val="000000"/>
              </a:solidFill>
              <a:latin typeface="Arial"/>
            </a:endParaRPr>
          </a:p>
        </p:txBody>
      </p:sp>
      <p:sp>
        <p:nvSpPr>
          <p:cNvPr id="463" name="Google Shape;499;p6"/>
          <p:cNvSpPr/>
          <p:nvPr/>
        </p:nvSpPr>
        <p:spPr>
          <a:xfrm>
            <a:off x="9563040" y="2143080"/>
            <a:ext cx="627840" cy="504000"/>
          </a:xfrm>
          <a:custGeom>
            <a:avLst/>
            <a:gdLst>
              <a:gd name="textAreaLeft" fmla="*/ 0 w 627840"/>
              <a:gd name="textAreaRight" fmla="*/ 628200 w 627840"/>
              <a:gd name="textAreaTop" fmla="*/ 0 h 504000"/>
              <a:gd name="textAreaBottom" fmla="*/ 504360 h 504000"/>
            </a:gdLst>
            <a:ahLst/>
            <a:rect l="textAreaLeft" t="textAreaTop" r="textAreaRight" b="textAreaBottom"/>
            <a:pathLst>
              <a:path w="628650" h="504825">
                <a:moveTo>
                  <a:pt x="0" y="504825"/>
                </a:moveTo>
                <a:lnTo>
                  <a:pt x="295275" y="504825"/>
                </a:lnTo>
                <a:lnTo>
                  <a:pt x="295275" y="0"/>
                </a:lnTo>
                <a:lnTo>
                  <a:pt x="628650" y="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4" name="Google Shape;500;p6"/>
          <p:cNvSpPr/>
          <p:nvPr/>
        </p:nvSpPr>
        <p:spPr>
          <a:xfrm>
            <a:off x="10096560" y="20991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65" name="Google Shape;501;p6"/>
          <p:cNvSpPr/>
          <p:nvPr/>
        </p:nvSpPr>
        <p:spPr>
          <a:xfrm>
            <a:off x="9563040" y="2647800"/>
            <a:ext cx="627840" cy="1009080"/>
          </a:xfrm>
          <a:custGeom>
            <a:avLst/>
            <a:gdLst>
              <a:gd name="textAreaLeft" fmla="*/ 0 w 627840"/>
              <a:gd name="textAreaRight" fmla="*/ 628200 w 627840"/>
              <a:gd name="textAreaTop" fmla="*/ 0 h 1009080"/>
              <a:gd name="textAreaBottom" fmla="*/ 1009440 h 1009080"/>
            </a:gdLst>
            <a:ahLst/>
            <a:rect l="textAreaLeft" t="textAreaTop" r="textAreaRight" b="textAreaBottom"/>
            <a:pathLst>
              <a:path w="628650" h="1009650">
                <a:moveTo>
                  <a:pt x="0" y="0"/>
                </a:moveTo>
                <a:lnTo>
                  <a:pt x="295275" y="0"/>
                </a:lnTo>
                <a:lnTo>
                  <a:pt x="295275" y="1009650"/>
                </a:lnTo>
                <a:lnTo>
                  <a:pt x="628650" y="100965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66" name="Google Shape;502;p6"/>
          <p:cNvSpPr/>
          <p:nvPr/>
        </p:nvSpPr>
        <p:spPr>
          <a:xfrm>
            <a:off x="10096560" y="36136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467" name="Google Shape;503;p6"/>
          <p:cNvSpPr/>
          <p:nvPr/>
        </p:nvSpPr>
        <p:spPr>
          <a:xfrm>
            <a:off x="10287000" y="2657520"/>
            <a:ext cx="1380240" cy="2754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1674d1"/>
                </a:solidFill>
                <a:latin typeface="Verdana"/>
                <a:ea typeface="Verdana"/>
              </a:rPr>
              <a:t>softmax</a:t>
            </a:r>
            <a:endParaRPr b="0" lang="en-US" sz="1580" spc="-1" strike="noStrike">
              <a:solidFill>
                <a:srgbClr val="000000"/>
              </a:solidFill>
              <a:latin typeface="Arial"/>
            </a:endParaRPr>
          </a:p>
        </p:txBody>
      </p:sp>
      <p:sp>
        <p:nvSpPr>
          <p:cNvPr id="468" name="Google Shape;504;p6"/>
          <p:cNvSpPr/>
          <p:nvPr/>
        </p:nvSpPr>
        <p:spPr>
          <a:xfrm>
            <a:off x="6095880" y="4572000"/>
            <a:ext cx="55620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pₖ(u, v) = exp(zₖ) / Σⱼ exp(zⱼ)</a:t>
            </a:r>
            <a:endParaRPr b="0" lang="en-US" sz="2020" spc="-1" strike="noStrike">
              <a:solidFill>
                <a:srgbClr val="000000"/>
              </a:solidFill>
              <a:latin typeface="Arial"/>
            </a:endParaRPr>
          </a:p>
        </p:txBody>
      </p:sp>
      <p:sp>
        <p:nvSpPr>
          <p:cNvPr id="469" name="Google Shape;505;p6"/>
          <p:cNvSpPr/>
          <p:nvPr/>
        </p:nvSpPr>
        <p:spPr>
          <a:xfrm>
            <a:off x="6095880" y="5095800"/>
            <a:ext cx="5562000" cy="6660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dₖ = 1 + 0.5k m,   k = 0,…,117</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Σₖ pₖ = 1   at each image location</a:t>
            </a:r>
            <a:endParaRPr b="0" lang="en-US" sz="1729" spc="-1" strike="noStrike">
              <a:solidFill>
                <a:srgbClr val="000000"/>
              </a:solidFill>
              <a:latin typeface="Arial"/>
            </a:endParaRPr>
          </a:p>
        </p:txBody>
      </p:sp>
      <p:sp>
        <p:nvSpPr>
          <p:cNvPr id="470" name="Google Shape;506;p6"/>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71" name="Google Shape;507;p6"/>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[z, f] = hdepth([I, hD(Dₛ)])      198 output channels = 118 depth logits + 80 context</a:t>
            </a:r>
            <a:endParaRPr b="0" lang="en-US" sz="1650" spc="-1" strike="noStrike">
              <a:solidFill>
                <a:srgbClr val="000000"/>
              </a:solidFill>
              <a:latin typeface="Arial"/>
            </a:endParaRPr>
          </a:p>
        </p:txBody>
      </p:sp>
      <p:sp>
        <p:nvSpPr>
          <p:cNvPr id="472" name="Google Shape;508;p6"/>
          <p:cNvSpPr/>
          <p:nvPr/>
        </p:nvSpPr>
        <p:spPr>
          <a:xfrm>
            <a:off x="533520" y="5533920"/>
            <a:ext cx="54284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00" spc="-1" strike="noStrike">
                <a:solidFill>
                  <a:srgbClr val="c86a1b"/>
                </a:solidFill>
                <a:latin typeface="Verdana"/>
                <a:ea typeface="Verdana"/>
              </a:rPr>
              <a:t>Dₛ: 1 × 256 × 704     hD(Dₛ): 64 × 32 × 88</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473" name="Google Shape;514;p7"/>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One image pixel becomes a weighted 3D ray</a:t>
            </a:r>
            <a:endParaRPr b="0" lang="en-US" sz="3300" spc="-1" strike="noStrike">
              <a:solidFill>
                <a:srgbClr val="000000"/>
              </a:solidFill>
              <a:latin typeface="Arial"/>
            </a:endParaRPr>
          </a:p>
        </p:txBody>
      </p:sp>
      <p:sp>
        <p:nvSpPr>
          <p:cNvPr id="474" name="Google Shape;515;p7"/>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07</a:t>
            </a:r>
            <a:endParaRPr b="0" lang="en-US" sz="1200" spc="-1" strike="noStrike">
              <a:solidFill>
                <a:srgbClr val="000000"/>
              </a:solidFill>
              <a:latin typeface="Arial"/>
            </a:endParaRPr>
          </a:p>
        </p:txBody>
      </p:sp>
      <p:sp>
        <p:nvSpPr>
          <p:cNvPr id="475" name="Google Shape;516;p7"/>
          <p:cNvSpPr/>
          <p:nvPr/>
        </p:nvSpPr>
        <p:spPr>
          <a:xfrm>
            <a:off x="533520" y="1343160"/>
            <a:ext cx="347580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1  Predict depth</a:t>
            </a:r>
            <a:endParaRPr b="0" lang="en-US" sz="2170" spc="-1" strike="noStrike">
              <a:solidFill>
                <a:srgbClr val="000000"/>
              </a:solidFill>
              <a:latin typeface="Arial"/>
            </a:endParaRPr>
          </a:p>
        </p:txBody>
      </p:sp>
      <p:sp>
        <p:nvSpPr>
          <p:cNvPr id="476" name="Google Shape;517;p7"/>
          <p:cNvSpPr/>
          <p:nvPr/>
        </p:nvSpPr>
        <p:spPr>
          <a:xfrm>
            <a:off x="4448160" y="1343160"/>
            <a:ext cx="391392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2  Lift along the ray</a:t>
            </a:r>
            <a:endParaRPr b="0" lang="en-US" sz="2170" spc="-1" strike="noStrike">
              <a:solidFill>
                <a:srgbClr val="000000"/>
              </a:solidFill>
              <a:latin typeface="Arial"/>
            </a:endParaRPr>
          </a:p>
        </p:txBody>
      </p:sp>
      <p:sp>
        <p:nvSpPr>
          <p:cNvPr id="477" name="Google Shape;518;p7"/>
          <p:cNvSpPr/>
          <p:nvPr/>
        </p:nvSpPr>
        <p:spPr>
          <a:xfrm>
            <a:off x="8810640" y="1343160"/>
            <a:ext cx="304740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74d1"/>
                </a:solidFill>
                <a:latin typeface="Verdana"/>
                <a:ea typeface="Verdana"/>
              </a:rPr>
              <a:t>3  Pool into BEV</a:t>
            </a:r>
            <a:endParaRPr b="0" lang="en-US" sz="2170" spc="-1" strike="noStrike">
              <a:solidFill>
                <a:srgbClr val="000000"/>
              </a:solidFill>
              <a:latin typeface="Arial"/>
            </a:endParaRPr>
          </a:p>
        </p:txBody>
      </p:sp>
      <p:sp>
        <p:nvSpPr>
          <p:cNvPr id="478" name="Google Shape;519;p7"/>
          <p:cNvSpPr/>
          <p:nvPr/>
        </p:nvSpPr>
        <p:spPr>
          <a:xfrm>
            <a:off x="609480" y="2133720"/>
            <a:ext cx="2285280" cy="1428120"/>
          </a:xfrm>
          <a:prstGeom prst="rect">
            <a:avLst/>
          </a:prstGeom>
          <a:solidFill>
            <a:srgbClr val="dfedfc"/>
          </a:solidFill>
          <a:ln w="114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79" name="Google Shape;520;p7"/>
          <p:cNvSpPr/>
          <p:nvPr/>
        </p:nvSpPr>
        <p:spPr>
          <a:xfrm>
            <a:off x="89532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0" name="Google Shape;521;p7"/>
          <p:cNvSpPr/>
          <p:nvPr/>
        </p:nvSpPr>
        <p:spPr>
          <a:xfrm>
            <a:off x="118116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1" name="Google Shape;522;p7"/>
          <p:cNvSpPr/>
          <p:nvPr/>
        </p:nvSpPr>
        <p:spPr>
          <a:xfrm>
            <a:off x="146700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2" name="Google Shape;523;p7"/>
          <p:cNvSpPr/>
          <p:nvPr/>
        </p:nvSpPr>
        <p:spPr>
          <a:xfrm>
            <a:off x="175248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3" name="Google Shape;524;p7"/>
          <p:cNvSpPr/>
          <p:nvPr/>
        </p:nvSpPr>
        <p:spPr>
          <a:xfrm>
            <a:off x="203832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4" name="Google Shape;525;p7"/>
          <p:cNvSpPr/>
          <p:nvPr/>
        </p:nvSpPr>
        <p:spPr>
          <a:xfrm>
            <a:off x="232416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5" name="Google Shape;526;p7"/>
          <p:cNvSpPr/>
          <p:nvPr/>
        </p:nvSpPr>
        <p:spPr>
          <a:xfrm>
            <a:off x="2610000" y="213372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486" name="Google Shape;527;p7"/>
          <p:cNvSpPr/>
          <p:nvPr/>
        </p:nvSpPr>
        <p:spPr>
          <a:xfrm>
            <a:off x="609480" y="2419200"/>
            <a:ext cx="2285280" cy="360"/>
          </a:xfrm>
          <a:custGeom>
            <a:avLst/>
            <a:gdLst>
              <a:gd name="textAreaLeft" fmla="*/ 0 w 2285280"/>
              <a:gd name="textAreaRight" fmla="*/ 2285640 w 2285280"/>
              <a:gd name="textAreaTop" fmla="*/ 0 h 360"/>
              <a:gd name="textAreaBottom" fmla="*/ 72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7" name="Google Shape;528;p7"/>
          <p:cNvSpPr/>
          <p:nvPr/>
        </p:nvSpPr>
        <p:spPr>
          <a:xfrm>
            <a:off x="609480" y="2705040"/>
            <a:ext cx="2285280" cy="360"/>
          </a:xfrm>
          <a:custGeom>
            <a:avLst/>
            <a:gdLst>
              <a:gd name="textAreaLeft" fmla="*/ 0 w 2285280"/>
              <a:gd name="textAreaRight" fmla="*/ 2285640 w 2285280"/>
              <a:gd name="textAreaTop" fmla="*/ 0 h 360"/>
              <a:gd name="textAreaBottom" fmla="*/ 72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8" name="Google Shape;529;p7"/>
          <p:cNvSpPr/>
          <p:nvPr/>
        </p:nvSpPr>
        <p:spPr>
          <a:xfrm>
            <a:off x="609480" y="2990880"/>
            <a:ext cx="2285280" cy="360"/>
          </a:xfrm>
          <a:custGeom>
            <a:avLst/>
            <a:gdLst>
              <a:gd name="textAreaLeft" fmla="*/ 0 w 2285280"/>
              <a:gd name="textAreaRight" fmla="*/ 2285640 w 2285280"/>
              <a:gd name="textAreaTop" fmla="*/ 0 h 360"/>
              <a:gd name="textAreaBottom" fmla="*/ 72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89" name="Google Shape;530;p7"/>
          <p:cNvSpPr/>
          <p:nvPr/>
        </p:nvSpPr>
        <p:spPr>
          <a:xfrm>
            <a:off x="609480" y="3276720"/>
            <a:ext cx="2285280" cy="360"/>
          </a:xfrm>
          <a:custGeom>
            <a:avLst/>
            <a:gdLst>
              <a:gd name="textAreaLeft" fmla="*/ 0 w 2285280"/>
              <a:gd name="textAreaRight" fmla="*/ 2285640 w 2285280"/>
              <a:gd name="textAreaTop" fmla="*/ 0 h 360"/>
              <a:gd name="textAreaBottom" fmla="*/ 720 h 360"/>
            </a:gdLst>
            <a:ahLst/>
            <a:rect l="textAreaLeft" t="textAreaTop" r="textAreaRight" b="textAreaBottom"/>
            <a:pathLst>
              <a:path w="2286000" h="953">
                <a:moveTo>
                  <a:pt x="0" y="0"/>
                </a:moveTo>
                <a:lnTo>
                  <a:pt x="2286000" y="0"/>
                </a:lnTo>
              </a:path>
            </a:pathLst>
          </a:custGeom>
          <a:noFill/>
          <a:ln w="9525">
            <a:solidFill>
              <a:srgbClr val="a9c8e9"/>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490" name="Google Shape;531;p7"/>
          <p:cNvSpPr/>
          <p:nvPr/>
        </p:nvSpPr>
        <p:spPr>
          <a:xfrm>
            <a:off x="1752480" y="2705040"/>
            <a:ext cx="285120" cy="285120"/>
          </a:xfrm>
          <a:prstGeom prst="rect">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1" name="Google Shape;532;p7"/>
          <p:cNvSpPr/>
          <p:nvPr/>
        </p:nvSpPr>
        <p:spPr>
          <a:xfrm>
            <a:off x="609480" y="3705120"/>
            <a:ext cx="238068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1674d1"/>
                </a:solidFill>
                <a:latin typeface="Verdana"/>
                <a:ea typeface="Verdana"/>
              </a:rPr>
              <a:t>pixel (u, v)</a:t>
            </a:r>
            <a:endParaRPr b="0" lang="en-US" sz="1800" spc="-1" strike="noStrike">
              <a:solidFill>
                <a:srgbClr val="000000"/>
              </a:solidFill>
              <a:latin typeface="Arial"/>
            </a:endParaRPr>
          </a:p>
        </p:txBody>
      </p:sp>
      <p:sp>
        <p:nvSpPr>
          <p:cNvPr id="492" name="Google Shape;533;p7"/>
          <p:cNvSpPr/>
          <p:nvPr/>
        </p:nvSpPr>
        <p:spPr>
          <a:xfrm>
            <a:off x="609480" y="5086440"/>
            <a:ext cx="399240" cy="15156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3" name="Google Shape;534;p7"/>
          <p:cNvSpPr/>
          <p:nvPr/>
        </p:nvSpPr>
        <p:spPr>
          <a:xfrm>
            <a:off x="542880" y="5353200"/>
            <a:ext cx="532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0.1</a:t>
            </a:r>
            <a:endParaRPr b="0" lang="en-US" sz="1500" spc="-1" strike="noStrike">
              <a:solidFill>
                <a:srgbClr val="000000"/>
              </a:solidFill>
              <a:latin typeface="Arial"/>
            </a:endParaRPr>
          </a:p>
        </p:txBody>
      </p:sp>
      <p:sp>
        <p:nvSpPr>
          <p:cNvPr id="494" name="Google Shape;535;p7"/>
          <p:cNvSpPr/>
          <p:nvPr/>
        </p:nvSpPr>
        <p:spPr>
          <a:xfrm>
            <a:off x="1209600" y="4933800"/>
            <a:ext cx="399240" cy="30420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5" name="Google Shape;536;p7"/>
          <p:cNvSpPr/>
          <p:nvPr/>
        </p:nvSpPr>
        <p:spPr>
          <a:xfrm>
            <a:off x="1143000" y="5353200"/>
            <a:ext cx="532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a:t>
            </a:r>
            <a:endParaRPr b="0" lang="en-US" sz="1500" spc="-1" strike="noStrike">
              <a:solidFill>
                <a:srgbClr val="000000"/>
              </a:solidFill>
              <a:latin typeface="Arial"/>
            </a:endParaRPr>
          </a:p>
        </p:txBody>
      </p:sp>
      <p:sp>
        <p:nvSpPr>
          <p:cNvPr id="496" name="Google Shape;537;p7"/>
          <p:cNvSpPr/>
          <p:nvPr/>
        </p:nvSpPr>
        <p:spPr>
          <a:xfrm>
            <a:off x="1809720" y="4476600"/>
            <a:ext cx="399240" cy="76140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7" name="Google Shape;538;p7"/>
          <p:cNvSpPr/>
          <p:nvPr/>
        </p:nvSpPr>
        <p:spPr>
          <a:xfrm>
            <a:off x="1743120" y="5353200"/>
            <a:ext cx="532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0.5</a:t>
            </a:r>
            <a:endParaRPr b="0" lang="en-US" sz="1500" spc="-1" strike="noStrike">
              <a:solidFill>
                <a:srgbClr val="000000"/>
              </a:solidFill>
              <a:latin typeface="Arial"/>
            </a:endParaRPr>
          </a:p>
        </p:txBody>
      </p:sp>
      <p:sp>
        <p:nvSpPr>
          <p:cNvPr id="498" name="Google Shape;539;p7"/>
          <p:cNvSpPr/>
          <p:nvPr/>
        </p:nvSpPr>
        <p:spPr>
          <a:xfrm>
            <a:off x="2409840" y="4933800"/>
            <a:ext cx="399240" cy="304200"/>
          </a:xfrm>
          <a:prstGeom prst="rect">
            <a:avLst/>
          </a:prstGeom>
          <a:solidFill>
            <a:srgbClr val="1674d1"/>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499" name="Google Shape;540;p7"/>
          <p:cNvSpPr/>
          <p:nvPr/>
        </p:nvSpPr>
        <p:spPr>
          <a:xfrm>
            <a:off x="2343240" y="5353200"/>
            <a:ext cx="532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a:t>
            </a:r>
            <a:endParaRPr b="0" lang="en-US" sz="1500" spc="-1" strike="noStrike">
              <a:solidFill>
                <a:srgbClr val="000000"/>
              </a:solidFill>
              <a:latin typeface="Arial"/>
            </a:endParaRPr>
          </a:p>
        </p:txBody>
      </p:sp>
      <p:sp>
        <p:nvSpPr>
          <p:cNvPr id="500" name="Google Shape;541;p7"/>
          <p:cNvSpPr/>
          <p:nvPr/>
        </p:nvSpPr>
        <p:spPr>
          <a:xfrm>
            <a:off x="533520" y="4076640"/>
            <a:ext cx="3237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Example depth distribution</a:t>
            </a:r>
            <a:endParaRPr b="0" lang="en-US" sz="1650" spc="-1" strike="noStrike">
              <a:solidFill>
                <a:srgbClr val="000000"/>
              </a:solidFill>
              <a:latin typeface="Arial"/>
            </a:endParaRPr>
          </a:p>
        </p:txBody>
      </p:sp>
      <p:sp>
        <p:nvSpPr>
          <p:cNvPr id="501" name="Google Shape;542;p7"/>
          <p:cNvSpPr/>
          <p:nvPr/>
        </p:nvSpPr>
        <p:spPr>
          <a:xfrm>
            <a:off x="4591080" y="2095560"/>
            <a:ext cx="3218760" cy="1599480"/>
          </a:xfrm>
          <a:custGeom>
            <a:avLst/>
            <a:gdLst>
              <a:gd name="textAreaLeft" fmla="*/ 0 w 3218760"/>
              <a:gd name="textAreaRight" fmla="*/ 3219120 w 3218760"/>
              <a:gd name="textAreaTop" fmla="*/ 0 h 1599480"/>
              <a:gd name="textAreaBottom" fmla="*/ 1599840 h 1599480"/>
            </a:gdLst>
            <a:ahLst/>
            <a:rect l="textAreaLeft" t="textAreaTop" r="textAreaRight" b="textAreaBottom"/>
            <a:pathLst>
              <a:path w="3219450" h="1600200">
                <a:moveTo>
                  <a:pt x="0" y="1600200"/>
                </a:moveTo>
                <a:lnTo>
                  <a:pt x="3219450" y="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2" name="Google Shape;543;p7"/>
          <p:cNvSpPr/>
          <p:nvPr/>
        </p:nvSpPr>
        <p:spPr>
          <a:xfrm>
            <a:off x="4591080" y="3143160"/>
            <a:ext cx="3218760" cy="551880"/>
          </a:xfrm>
          <a:custGeom>
            <a:avLst/>
            <a:gdLst>
              <a:gd name="textAreaLeft" fmla="*/ 0 w 3218760"/>
              <a:gd name="textAreaRight" fmla="*/ 3219120 w 3218760"/>
              <a:gd name="textAreaTop" fmla="*/ 0 h 551880"/>
              <a:gd name="textAreaBottom" fmla="*/ 552240 h 551880"/>
            </a:gdLst>
            <a:ahLst/>
            <a:rect l="textAreaLeft" t="textAreaTop" r="textAreaRight" b="textAreaBottom"/>
            <a:pathLst>
              <a:path w="3219450" h="552450">
                <a:moveTo>
                  <a:pt x="0" y="552450"/>
                </a:moveTo>
                <a:lnTo>
                  <a:pt x="3219450" y="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3" name="Google Shape;544;p7"/>
          <p:cNvSpPr/>
          <p:nvPr/>
        </p:nvSpPr>
        <p:spPr>
          <a:xfrm>
            <a:off x="4591080" y="3695760"/>
            <a:ext cx="3218760" cy="608760"/>
          </a:xfrm>
          <a:custGeom>
            <a:avLst/>
            <a:gdLst>
              <a:gd name="textAreaLeft" fmla="*/ 0 w 3218760"/>
              <a:gd name="textAreaRight" fmla="*/ 3219120 w 3218760"/>
              <a:gd name="textAreaTop" fmla="*/ 0 h 608760"/>
              <a:gd name="textAreaBottom" fmla="*/ 609120 h 608760"/>
            </a:gdLst>
            <a:ahLst/>
            <a:rect l="textAreaLeft" t="textAreaTop" r="textAreaRight" b="textAreaBottom"/>
            <a:pathLst>
              <a:path w="3219450" h="609600">
                <a:moveTo>
                  <a:pt x="0" y="0"/>
                </a:moveTo>
                <a:lnTo>
                  <a:pt x="3219450" y="60960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4" name="Google Shape;545;p7"/>
          <p:cNvSpPr/>
          <p:nvPr/>
        </p:nvSpPr>
        <p:spPr>
          <a:xfrm>
            <a:off x="7810560" y="2095560"/>
            <a:ext cx="360" cy="2208960"/>
          </a:xfrm>
          <a:custGeom>
            <a:avLst/>
            <a:gdLst>
              <a:gd name="textAreaLeft" fmla="*/ 0 w 360"/>
              <a:gd name="textAreaRight" fmla="*/ 720 w 360"/>
              <a:gd name="textAreaTop" fmla="*/ 0 h 2208960"/>
              <a:gd name="textAreaBottom" fmla="*/ 2209320 h 2208960"/>
            </a:gdLst>
            <a:ahLst/>
            <a:rect l="textAreaLeft" t="textAreaTop" r="textAreaRight" b="textAreaBottom"/>
            <a:pathLst>
              <a:path w="953" h="2209800">
                <a:moveTo>
                  <a:pt x="0" y="0"/>
                </a:moveTo>
                <a:lnTo>
                  <a:pt x="0" y="1047750"/>
                </a:lnTo>
                <a:lnTo>
                  <a:pt x="0" y="2209800"/>
                </a:lnTo>
              </a:path>
            </a:pathLst>
          </a:custGeom>
          <a:noFill/>
          <a:ln w="14275">
            <a:solidFill>
              <a:srgbClr val="a9c8e9"/>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5" name="Google Shape;546;p7"/>
          <p:cNvSpPr/>
          <p:nvPr/>
        </p:nvSpPr>
        <p:spPr>
          <a:xfrm>
            <a:off x="5319720" y="3481560"/>
            <a:ext cx="151560" cy="151560"/>
          </a:xfrm>
          <a:prstGeom prst="ellipse">
            <a:avLst/>
          </a:prstGeom>
          <a:solidFill>
            <a:srgbClr val="d5e6f7"/>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6" name="Google Shape;547;p7"/>
          <p:cNvSpPr/>
          <p:nvPr/>
        </p:nvSpPr>
        <p:spPr>
          <a:xfrm>
            <a:off x="5091120" y="3805200"/>
            <a:ext cx="856440" cy="323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0.1 × f</a:t>
            </a:r>
            <a:endParaRPr b="0" lang="en-US" sz="1500" spc="-1" strike="noStrike">
              <a:solidFill>
                <a:srgbClr val="000000"/>
              </a:solidFill>
              <a:latin typeface="Arial"/>
            </a:endParaRPr>
          </a:p>
        </p:txBody>
      </p:sp>
      <p:sp>
        <p:nvSpPr>
          <p:cNvPr id="507" name="Google Shape;548;p7"/>
          <p:cNvSpPr/>
          <p:nvPr/>
        </p:nvSpPr>
        <p:spPr>
          <a:xfrm>
            <a:off x="5963760" y="3371040"/>
            <a:ext cx="151560" cy="151560"/>
          </a:xfrm>
          <a:prstGeom prst="ellipse">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08" name="Google Shape;549;p7"/>
          <p:cNvSpPr/>
          <p:nvPr/>
        </p:nvSpPr>
        <p:spPr>
          <a:xfrm>
            <a:off x="5735160" y="3694680"/>
            <a:ext cx="856440" cy="323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 × f</a:t>
            </a:r>
            <a:endParaRPr b="0" lang="en-US" sz="1500" spc="-1" strike="noStrike">
              <a:solidFill>
                <a:srgbClr val="000000"/>
              </a:solidFill>
              <a:latin typeface="Arial"/>
            </a:endParaRPr>
          </a:p>
        </p:txBody>
      </p:sp>
      <p:sp>
        <p:nvSpPr>
          <p:cNvPr id="509" name="Google Shape;550;p7"/>
          <p:cNvSpPr/>
          <p:nvPr/>
        </p:nvSpPr>
        <p:spPr>
          <a:xfrm>
            <a:off x="6607440" y="3260520"/>
            <a:ext cx="151560" cy="151560"/>
          </a:xfrm>
          <a:prstGeom prst="ellipse">
            <a:avLst/>
          </a:prstGeom>
          <a:solidFill>
            <a:srgbClr val="2d82d6"/>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10" name="Google Shape;551;p7"/>
          <p:cNvSpPr/>
          <p:nvPr/>
        </p:nvSpPr>
        <p:spPr>
          <a:xfrm>
            <a:off x="6378840" y="3584160"/>
            <a:ext cx="856440" cy="323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0.5 × f</a:t>
            </a:r>
            <a:endParaRPr b="0" lang="en-US" sz="1500" spc="-1" strike="noStrike">
              <a:solidFill>
                <a:srgbClr val="000000"/>
              </a:solidFill>
              <a:latin typeface="Arial"/>
            </a:endParaRPr>
          </a:p>
        </p:txBody>
      </p:sp>
      <p:sp>
        <p:nvSpPr>
          <p:cNvPr id="511" name="Google Shape;552;p7"/>
          <p:cNvSpPr/>
          <p:nvPr/>
        </p:nvSpPr>
        <p:spPr>
          <a:xfrm>
            <a:off x="7251480" y="3150000"/>
            <a:ext cx="151560" cy="151560"/>
          </a:xfrm>
          <a:prstGeom prst="ellipse">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2" name="Google Shape;553;p7"/>
          <p:cNvSpPr/>
          <p:nvPr/>
        </p:nvSpPr>
        <p:spPr>
          <a:xfrm>
            <a:off x="7022880" y="3473640"/>
            <a:ext cx="856440" cy="3232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1674d1"/>
                </a:solidFill>
                <a:latin typeface="Verdana"/>
                <a:ea typeface="Verdana"/>
              </a:rPr>
              <a:t>0.2 × f</a:t>
            </a:r>
            <a:endParaRPr b="0" lang="en-US" sz="1500" spc="-1" strike="noStrike">
              <a:solidFill>
                <a:srgbClr val="000000"/>
              </a:solidFill>
              <a:latin typeface="Arial"/>
            </a:endParaRPr>
          </a:p>
        </p:txBody>
      </p:sp>
      <p:sp>
        <p:nvSpPr>
          <p:cNvPr id="513" name="Google Shape;554;p7"/>
          <p:cNvSpPr/>
          <p:nvPr/>
        </p:nvSpPr>
        <p:spPr>
          <a:xfrm>
            <a:off x="4467240" y="3571920"/>
            <a:ext cx="246960" cy="246960"/>
          </a:xfrm>
          <a:prstGeom prst="ellipse">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14" name="Google Shape;555;p7"/>
          <p:cNvSpPr/>
          <p:nvPr/>
        </p:nvSpPr>
        <p:spPr>
          <a:xfrm>
            <a:off x="4219560" y="4048200"/>
            <a:ext cx="1237680" cy="266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74d1"/>
                </a:solidFill>
                <a:latin typeface="Verdana"/>
                <a:ea typeface="Verdana"/>
              </a:rPr>
              <a:t>camera</a:t>
            </a:r>
            <a:endParaRPr b="0" lang="en-US" sz="1580" spc="-1" strike="noStrike">
              <a:solidFill>
                <a:srgbClr val="000000"/>
              </a:solidFill>
              <a:latin typeface="Arial"/>
            </a:endParaRPr>
          </a:p>
        </p:txBody>
      </p:sp>
      <p:sp>
        <p:nvSpPr>
          <p:cNvPr id="515" name="Google Shape;556;p7"/>
          <p:cNvSpPr/>
          <p:nvPr/>
        </p:nvSpPr>
        <p:spPr>
          <a:xfrm>
            <a:off x="3019320" y="2828880"/>
            <a:ext cx="1437480" cy="866160"/>
          </a:xfrm>
          <a:custGeom>
            <a:avLst/>
            <a:gdLst>
              <a:gd name="textAreaLeft" fmla="*/ 0 w 1437480"/>
              <a:gd name="textAreaRight" fmla="*/ 1437840 w 1437480"/>
              <a:gd name="textAreaTop" fmla="*/ 0 h 866160"/>
              <a:gd name="textAreaBottom" fmla="*/ 866520 h 866160"/>
            </a:gdLst>
            <a:ahLst/>
            <a:rect l="textAreaLeft" t="textAreaTop" r="textAreaRight" b="textAreaBottom"/>
            <a:pathLst>
              <a:path w="1438275" h="866775">
                <a:moveTo>
                  <a:pt x="0" y="0"/>
                </a:moveTo>
                <a:lnTo>
                  <a:pt x="819150" y="0"/>
                </a:lnTo>
                <a:lnTo>
                  <a:pt x="819150" y="866775"/>
                </a:lnTo>
                <a:lnTo>
                  <a:pt x="1438275" y="8667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6" name="Google Shape;557;p7"/>
          <p:cNvSpPr/>
          <p:nvPr/>
        </p:nvSpPr>
        <p:spPr>
          <a:xfrm>
            <a:off x="4362480" y="36518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17" name="Google Shape;558;p7"/>
          <p:cNvSpPr/>
          <p:nvPr/>
        </p:nvSpPr>
        <p:spPr>
          <a:xfrm>
            <a:off x="9163080" y="2581200"/>
            <a:ext cx="2199600" cy="219960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8" name="Google Shape;559;p7"/>
          <p:cNvSpPr/>
          <p:nvPr/>
        </p:nvSpPr>
        <p:spPr>
          <a:xfrm>
            <a:off x="947736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19" name="Google Shape;560;p7"/>
          <p:cNvSpPr/>
          <p:nvPr/>
        </p:nvSpPr>
        <p:spPr>
          <a:xfrm>
            <a:off x="979164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0" name="Google Shape;561;p7"/>
          <p:cNvSpPr/>
          <p:nvPr/>
        </p:nvSpPr>
        <p:spPr>
          <a:xfrm>
            <a:off x="1010592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1" name="Google Shape;562;p7"/>
          <p:cNvSpPr/>
          <p:nvPr/>
        </p:nvSpPr>
        <p:spPr>
          <a:xfrm>
            <a:off x="1042020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2" name="Google Shape;563;p7"/>
          <p:cNvSpPr/>
          <p:nvPr/>
        </p:nvSpPr>
        <p:spPr>
          <a:xfrm>
            <a:off x="1073484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3" name="Google Shape;564;p7"/>
          <p:cNvSpPr/>
          <p:nvPr/>
        </p:nvSpPr>
        <p:spPr>
          <a:xfrm>
            <a:off x="11049120" y="2581200"/>
            <a:ext cx="360" cy="2199600"/>
          </a:xfrm>
          <a:custGeom>
            <a:avLst/>
            <a:gdLst>
              <a:gd name="textAreaLeft" fmla="*/ 0 w 360"/>
              <a:gd name="textAreaRight" fmla="*/ 720 w 360"/>
              <a:gd name="textAreaTop" fmla="*/ 0 h 2199600"/>
              <a:gd name="textAreaBottom" fmla="*/ 2199960 h 2199600"/>
            </a:gdLst>
            <a:ahLst/>
            <a:rect l="textAreaLeft" t="textAreaTop" r="textAreaRight" b="textAreaBottom"/>
            <a:pathLst>
              <a:path w="953" h="2200275">
                <a:moveTo>
                  <a:pt x="0" y="0"/>
                </a:moveTo>
                <a:lnTo>
                  <a:pt x="0" y="22002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24" name="Google Shape;565;p7"/>
          <p:cNvSpPr/>
          <p:nvPr/>
        </p:nvSpPr>
        <p:spPr>
          <a:xfrm>
            <a:off x="9163080" y="289548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5" name="Google Shape;566;p7"/>
          <p:cNvSpPr/>
          <p:nvPr/>
        </p:nvSpPr>
        <p:spPr>
          <a:xfrm>
            <a:off x="9163080" y="320976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6" name="Google Shape;567;p7"/>
          <p:cNvSpPr/>
          <p:nvPr/>
        </p:nvSpPr>
        <p:spPr>
          <a:xfrm>
            <a:off x="9163080" y="352440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7" name="Google Shape;568;p7"/>
          <p:cNvSpPr/>
          <p:nvPr/>
        </p:nvSpPr>
        <p:spPr>
          <a:xfrm>
            <a:off x="9163080" y="383868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8" name="Google Shape;569;p7"/>
          <p:cNvSpPr/>
          <p:nvPr/>
        </p:nvSpPr>
        <p:spPr>
          <a:xfrm>
            <a:off x="9163080" y="415296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29" name="Google Shape;570;p7"/>
          <p:cNvSpPr/>
          <p:nvPr/>
        </p:nvSpPr>
        <p:spPr>
          <a:xfrm>
            <a:off x="9163080" y="4467240"/>
            <a:ext cx="2199600" cy="360"/>
          </a:xfrm>
          <a:custGeom>
            <a:avLst/>
            <a:gdLst>
              <a:gd name="textAreaLeft" fmla="*/ 0 w 2199600"/>
              <a:gd name="textAreaRight" fmla="*/ 2199960 w 2199600"/>
              <a:gd name="textAreaTop" fmla="*/ 0 h 360"/>
              <a:gd name="textAreaBottom" fmla="*/ 720 h 360"/>
            </a:gdLst>
            <a:ahLst/>
            <a:rect l="textAreaLeft" t="textAreaTop" r="textAreaRight" b="textAreaBottom"/>
            <a:pathLst>
              <a:path w="2200275" h="953">
                <a:moveTo>
                  <a:pt x="0" y="0"/>
                </a:moveTo>
                <a:lnTo>
                  <a:pt x="2200275"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30" name="Google Shape;571;p7"/>
          <p:cNvSpPr/>
          <p:nvPr/>
        </p:nvSpPr>
        <p:spPr>
          <a:xfrm>
            <a:off x="9477360" y="4152960"/>
            <a:ext cx="313560" cy="313560"/>
          </a:xfrm>
          <a:prstGeom prst="rect">
            <a:avLst/>
          </a:prstGeom>
          <a:solidFill>
            <a:srgbClr val="d5e6f7"/>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1" name="Google Shape;572;p7"/>
          <p:cNvSpPr/>
          <p:nvPr/>
        </p:nvSpPr>
        <p:spPr>
          <a:xfrm>
            <a:off x="9791640" y="3838680"/>
            <a:ext cx="313560" cy="313560"/>
          </a:xfrm>
          <a:prstGeom prst="rect">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2" name="Google Shape;573;p7"/>
          <p:cNvSpPr/>
          <p:nvPr/>
        </p:nvSpPr>
        <p:spPr>
          <a:xfrm>
            <a:off x="10420200" y="3524400"/>
            <a:ext cx="313560" cy="313560"/>
          </a:xfrm>
          <a:prstGeom prst="rect">
            <a:avLst/>
          </a:prstGeom>
          <a:solidFill>
            <a:srgbClr val="2d82d6"/>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33" name="Google Shape;574;p7"/>
          <p:cNvSpPr/>
          <p:nvPr/>
        </p:nvSpPr>
        <p:spPr>
          <a:xfrm>
            <a:off x="10734840" y="3209760"/>
            <a:ext cx="313560" cy="313560"/>
          </a:xfrm>
          <a:prstGeom prst="rect">
            <a:avLst/>
          </a:prstGeom>
          <a:solidFill>
            <a:srgbClr val="abcdee"/>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34" name="Google Shape;575;p7"/>
          <p:cNvSpPr/>
          <p:nvPr/>
        </p:nvSpPr>
        <p:spPr>
          <a:xfrm>
            <a:off x="7981920" y="314316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35" name="Google Shape;576;p7"/>
          <p:cNvSpPr/>
          <p:nvPr/>
        </p:nvSpPr>
        <p:spPr>
          <a:xfrm>
            <a:off x="8953560" y="30996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36" name="Google Shape;577;p7"/>
          <p:cNvSpPr/>
          <p:nvPr/>
        </p:nvSpPr>
        <p:spPr>
          <a:xfrm>
            <a:off x="8639280" y="5000760"/>
            <a:ext cx="3066480" cy="5994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Sum features that land</a:t>
            </a:r>
            <a:endParaRPr b="0" lang="en-US" sz="1729" spc="-1" strike="noStrike">
              <a:solidFill>
                <a:srgbClr val="000000"/>
              </a:solidFill>
              <a:latin typeface="Arial"/>
            </a:endParaRPr>
          </a:p>
          <a:p>
            <a:pPr algn="ctr">
              <a:lnSpc>
                <a:spcPct val="100000"/>
              </a:lnSpc>
              <a:tabLst>
                <a:tab algn="l" pos="0"/>
              </a:tabLst>
            </a:pPr>
            <a:r>
              <a:rPr b="0" lang="en-US" sz="1729" spc="-1" strike="noStrike">
                <a:solidFill>
                  <a:srgbClr val="16253b"/>
                </a:solidFill>
                <a:latin typeface="Verdana"/>
                <a:ea typeface="Verdana"/>
              </a:rPr>
              <a:t>in the same metric cell</a:t>
            </a:r>
            <a:endParaRPr b="0" lang="en-US" sz="1729" spc="-1" strike="noStrike">
              <a:solidFill>
                <a:srgbClr val="000000"/>
              </a:solidFill>
              <a:latin typeface="Arial"/>
            </a:endParaRPr>
          </a:p>
        </p:txBody>
      </p:sp>
      <p:sp>
        <p:nvSpPr>
          <p:cNvPr id="537" name="Google Shape;578;p7"/>
          <p:cNvSpPr/>
          <p:nvPr/>
        </p:nvSpPr>
        <p:spPr>
          <a:xfrm>
            <a:off x="4181400" y="5029200"/>
            <a:ext cx="4333320" cy="342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1674d1"/>
                </a:solidFill>
                <a:latin typeface="Verdana"/>
                <a:ea typeface="Verdana"/>
              </a:rPr>
              <a:t>T(u, v, k) = pₖ(u, v) · f(u, v)</a:t>
            </a:r>
            <a:endParaRPr b="0" lang="en-US" sz="1870" spc="-1" strike="noStrike">
              <a:solidFill>
                <a:srgbClr val="000000"/>
              </a:solidFill>
              <a:latin typeface="Arial"/>
            </a:endParaRPr>
          </a:p>
        </p:txBody>
      </p:sp>
      <p:sp>
        <p:nvSpPr>
          <p:cNvPr id="538" name="Google Shape;579;p7"/>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39" name="Google Shape;580;p7"/>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Depth hypotheses become 3D points, then pool into metric BEV cells.</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40" name="Google Shape;586;p8"/>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Lifting and pooling produce the camera BEV</a:t>
            </a:r>
            <a:endParaRPr b="0" lang="en-US" sz="3300" spc="-1" strike="noStrike">
              <a:solidFill>
                <a:srgbClr val="000000"/>
              </a:solidFill>
              <a:latin typeface="Arial"/>
            </a:endParaRPr>
          </a:p>
        </p:txBody>
      </p:sp>
      <p:sp>
        <p:nvSpPr>
          <p:cNvPr id="541" name="Google Shape;587;p8"/>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08</a:t>
            </a:r>
            <a:endParaRPr b="0" lang="en-US" sz="1200" spc="-1" strike="noStrike">
              <a:solidFill>
                <a:srgbClr val="000000"/>
              </a:solidFill>
              <a:latin typeface="Arial"/>
            </a:endParaRPr>
          </a:p>
        </p:txBody>
      </p:sp>
      <p:sp>
        <p:nvSpPr>
          <p:cNvPr id="542" name="Google Shape;588;p8"/>
          <p:cNvSpPr/>
          <p:nvPr/>
        </p:nvSpPr>
        <p:spPr>
          <a:xfrm>
            <a:off x="533520" y="1380960"/>
            <a:ext cx="523800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1674d1"/>
                </a:solidFill>
                <a:latin typeface="Verdana"/>
                <a:ea typeface="Verdana"/>
              </a:rPr>
              <a:t>Inverse projection</a:t>
            </a:r>
            <a:endParaRPr b="0" lang="en-US" sz="2100" spc="-1" strike="noStrike">
              <a:solidFill>
                <a:srgbClr val="000000"/>
              </a:solidFill>
              <a:latin typeface="Arial"/>
            </a:endParaRPr>
          </a:p>
        </p:txBody>
      </p:sp>
      <p:sp>
        <p:nvSpPr>
          <p:cNvPr id="543" name="Google Shape;589;p8"/>
          <p:cNvSpPr/>
          <p:nvPr/>
        </p:nvSpPr>
        <p:spPr>
          <a:xfrm>
            <a:off x="533520" y="1924200"/>
            <a:ext cx="5285520" cy="456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70" spc="-1" strike="noStrike">
                <a:solidFill>
                  <a:srgbClr val="1674d1"/>
                </a:solidFill>
                <a:latin typeface="Verdana"/>
                <a:ea typeface="Verdana"/>
              </a:rPr>
              <a:t>cₖ = dₖ K⁻¹ [u,v,1]ᵀ</a:t>
            </a:r>
            <a:endParaRPr b="0" lang="en-US" sz="2470" spc="-1" strike="noStrike">
              <a:solidFill>
                <a:srgbClr val="000000"/>
              </a:solidFill>
              <a:latin typeface="Arial"/>
            </a:endParaRPr>
          </a:p>
        </p:txBody>
      </p:sp>
      <p:sp>
        <p:nvSpPr>
          <p:cNvPr id="544" name="Google Shape;590;p8"/>
          <p:cNvSpPr/>
          <p:nvPr/>
        </p:nvSpPr>
        <p:spPr>
          <a:xfrm>
            <a:off x="533520" y="2514600"/>
            <a:ext cx="5285520" cy="428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70" spc="-1" strike="noStrike">
                <a:solidFill>
                  <a:srgbClr val="304c68"/>
                </a:solidFill>
                <a:latin typeface="Verdana"/>
                <a:ea typeface="Verdana"/>
              </a:rPr>
              <a:t>lₖ = Rᵀ(cₖ − t)</a:t>
            </a:r>
            <a:endParaRPr b="0" lang="en-US" sz="2470" spc="-1" strike="noStrike">
              <a:solidFill>
                <a:srgbClr val="000000"/>
              </a:solidFill>
              <a:latin typeface="Arial"/>
            </a:endParaRPr>
          </a:p>
        </p:txBody>
      </p:sp>
      <p:sp>
        <p:nvSpPr>
          <p:cNvPr id="545" name="Google Shape;591;p8"/>
          <p:cNvSpPr/>
          <p:nvPr/>
        </p:nvSpPr>
        <p:spPr>
          <a:xfrm>
            <a:off x="533520" y="3067200"/>
            <a:ext cx="5380920" cy="951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K: camera intrinsic matrix</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R, t map LiDAR to camera.</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(u,v) has image augmentation undone.</a:t>
            </a:r>
            <a:endParaRPr b="0" lang="en-US" sz="1650" spc="-1" strike="noStrike">
              <a:solidFill>
                <a:srgbClr val="000000"/>
              </a:solidFill>
              <a:latin typeface="Arial"/>
            </a:endParaRPr>
          </a:p>
        </p:txBody>
      </p:sp>
      <p:sp>
        <p:nvSpPr>
          <p:cNvPr id="546" name="Google Shape;592;p8"/>
          <p:cNvSpPr/>
          <p:nvPr/>
        </p:nvSpPr>
        <p:spPr>
          <a:xfrm>
            <a:off x="6000840" y="1380960"/>
            <a:ext cx="360" cy="4371120"/>
          </a:xfrm>
          <a:custGeom>
            <a:avLst/>
            <a:gdLst>
              <a:gd name="textAreaLeft" fmla="*/ 0 w 360"/>
              <a:gd name="textAreaRight" fmla="*/ 720 w 360"/>
              <a:gd name="textAreaTop" fmla="*/ 0 h 4371120"/>
              <a:gd name="textAreaBottom" fmla="*/ 4371480 h 4371120"/>
            </a:gdLst>
            <a:ahLst/>
            <a:rect l="textAreaLeft" t="textAreaTop" r="textAreaRight" b="textAreaBottom"/>
            <a:pathLst>
              <a:path w="953" h="4371975">
                <a:moveTo>
                  <a:pt x="0" y="0"/>
                </a:moveTo>
                <a:lnTo>
                  <a:pt x="0" y="4371975"/>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47" name="Google Shape;593;p8"/>
          <p:cNvSpPr/>
          <p:nvPr/>
        </p:nvSpPr>
        <p:spPr>
          <a:xfrm>
            <a:off x="6477120" y="1380960"/>
            <a:ext cx="518076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1674d1"/>
                </a:solidFill>
                <a:latin typeface="Verdana"/>
                <a:ea typeface="Verdana"/>
              </a:rPr>
              <a:t>A metric point selects a pooling cell</a:t>
            </a:r>
            <a:endParaRPr b="0" lang="en-US" sz="2020" spc="-1" strike="noStrike">
              <a:solidFill>
                <a:srgbClr val="000000"/>
              </a:solidFill>
              <a:latin typeface="Arial"/>
            </a:endParaRPr>
          </a:p>
        </p:txBody>
      </p:sp>
      <p:sp>
        <p:nvSpPr>
          <p:cNvPr id="548" name="Google Shape;594;p8"/>
          <p:cNvSpPr/>
          <p:nvPr/>
        </p:nvSpPr>
        <p:spPr>
          <a:xfrm>
            <a:off x="6477120" y="1924200"/>
            <a:ext cx="514296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320" spc="-1" strike="noStrike">
                <a:solidFill>
                  <a:srgbClr val="304c68"/>
                </a:solidFill>
                <a:latin typeface="Verdana"/>
                <a:ea typeface="Verdana"/>
              </a:rPr>
              <a:t>a = ⌊(x + 54)/0.3⌋</a:t>
            </a:r>
            <a:endParaRPr b="0" lang="en-US" sz="2320" spc="-1" strike="noStrike">
              <a:solidFill>
                <a:srgbClr val="000000"/>
              </a:solidFill>
              <a:latin typeface="Arial"/>
            </a:endParaRPr>
          </a:p>
        </p:txBody>
      </p:sp>
      <p:sp>
        <p:nvSpPr>
          <p:cNvPr id="549" name="Google Shape;595;p8"/>
          <p:cNvSpPr/>
          <p:nvPr/>
        </p:nvSpPr>
        <p:spPr>
          <a:xfrm>
            <a:off x="6477120" y="2467080"/>
            <a:ext cx="514296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320" spc="-1" strike="noStrike">
                <a:solidFill>
                  <a:srgbClr val="304c68"/>
                </a:solidFill>
                <a:latin typeface="Verdana"/>
                <a:ea typeface="Verdana"/>
              </a:rPr>
              <a:t>b = ⌊(y + 54)/0.3⌋</a:t>
            </a:r>
            <a:endParaRPr b="0" lang="en-US" sz="2320" spc="-1" strike="noStrike">
              <a:solidFill>
                <a:srgbClr val="000000"/>
              </a:solidFill>
              <a:latin typeface="Arial"/>
            </a:endParaRPr>
          </a:p>
        </p:txBody>
      </p:sp>
      <p:sp>
        <p:nvSpPr>
          <p:cNvPr id="550" name="Google Shape;596;p8"/>
          <p:cNvSpPr/>
          <p:nvPr/>
        </p:nvSpPr>
        <p:spPr>
          <a:xfrm>
            <a:off x="6477120" y="3067200"/>
            <a:ext cx="514296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1674d1"/>
                </a:solidFill>
                <a:latin typeface="Verdana"/>
                <a:ea typeface="Verdana"/>
              </a:rPr>
              <a:t>B[a,b] = Σ pₙ,ₖ(u,v) fₙ(u,v)</a:t>
            </a:r>
            <a:endParaRPr b="0" lang="en-US" sz="2100" spc="-1" strike="noStrike">
              <a:solidFill>
                <a:srgbClr val="000000"/>
              </a:solidFill>
              <a:latin typeface="Arial"/>
            </a:endParaRPr>
          </a:p>
        </p:txBody>
      </p:sp>
      <p:sp>
        <p:nvSpPr>
          <p:cNvPr id="551" name="Google Shape;597;p8"/>
          <p:cNvSpPr/>
          <p:nvPr/>
        </p:nvSpPr>
        <p:spPr>
          <a:xfrm>
            <a:off x="6477120" y="3552840"/>
            <a:ext cx="5142960" cy="618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Sum across views and depth samples</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whose 3D points fall in this cell.</a:t>
            </a:r>
            <a:endParaRPr b="0" lang="en-US" sz="1729" spc="-1" strike="noStrike">
              <a:solidFill>
                <a:srgbClr val="000000"/>
              </a:solidFill>
              <a:latin typeface="Arial"/>
            </a:endParaRPr>
          </a:p>
        </p:txBody>
      </p:sp>
      <p:sp>
        <p:nvSpPr>
          <p:cNvPr id="552" name="Google Shape;598;p8"/>
          <p:cNvSpPr/>
          <p:nvPr/>
        </p:nvSpPr>
        <p:spPr>
          <a:xfrm>
            <a:off x="552600" y="4238640"/>
            <a:ext cx="1580400" cy="1428120"/>
          </a:xfrm>
          <a:prstGeom prst="rect">
            <a:avLst/>
          </a:prstGeom>
          <a:solidFill>
            <a:srgbClr val="dfedfc"/>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3" name="Google Shape;599;p8"/>
          <p:cNvSpPr/>
          <p:nvPr/>
        </p:nvSpPr>
        <p:spPr>
          <a:xfrm>
            <a:off x="816120" y="423864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4" name="Google Shape;600;p8"/>
          <p:cNvSpPr/>
          <p:nvPr/>
        </p:nvSpPr>
        <p:spPr>
          <a:xfrm>
            <a:off x="1079640" y="423864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5" name="Google Shape;601;p8"/>
          <p:cNvSpPr/>
          <p:nvPr/>
        </p:nvSpPr>
        <p:spPr>
          <a:xfrm>
            <a:off x="1343160" y="423864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6" name="Google Shape;602;p8"/>
          <p:cNvSpPr/>
          <p:nvPr/>
        </p:nvSpPr>
        <p:spPr>
          <a:xfrm>
            <a:off x="1606680" y="423864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7" name="Google Shape;603;p8"/>
          <p:cNvSpPr/>
          <p:nvPr/>
        </p:nvSpPr>
        <p:spPr>
          <a:xfrm>
            <a:off x="1870200" y="4238640"/>
            <a:ext cx="360" cy="1428120"/>
          </a:xfrm>
          <a:custGeom>
            <a:avLst/>
            <a:gdLst>
              <a:gd name="textAreaLeft" fmla="*/ 0 w 360"/>
              <a:gd name="textAreaRight" fmla="*/ 720 w 360"/>
              <a:gd name="textAreaTop" fmla="*/ 0 h 1428120"/>
              <a:gd name="textAreaBottom" fmla="*/ 1428480 h 1428120"/>
            </a:gdLst>
            <a:ahLst/>
            <a:rect l="textAreaLeft" t="textAreaTop" r="textAreaRight" b="textAreaBottom"/>
            <a:pathLst>
              <a:path w="953" h="1428750">
                <a:moveTo>
                  <a:pt x="0" y="0"/>
                </a:moveTo>
                <a:lnTo>
                  <a:pt x="0" y="142875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58" name="Google Shape;604;p8"/>
          <p:cNvSpPr/>
          <p:nvPr/>
        </p:nvSpPr>
        <p:spPr>
          <a:xfrm>
            <a:off x="552600" y="4524480"/>
            <a:ext cx="1580400" cy="360"/>
          </a:xfrm>
          <a:custGeom>
            <a:avLst/>
            <a:gdLst>
              <a:gd name="textAreaLeft" fmla="*/ 0 w 1580400"/>
              <a:gd name="textAreaRight" fmla="*/ 1580760 w 1580400"/>
              <a:gd name="textAreaTop" fmla="*/ 0 h 360"/>
              <a:gd name="textAreaBottom" fmla="*/ 72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59" name="Google Shape;605;p8"/>
          <p:cNvSpPr/>
          <p:nvPr/>
        </p:nvSpPr>
        <p:spPr>
          <a:xfrm>
            <a:off x="552600" y="4809960"/>
            <a:ext cx="1580400" cy="360"/>
          </a:xfrm>
          <a:custGeom>
            <a:avLst/>
            <a:gdLst>
              <a:gd name="textAreaLeft" fmla="*/ 0 w 1580400"/>
              <a:gd name="textAreaRight" fmla="*/ 1580760 w 1580400"/>
              <a:gd name="textAreaTop" fmla="*/ 0 h 360"/>
              <a:gd name="textAreaBottom" fmla="*/ 72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0" name="Google Shape;606;p8"/>
          <p:cNvSpPr/>
          <p:nvPr/>
        </p:nvSpPr>
        <p:spPr>
          <a:xfrm>
            <a:off x="552600" y="5095800"/>
            <a:ext cx="1580400" cy="360"/>
          </a:xfrm>
          <a:custGeom>
            <a:avLst/>
            <a:gdLst>
              <a:gd name="textAreaLeft" fmla="*/ 0 w 1580400"/>
              <a:gd name="textAreaRight" fmla="*/ 1580760 w 1580400"/>
              <a:gd name="textAreaTop" fmla="*/ 0 h 360"/>
              <a:gd name="textAreaBottom" fmla="*/ 72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1" name="Google Shape;607;p8"/>
          <p:cNvSpPr/>
          <p:nvPr/>
        </p:nvSpPr>
        <p:spPr>
          <a:xfrm>
            <a:off x="552600" y="5381640"/>
            <a:ext cx="1580400" cy="360"/>
          </a:xfrm>
          <a:custGeom>
            <a:avLst/>
            <a:gdLst>
              <a:gd name="textAreaLeft" fmla="*/ 0 w 1580400"/>
              <a:gd name="textAreaRight" fmla="*/ 1580760 w 1580400"/>
              <a:gd name="textAreaTop" fmla="*/ 0 h 360"/>
              <a:gd name="textAreaBottom" fmla="*/ 720 h 360"/>
            </a:gdLst>
            <a:ahLst/>
            <a:rect l="textAreaLeft" t="textAreaTop" r="textAreaRight" b="textAreaBottom"/>
            <a:pathLst>
              <a:path w="1581150" h="953">
                <a:moveTo>
                  <a:pt x="0" y="0"/>
                </a:moveTo>
                <a:lnTo>
                  <a:pt x="158115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2" name="Google Shape;608;p8"/>
          <p:cNvSpPr/>
          <p:nvPr/>
        </p:nvSpPr>
        <p:spPr>
          <a:xfrm>
            <a:off x="1079640" y="4809960"/>
            <a:ext cx="262800" cy="285120"/>
          </a:xfrm>
          <a:prstGeom prst="rect">
            <a:avLst/>
          </a:prstGeom>
          <a:solidFill>
            <a:srgbClr val="1674d1"/>
          </a:solidFill>
          <a:ln w="95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563" name="Google Shape;609;p8"/>
          <p:cNvSpPr/>
          <p:nvPr/>
        </p:nvSpPr>
        <p:spPr>
          <a:xfrm>
            <a:off x="2133720" y="4962600"/>
            <a:ext cx="504000" cy="360"/>
          </a:xfrm>
          <a:custGeom>
            <a:avLst/>
            <a:gdLst>
              <a:gd name="textAreaLeft" fmla="*/ 0 w 504000"/>
              <a:gd name="textAreaRight" fmla="*/ 504360 w 504000"/>
              <a:gd name="textAreaTop" fmla="*/ 0 h 360"/>
              <a:gd name="textAreaBottom" fmla="*/ 720 h 360"/>
            </a:gdLst>
            <a:ahLst/>
            <a:rect l="textAreaLeft" t="textAreaTop" r="textAreaRight" b="textAreaBottom"/>
            <a:pathLst>
              <a:path w="504825" h="953">
                <a:moveTo>
                  <a:pt x="0" y="0"/>
                </a:moveTo>
                <a:lnTo>
                  <a:pt x="504825"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4" name="Google Shape;610;p8"/>
          <p:cNvSpPr/>
          <p:nvPr/>
        </p:nvSpPr>
        <p:spPr>
          <a:xfrm>
            <a:off x="2543040" y="49186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65" name="Google Shape;611;p8"/>
          <p:cNvSpPr/>
          <p:nvPr/>
        </p:nvSpPr>
        <p:spPr>
          <a:xfrm>
            <a:off x="2638440" y="4486320"/>
            <a:ext cx="1980360" cy="93276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66" name="Google Shape;612;p8"/>
          <p:cNvSpPr/>
          <p:nvPr/>
        </p:nvSpPr>
        <p:spPr>
          <a:xfrm>
            <a:off x="2733840" y="4552920"/>
            <a:ext cx="178992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Weighted</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feature sum</a:t>
            </a:r>
            <a:endParaRPr b="0" lang="en-US" sz="1870" spc="-1" strike="noStrike">
              <a:solidFill>
                <a:srgbClr val="000000"/>
              </a:solidFill>
              <a:latin typeface="Arial"/>
            </a:endParaRPr>
          </a:p>
        </p:txBody>
      </p:sp>
      <p:sp>
        <p:nvSpPr>
          <p:cNvPr id="567" name="Google Shape;613;p8"/>
          <p:cNvSpPr/>
          <p:nvPr/>
        </p:nvSpPr>
        <p:spPr>
          <a:xfrm>
            <a:off x="4619520" y="4962600"/>
            <a:ext cx="818280" cy="360"/>
          </a:xfrm>
          <a:custGeom>
            <a:avLst/>
            <a:gdLst>
              <a:gd name="textAreaLeft" fmla="*/ 0 w 818280"/>
              <a:gd name="textAreaRight" fmla="*/ 818640 w 818280"/>
              <a:gd name="textAreaTop" fmla="*/ 0 h 360"/>
              <a:gd name="textAreaBottom" fmla="*/ 720 h 360"/>
            </a:gdLst>
            <a:ahLst/>
            <a:rect l="textAreaLeft" t="textAreaTop" r="textAreaRight" b="textAreaBottom"/>
            <a:pathLst>
              <a:path w="819150" h="953">
                <a:moveTo>
                  <a:pt x="0" y="0"/>
                </a:moveTo>
                <a:lnTo>
                  <a:pt x="819150"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68" name="Google Shape;614;p8"/>
          <p:cNvSpPr/>
          <p:nvPr/>
        </p:nvSpPr>
        <p:spPr>
          <a:xfrm>
            <a:off x="5343480" y="49186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69" name="Google Shape;615;p8"/>
          <p:cNvSpPr/>
          <p:nvPr/>
        </p:nvSpPr>
        <p:spPr>
          <a:xfrm>
            <a:off x="5438880" y="4486320"/>
            <a:ext cx="2494800" cy="93276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70" name="Google Shape;616;p8"/>
          <p:cNvSpPr/>
          <p:nvPr/>
        </p:nvSpPr>
        <p:spPr>
          <a:xfrm>
            <a:off x="5533920" y="4552920"/>
            <a:ext cx="230436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1674d1"/>
                </a:solidFill>
                <a:latin typeface="Verdana"/>
                <a:ea typeface="Verdana"/>
              </a:rPr>
              <a:t>80 × 360 × 360</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1674d1"/>
                </a:solidFill>
                <a:latin typeface="Verdana"/>
                <a:ea typeface="Verdana"/>
              </a:rPr>
              <a:t>0.3 m / cell</a:t>
            </a:r>
            <a:endParaRPr b="0" lang="en-US" sz="1870" spc="-1" strike="noStrike">
              <a:solidFill>
                <a:srgbClr val="000000"/>
              </a:solidFill>
              <a:latin typeface="Arial"/>
            </a:endParaRPr>
          </a:p>
        </p:txBody>
      </p:sp>
      <p:sp>
        <p:nvSpPr>
          <p:cNvPr id="571" name="Google Shape;617;p8"/>
          <p:cNvSpPr/>
          <p:nvPr/>
        </p:nvSpPr>
        <p:spPr>
          <a:xfrm>
            <a:off x="7934400" y="4962600"/>
            <a:ext cx="513720" cy="360"/>
          </a:xfrm>
          <a:custGeom>
            <a:avLst/>
            <a:gdLst>
              <a:gd name="textAreaLeft" fmla="*/ 0 w 513720"/>
              <a:gd name="textAreaRight" fmla="*/ 514080 w 513720"/>
              <a:gd name="textAreaTop" fmla="*/ 0 h 360"/>
              <a:gd name="textAreaBottom" fmla="*/ 720 h 360"/>
            </a:gdLst>
            <a:ahLst/>
            <a:rect l="textAreaLeft" t="textAreaTop" r="textAreaRight" b="textAreaBottom"/>
            <a:pathLst>
              <a:path w="514350" h="953">
                <a:moveTo>
                  <a:pt x="0" y="0"/>
                </a:moveTo>
                <a:lnTo>
                  <a:pt x="514350" y="0"/>
                </a:lnTo>
              </a:path>
            </a:pathLst>
          </a:custGeom>
          <a:noFill/>
          <a:ln w="2190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72" name="Google Shape;618;p8"/>
          <p:cNvSpPr/>
          <p:nvPr/>
        </p:nvSpPr>
        <p:spPr>
          <a:xfrm>
            <a:off x="8353440" y="49186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573" name="Google Shape;619;p8"/>
          <p:cNvSpPr/>
          <p:nvPr/>
        </p:nvSpPr>
        <p:spPr>
          <a:xfrm>
            <a:off x="8448840" y="4486320"/>
            <a:ext cx="3209040" cy="932760"/>
          </a:xfrm>
          <a:prstGeom prst="rect">
            <a:avLst/>
          </a:prstGeom>
          <a:solidFill>
            <a:srgbClr val="dfedfc"/>
          </a:solidFill>
          <a:ln w="1427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574" name="Google Shape;620;p8"/>
          <p:cNvSpPr/>
          <p:nvPr/>
        </p:nvSpPr>
        <p:spPr>
          <a:xfrm>
            <a:off x="8543880" y="4552920"/>
            <a:ext cx="301860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Conv downsample ×2</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80 × 180 × 180</a:t>
            </a:r>
            <a:endParaRPr b="0" lang="en-US" sz="1800" spc="-1" strike="noStrike">
              <a:solidFill>
                <a:srgbClr val="000000"/>
              </a:solidFill>
              <a:latin typeface="Arial"/>
            </a:endParaRPr>
          </a:p>
        </p:txBody>
      </p:sp>
      <p:sp>
        <p:nvSpPr>
          <p:cNvPr id="575" name="Google Shape;621;p8"/>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576" name="Google Shape;622;p8"/>
          <p:cNvSpPr/>
          <p:nvPr/>
        </p:nvSpPr>
        <p:spPr>
          <a:xfrm>
            <a:off x="533520" y="6181560"/>
            <a:ext cx="105721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All six views pool into one metric map. The final camera grid matches LiDAR at 0.6 m per cell.</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577" name="Google Shape;628;p9"/>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LiDAR points become a sparse BEV tensor</a:t>
            </a:r>
            <a:endParaRPr b="0" lang="en-US" sz="3300" spc="-1" strike="noStrike">
              <a:solidFill>
                <a:srgbClr val="000000"/>
              </a:solidFill>
              <a:latin typeface="Arial"/>
            </a:endParaRPr>
          </a:p>
        </p:txBody>
      </p:sp>
      <p:sp>
        <p:nvSpPr>
          <p:cNvPr id="578" name="Google Shape;629;p9"/>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09</a:t>
            </a:r>
            <a:endParaRPr b="0" lang="en-US" sz="1200" spc="-1" strike="noStrike">
              <a:solidFill>
                <a:srgbClr val="000000"/>
              </a:solidFill>
              <a:latin typeface="Arial"/>
            </a:endParaRPr>
          </a:p>
        </p:txBody>
      </p:sp>
      <p:sp>
        <p:nvSpPr>
          <p:cNvPr id="579" name="Google Shape;630;p9"/>
          <p:cNvSpPr/>
          <p:nvPr/>
        </p:nvSpPr>
        <p:spPr>
          <a:xfrm>
            <a:off x="533520" y="1380960"/>
            <a:ext cx="257112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Points</a:t>
            </a:r>
            <a:endParaRPr b="0" lang="en-US" sz="2170" spc="-1" strike="noStrike">
              <a:solidFill>
                <a:srgbClr val="000000"/>
              </a:solidFill>
              <a:latin typeface="Arial"/>
            </a:endParaRPr>
          </a:p>
        </p:txBody>
      </p:sp>
      <p:sp>
        <p:nvSpPr>
          <p:cNvPr id="580" name="Google Shape;631;p9"/>
          <p:cNvSpPr/>
          <p:nvPr/>
        </p:nvSpPr>
        <p:spPr>
          <a:xfrm>
            <a:off x="638280" y="21906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1" name="Google Shape;632;p9"/>
          <p:cNvSpPr/>
          <p:nvPr/>
        </p:nvSpPr>
        <p:spPr>
          <a:xfrm>
            <a:off x="1378440" y="30380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2" name="Google Shape;633;p9"/>
          <p:cNvSpPr/>
          <p:nvPr/>
        </p:nvSpPr>
        <p:spPr>
          <a:xfrm>
            <a:off x="2118240" y="25380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3" name="Google Shape;634;p9"/>
          <p:cNvSpPr/>
          <p:nvPr/>
        </p:nvSpPr>
        <p:spPr>
          <a:xfrm>
            <a:off x="838080" y="33854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4" name="Google Shape;635;p9"/>
          <p:cNvSpPr/>
          <p:nvPr/>
        </p:nvSpPr>
        <p:spPr>
          <a:xfrm>
            <a:off x="1578240" y="28854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5" name="Google Shape;636;p9"/>
          <p:cNvSpPr/>
          <p:nvPr/>
        </p:nvSpPr>
        <p:spPr>
          <a:xfrm>
            <a:off x="2318400" y="23853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6" name="Google Shape;637;p9"/>
          <p:cNvSpPr/>
          <p:nvPr/>
        </p:nvSpPr>
        <p:spPr>
          <a:xfrm>
            <a:off x="1038240" y="32324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7" name="Google Shape;638;p9"/>
          <p:cNvSpPr/>
          <p:nvPr/>
        </p:nvSpPr>
        <p:spPr>
          <a:xfrm>
            <a:off x="1778400" y="27324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8" name="Google Shape;639;p9"/>
          <p:cNvSpPr/>
          <p:nvPr/>
        </p:nvSpPr>
        <p:spPr>
          <a:xfrm>
            <a:off x="2518560" y="22323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89" name="Google Shape;640;p9"/>
          <p:cNvSpPr/>
          <p:nvPr/>
        </p:nvSpPr>
        <p:spPr>
          <a:xfrm>
            <a:off x="1238400" y="30798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0" name="Google Shape;641;p9"/>
          <p:cNvSpPr/>
          <p:nvPr/>
        </p:nvSpPr>
        <p:spPr>
          <a:xfrm>
            <a:off x="1978200" y="25797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1" name="Google Shape;642;p9"/>
          <p:cNvSpPr/>
          <p:nvPr/>
        </p:nvSpPr>
        <p:spPr>
          <a:xfrm>
            <a:off x="698040" y="34268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2" name="Google Shape;643;p9"/>
          <p:cNvSpPr/>
          <p:nvPr/>
        </p:nvSpPr>
        <p:spPr>
          <a:xfrm>
            <a:off x="1438200" y="29268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3" name="Google Shape;644;p9"/>
          <p:cNvSpPr/>
          <p:nvPr/>
        </p:nvSpPr>
        <p:spPr>
          <a:xfrm>
            <a:off x="2178360" y="24267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4" name="Google Shape;645;p9"/>
          <p:cNvSpPr/>
          <p:nvPr/>
        </p:nvSpPr>
        <p:spPr>
          <a:xfrm>
            <a:off x="898200" y="32742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5" name="Google Shape;646;p9"/>
          <p:cNvSpPr/>
          <p:nvPr/>
        </p:nvSpPr>
        <p:spPr>
          <a:xfrm>
            <a:off x="1638360" y="27741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6" name="Google Shape;647;p9"/>
          <p:cNvSpPr/>
          <p:nvPr/>
        </p:nvSpPr>
        <p:spPr>
          <a:xfrm>
            <a:off x="2378520" y="22741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7" name="Google Shape;648;p9"/>
          <p:cNvSpPr/>
          <p:nvPr/>
        </p:nvSpPr>
        <p:spPr>
          <a:xfrm>
            <a:off x="1098360" y="31215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8" name="Google Shape;649;p9"/>
          <p:cNvSpPr/>
          <p:nvPr/>
        </p:nvSpPr>
        <p:spPr>
          <a:xfrm>
            <a:off x="1838160" y="26215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599" name="Google Shape;650;p9"/>
          <p:cNvSpPr/>
          <p:nvPr/>
        </p:nvSpPr>
        <p:spPr>
          <a:xfrm>
            <a:off x="2578320" y="34686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0" name="Google Shape;651;p9"/>
          <p:cNvSpPr/>
          <p:nvPr/>
        </p:nvSpPr>
        <p:spPr>
          <a:xfrm>
            <a:off x="1298160" y="29685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1" name="Google Shape;652;p9"/>
          <p:cNvSpPr/>
          <p:nvPr/>
        </p:nvSpPr>
        <p:spPr>
          <a:xfrm>
            <a:off x="2038320" y="24685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2" name="Google Shape;653;p9"/>
          <p:cNvSpPr/>
          <p:nvPr/>
        </p:nvSpPr>
        <p:spPr>
          <a:xfrm>
            <a:off x="758160" y="33159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3" name="Google Shape;654;p9"/>
          <p:cNvSpPr/>
          <p:nvPr/>
        </p:nvSpPr>
        <p:spPr>
          <a:xfrm>
            <a:off x="1498320" y="28159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4" name="Google Shape;655;p9"/>
          <p:cNvSpPr/>
          <p:nvPr/>
        </p:nvSpPr>
        <p:spPr>
          <a:xfrm>
            <a:off x="2238480" y="23158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5" name="Google Shape;656;p9"/>
          <p:cNvSpPr/>
          <p:nvPr/>
        </p:nvSpPr>
        <p:spPr>
          <a:xfrm>
            <a:off x="958320" y="31629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6" name="Google Shape;657;p9"/>
          <p:cNvSpPr/>
          <p:nvPr/>
        </p:nvSpPr>
        <p:spPr>
          <a:xfrm>
            <a:off x="1698480" y="26629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7" name="Google Shape;658;p9"/>
          <p:cNvSpPr/>
          <p:nvPr/>
        </p:nvSpPr>
        <p:spPr>
          <a:xfrm>
            <a:off x="2438280" y="35103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8" name="Google Shape;659;p9"/>
          <p:cNvSpPr/>
          <p:nvPr/>
        </p:nvSpPr>
        <p:spPr>
          <a:xfrm>
            <a:off x="1158120" y="30103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09" name="Google Shape;660;p9"/>
          <p:cNvSpPr/>
          <p:nvPr/>
        </p:nvSpPr>
        <p:spPr>
          <a:xfrm>
            <a:off x="1898280" y="25102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0" name="Google Shape;661;p9"/>
          <p:cNvSpPr/>
          <p:nvPr/>
        </p:nvSpPr>
        <p:spPr>
          <a:xfrm>
            <a:off x="2638440" y="33577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1" name="Google Shape;662;p9"/>
          <p:cNvSpPr/>
          <p:nvPr/>
        </p:nvSpPr>
        <p:spPr>
          <a:xfrm>
            <a:off x="1358280" y="28576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2" name="Google Shape;663;p9"/>
          <p:cNvSpPr/>
          <p:nvPr/>
        </p:nvSpPr>
        <p:spPr>
          <a:xfrm>
            <a:off x="2098440" y="23572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3" name="Google Shape;664;p9"/>
          <p:cNvSpPr/>
          <p:nvPr/>
        </p:nvSpPr>
        <p:spPr>
          <a:xfrm>
            <a:off x="818280" y="32047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4" name="Google Shape;665;p9"/>
          <p:cNvSpPr/>
          <p:nvPr/>
        </p:nvSpPr>
        <p:spPr>
          <a:xfrm>
            <a:off x="1558440" y="27046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5" name="Google Shape;666;p9"/>
          <p:cNvSpPr/>
          <p:nvPr/>
        </p:nvSpPr>
        <p:spPr>
          <a:xfrm>
            <a:off x="2298240" y="22046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6" name="Google Shape;667;p9"/>
          <p:cNvSpPr/>
          <p:nvPr/>
        </p:nvSpPr>
        <p:spPr>
          <a:xfrm>
            <a:off x="1018080" y="30520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7" name="Google Shape;668;p9"/>
          <p:cNvSpPr/>
          <p:nvPr/>
        </p:nvSpPr>
        <p:spPr>
          <a:xfrm>
            <a:off x="1758240" y="25520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8" name="Google Shape;669;p9"/>
          <p:cNvSpPr/>
          <p:nvPr/>
        </p:nvSpPr>
        <p:spPr>
          <a:xfrm>
            <a:off x="2498400" y="33991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19" name="Google Shape;670;p9"/>
          <p:cNvSpPr/>
          <p:nvPr/>
        </p:nvSpPr>
        <p:spPr>
          <a:xfrm>
            <a:off x="1218240" y="28990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0" name="Google Shape;671;p9"/>
          <p:cNvSpPr/>
          <p:nvPr/>
        </p:nvSpPr>
        <p:spPr>
          <a:xfrm>
            <a:off x="1958400" y="23990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1" name="Google Shape;672;p9"/>
          <p:cNvSpPr/>
          <p:nvPr/>
        </p:nvSpPr>
        <p:spPr>
          <a:xfrm>
            <a:off x="678240" y="32464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2" name="Google Shape;673;p9"/>
          <p:cNvSpPr/>
          <p:nvPr/>
        </p:nvSpPr>
        <p:spPr>
          <a:xfrm>
            <a:off x="1418400" y="27464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3" name="Google Shape;674;p9"/>
          <p:cNvSpPr/>
          <p:nvPr/>
        </p:nvSpPr>
        <p:spPr>
          <a:xfrm>
            <a:off x="2158200" y="22464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4" name="Google Shape;675;p9"/>
          <p:cNvSpPr/>
          <p:nvPr/>
        </p:nvSpPr>
        <p:spPr>
          <a:xfrm>
            <a:off x="878040" y="30934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5" name="Google Shape;676;p9"/>
          <p:cNvSpPr/>
          <p:nvPr/>
        </p:nvSpPr>
        <p:spPr>
          <a:xfrm>
            <a:off x="1618200" y="25934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6" name="Google Shape;677;p9"/>
          <p:cNvSpPr/>
          <p:nvPr/>
        </p:nvSpPr>
        <p:spPr>
          <a:xfrm>
            <a:off x="2358360" y="34408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7" name="Google Shape;678;p9"/>
          <p:cNvSpPr/>
          <p:nvPr/>
        </p:nvSpPr>
        <p:spPr>
          <a:xfrm>
            <a:off x="1078200" y="29408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8" name="Google Shape;679;p9"/>
          <p:cNvSpPr/>
          <p:nvPr/>
        </p:nvSpPr>
        <p:spPr>
          <a:xfrm>
            <a:off x="1818360" y="24408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29" name="Google Shape;680;p9"/>
          <p:cNvSpPr/>
          <p:nvPr/>
        </p:nvSpPr>
        <p:spPr>
          <a:xfrm>
            <a:off x="2558520" y="32882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0" name="Google Shape;681;p9"/>
          <p:cNvSpPr/>
          <p:nvPr/>
        </p:nvSpPr>
        <p:spPr>
          <a:xfrm>
            <a:off x="1278360" y="27882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1" name="Google Shape;682;p9"/>
          <p:cNvSpPr/>
          <p:nvPr/>
        </p:nvSpPr>
        <p:spPr>
          <a:xfrm>
            <a:off x="2018520" y="22881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2" name="Google Shape;683;p9"/>
          <p:cNvSpPr/>
          <p:nvPr/>
        </p:nvSpPr>
        <p:spPr>
          <a:xfrm>
            <a:off x="738360" y="31352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3" name="Google Shape;684;p9"/>
          <p:cNvSpPr/>
          <p:nvPr/>
        </p:nvSpPr>
        <p:spPr>
          <a:xfrm>
            <a:off x="1478160" y="26352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4" name="Google Shape;685;p9"/>
          <p:cNvSpPr/>
          <p:nvPr/>
        </p:nvSpPr>
        <p:spPr>
          <a:xfrm>
            <a:off x="2218320" y="34826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5" name="Google Shape;686;p9"/>
          <p:cNvSpPr/>
          <p:nvPr/>
        </p:nvSpPr>
        <p:spPr>
          <a:xfrm>
            <a:off x="938160" y="29826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6" name="Google Shape;687;p9"/>
          <p:cNvSpPr/>
          <p:nvPr/>
        </p:nvSpPr>
        <p:spPr>
          <a:xfrm>
            <a:off x="1678320" y="24825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7" name="Google Shape;688;p9"/>
          <p:cNvSpPr/>
          <p:nvPr/>
        </p:nvSpPr>
        <p:spPr>
          <a:xfrm>
            <a:off x="2418480" y="33296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8" name="Google Shape;689;p9"/>
          <p:cNvSpPr/>
          <p:nvPr/>
        </p:nvSpPr>
        <p:spPr>
          <a:xfrm>
            <a:off x="1138320" y="28296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39" name="Google Shape;690;p9"/>
          <p:cNvSpPr/>
          <p:nvPr/>
        </p:nvSpPr>
        <p:spPr>
          <a:xfrm>
            <a:off x="1878480" y="23295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0" name="Google Shape;691;p9"/>
          <p:cNvSpPr/>
          <p:nvPr/>
        </p:nvSpPr>
        <p:spPr>
          <a:xfrm>
            <a:off x="2618280" y="31770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1" name="Google Shape;692;p9"/>
          <p:cNvSpPr/>
          <p:nvPr/>
        </p:nvSpPr>
        <p:spPr>
          <a:xfrm>
            <a:off x="1338120" y="26769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2" name="Google Shape;693;p9"/>
          <p:cNvSpPr/>
          <p:nvPr/>
        </p:nvSpPr>
        <p:spPr>
          <a:xfrm>
            <a:off x="2078280" y="35244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3" name="Google Shape;694;p9"/>
          <p:cNvSpPr/>
          <p:nvPr/>
        </p:nvSpPr>
        <p:spPr>
          <a:xfrm>
            <a:off x="798120" y="30243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4" name="Google Shape;695;p9"/>
          <p:cNvSpPr/>
          <p:nvPr/>
        </p:nvSpPr>
        <p:spPr>
          <a:xfrm>
            <a:off x="1538280" y="25239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5" name="Google Shape;696;p9"/>
          <p:cNvSpPr/>
          <p:nvPr/>
        </p:nvSpPr>
        <p:spPr>
          <a:xfrm>
            <a:off x="2278440" y="337140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6" name="Google Shape;697;p9"/>
          <p:cNvSpPr/>
          <p:nvPr/>
        </p:nvSpPr>
        <p:spPr>
          <a:xfrm>
            <a:off x="998280" y="28713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7" name="Google Shape;698;p9"/>
          <p:cNvSpPr/>
          <p:nvPr/>
        </p:nvSpPr>
        <p:spPr>
          <a:xfrm>
            <a:off x="1738440" y="23713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8" name="Google Shape;699;p9"/>
          <p:cNvSpPr/>
          <p:nvPr/>
        </p:nvSpPr>
        <p:spPr>
          <a:xfrm>
            <a:off x="2478240" y="32187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49" name="Google Shape;700;p9"/>
          <p:cNvSpPr/>
          <p:nvPr/>
        </p:nvSpPr>
        <p:spPr>
          <a:xfrm>
            <a:off x="1198080" y="27187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0" name="Google Shape;701;p9"/>
          <p:cNvSpPr/>
          <p:nvPr/>
        </p:nvSpPr>
        <p:spPr>
          <a:xfrm>
            <a:off x="1938240" y="22186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1" name="Google Shape;702;p9"/>
          <p:cNvSpPr/>
          <p:nvPr/>
        </p:nvSpPr>
        <p:spPr>
          <a:xfrm>
            <a:off x="658080" y="30657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2" name="Google Shape;703;p9"/>
          <p:cNvSpPr/>
          <p:nvPr/>
        </p:nvSpPr>
        <p:spPr>
          <a:xfrm>
            <a:off x="1398240" y="25657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3" name="Google Shape;704;p9"/>
          <p:cNvSpPr/>
          <p:nvPr/>
        </p:nvSpPr>
        <p:spPr>
          <a:xfrm>
            <a:off x="2138400" y="34131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4" name="Google Shape;705;p9"/>
          <p:cNvSpPr/>
          <p:nvPr/>
        </p:nvSpPr>
        <p:spPr>
          <a:xfrm>
            <a:off x="858240" y="29131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5" name="Google Shape;706;p9"/>
          <p:cNvSpPr/>
          <p:nvPr/>
        </p:nvSpPr>
        <p:spPr>
          <a:xfrm>
            <a:off x="1598400" y="24130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6" name="Google Shape;707;p9"/>
          <p:cNvSpPr/>
          <p:nvPr/>
        </p:nvSpPr>
        <p:spPr>
          <a:xfrm>
            <a:off x="2338560" y="326016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7" name="Google Shape;708;p9"/>
          <p:cNvSpPr/>
          <p:nvPr/>
        </p:nvSpPr>
        <p:spPr>
          <a:xfrm>
            <a:off x="1058400" y="27601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8" name="Google Shape;709;p9"/>
          <p:cNvSpPr/>
          <p:nvPr/>
        </p:nvSpPr>
        <p:spPr>
          <a:xfrm>
            <a:off x="1798200" y="22600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59" name="Google Shape;710;p9"/>
          <p:cNvSpPr/>
          <p:nvPr/>
        </p:nvSpPr>
        <p:spPr>
          <a:xfrm>
            <a:off x="2538360" y="31075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0" name="Google Shape;711;p9"/>
          <p:cNvSpPr/>
          <p:nvPr/>
        </p:nvSpPr>
        <p:spPr>
          <a:xfrm>
            <a:off x="1258200" y="26074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1" name="Google Shape;712;p9"/>
          <p:cNvSpPr/>
          <p:nvPr/>
        </p:nvSpPr>
        <p:spPr>
          <a:xfrm>
            <a:off x="1998360" y="345492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2" name="Google Shape;713;p9"/>
          <p:cNvSpPr/>
          <p:nvPr/>
        </p:nvSpPr>
        <p:spPr>
          <a:xfrm>
            <a:off x="718200" y="295488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3" name="Google Shape;714;p9"/>
          <p:cNvSpPr/>
          <p:nvPr/>
        </p:nvSpPr>
        <p:spPr>
          <a:xfrm>
            <a:off x="1458360" y="2454840"/>
            <a:ext cx="45000" cy="45000"/>
          </a:xfrm>
          <a:prstGeom prst="ellipse">
            <a:avLst/>
          </a:prstGeom>
          <a:solidFill>
            <a:srgbClr val="c86a1b"/>
          </a:solidFill>
          <a:ln w="0">
            <a:noFill/>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ffffff"/>
              </a:solidFill>
              <a:latin typeface="Arial"/>
            </a:endParaRPr>
          </a:p>
        </p:txBody>
      </p:sp>
      <p:sp>
        <p:nvSpPr>
          <p:cNvPr id="664" name="Google Shape;715;p9"/>
          <p:cNvSpPr/>
          <p:nvPr/>
        </p:nvSpPr>
        <p:spPr>
          <a:xfrm>
            <a:off x="419040" y="3762360"/>
            <a:ext cx="277092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c86a1b"/>
                </a:solidFill>
                <a:latin typeface="Verdana"/>
                <a:ea typeface="Verdana"/>
              </a:rPr>
              <a:t>x, y, z, intensity, time</a:t>
            </a:r>
            <a:endParaRPr b="0" lang="en-US" sz="1650" spc="-1" strike="noStrike">
              <a:solidFill>
                <a:srgbClr val="000000"/>
              </a:solidFill>
              <a:latin typeface="Arial"/>
            </a:endParaRPr>
          </a:p>
        </p:txBody>
      </p:sp>
      <p:sp>
        <p:nvSpPr>
          <p:cNvPr id="665" name="Google Shape;716;p9"/>
          <p:cNvSpPr/>
          <p:nvPr/>
        </p:nvSpPr>
        <p:spPr>
          <a:xfrm>
            <a:off x="419040" y="4114800"/>
            <a:ext cx="277092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58677c"/>
                </a:solidFill>
                <a:latin typeface="Verdana"/>
                <a:ea typeface="Verdana"/>
              </a:rPr>
              <a:t>Current + 9 prior sweeps</a:t>
            </a:r>
            <a:endParaRPr b="0" lang="en-US" sz="1500" spc="-1" strike="noStrike">
              <a:solidFill>
                <a:srgbClr val="000000"/>
              </a:solidFill>
              <a:latin typeface="Arial"/>
            </a:endParaRPr>
          </a:p>
        </p:txBody>
      </p:sp>
      <p:sp>
        <p:nvSpPr>
          <p:cNvPr id="666" name="Google Shape;717;p9"/>
          <p:cNvSpPr/>
          <p:nvPr/>
        </p:nvSpPr>
        <p:spPr>
          <a:xfrm>
            <a:off x="3629160" y="1380960"/>
            <a:ext cx="31424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Hard voxels</a:t>
            </a:r>
            <a:endParaRPr b="0" lang="en-US" sz="2170" spc="-1" strike="noStrike">
              <a:solidFill>
                <a:srgbClr val="000000"/>
              </a:solidFill>
              <a:latin typeface="Arial"/>
            </a:endParaRPr>
          </a:p>
        </p:txBody>
      </p:sp>
      <p:sp>
        <p:nvSpPr>
          <p:cNvPr id="667" name="Google Shape;718;p9"/>
          <p:cNvSpPr/>
          <p:nvPr/>
        </p:nvSpPr>
        <p:spPr>
          <a:xfrm>
            <a:off x="3943440" y="2857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68" name="Google Shape;719;p9"/>
          <p:cNvSpPr/>
          <p:nvPr/>
        </p:nvSpPr>
        <p:spPr>
          <a:xfrm>
            <a:off x="4105440" y="2695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69" name="Google Shape;720;p9"/>
          <p:cNvSpPr/>
          <p:nvPr/>
        </p:nvSpPr>
        <p:spPr>
          <a:xfrm>
            <a:off x="394344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0" name="Google Shape;721;p9"/>
          <p:cNvSpPr/>
          <p:nvPr/>
        </p:nvSpPr>
        <p:spPr>
          <a:xfrm>
            <a:off x="436248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1" name="Google Shape;722;p9"/>
          <p:cNvSpPr/>
          <p:nvPr/>
        </p:nvSpPr>
        <p:spPr>
          <a:xfrm>
            <a:off x="436248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2" name="Google Shape;723;p9"/>
          <p:cNvSpPr/>
          <p:nvPr/>
        </p:nvSpPr>
        <p:spPr>
          <a:xfrm>
            <a:off x="394344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3" name="Google Shape;724;p9"/>
          <p:cNvSpPr/>
          <p:nvPr/>
        </p:nvSpPr>
        <p:spPr>
          <a:xfrm>
            <a:off x="4105440" y="2657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4" name="Google Shape;725;p9"/>
          <p:cNvSpPr/>
          <p:nvPr/>
        </p:nvSpPr>
        <p:spPr>
          <a:xfrm>
            <a:off x="4267080" y="2495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5" name="Google Shape;726;p9"/>
          <p:cNvSpPr/>
          <p:nvPr/>
        </p:nvSpPr>
        <p:spPr>
          <a:xfrm>
            <a:off x="410544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6" name="Google Shape;727;p9"/>
          <p:cNvSpPr/>
          <p:nvPr/>
        </p:nvSpPr>
        <p:spPr>
          <a:xfrm>
            <a:off x="452448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7" name="Google Shape;728;p9"/>
          <p:cNvSpPr/>
          <p:nvPr/>
        </p:nvSpPr>
        <p:spPr>
          <a:xfrm>
            <a:off x="452448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8" name="Google Shape;729;p9"/>
          <p:cNvSpPr/>
          <p:nvPr/>
        </p:nvSpPr>
        <p:spPr>
          <a:xfrm>
            <a:off x="410544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79" name="Google Shape;730;p9"/>
          <p:cNvSpPr/>
          <p:nvPr/>
        </p:nvSpPr>
        <p:spPr>
          <a:xfrm>
            <a:off x="4267080" y="2457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0" name="Google Shape;731;p9"/>
          <p:cNvSpPr/>
          <p:nvPr/>
        </p:nvSpPr>
        <p:spPr>
          <a:xfrm>
            <a:off x="4429080" y="2295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1" name="Google Shape;732;p9"/>
          <p:cNvSpPr/>
          <p:nvPr/>
        </p:nvSpPr>
        <p:spPr>
          <a:xfrm>
            <a:off x="426708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2" name="Google Shape;733;p9"/>
          <p:cNvSpPr/>
          <p:nvPr/>
        </p:nvSpPr>
        <p:spPr>
          <a:xfrm>
            <a:off x="468648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3" name="Google Shape;734;p9"/>
          <p:cNvSpPr/>
          <p:nvPr/>
        </p:nvSpPr>
        <p:spPr>
          <a:xfrm>
            <a:off x="468648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4" name="Google Shape;735;p9"/>
          <p:cNvSpPr/>
          <p:nvPr/>
        </p:nvSpPr>
        <p:spPr>
          <a:xfrm>
            <a:off x="426708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5" name="Google Shape;736;p9"/>
          <p:cNvSpPr/>
          <p:nvPr/>
        </p:nvSpPr>
        <p:spPr>
          <a:xfrm>
            <a:off x="4371840" y="2857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6" name="Google Shape;737;p9"/>
          <p:cNvSpPr/>
          <p:nvPr/>
        </p:nvSpPr>
        <p:spPr>
          <a:xfrm>
            <a:off x="4533840" y="2695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7" name="Google Shape;738;p9"/>
          <p:cNvSpPr/>
          <p:nvPr/>
        </p:nvSpPr>
        <p:spPr>
          <a:xfrm>
            <a:off x="437184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8" name="Google Shape;739;p9"/>
          <p:cNvSpPr/>
          <p:nvPr/>
        </p:nvSpPr>
        <p:spPr>
          <a:xfrm>
            <a:off x="479124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89" name="Google Shape;740;p9"/>
          <p:cNvSpPr/>
          <p:nvPr/>
        </p:nvSpPr>
        <p:spPr>
          <a:xfrm>
            <a:off x="479124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0" name="Google Shape;741;p9"/>
          <p:cNvSpPr/>
          <p:nvPr/>
        </p:nvSpPr>
        <p:spPr>
          <a:xfrm>
            <a:off x="437184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1" name="Google Shape;742;p9"/>
          <p:cNvSpPr/>
          <p:nvPr/>
        </p:nvSpPr>
        <p:spPr>
          <a:xfrm>
            <a:off x="4533840" y="2657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2" name="Google Shape;743;p9"/>
          <p:cNvSpPr/>
          <p:nvPr/>
        </p:nvSpPr>
        <p:spPr>
          <a:xfrm>
            <a:off x="4695840" y="2495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3" name="Google Shape;744;p9"/>
          <p:cNvSpPr/>
          <p:nvPr/>
        </p:nvSpPr>
        <p:spPr>
          <a:xfrm>
            <a:off x="453384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4" name="Google Shape;745;p9"/>
          <p:cNvSpPr/>
          <p:nvPr/>
        </p:nvSpPr>
        <p:spPr>
          <a:xfrm>
            <a:off x="495288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5" name="Google Shape;746;p9"/>
          <p:cNvSpPr/>
          <p:nvPr/>
        </p:nvSpPr>
        <p:spPr>
          <a:xfrm>
            <a:off x="495288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6" name="Google Shape;747;p9"/>
          <p:cNvSpPr/>
          <p:nvPr/>
        </p:nvSpPr>
        <p:spPr>
          <a:xfrm>
            <a:off x="453384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7" name="Google Shape;748;p9"/>
          <p:cNvSpPr/>
          <p:nvPr/>
        </p:nvSpPr>
        <p:spPr>
          <a:xfrm>
            <a:off x="4695840" y="2457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8" name="Google Shape;749;p9"/>
          <p:cNvSpPr/>
          <p:nvPr/>
        </p:nvSpPr>
        <p:spPr>
          <a:xfrm>
            <a:off x="4857840" y="2295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699" name="Google Shape;750;p9"/>
          <p:cNvSpPr/>
          <p:nvPr/>
        </p:nvSpPr>
        <p:spPr>
          <a:xfrm>
            <a:off x="469584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0" name="Google Shape;751;p9"/>
          <p:cNvSpPr/>
          <p:nvPr/>
        </p:nvSpPr>
        <p:spPr>
          <a:xfrm>
            <a:off x="511488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1" name="Google Shape;752;p9"/>
          <p:cNvSpPr/>
          <p:nvPr/>
        </p:nvSpPr>
        <p:spPr>
          <a:xfrm>
            <a:off x="511488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2" name="Google Shape;753;p9"/>
          <p:cNvSpPr/>
          <p:nvPr/>
        </p:nvSpPr>
        <p:spPr>
          <a:xfrm>
            <a:off x="469584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3" name="Google Shape;754;p9"/>
          <p:cNvSpPr/>
          <p:nvPr/>
        </p:nvSpPr>
        <p:spPr>
          <a:xfrm>
            <a:off x="4800600" y="2857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4" name="Google Shape;755;p9"/>
          <p:cNvSpPr/>
          <p:nvPr/>
        </p:nvSpPr>
        <p:spPr>
          <a:xfrm>
            <a:off x="4962600" y="269568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5" name="Google Shape;756;p9"/>
          <p:cNvSpPr/>
          <p:nvPr/>
        </p:nvSpPr>
        <p:spPr>
          <a:xfrm>
            <a:off x="480060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6" name="Google Shape;757;p9"/>
          <p:cNvSpPr/>
          <p:nvPr/>
        </p:nvSpPr>
        <p:spPr>
          <a:xfrm>
            <a:off x="5219640" y="269568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7" name="Google Shape;758;p9"/>
          <p:cNvSpPr/>
          <p:nvPr/>
        </p:nvSpPr>
        <p:spPr>
          <a:xfrm>
            <a:off x="521964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8" name="Google Shape;759;p9"/>
          <p:cNvSpPr/>
          <p:nvPr/>
        </p:nvSpPr>
        <p:spPr>
          <a:xfrm>
            <a:off x="4800600" y="31050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09" name="Google Shape;760;p9"/>
          <p:cNvSpPr/>
          <p:nvPr/>
        </p:nvSpPr>
        <p:spPr>
          <a:xfrm>
            <a:off x="4962600" y="2657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0" name="Google Shape;761;p9"/>
          <p:cNvSpPr/>
          <p:nvPr/>
        </p:nvSpPr>
        <p:spPr>
          <a:xfrm>
            <a:off x="5124600" y="249552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1" name="Google Shape;762;p9"/>
          <p:cNvSpPr/>
          <p:nvPr/>
        </p:nvSpPr>
        <p:spPr>
          <a:xfrm>
            <a:off x="496260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2" name="Google Shape;763;p9"/>
          <p:cNvSpPr/>
          <p:nvPr/>
        </p:nvSpPr>
        <p:spPr>
          <a:xfrm>
            <a:off x="5381640" y="249552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3" name="Google Shape;764;p9"/>
          <p:cNvSpPr/>
          <p:nvPr/>
        </p:nvSpPr>
        <p:spPr>
          <a:xfrm>
            <a:off x="538164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4" name="Google Shape;765;p9"/>
          <p:cNvSpPr/>
          <p:nvPr/>
        </p:nvSpPr>
        <p:spPr>
          <a:xfrm>
            <a:off x="4962600" y="290520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5" name="Google Shape;766;p9"/>
          <p:cNvSpPr/>
          <p:nvPr/>
        </p:nvSpPr>
        <p:spPr>
          <a:xfrm>
            <a:off x="5124600" y="2457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6" name="Google Shape;767;p9"/>
          <p:cNvSpPr/>
          <p:nvPr/>
        </p:nvSpPr>
        <p:spPr>
          <a:xfrm>
            <a:off x="5286240" y="2295360"/>
            <a:ext cx="418320" cy="408960"/>
          </a:xfrm>
          <a:custGeom>
            <a:avLst/>
            <a:gdLst>
              <a:gd name="textAreaLeft" fmla="*/ 0 w 418320"/>
              <a:gd name="textAreaRight" fmla="*/ 418680 w 418320"/>
              <a:gd name="textAreaTop" fmla="*/ 0 h 408960"/>
              <a:gd name="textAreaBottom" fmla="*/ 409320 h 408960"/>
            </a:gdLst>
            <a:ahLst/>
            <a:rect l="textAreaLeft" t="textAreaTop" r="textAreaRight" b="textAreaBottom"/>
            <a:pathLst>
              <a:path w="419100" h="409575">
                <a:moveTo>
                  <a:pt x="0" y="0"/>
                </a:moveTo>
                <a:lnTo>
                  <a:pt x="419100" y="0"/>
                </a:lnTo>
                <a:lnTo>
                  <a:pt x="419100" y="409575"/>
                </a:lnTo>
                <a:lnTo>
                  <a:pt x="0" y="409575"/>
                </a:lnTo>
                <a:close/>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7" name="Google Shape;768;p9"/>
          <p:cNvSpPr/>
          <p:nvPr/>
        </p:nvSpPr>
        <p:spPr>
          <a:xfrm>
            <a:off x="512460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8" name="Google Shape;769;p9"/>
          <p:cNvSpPr/>
          <p:nvPr/>
        </p:nvSpPr>
        <p:spPr>
          <a:xfrm>
            <a:off x="5543640" y="229536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19" name="Google Shape;770;p9"/>
          <p:cNvSpPr/>
          <p:nvPr/>
        </p:nvSpPr>
        <p:spPr>
          <a:xfrm>
            <a:off x="554364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0" name="Google Shape;771;p9"/>
          <p:cNvSpPr/>
          <p:nvPr/>
        </p:nvSpPr>
        <p:spPr>
          <a:xfrm>
            <a:off x="5124600" y="2705040"/>
            <a:ext cx="161280" cy="161280"/>
          </a:xfrm>
          <a:custGeom>
            <a:avLst/>
            <a:gdLst>
              <a:gd name="textAreaLeft" fmla="*/ 0 w 161280"/>
              <a:gd name="textAreaRight" fmla="*/ 161640 w 161280"/>
              <a:gd name="textAreaTop" fmla="*/ 0 h 161280"/>
              <a:gd name="textAreaBottom" fmla="*/ 161640 h 161280"/>
            </a:gdLst>
            <a:ahLst/>
            <a:rect l="textAreaLeft" t="textAreaTop" r="textAreaRight" b="textAreaBottom"/>
            <a:pathLst>
              <a:path w="161925" h="161925">
                <a:moveTo>
                  <a:pt x="0" y="161925"/>
                </a:moveTo>
                <a:lnTo>
                  <a:pt x="161925" y="0"/>
                </a:lnTo>
              </a:path>
            </a:pathLst>
          </a:custGeom>
          <a:noFill/>
          <a:ln w="23800">
            <a:solidFill>
              <a:srgbClr val="d49b6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1" name="Google Shape;772;p9"/>
          <p:cNvSpPr/>
          <p:nvPr/>
        </p:nvSpPr>
        <p:spPr>
          <a:xfrm>
            <a:off x="4352760" y="2676600"/>
            <a:ext cx="408960" cy="408960"/>
          </a:xfrm>
          <a:prstGeom prst="rect">
            <a:avLst/>
          </a:prstGeom>
          <a:solidFill>
            <a:srgbClr val="fbe8d8"/>
          </a:solidFill>
          <a:ln w="190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22" name="Google Shape;773;p9"/>
          <p:cNvSpPr/>
          <p:nvPr/>
        </p:nvSpPr>
        <p:spPr>
          <a:xfrm>
            <a:off x="3457440" y="3762360"/>
            <a:ext cx="3618720" cy="6375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16253b"/>
                </a:solidFill>
                <a:latin typeface="Verdana"/>
                <a:ea typeface="Verdana"/>
              </a:rPr>
              <a:t>0.075 × 0.075 × 0.2 m</a:t>
            </a:r>
            <a:endParaRPr b="0" lang="en-US" sz="1729" spc="-1" strike="noStrike">
              <a:solidFill>
                <a:srgbClr val="000000"/>
              </a:solidFill>
              <a:latin typeface="Arial"/>
            </a:endParaRPr>
          </a:p>
          <a:p>
            <a:pPr algn="ctr">
              <a:lnSpc>
                <a:spcPct val="100000"/>
              </a:lnSpc>
              <a:tabLst>
                <a:tab algn="l" pos="0"/>
              </a:tabLst>
            </a:pPr>
            <a:r>
              <a:rPr b="0" lang="en-US" sz="1729" spc="-1" strike="noStrike">
                <a:solidFill>
                  <a:srgbClr val="16253b"/>
                </a:solidFill>
                <a:latin typeface="Verdana"/>
                <a:ea typeface="Verdana"/>
              </a:rPr>
              <a:t>Up to 10 points per voxel</a:t>
            </a:r>
            <a:endParaRPr b="0" lang="en-US" sz="1729" spc="-1" strike="noStrike">
              <a:solidFill>
                <a:srgbClr val="000000"/>
              </a:solidFill>
              <a:latin typeface="Arial"/>
            </a:endParaRPr>
          </a:p>
        </p:txBody>
      </p:sp>
      <p:sp>
        <p:nvSpPr>
          <p:cNvPr id="723" name="Google Shape;774;p9"/>
          <p:cNvSpPr/>
          <p:nvPr/>
        </p:nvSpPr>
        <p:spPr>
          <a:xfrm>
            <a:off x="2809800" y="2857680"/>
            <a:ext cx="723240" cy="360"/>
          </a:xfrm>
          <a:custGeom>
            <a:avLst/>
            <a:gdLst>
              <a:gd name="textAreaLeft" fmla="*/ 0 w 723240"/>
              <a:gd name="textAreaRight" fmla="*/ 723600 w 723240"/>
              <a:gd name="textAreaTop" fmla="*/ 0 h 360"/>
              <a:gd name="textAreaBottom" fmla="*/ 720 h 360"/>
            </a:gdLst>
            <a:ahLst/>
            <a:rect l="textAreaLeft" t="textAreaTop" r="textAreaRight" b="textAreaBottom"/>
            <a:pathLst>
              <a:path w="723900" h="953">
                <a:moveTo>
                  <a:pt x="0" y="0"/>
                </a:moveTo>
                <a:lnTo>
                  <a:pt x="7239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24" name="Google Shape;775;p9"/>
          <p:cNvSpPr/>
          <p:nvPr/>
        </p:nvSpPr>
        <p:spPr>
          <a:xfrm>
            <a:off x="3438360" y="28137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25" name="Google Shape;776;p9"/>
          <p:cNvSpPr/>
          <p:nvPr/>
        </p:nvSpPr>
        <p:spPr>
          <a:xfrm>
            <a:off x="5924520" y="2857680"/>
            <a:ext cx="970920" cy="360"/>
          </a:xfrm>
          <a:custGeom>
            <a:avLst/>
            <a:gdLst>
              <a:gd name="textAreaLeft" fmla="*/ 0 w 970920"/>
              <a:gd name="textAreaRight" fmla="*/ 971280 w 970920"/>
              <a:gd name="textAreaTop" fmla="*/ 0 h 360"/>
              <a:gd name="textAreaBottom" fmla="*/ 720 h 360"/>
            </a:gdLst>
            <a:ahLst/>
            <a:rect l="textAreaLeft" t="textAreaTop" r="textAreaRight" b="textAreaBottom"/>
            <a:pathLst>
              <a:path w="971550" h="953">
                <a:moveTo>
                  <a:pt x="0" y="0"/>
                </a:moveTo>
                <a:lnTo>
                  <a:pt x="9715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26" name="Google Shape;777;p9"/>
          <p:cNvSpPr/>
          <p:nvPr/>
        </p:nvSpPr>
        <p:spPr>
          <a:xfrm>
            <a:off x="6800760" y="28137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27" name="Google Shape;778;p9"/>
          <p:cNvSpPr/>
          <p:nvPr/>
        </p:nvSpPr>
        <p:spPr>
          <a:xfrm>
            <a:off x="7362720" y="1380960"/>
            <a:ext cx="42854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c86a1b"/>
                </a:solidFill>
                <a:latin typeface="Verdana"/>
                <a:ea typeface="Verdana"/>
              </a:rPr>
              <a:t>Sparse 3D convolutions</a:t>
            </a:r>
            <a:endParaRPr b="0" lang="en-US" sz="2170" spc="-1" strike="noStrike">
              <a:solidFill>
                <a:srgbClr val="000000"/>
              </a:solidFill>
              <a:latin typeface="Arial"/>
            </a:endParaRPr>
          </a:p>
        </p:txBody>
      </p:sp>
      <p:sp>
        <p:nvSpPr>
          <p:cNvPr id="728" name="Google Shape;779;p9"/>
          <p:cNvSpPr/>
          <p:nvPr/>
        </p:nvSpPr>
        <p:spPr>
          <a:xfrm>
            <a:off x="7182000" y="1790640"/>
            <a:ext cx="770760" cy="84960"/>
          </a:xfrm>
          <a:custGeom>
            <a:avLst/>
            <a:gdLst>
              <a:gd name="textAreaLeft" fmla="*/ 0 w 770760"/>
              <a:gd name="textAreaRight" fmla="*/ 771120 w 770760"/>
              <a:gd name="textAreaTop" fmla="*/ 0 h 84960"/>
              <a:gd name="textAreaBottom" fmla="*/ 85320 h 8496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29" name="Google Shape;780;p9"/>
          <p:cNvSpPr/>
          <p:nvPr/>
        </p:nvSpPr>
        <p:spPr>
          <a:xfrm>
            <a:off x="7867800" y="1790640"/>
            <a:ext cx="84960" cy="1466280"/>
          </a:xfrm>
          <a:custGeom>
            <a:avLst/>
            <a:gdLst>
              <a:gd name="textAreaLeft" fmla="*/ 0 w 84960"/>
              <a:gd name="textAreaRight" fmla="*/ 85320 w 84960"/>
              <a:gd name="textAreaTop" fmla="*/ 0 h 1466280"/>
              <a:gd name="textAreaBottom" fmla="*/ 1466640 h 1466280"/>
            </a:gdLst>
            <a:ahLst/>
            <a:rect l="textAreaLeft" t="textAreaTop" r="textAreaRight" b="textAreaBottom"/>
            <a:pathLst>
              <a:path w="85725" h="1466850">
                <a:moveTo>
                  <a:pt x="0" y="85725"/>
                </a:moveTo>
                <a:lnTo>
                  <a:pt x="85725" y="0"/>
                </a:lnTo>
                <a:lnTo>
                  <a:pt x="85725" y="1381125"/>
                </a:lnTo>
                <a:lnTo>
                  <a:pt x="0" y="146685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0" name="Google Shape;781;p9"/>
          <p:cNvSpPr/>
          <p:nvPr/>
        </p:nvSpPr>
        <p:spPr>
          <a:xfrm>
            <a:off x="7182000" y="1876320"/>
            <a:ext cx="685080" cy="138024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1" name="Google Shape;782;p9"/>
          <p:cNvSpPr/>
          <p:nvPr/>
        </p:nvSpPr>
        <p:spPr>
          <a:xfrm>
            <a:off x="7353360" y="1876320"/>
            <a:ext cx="360" cy="1380240"/>
          </a:xfrm>
          <a:custGeom>
            <a:avLst/>
            <a:gdLst>
              <a:gd name="textAreaLeft" fmla="*/ 0 w 360"/>
              <a:gd name="textAreaRight" fmla="*/ 720 w 360"/>
              <a:gd name="textAreaTop" fmla="*/ 0 h 1380240"/>
              <a:gd name="textAreaBottom" fmla="*/ 1380600 h 138024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2" name="Google Shape;783;p9"/>
          <p:cNvSpPr/>
          <p:nvPr/>
        </p:nvSpPr>
        <p:spPr>
          <a:xfrm>
            <a:off x="7524720" y="1876320"/>
            <a:ext cx="360" cy="1380240"/>
          </a:xfrm>
          <a:custGeom>
            <a:avLst/>
            <a:gdLst>
              <a:gd name="textAreaLeft" fmla="*/ 0 w 360"/>
              <a:gd name="textAreaRight" fmla="*/ 720 w 360"/>
              <a:gd name="textAreaTop" fmla="*/ 0 h 1380240"/>
              <a:gd name="textAreaBottom" fmla="*/ 1380600 h 138024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3" name="Google Shape;784;p9"/>
          <p:cNvSpPr/>
          <p:nvPr/>
        </p:nvSpPr>
        <p:spPr>
          <a:xfrm>
            <a:off x="7696080" y="1876320"/>
            <a:ext cx="360" cy="1380240"/>
          </a:xfrm>
          <a:custGeom>
            <a:avLst/>
            <a:gdLst>
              <a:gd name="textAreaLeft" fmla="*/ 0 w 360"/>
              <a:gd name="textAreaRight" fmla="*/ 720 w 360"/>
              <a:gd name="textAreaTop" fmla="*/ 0 h 1380240"/>
              <a:gd name="textAreaBottom" fmla="*/ 1380600 h 1380240"/>
            </a:gdLst>
            <a:ahLst/>
            <a:rect l="textAreaLeft" t="textAreaTop" r="textAreaRight" b="textAreaBottom"/>
            <a:pathLst>
              <a:path w="953" h="1381125">
                <a:moveTo>
                  <a:pt x="0" y="0"/>
                </a:moveTo>
                <a:lnTo>
                  <a:pt x="0" y="13811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34" name="Google Shape;785;p9"/>
          <p:cNvSpPr/>
          <p:nvPr/>
        </p:nvSpPr>
        <p:spPr>
          <a:xfrm>
            <a:off x="7182000" y="222156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5" name="Google Shape;786;p9"/>
          <p:cNvSpPr/>
          <p:nvPr/>
        </p:nvSpPr>
        <p:spPr>
          <a:xfrm>
            <a:off x="7182000" y="256716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6" name="Google Shape;787;p9"/>
          <p:cNvSpPr/>
          <p:nvPr/>
        </p:nvSpPr>
        <p:spPr>
          <a:xfrm>
            <a:off x="7182000" y="291240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37" name="Google Shape;788;p9"/>
          <p:cNvSpPr/>
          <p:nvPr/>
        </p:nvSpPr>
        <p:spPr>
          <a:xfrm>
            <a:off x="7219800" y="1952640"/>
            <a:ext cx="608760" cy="1227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16</a:t>
            </a:r>
            <a:endParaRPr b="0" lang="en-US" sz="1729" spc="-1" strike="noStrike">
              <a:solidFill>
                <a:srgbClr val="000000"/>
              </a:solidFill>
              <a:latin typeface="Arial"/>
            </a:endParaRPr>
          </a:p>
        </p:txBody>
      </p:sp>
      <p:sp>
        <p:nvSpPr>
          <p:cNvPr id="738" name="Google Shape;789;p9"/>
          <p:cNvSpPr/>
          <p:nvPr/>
        </p:nvSpPr>
        <p:spPr>
          <a:xfrm>
            <a:off x="8210520" y="2000160"/>
            <a:ext cx="770760" cy="84960"/>
          </a:xfrm>
          <a:custGeom>
            <a:avLst/>
            <a:gdLst>
              <a:gd name="textAreaLeft" fmla="*/ 0 w 770760"/>
              <a:gd name="textAreaRight" fmla="*/ 771120 w 770760"/>
              <a:gd name="textAreaTop" fmla="*/ 0 h 84960"/>
              <a:gd name="textAreaBottom" fmla="*/ 85320 h 8496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39" name="Google Shape;790;p9"/>
          <p:cNvSpPr/>
          <p:nvPr/>
        </p:nvSpPr>
        <p:spPr>
          <a:xfrm>
            <a:off x="8896320" y="2000160"/>
            <a:ext cx="84960" cy="1256760"/>
          </a:xfrm>
          <a:custGeom>
            <a:avLst/>
            <a:gdLst>
              <a:gd name="textAreaLeft" fmla="*/ 0 w 84960"/>
              <a:gd name="textAreaRight" fmla="*/ 85320 w 84960"/>
              <a:gd name="textAreaTop" fmla="*/ 0 h 1256760"/>
              <a:gd name="textAreaBottom" fmla="*/ 1257120 h 1256760"/>
            </a:gdLst>
            <a:ahLst/>
            <a:rect l="textAreaLeft" t="textAreaTop" r="textAreaRight" b="textAreaBottom"/>
            <a:pathLst>
              <a:path w="85725" h="1257300">
                <a:moveTo>
                  <a:pt x="0" y="85725"/>
                </a:moveTo>
                <a:lnTo>
                  <a:pt x="85725" y="0"/>
                </a:lnTo>
                <a:lnTo>
                  <a:pt x="85725" y="1171575"/>
                </a:lnTo>
                <a:lnTo>
                  <a:pt x="0" y="12573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0" name="Google Shape;791;p9"/>
          <p:cNvSpPr/>
          <p:nvPr/>
        </p:nvSpPr>
        <p:spPr>
          <a:xfrm>
            <a:off x="8210520" y="2085840"/>
            <a:ext cx="685080" cy="117072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1" name="Google Shape;792;p9"/>
          <p:cNvSpPr/>
          <p:nvPr/>
        </p:nvSpPr>
        <p:spPr>
          <a:xfrm>
            <a:off x="8381880" y="2085840"/>
            <a:ext cx="360" cy="1170720"/>
          </a:xfrm>
          <a:custGeom>
            <a:avLst/>
            <a:gdLst>
              <a:gd name="textAreaLeft" fmla="*/ 0 w 360"/>
              <a:gd name="textAreaRight" fmla="*/ 720 w 360"/>
              <a:gd name="textAreaTop" fmla="*/ 0 h 1170720"/>
              <a:gd name="textAreaBottom" fmla="*/ 1171080 h 117072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2" name="Google Shape;793;p9"/>
          <p:cNvSpPr/>
          <p:nvPr/>
        </p:nvSpPr>
        <p:spPr>
          <a:xfrm>
            <a:off x="8553600" y="2085840"/>
            <a:ext cx="360" cy="1170720"/>
          </a:xfrm>
          <a:custGeom>
            <a:avLst/>
            <a:gdLst>
              <a:gd name="textAreaLeft" fmla="*/ 0 w 360"/>
              <a:gd name="textAreaRight" fmla="*/ 720 w 360"/>
              <a:gd name="textAreaTop" fmla="*/ 0 h 1170720"/>
              <a:gd name="textAreaBottom" fmla="*/ 1171080 h 117072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3" name="Google Shape;794;p9"/>
          <p:cNvSpPr/>
          <p:nvPr/>
        </p:nvSpPr>
        <p:spPr>
          <a:xfrm>
            <a:off x="8724960" y="2085840"/>
            <a:ext cx="360" cy="1170720"/>
          </a:xfrm>
          <a:custGeom>
            <a:avLst/>
            <a:gdLst>
              <a:gd name="textAreaLeft" fmla="*/ 0 w 360"/>
              <a:gd name="textAreaRight" fmla="*/ 720 w 360"/>
              <a:gd name="textAreaTop" fmla="*/ 0 h 1170720"/>
              <a:gd name="textAreaBottom" fmla="*/ 1171080 h 1170720"/>
            </a:gdLst>
            <a:ahLst/>
            <a:rect l="textAreaLeft" t="textAreaTop" r="textAreaRight" b="textAreaBottom"/>
            <a:pathLst>
              <a:path w="953" h="1171575">
                <a:moveTo>
                  <a:pt x="0" y="0"/>
                </a:moveTo>
                <a:lnTo>
                  <a:pt x="0" y="1171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44" name="Google Shape;795;p9"/>
          <p:cNvSpPr/>
          <p:nvPr/>
        </p:nvSpPr>
        <p:spPr>
          <a:xfrm>
            <a:off x="8210520" y="237888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5" name="Google Shape;796;p9"/>
          <p:cNvSpPr/>
          <p:nvPr/>
        </p:nvSpPr>
        <p:spPr>
          <a:xfrm>
            <a:off x="8210520" y="267192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6" name="Google Shape;797;p9"/>
          <p:cNvSpPr/>
          <p:nvPr/>
        </p:nvSpPr>
        <p:spPr>
          <a:xfrm>
            <a:off x="8210520" y="296460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7" name="Google Shape;798;p9"/>
          <p:cNvSpPr/>
          <p:nvPr/>
        </p:nvSpPr>
        <p:spPr>
          <a:xfrm>
            <a:off x="8248680" y="2162160"/>
            <a:ext cx="608760" cy="1018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32</a:t>
            </a:r>
            <a:endParaRPr b="0" lang="en-US" sz="1729" spc="-1" strike="noStrike">
              <a:solidFill>
                <a:srgbClr val="000000"/>
              </a:solidFill>
              <a:latin typeface="Arial"/>
            </a:endParaRPr>
          </a:p>
        </p:txBody>
      </p:sp>
      <p:sp>
        <p:nvSpPr>
          <p:cNvPr id="748" name="Google Shape;799;p9"/>
          <p:cNvSpPr/>
          <p:nvPr/>
        </p:nvSpPr>
        <p:spPr>
          <a:xfrm>
            <a:off x="7953480" y="2781360"/>
            <a:ext cx="189720" cy="360"/>
          </a:xfrm>
          <a:custGeom>
            <a:avLst/>
            <a:gdLst>
              <a:gd name="textAreaLeft" fmla="*/ 0 w 189720"/>
              <a:gd name="textAreaRight" fmla="*/ 190080 w 189720"/>
              <a:gd name="textAreaTop" fmla="*/ 0 h 360"/>
              <a:gd name="textAreaBottom" fmla="*/ 72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49" name="Google Shape;800;p9"/>
          <p:cNvSpPr/>
          <p:nvPr/>
        </p:nvSpPr>
        <p:spPr>
          <a:xfrm>
            <a:off x="8048520" y="27374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50" name="Google Shape;801;p9"/>
          <p:cNvSpPr/>
          <p:nvPr/>
        </p:nvSpPr>
        <p:spPr>
          <a:xfrm>
            <a:off x="9239400" y="2209680"/>
            <a:ext cx="770760" cy="84960"/>
          </a:xfrm>
          <a:custGeom>
            <a:avLst/>
            <a:gdLst>
              <a:gd name="textAreaLeft" fmla="*/ 0 w 770760"/>
              <a:gd name="textAreaRight" fmla="*/ 771120 w 770760"/>
              <a:gd name="textAreaTop" fmla="*/ 0 h 84960"/>
              <a:gd name="textAreaBottom" fmla="*/ 85320 h 8496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51" name="Google Shape;802;p9"/>
          <p:cNvSpPr/>
          <p:nvPr/>
        </p:nvSpPr>
        <p:spPr>
          <a:xfrm>
            <a:off x="9925200" y="2209680"/>
            <a:ext cx="84960" cy="1046880"/>
          </a:xfrm>
          <a:custGeom>
            <a:avLst/>
            <a:gdLst>
              <a:gd name="textAreaLeft" fmla="*/ 0 w 84960"/>
              <a:gd name="textAreaRight" fmla="*/ 85320 w 84960"/>
              <a:gd name="textAreaTop" fmla="*/ 0 h 1046880"/>
              <a:gd name="textAreaBottom" fmla="*/ 1047240 h 1046880"/>
            </a:gdLst>
            <a:ahLst/>
            <a:rect l="textAreaLeft" t="textAreaTop" r="textAreaRight" b="textAreaBottom"/>
            <a:pathLst>
              <a:path w="85725" h="1047750">
                <a:moveTo>
                  <a:pt x="0" y="85725"/>
                </a:moveTo>
                <a:lnTo>
                  <a:pt x="85725" y="0"/>
                </a:lnTo>
                <a:lnTo>
                  <a:pt x="85725" y="962025"/>
                </a:lnTo>
                <a:lnTo>
                  <a:pt x="0" y="104775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2" name="Google Shape;803;p9"/>
          <p:cNvSpPr/>
          <p:nvPr/>
        </p:nvSpPr>
        <p:spPr>
          <a:xfrm>
            <a:off x="9239400" y="2295360"/>
            <a:ext cx="685080" cy="96120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3" name="Google Shape;804;p9"/>
          <p:cNvSpPr/>
          <p:nvPr/>
        </p:nvSpPr>
        <p:spPr>
          <a:xfrm>
            <a:off x="9410760" y="2295360"/>
            <a:ext cx="360" cy="961200"/>
          </a:xfrm>
          <a:custGeom>
            <a:avLst/>
            <a:gdLst>
              <a:gd name="textAreaLeft" fmla="*/ 0 w 360"/>
              <a:gd name="textAreaRight" fmla="*/ 720 w 360"/>
              <a:gd name="textAreaTop" fmla="*/ 0 h 961200"/>
              <a:gd name="textAreaBottom" fmla="*/ 961560 h 96120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4" name="Google Shape;805;p9"/>
          <p:cNvSpPr/>
          <p:nvPr/>
        </p:nvSpPr>
        <p:spPr>
          <a:xfrm>
            <a:off x="9582120" y="2295360"/>
            <a:ext cx="360" cy="961200"/>
          </a:xfrm>
          <a:custGeom>
            <a:avLst/>
            <a:gdLst>
              <a:gd name="textAreaLeft" fmla="*/ 0 w 360"/>
              <a:gd name="textAreaRight" fmla="*/ 720 w 360"/>
              <a:gd name="textAreaTop" fmla="*/ 0 h 961200"/>
              <a:gd name="textAreaBottom" fmla="*/ 961560 h 96120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5" name="Google Shape;806;p9"/>
          <p:cNvSpPr/>
          <p:nvPr/>
        </p:nvSpPr>
        <p:spPr>
          <a:xfrm>
            <a:off x="9753480" y="2295360"/>
            <a:ext cx="360" cy="961200"/>
          </a:xfrm>
          <a:custGeom>
            <a:avLst/>
            <a:gdLst>
              <a:gd name="textAreaLeft" fmla="*/ 0 w 360"/>
              <a:gd name="textAreaRight" fmla="*/ 720 w 360"/>
              <a:gd name="textAreaTop" fmla="*/ 0 h 961200"/>
              <a:gd name="textAreaBottom" fmla="*/ 961560 h 961200"/>
            </a:gdLst>
            <a:ahLst/>
            <a:rect l="textAreaLeft" t="textAreaTop" r="textAreaRight" b="textAreaBottom"/>
            <a:pathLst>
              <a:path w="953" h="962025">
                <a:moveTo>
                  <a:pt x="0" y="0"/>
                </a:moveTo>
                <a:lnTo>
                  <a:pt x="0" y="9620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56" name="Google Shape;807;p9"/>
          <p:cNvSpPr/>
          <p:nvPr/>
        </p:nvSpPr>
        <p:spPr>
          <a:xfrm>
            <a:off x="9239400" y="253620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7" name="Google Shape;808;p9"/>
          <p:cNvSpPr/>
          <p:nvPr/>
        </p:nvSpPr>
        <p:spPr>
          <a:xfrm>
            <a:off x="9239400" y="277668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8" name="Google Shape;809;p9"/>
          <p:cNvSpPr/>
          <p:nvPr/>
        </p:nvSpPr>
        <p:spPr>
          <a:xfrm>
            <a:off x="9239400" y="301716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59" name="Google Shape;810;p9"/>
          <p:cNvSpPr/>
          <p:nvPr/>
        </p:nvSpPr>
        <p:spPr>
          <a:xfrm>
            <a:off x="9277200" y="2371680"/>
            <a:ext cx="608760" cy="8089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64</a:t>
            </a:r>
            <a:endParaRPr b="0" lang="en-US" sz="1729" spc="-1" strike="noStrike">
              <a:solidFill>
                <a:srgbClr val="000000"/>
              </a:solidFill>
              <a:latin typeface="Arial"/>
            </a:endParaRPr>
          </a:p>
        </p:txBody>
      </p:sp>
      <p:sp>
        <p:nvSpPr>
          <p:cNvPr id="760" name="Google Shape;811;p9"/>
          <p:cNvSpPr/>
          <p:nvPr/>
        </p:nvSpPr>
        <p:spPr>
          <a:xfrm>
            <a:off x="8982000" y="2781360"/>
            <a:ext cx="189720" cy="360"/>
          </a:xfrm>
          <a:custGeom>
            <a:avLst/>
            <a:gdLst>
              <a:gd name="textAreaLeft" fmla="*/ 0 w 189720"/>
              <a:gd name="textAreaRight" fmla="*/ 190080 w 189720"/>
              <a:gd name="textAreaTop" fmla="*/ 0 h 360"/>
              <a:gd name="textAreaBottom" fmla="*/ 72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1" name="Google Shape;812;p9"/>
          <p:cNvSpPr/>
          <p:nvPr/>
        </p:nvSpPr>
        <p:spPr>
          <a:xfrm>
            <a:off x="9077400" y="27374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62" name="Google Shape;813;p9"/>
          <p:cNvSpPr/>
          <p:nvPr/>
        </p:nvSpPr>
        <p:spPr>
          <a:xfrm>
            <a:off x="10267920" y="2419200"/>
            <a:ext cx="770760" cy="84960"/>
          </a:xfrm>
          <a:custGeom>
            <a:avLst/>
            <a:gdLst>
              <a:gd name="textAreaLeft" fmla="*/ 0 w 770760"/>
              <a:gd name="textAreaRight" fmla="*/ 771120 w 770760"/>
              <a:gd name="textAreaTop" fmla="*/ 0 h 84960"/>
              <a:gd name="textAreaBottom" fmla="*/ 85320 h 84960"/>
            </a:gdLst>
            <a:ahLst/>
            <a:rect l="textAreaLeft" t="textAreaTop" r="textAreaRight" b="textAreaBottom"/>
            <a:pathLst>
              <a:path w="771525" h="85725">
                <a:moveTo>
                  <a:pt x="0" y="85725"/>
                </a:moveTo>
                <a:lnTo>
                  <a:pt x="85725" y="0"/>
                </a:lnTo>
                <a:lnTo>
                  <a:pt x="771525" y="0"/>
                </a:lnTo>
                <a:lnTo>
                  <a:pt x="685800" y="85725"/>
                </a:lnTo>
                <a:close/>
              </a:path>
            </a:pathLst>
          </a:custGeom>
          <a:solidFill>
            <a:srgbClr val="f3caa8"/>
          </a:solidFill>
          <a:ln w="13325">
            <a:solidFill>
              <a:srgbClr val="c86a1b"/>
            </a:solidFill>
            <a:round/>
          </a:ln>
        </p:spPr>
        <p:style>
          <a:lnRef idx="0"/>
          <a:fillRef idx="0"/>
          <a:effectRef idx="0"/>
          <a:fontRef idx="minor"/>
        </p:style>
        <p:txBody>
          <a:bodyPr lIns="90000" rIns="90000" tIns="40320" bIns="40320" anchor="t">
            <a:noAutofit/>
          </a:bodyPr>
          <a:p>
            <a:pPr>
              <a:lnSpc>
                <a:spcPct val="100000"/>
              </a:lnSpc>
              <a:tabLst>
                <a:tab algn="l" pos="0"/>
              </a:tabLst>
            </a:pPr>
            <a:endParaRPr b="0" lang="en-US" sz="1400" spc="-1" strike="noStrike">
              <a:solidFill>
                <a:srgbClr val="000000"/>
              </a:solidFill>
              <a:latin typeface="Arial"/>
            </a:endParaRPr>
          </a:p>
        </p:txBody>
      </p:sp>
      <p:sp>
        <p:nvSpPr>
          <p:cNvPr id="763" name="Google Shape;814;p9"/>
          <p:cNvSpPr/>
          <p:nvPr/>
        </p:nvSpPr>
        <p:spPr>
          <a:xfrm>
            <a:off x="10953720" y="2419200"/>
            <a:ext cx="84960" cy="837360"/>
          </a:xfrm>
          <a:custGeom>
            <a:avLst/>
            <a:gdLst>
              <a:gd name="textAreaLeft" fmla="*/ 0 w 84960"/>
              <a:gd name="textAreaRight" fmla="*/ 85320 w 84960"/>
              <a:gd name="textAreaTop" fmla="*/ 0 h 837360"/>
              <a:gd name="textAreaBottom" fmla="*/ 837720 h 837360"/>
            </a:gdLst>
            <a:ahLst/>
            <a:rect l="textAreaLeft" t="textAreaTop" r="textAreaRight" b="textAreaBottom"/>
            <a:pathLst>
              <a:path w="85725" h="838200">
                <a:moveTo>
                  <a:pt x="0" y="85725"/>
                </a:moveTo>
                <a:lnTo>
                  <a:pt x="85725" y="0"/>
                </a:lnTo>
                <a:lnTo>
                  <a:pt x="85725" y="752475"/>
                </a:lnTo>
                <a:lnTo>
                  <a:pt x="0" y="838200"/>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4" name="Google Shape;815;p9"/>
          <p:cNvSpPr/>
          <p:nvPr/>
        </p:nvSpPr>
        <p:spPr>
          <a:xfrm>
            <a:off x="10267920" y="2505240"/>
            <a:ext cx="685080" cy="75168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5" name="Google Shape;816;p9"/>
          <p:cNvSpPr/>
          <p:nvPr/>
        </p:nvSpPr>
        <p:spPr>
          <a:xfrm>
            <a:off x="10439280" y="2505240"/>
            <a:ext cx="360" cy="751680"/>
          </a:xfrm>
          <a:custGeom>
            <a:avLst/>
            <a:gdLst>
              <a:gd name="textAreaLeft" fmla="*/ 0 w 360"/>
              <a:gd name="textAreaRight" fmla="*/ 720 w 360"/>
              <a:gd name="textAreaTop" fmla="*/ 0 h 751680"/>
              <a:gd name="textAreaBottom" fmla="*/ 752040 h 75168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6" name="Google Shape;817;p9"/>
          <p:cNvSpPr/>
          <p:nvPr/>
        </p:nvSpPr>
        <p:spPr>
          <a:xfrm>
            <a:off x="10611000" y="2505240"/>
            <a:ext cx="360" cy="751680"/>
          </a:xfrm>
          <a:custGeom>
            <a:avLst/>
            <a:gdLst>
              <a:gd name="textAreaLeft" fmla="*/ 0 w 360"/>
              <a:gd name="textAreaRight" fmla="*/ 720 w 360"/>
              <a:gd name="textAreaTop" fmla="*/ 0 h 751680"/>
              <a:gd name="textAreaBottom" fmla="*/ 752040 h 75168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7" name="Google Shape;818;p9"/>
          <p:cNvSpPr/>
          <p:nvPr/>
        </p:nvSpPr>
        <p:spPr>
          <a:xfrm>
            <a:off x="10782360" y="2505240"/>
            <a:ext cx="360" cy="751680"/>
          </a:xfrm>
          <a:custGeom>
            <a:avLst/>
            <a:gdLst>
              <a:gd name="textAreaLeft" fmla="*/ 0 w 360"/>
              <a:gd name="textAreaRight" fmla="*/ 720 w 360"/>
              <a:gd name="textAreaTop" fmla="*/ 0 h 751680"/>
              <a:gd name="textAreaBottom" fmla="*/ 752040 h 751680"/>
            </a:gdLst>
            <a:ahLst/>
            <a:rect l="textAreaLeft" t="textAreaTop" r="textAreaRight" b="textAreaBottom"/>
            <a:pathLst>
              <a:path w="953" h="752475">
                <a:moveTo>
                  <a:pt x="0" y="0"/>
                </a:moveTo>
                <a:lnTo>
                  <a:pt x="0" y="7524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68" name="Google Shape;819;p9"/>
          <p:cNvSpPr/>
          <p:nvPr/>
        </p:nvSpPr>
        <p:spPr>
          <a:xfrm>
            <a:off x="10267920" y="269316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69" name="Google Shape;820;p9"/>
          <p:cNvSpPr/>
          <p:nvPr/>
        </p:nvSpPr>
        <p:spPr>
          <a:xfrm>
            <a:off x="10267920" y="288144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0" name="Google Shape;821;p9"/>
          <p:cNvSpPr/>
          <p:nvPr/>
        </p:nvSpPr>
        <p:spPr>
          <a:xfrm>
            <a:off x="10267920" y="3069360"/>
            <a:ext cx="685080" cy="360"/>
          </a:xfrm>
          <a:custGeom>
            <a:avLst/>
            <a:gdLst>
              <a:gd name="textAreaLeft" fmla="*/ 0 w 685080"/>
              <a:gd name="textAreaRight" fmla="*/ 685440 w 685080"/>
              <a:gd name="textAreaTop" fmla="*/ 0 h 360"/>
              <a:gd name="textAreaBottom" fmla="*/ 720 h 360"/>
            </a:gdLst>
            <a:ahLst/>
            <a:rect l="textAreaLeft" t="textAreaTop" r="textAreaRight" b="textAreaBottom"/>
            <a:pathLst>
              <a:path w="685800" h="953">
                <a:moveTo>
                  <a:pt x="0" y="0"/>
                </a:moveTo>
                <a:lnTo>
                  <a:pt x="685800"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1" name="Google Shape;822;p9"/>
          <p:cNvSpPr/>
          <p:nvPr/>
        </p:nvSpPr>
        <p:spPr>
          <a:xfrm>
            <a:off x="10306080" y="2581200"/>
            <a:ext cx="608760" cy="599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128</a:t>
            </a:r>
            <a:endParaRPr b="0" lang="en-US" sz="1729" spc="-1" strike="noStrike">
              <a:solidFill>
                <a:srgbClr val="000000"/>
              </a:solidFill>
              <a:latin typeface="Arial"/>
            </a:endParaRPr>
          </a:p>
        </p:txBody>
      </p:sp>
      <p:sp>
        <p:nvSpPr>
          <p:cNvPr id="772" name="Google Shape;823;p9"/>
          <p:cNvSpPr/>
          <p:nvPr/>
        </p:nvSpPr>
        <p:spPr>
          <a:xfrm>
            <a:off x="10010880" y="2781360"/>
            <a:ext cx="189720" cy="360"/>
          </a:xfrm>
          <a:custGeom>
            <a:avLst/>
            <a:gdLst>
              <a:gd name="textAreaLeft" fmla="*/ 0 w 189720"/>
              <a:gd name="textAreaRight" fmla="*/ 190080 w 189720"/>
              <a:gd name="textAreaTop" fmla="*/ 0 h 360"/>
              <a:gd name="textAreaBottom" fmla="*/ 720 h 360"/>
            </a:gdLst>
            <a:ahLst/>
            <a:rect l="textAreaLeft" t="textAreaTop" r="textAreaRight" b="textAreaBottom"/>
            <a:pathLst>
              <a:path w="190500" h="953">
                <a:moveTo>
                  <a:pt x="0" y="0"/>
                </a:moveTo>
                <a:lnTo>
                  <a:pt x="190500" y="0"/>
                </a:lnTo>
              </a:path>
            </a:pathLst>
          </a:custGeom>
          <a:noFill/>
          <a:ln w="16175">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73" name="Google Shape;824;p9"/>
          <p:cNvSpPr/>
          <p:nvPr/>
        </p:nvSpPr>
        <p:spPr>
          <a:xfrm>
            <a:off x="10105920" y="27374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74" name="Google Shape;825;p9"/>
          <p:cNvSpPr/>
          <p:nvPr/>
        </p:nvSpPr>
        <p:spPr>
          <a:xfrm>
            <a:off x="7153200" y="3762360"/>
            <a:ext cx="439992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c86a1b"/>
                </a:solidFill>
                <a:latin typeface="Verdana"/>
                <a:ea typeface="Verdana"/>
              </a:rPr>
              <a:t>Channel width increases as spatial size falls</a:t>
            </a:r>
            <a:endParaRPr b="0" lang="en-US" sz="1650" spc="-1" strike="noStrike">
              <a:solidFill>
                <a:srgbClr val="000000"/>
              </a:solidFill>
              <a:latin typeface="Arial"/>
            </a:endParaRPr>
          </a:p>
        </p:txBody>
      </p:sp>
      <p:sp>
        <p:nvSpPr>
          <p:cNvPr id="775" name="Google Shape;826;p9"/>
          <p:cNvSpPr/>
          <p:nvPr/>
        </p:nvSpPr>
        <p:spPr>
          <a:xfrm>
            <a:off x="7458120" y="4638600"/>
            <a:ext cx="1913760" cy="7898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76" name="Google Shape;827;p9"/>
          <p:cNvSpPr/>
          <p:nvPr/>
        </p:nvSpPr>
        <p:spPr>
          <a:xfrm>
            <a:off x="7534440" y="4686480"/>
            <a:ext cx="1761480" cy="694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c86a1b"/>
                </a:solidFill>
                <a:latin typeface="Verdana"/>
                <a:ea typeface="Verdana"/>
              </a:rPr>
              <a:t>Height to</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c86a1b"/>
                </a:solidFill>
                <a:latin typeface="Verdana"/>
                <a:ea typeface="Verdana"/>
              </a:rPr>
              <a:t>channels</a:t>
            </a:r>
            <a:endParaRPr b="0" lang="en-US" sz="1870" spc="-1" strike="noStrike">
              <a:solidFill>
                <a:srgbClr val="000000"/>
              </a:solidFill>
              <a:latin typeface="Arial"/>
            </a:endParaRPr>
          </a:p>
        </p:txBody>
      </p:sp>
      <p:sp>
        <p:nvSpPr>
          <p:cNvPr id="777" name="Google Shape;828;p9"/>
          <p:cNvSpPr/>
          <p:nvPr/>
        </p:nvSpPr>
        <p:spPr>
          <a:xfrm>
            <a:off x="9372600" y="2876400"/>
            <a:ext cx="2085120" cy="2161440"/>
          </a:xfrm>
          <a:custGeom>
            <a:avLst/>
            <a:gdLst>
              <a:gd name="textAreaLeft" fmla="*/ 0 w 2085120"/>
              <a:gd name="textAreaRight" fmla="*/ 2085480 w 2085120"/>
              <a:gd name="textAreaTop" fmla="*/ 0 h 2161440"/>
              <a:gd name="textAreaBottom" fmla="*/ 2161800 h 2161440"/>
            </a:gdLst>
            <a:ahLst/>
            <a:rect l="textAreaLeft" t="textAreaTop" r="textAreaRight" b="textAreaBottom"/>
            <a:pathLst>
              <a:path w="2085975" h="2162175">
                <a:moveTo>
                  <a:pt x="1676400" y="0"/>
                </a:moveTo>
                <a:lnTo>
                  <a:pt x="2085975" y="0"/>
                </a:lnTo>
                <a:lnTo>
                  <a:pt x="2085975" y="2162175"/>
                </a:lnTo>
                <a:lnTo>
                  <a:pt x="0" y="216217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78" name="Google Shape;829;p9"/>
          <p:cNvSpPr/>
          <p:nvPr/>
        </p:nvSpPr>
        <p:spPr>
          <a:xfrm>
            <a:off x="9372600" y="4995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79" name="Google Shape;830;p9"/>
          <p:cNvSpPr/>
          <p:nvPr/>
        </p:nvSpPr>
        <p:spPr>
          <a:xfrm>
            <a:off x="5533920" y="4486320"/>
            <a:ext cx="1399320" cy="132480"/>
          </a:xfrm>
          <a:custGeom>
            <a:avLst/>
            <a:gdLst>
              <a:gd name="textAreaLeft" fmla="*/ 0 w 1399320"/>
              <a:gd name="textAreaRight" fmla="*/ 1399680 w 1399320"/>
              <a:gd name="textAreaTop" fmla="*/ 0 h 132480"/>
              <a:gd name="textAreaBottom" fmla="*/ 132840 h 132480"/>
            </a:gdLst>
            <a:ahLst/>
            <a:rect l="textAreaLeft" t="textAreaTop" r="textAreaRight" b="textAreaBottom"/>
            <a:pathLst>
              <a:path w="1400175" h="133350">
                <a:moveTo>
                  <a:pt x="0" y="133350"/>
                </a:moveTo>
                <a:lnTo>
                  <a:pt x="133350" y="0"/>
                </a:lnTo>
                <a:lnTo>
                  <a:pt x="1400175" y="0"/>
                </a:lnTo>
                <a:lnTo>
                  <a:pt x="1266825" y="133350"/>
                </a:lnTo>
                <a:close/>
              </a:path>
            </a:pathLst>
          </a:custGeom>
          <a:solidFill>
            <a:srgbClr val="f3caa8"/>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0" name="Google Shape;831;p9"/>
          <p:cNvSpPr/>
          <p:nvPr/>
        </p:nvSpPr>
        <p:spPr>
          <a:xfrm>
            <a:off x="6800760" y="4486320"/>
            <a:ext cx="132480" cy="923040"/>
          </a:xfrm>
          <a:custGeom>
            <a:avLst/>
            <a:gdLst>
              <a:gd name="textAreaLeft" fmla="*/ 0 w 132480"/>
              <a:gd name="textAreaRight" fmla="*/ 132840 w 132480"/>
              <a:gd name="textAreaTop" fmla="*/ 0 h 923040"/>
              <a:gd name="textAreaBottom" fmla="*/ 923400 h 923040"/>
            </a:gdLst>
            <a:ahLst/>
            <a:rect l="textAreaLeft" t="textAreaTop" r="textAreaRight" b="textAreaBottom"/>
            <a:pathLst>
              <a:path w="133350" h="923925">
                <a:moveTo>
                  <a:pt x="0" y="133350"/>
                </a:moveTo>
                <a:lnTo>
                  <a:pt x="133350" y="0"/>
                </a:lnTo>
                <a:lnTo>
                  <a:pt x="133350" y="790575"/>
                </a:lnTo>
                <a:lnTo>
                  <a:pt x="0" y="92392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1" name="Google Shape;832;p9"/>
          <p:cNvSpPr/>
          <p:nvPr/>
        </p:nvSpPr>
        <p:spPr>
          <a:xfrm>
            <a:off x="5533920" y="4619520"/>
            <a:ext cx="1266120" cy="78984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2" name="Google Shape;833;p9"/>
          <p:cNvSpPr/>
          <p:nvPr/>
        </p:nvSpPr>
        <p:spPr>
          <a:xfrm>
            <a:off x="5850720" y="4619520"/>
            <a:ext cx="360" cy="789840"/>
          </a:xfrm>
          <a:custGeom>
            <a:avLst/>
            <a:gdLst>
              <a:gd name="textAreaLeft" fmla="*/ 0 w 360"/>
              <a:gd name="textAreaRight" fmla="*/ 720 w 360"/>
              <a:gd name="textAreaTop" fmla="*/ 0 h 789840"/>
              <a:gd name="textAreaBottom" fmla="*/ 790200 h 78984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3" name="Google Shape;834;p9"/>
          <p:cNvSpPr/>
          <p:nvPr/>
        </p:nvSpPr>
        <p:spPr>
          <a:xfrm>
            <a:off x="6167520" y="4619520"/>
            <a:ext cx="360" cy="789840"/>
          </a:xfrm>
          <a:custGeom>
            <a:avLst/>
            <a:gdLst>
              <a:gd name="textAreaLeft" fmla="*/ 0 w 360"/>
              <a:gd name="textAreaRight" fmla="*/ 720 w 360"/>
              <a:gd name="textAreaTop" fmla="*/ 0 h 789840"/>
              <a:gd name="textAreaBottom" fmla="*/ 790200 h 78984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4" name="Google Shape;835;p9"/>
          <p:cNvSpPr/>
          <p:nvPr/>
        </p:nvSpPr>
        <p:spPr>
          <a:xfrm>
            <a:off x="6484320" y="4619520"/>
            <a:ext cx="360" cy="789840"/>
          </a:xfrm>
          <a:custGeom>
            <a:avLst/>
            <a:gdLst>
              <a:gd name="textAreaLeft" fmla="*/ 0 w 360"/>
              <a:gd name="textAreaRight" fmla="*/ 720 w 360"/>
              <a:gd name="textAreaTop" fmla="*/ 0 h 789840"/>
              <a:gd name="textAreaBottom" fmla="*/ 790200 h 789840"/>
            </a:gdLst>
            <a:ahLst/>
            <a:rect l="textAreaLeft" t="textAreaTop" r="textAreaRight" b="textAreaBottom"/>
            <a:pathLst>
              <a:path w="953" h="790575">
                <a:moveTo>
                  <a:pt x="0" y="0"/>
                </a:moveTo>
                <a:lnTo>
                  <a:pt x="0" y="79057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85" name="Google Shape;836;p9"/>
          <p:cNvSpPr/>
          <p:nvPr/>
        </p:nvSpPr>
        <p:spPr>
          <a:xfrm>
            <a:off x="5533920" y="4817160"/>
            <a:ext cx="1266120" cy="360"/>
          </a:xfrm>
          <a:custGeom>
            <a:avLst/>
            <a:gdLst>
              <a:gd name="textAreaLeft" fmla="*/ 0 w 1266120"/>
              <a:gd name="textAreaRight" fmla="*/ 1266480 w 1266120"/>
              <a:gd name="textAreaTop" fmla="*/ 0 h 360"/>
              <a:gd name="textAreaBottom" fmla="*/ 72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6" name="Google Shape;837;p9"/>
          <p:cNvSpPr/>
          <p:nvPr/>
        </p:nvSpPr>
        <p:spPr>
          <a:xfrm>
            <a:off x="5533920" y="5014800"/>
            <a:ext cx="1266120" cy="360"/>
          </a:xfrm>
          <a:custGeom>
            <a:avLst/>
            <a:gdLst>
              <a:gd name="textAreaLeft" fmla="*/ 0 w 1266120"/>
              <a:gd name="textAreaRight" fmla="*/ 1266480 w 1266120"/>
              <a:gd name="textAreaTop" fmla="*/ 0 h 360"/>
              <a:gd name="textAreaBottom" fmla="*/ 72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7" name="Google Shape;838;p9"/>
          <p:cNvSpPr/>
          <p:nvPr/>
        </p:nvSpPr>
        <p:spPr>
          <a:xfrm>
            <a:off x="5533920" y="5212440"/>
            <a:ext cx="1266120" cy="360"/>
          </a:xfrm>
          <a:custGeom>
            <a:avLst/>
            <a:gdLst>
              <a:gd name="textAreaLeft" fmla="*/ 0 w 1266120"/>
              <a:gd name="textAreaRight" fmla="*/ 1266480 w 1266120"/>
              <a:gd name="textAreaTop" fmla="*/ 0 h 360"/>
              <a:gd name="textAreaBottom" fmla="*/ 720 h 360"/>
            </a:gdLst>
            <a:ahLst/>
            <a:rect l="textAreaLeft" t="textAreaTop" r="textAreaRight" b="textAreaBottom"/>
            <a:pathLst>
              <a:path w="1266825" h="953">
                <a:moveTo>
                  <a:pt x="0" y="0"/>
                </a:moveTo>
                <a:lnTo>
                  <a:pt x="12668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88" name="Google Shape;839;p9"/>
          <p:cNvSpPr/>
          <p:nvPr/>
        </p:nvSpPr>
        <p:spPr>
          <a:xfrm>
            <a:off x="5572080" y="4695840"/>
            <a:ext cx="1189800" cy="637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c86a1b"/>
                </a:solidFill>
                <a:latin typeface="Verdana"/>
                <a:ea typeface="Verdana"/>
              </a:rPr>
              <a:t>256 ch</a:t>
            </a:r>
            <a:endParaRPr b="0" lang="en-US" sz="1729" spc="-1" strike="noStrike">
              <a:solidFill>
                <a:srgbClr val="000000"/>
              </a:solidFill>
              <a:latin typeface="Arial"/>
            </a:endParaRPr>
          </a:p>
        </p:txBody>
      </p:sp>
      <p:sp>
        <p:nvSpPr>
          <p:cNvPr id="789" name="Google Shape;840;p9"/>
          <p:cNvSpPr/>
          <p:nvPr/>
        </p:nvSpPr>
        <p:spPr>
          <a:xfrm>
            <a:off x="6943680" y="5038560"/>
            <a:ext cx="513720" cy="360"/>
          </a:xfrm>
          <a:custGeom>
            <a:avLst/>
            <a:gdLst>
              <a:gd name="textAreaLeft" fmla="*/ 0 w 513720"/>
              <a:gd name="textAreaRight" fmla="*/ 514080 w 513720"/>
              <a:gd name="textAreaTop" fmla="*/ 0 h 360"/>
              <a:gd name="textAreaBottom" fmla="*/ 720 h 360"/>
            </a:gdLst>
            <a:ahLst/>
            <a:rect l="textAreaLeft" t="textAreaTop" r="textAreaRight" b="textAreaBottom"/>
            <a:pathLst>
              <a:path w="514350" h="953">
                <a:moveTo>
                  <a:pt x="514350" y="0"/>
                </a:moveTo>
                <a:lnTo>
                  <a:pt x="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90" name="Google Shape;841;p9"/>
          <p:cNvSpPr/>
          <p:nvPr/>
        </p:nvSpPr>
        <p:spPr>
          <a:xfrm>
            <a:off x="6943680" y="4995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0" y="43815"/>
                </a:moveTo>
                <a:lnTo>
                  <a:pt x="95250" y="87630"/>
                </a:lnTo>
                <a:lnTo>
                  <a:pt x="95250" y="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791" name="Google Shape;842;p9"/>
          <p:cNvSpPr/>
          <p:nvPr/>
        </p:nvSpPr>
        <p:spPr>
          <a:xfrm>
            <a:off x="2876400" y="4676760"/>
            <a:ext cx="2323440" cy="61848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950" spc="-1" strike="noStrike">
                <a:solidFill>
                  <a:srgbClr val="c86a1b"/>
                </a:solidFill>
                <a:latin typeface="Verdana"/>
                <a:ea typeface="Verdana"/>
              </a:rPr>
              <a:t>180 × 180 BEV</a:t>
            </a:r>
            <a:endParaRPr b="0" lang="en-US" sz="1950" spc="-1" strike="noStrike">
              <a:solidFill>
                <a:srgbClr val="000000"/>
              </a:solidFill>
              <a:latin typeface="Arial"/>
            </a:endParaRPr>
          </a:p>
          <a:p>
            <a:pPr algn="r">
              <a:lnSpc>
                <a:spcPct val="100000"/>
              </a:lnSpc>
              <a:tabLst>
                <a:tab algn="l" pos="0"/>
              </a:tabLst>
            </a:pPr>
            <a:r>
              <a:rPr b="0" lang="en-US" sz="1950" spc="-1" strike="noStrike">
                <a:solidFill>
                  <a:srgbClr val="c86a1b"/>
                </a:solidFill>
                <a:latin typeface="Verdana"/>
                <a:ea typeface="Verdana"/>
              </a:rPr>
              <a:t>Spatial stride 8</a:t>
            </a:r>
            <a:endParaRPr b="0" lang="en-US" sz="1950" spc="-1" strike="noStrike">
              <a:solidFill>
                <a:srgbClr val="000000"/>
              </a:solidFill>
              <a:latin typeface="Arial"/>
            </a:endParaRPr>
          </a:p>
        </p:txBody>
      </p:sp>
      <p:sp>
        <p:nvSpPr>
          <p:cNvPr id="792" name="Google Shape;843;p9"/>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793" name="Google Shape;844;p9"/>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Sparse 3D encoding keeps geometry and folds height into BEV channels.</a:t>
            </a:r>
            <a:endParaRPr b="0" lang="en-US" sz="1729" spc="-1" strike="noStrike">
              <a:solidFill>
                <a:srgbClr val="000000"/>
              </a:solidFill>
              <a:latin typeface="Arial"/>
            </a:endParaRPr>
          </a:p>
        </p:txBody>
      </p:sp>
      <p:sp>
        <p:nvSpPr>
          <p:cNvPr id="794" name="Google Shape;845;p9"/>
          <p:cNvSpPr/>
          <p:nvPr/>
        </p:nvSpPr>
        <p:spPr>
          <a:xfrm>
            <a:off x="533520" y="4695840"/>
            <a:ext cx="2275920" cy="35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729" spc="-1" strike="noStrike">
                <a:solidFill>
                  <a:srgbClr val="c86a1b"/>
                </a:solidFill>
                <a:latin typeface="Verdana"/>
                <a:ea typeface="Verdana"/>
              </a:rPr>
              <a:t>vⱼ = meanᵢ∈ⱼ(pᵢ)</a:t>
            </a:r>
            <a:endParaRPr b="0" lang="en-US" sz="1729" spc="-1" strike="noStrike">
              <a:solidFill>
                <a:srgbClr val="000000"/>
              </a:solidFill>
              <a:latin typeface="Arial"/>
            </a:endParaRPr>
          </a:p>
        </p:txBody>
      </p:sp>
      <p:sp>
        <p:nvSpPr>
          <p:cNvPr id="795" name="Google Shape;846;p9"/>
          <p:cNvSpPr/>
          <p:nvPr/>
        </p:nvSpPr>
        <p:spPr>
          <a:xfrm>
            <a:off x="533520" y="5095800"/>
            <a:ext cx="2275920" cy="570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430" spc="-1" strike="noStrike">
                <a:solidFill>
                  <a:srgbClr val="58677c"/>
                </a:solidFill>
                <a:latin typeface="Verdana"/>
                <a:ea typeface="Verdana"/>
              </a:rPr>
              <a:t>Nⱼ ≤ 10 retained points</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796" name="Google Shape;852;p10"/>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Two proxy maps condition the spatial gate</a:t>
            </a:r>
            <a:endParaRPr b="0" lang="en-US" sz="3300" spc="-1" strike="noStrike">
              <a:solidFill>
                <a:srgbClr val="000000"/>
              </a:solidFill>
              <a:latin typeface="Arial"/>
            </a:endParaRPr>
          </a:p>
        </p:txBody>
      </p:sp>
      <p:sp>
        <p:nvSpPr>
          <p:cNvPr id="797" name="Google Shape;853;p10"/>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10</a:t>
            </a:r>
            <a:endParaRPr b="0" lang="en-US" sz="1200" spc="-1" strike="noStrike">
              <a:solidFill>
                <a:srgbClr val="000000"/>
              </a:solidFill>
              <a:latin typeface="Arial"/>
            </a:endParaRPr>
          </a:p>
        </p:txBody>
      </p:sp>
      <p:sp>
        <p:nvSpPr>
          <p:cNvPr id="798" name="Google Shape;854;p10"/>
          <p:cNvSpPr/>
          <p:nvPr/>
        </p:nvSpPr>
        <p:spPr>
          <a:xfrm>
            <a:off x="533520" y="1559160"/>
            <a:ext cx="1551960" cy="5713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799" name="Google Shape;855;p10"/>
          <p:cNvSpPr/>
          <p:nvPr/>
        </p:nvSpPr>
        <p:spPr>
          <a:xfrm>
            <a:off x="609480" y="1595160"/>
            <a:ext cx="1399320" cy="498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1674d1"/>
                </a:solidFill>
                <a:latin typeface="Verdana"/>
                <a:ea typeface="Verdana"/>
              </a:rPr>
              <a:t>Image BEV</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1674d1"/>
                </a:solidFill>
                <a:latin typeface="Verdana"/>
                <a:ea typeface="Verdana"/>
              </a:rPr>
              <a:t>80 ch</a:t>
            </a:r>
            <a:endParaRPr b="0" lang="en-US" sz="1550" spc="-1" strike="noStrike">
              <a:solidFill>
                <a:srgbClr val="000000"/>
              </a:solidFill>
              <a:latin typeface="Arial"/>
            </a:endParaRPr>
          </a:p>
        </p:txBody>
      </p:sp>
      <p:sp>
        <p:nvSpPr>
          <p:cNvPr id="800" name="Google Shape;856;p10"/>
          <p:cNvSpPr/>
          <p:nvPr/>
        </p:nvSpPr>
        <p:spPr>
          <a:xfrm>
            <a:off x="2467080" y="1559160"/>
            <a:ext cx="1723320" cy="5713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1" name="Google Shape;857;p10"/>
          <p:cNvSpPr/>
          <p:nvPr/>
        </p:nvSpPr>
        <p:spPr>
          <a:xfrm>
            <a:off x="2543040" y="1595160"/>
            <a:ext cx="1571040" cy="498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1 × 1 + BN</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1674d1"/>
                </a:solidFill>
                <a:latin typeface="Verdana"/>
                <a:ea typeface="Verdana"/>
              </a:rPr>
              <a:t>+ ReLU</a:t>
            </a:r>
            <a:endParaRPr b="0" lang="en-US" sz="1490" spc="-1" strike="noStrike">
              <a:solidFill>
                <a:srgbClr val="000000"/>
              </a:solidFill>
              <a:latin typeface="Arial"/>
            </a:endParaRPr>
          </a:p>
        </p:txBody>
      </p:sp>
      <p:sp>
        <p:nvSpPr>
          <p:cNvPr id="802" name="Google Shape;858;p10"/>
          <p:cNvSpPr/>
          <p:nvPr/>
        </p:nvSpPr>
        <p:spPr>
          <a:xfrm>
            <a:off x="2085840" y="1841400"/>
            <a:ext cx="380160" cy="360"/>
          </a:xfrm>
          <a:custGeom>
            <a:avLst/>
            <a:gdLst>
              <a:gd name="textAreaLeft" fmla="*/ 0 w 380160"/>
              <a:gd name="textAreaRight" fmla="*/ 380520 w 380160"/>
              <a:gd name="textAreaTop" fmla="*/ 0 h 360"/>
              <a:gd name="textAreaBottom" fmla="*/ 720 h 360"/>
            </a:gdLst>
            <a:ahLst/>
            <a:rect l="textAreaLeft" t="textAreaTop" r="textAreaRight" b="textAreaBottom"/>
            <a:pathLst>
              <a:path w="381000" h="953">
                <a:moveTo>
                  <a:pt x="0" y="0"/>
                </a:moveTo>
                <a:lnTo>
                  <a:pt x="38100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03" name="Google Shape;859;p10"/>
          <p:cNvSpPr/>
          <p:nvPr/>
        </p:nvSpPr>
        <p:spPr>
          <a:xfrm>
            <a:off x="2371680" y="180792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04" name="Google Shape;860;p10"/>
          <p:cNvSpPr/>
          <p:nvPr/>
        </p:nvSpPr>
        <p:spPr>
          <a:xfrm>
            <a:off x="4686480" y="1501200"/>
            <a:ext cx="1151640" cy="71640"/>
          </a:xfrm>
          <a:custGeom>
            <a:avLst/>
            <a:gdLst>
              <a:gd name="textAreaLeft" fmla="*/ 0 w 1151640"/>
              <a:gd name="textAreaRight" fmla="*/ 1152000 w 1151640"/>
              <a:gd name="textAreaTop" fmla="*/ 0 h 71640"/>
              <a:gd name="textAreaBottom" fmla="*/ 72000 h 71640"/>
            </a:gdLst>
            <a:ahLst/>
            <a:rect l="textAreaLeft" t="textAreaTop" r="textAreaRight" b="textAreaBottom"/>
            <a:pathLst>
              <a:path w="1152525" h="95250">
                <a:moveTo>
                  <a:pt x="0" y="95250"/>
                </a:moveTo>
                <a:lnTo>
                  <a:pt x="95250" y="0"/>
                </a:lnTo>
                <a:lnTo>
                  <a:pt x="1152525" y="0"/>
                </a:lnTo>
                <a:lnTo>
                  <a:pt x="1057275" y="95250"/>
                </a:lnTo>
                <a:close/>
              </a:path>
            </a:pathLst>
          </a:custGeom>
          <a:solidFill>
            <a:srgbClr val="a7cef6"/>
          </a:solidFill>
          <a:ln w="133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000000"/>
              </a:solidFill>
              <a:latin typeface="Arial"/>
            </a:endParaRPr>
          </a:p>
        </p:txBody>
      </p:sp>
      <p:sp>
        <p:nvSpPr>
          <p:cNvPr id="805" name="Google Shape;861;p10"/>
          <p:cNvSpPr/>
          <p:nvPr/>
        </p:nvSpPr>
        <p:spPr>
          <a:xfrm>
            <a:off x="5743440" y="1501200"/>
            <a:ext cx="94680" cy="600120"/>
          </a:xfrm>
          <a:custGeom>
            <a:avLst/>
            <a:gdLst>
              <a:gd name="textAreaLeft" fmla="*/ 0 w 94680"/>
              <a:gd name="textAreaRight" fmla="*/ 95040 w 94680"/>
              <a:gd name="textAreaTop" fmla="*/ 0 h 600120"/>
              <a:gd name="textAreaBottom" fmla="*/ 600480 h 600120"/>
            </a:gdLst>
            <a:ahLst/>
            <a:rect l="textAreaLeft" t="textAreaTop" r="textAreaRight" b="textAreaBottom"/>
            <a:pathLst>
              <a:path w="95250" h="790575">
                <a:moveTo>
                  <a:pt x="0" y="95250"/>
                </a:moveTo>
                <a:lnTo>
                  <a:pt x="95250" y="0"/>
                </a:lnTo>
                <a:lnTo>
                  <a:pt x="95250" y="695325"/>
                </a:lnTo>
                <a:lnTo>
                  <a:pt x="0" y="790575"/>
                </a:lnTo>
                <a:close/>
              </a:path>
            </a:pathLst>
          </a:custGeom>
          <a:solidFill>
            <a:srgbClr val="5ba5ee"/>
          </a:solidFill>
          <a:ln w="133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06" name="Google Shape;862;p10"/>
          <p:cNvSpPr/>
          <p:nvPr/>
        </p:nvSpPr>
        <p:spPr>
          <a:xfrm>
            <a:off x="4686480" y="1573560"/>
            <a:ext cx="1056600" cy="527760"/>
          </a:xfrm>
          <a:prstGeom prst="rect">
            <a:avLst/>
          </a:prstGeom>
          <a:solidFill>
            <a:srgbClr val="d2e6fa"/>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7" name="Google Shape;863;p10"/>
          <p:cNvSpPr/>
          <p:nvPr/>
        </p:nvSpPr>
        <p:spPr>
          <a:xfrm>
            <a:off x="495072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8" name="Google Shape;864;p10"/>
          <p:cNvSpPr/>
          <p:nvPr/>
        </p:nvSpPr>
        <p:spPr>
          <a:xfrm>
            <a:off x="521496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09" name="Google Shape;865;p10"/>
          <p:cNvSpPr/>
          <p:nvPr/>
        </p:nvSpPr>
        <p:spPr>
          <a:xfrm>
            <a:off x="547920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8dc0f3"/>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0" name="Google Shape;866;p10"/>
          <p:cNvSpPr/>
          <p:nvPr/>
        </p:nvSpPr>
        <p:spPr>
          <a:xfrm>
            <a:off x="4686480" y="1705680"/>
            <a:ext cx="1056600" cy="360"/>
          </a:xfrm>
          <a:custGeom>
            <a:avLst/>
            <a:gdLst>
              <a:gd name="textAreaLeft" fmla="*/ 0 w 1056600"/>
              <a:gd name="textAreaRight" fmla="*/ 1056960 w 1056600"/>
              <a:gd name="textAreaTop" fmla="*/ 0 h 360"/>
              <a:gd name="textAreaBottom" fmla="*/ 72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1" name="Google Shape;867;p10"/>
          <p:cNvSpPr/>
          <p:nvPr/>
        </p:nvSpPr>
        <p:spPr>
          <a:xfrm>
            <a:off x="4686480" y="1837800"/>
            <a:ext cx="1056600" cy="360"/>
          </a:xfrm>
          <a:custGeom>
            <a:avLst/>
            <a:gdLst>
              <a:gd name="textAreaLeft" fmla="*/ 0 w 1056600"/>
              <a:gd name="textAreaRight" fmla="*/ 1056960 w 1056600"/>
              <a:gd name="textAreaTop" fmla="*/ 0 h 360"/>
              <a:gd name="textAreaBottom" fmla="*/ 72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2" name="Google Shape;868;p10"/>
          <p:cNvSpPr/>
          <p:nvPr/>
        </p:nvSpPr>
        <p:spPr>
          <a:xfrm>
            <a:off x="4686480" y="1969920"/>
            <a:ext cx="1056600" cy="360"/>
          </a:xfrm>
          <a:custGeom>
            <a:avLst/>
            <a:gdLst>
              <a:gd name="textAreaLeft" fmla="*/ 0 w 1056600"/>
              <a:gd name="textAreaRight" fmla="*/ 1056960 w 1056600"/>
              <a:gd name="textAreaTop" fmla="*/ 0 h 360"/>
              <a:gd name="textAreaBottom" fmla="*/ 720 h 360"/>
            </a:gdLst>
            <a:ahLst/>
            <a:rect l="textAreaLeft" t="textAreaTop" r="textAreaRight" b="textAreaBottom"/>
            <a:pathLst>
              <a:path w="1057275" h="953">
                <a:moveTo>
                  <a:pt x="0" y="0"/>
                </a:moveTo>
                <a:lnTo>
                  <a:pt x="1057275" y="0"/>
                </a:lnTo>
              </a:path>
            </a:pathLst>
          </a:custGeom>
          <a:noFill/>
          <a:ln w="9525">
            <a:solidFill>
              <a:srgbClr val="8dc0f3"/>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3" name="Google Shape;869;p10"/>
          <p:cNvSpPr/>
          <p:nvPr/>
        </p:nvSpPr>
        <p:spPr>
          <a:xfrm>
            <a:off x="4724280" y="1631520"/>
            <a:ext cx="980280" cy="411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U: 128</a:t>
            </a:r>
            <a:endParaRPr b="0" lang="en-US" sz="1490" spc="-1" strike="noStrike">
              <a:solidFill>
                <a:srgbClr val="000000"/>
              </a:solidFill>
              <a:latin typeface="Arial"/>
            </a:endParaRPr>
          </a:p>
        </p:txBody>
      </p:sp>
      <p:sp>
        <p:nvSpPr>
          <p:cNvPr id="814" name="Google Shape;870;p10"/>
          <p:cNvSpPr/>
          <p:nvPr/>
        </p:nvSpPr>
        <p:spPr>
          <a:xfrm>
            <a:off x="4191120" y="1841400"/>
            <a:ext cx="447120" cy="360"/>
          </a:xfrm>
          <a:custGeom>
            <a:avLst/>
            <a:gdLst>
              <a:gd name="textAreaLeft" fmla="*/ 0 w 447120"/>
              <a:gd name="textAreaRight" fmla="*/ 447480 w 447120"/>
              <a:gd name="textAreaTop" fmla="*/ 0 h 360"/>
              <a:gd name="textAreaBottom" fmla="*/ 720 h 360"/>
            </a:gdLst>
            <a:ahLst/>
            <a:rect l="textAreaLeft" t="textAreaTop" r="textAreaRight" b="textAreaBottom"/>
            <a:pathLst>
              <a:path w="447675" h="953">
                <a:moveTo>
                  <a:pt x="0" y="0"/>
                </a:moveTo>
                <a:lnTo>
                  <a:pt x="44767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15" name="Google Shape;871;p10"/>
          <p:cNvSpPr/>
          <p:nvPr/>
        </p:nvSpPr>
        <p:spPr>
          <a:xfrm>
            <a:off x="4543560" y="180792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16" name="Google Shape;872;p10"/>
          <p:cNvSpPr/>
          <p:nvPr/>
        </p:nvSpPr>
        <p:spPr>
          <a:xfrm>
            <a:off x="6496200" y="1559160"/>
            <a:ext cx="1551960" cy="57132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7" name="Google Shape;873;p10"/>
          <p:cNvSpPr/>
          <p:nvPr/>
        </p:nvSpPr>
        <p:spPr>
          <a:xfrm>
            <a:off x="6572160" y="1595160"/>
            <a:ext cx="1399320" cy="498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c86a1b"/>
                </a:solidFill>
                <a:latin typeface="Verdana"/>
                <a:ea typeface="Verdana"/>
              </a:rPr>
              <a:t>LiDAR BEV</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c86a1b"/>
                </a:solidFill>
                <a:latin typeface="Verdana"/>
                <a:ea typeface="Verdana"/>
              </a:rPr>
              <a:t>256 ch</a:t>
            </a:r>
            <a:endParaRPr b="0" lang="en-US" sz="1550" spc="-1" strike="noStrike">
              <a:solidFill>
                <a:srgbClr val="000000"/>
              </a:solidFill>
              <a:latin typeface="Arial"/>
            </a:endParaRPr>
          </a:p>
        </p:txBody>
      </p:sp>
      <p:sp>
        <p:nvSpPr>
          <p:cNvPr id="818" name="Google Shape;874;p10"/>
          <p:cNvSpPr/>
          <p:nvPr/>
        </p:nvSpPr>
        <p:spPr>
          <a:xfrm>
            <a:off x="8429760" y="1559160"/>
            <a:ext cx="1723320" cy="57132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19" name="Google Shape;875;p10"/>
          <p:cNvSpPr/>
          <p:nvPr/>
        </p:nvSpPr>
        <p:spPr>
          <a:xfrm>
            <a:off x="8505720" y="1595160"/>
            <a:ext cx="1571040" cy="4986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1 × 1 + BN</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c86a1b"/>
                </a:solidFill>
                <a:latin typeface="Verdana"/>
                <a:ea typeface="Verdana"/>
              </a:rPr>
              <a:t>+ ReLU</a:t>
            </a:r>
            <a:endParaRPr b="0" lang="en-US" sz="1490" spc="-1" strike="noStrike">
              <a:solidFill>
                <a:srgbClr val="000000"/>
              </a:solidFill>
              <a:latin typeface="Arial"/>
            </a:endParaRPr>
          </a:p>
        </p:txBody>
      </p:sp>
      <p:sp>
        <p:nvSpPr>
          <p:cNvPr id="820" name="Google Shape;876;p10"/>
          <p:cNvSpPr/>
          <p:nvPr/>
        </p:nvSpPr>
        <p:spPr>
          <a:xfrm>
            <a:off x="8048520" y="1841400"/>
            <a:ext cx="380160" cy="360"/>
          </a:xfrm>
          <a:custGeom>
            <a:avLst/>
            <a:gdLst>
              <a:gd name="textAreaLeft" fmla="*/ 0 w 380160"/>
              <a:gd name="textAreaRight" fmla="*/ 380520 w 380160"/>
              <a:gd name="textAreaTop" fmla="*/ 0 h 360"/>
              <a:gd name="textAreaBottom" fmla="*/ 720 h 360"/>
            </a:gdLst>
            <a:ahLst/>
            <a:rect l="textAreaLeft" t="textAreaTop" r="textAreaRight" b="textAreaBottom"/>
            <a:pathLst>
              <a:path w="381000" h="953">
                <a:moveTo>
                  <a:pt x="0" y="0"/>
                </a:moveTo>
                <a:lnTo>
                  <a:pt x="38100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21" name="Google Shape;877;p10"/>
          <p:cNvSpPr/>
          <p:nvPr/>
        </p:nvSpPr>
        <p:spPr>
          <a:xfrm>
            <a:off x="8334360" y="180792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22" name="Google Shape;878;p10"/>
          <p:cNvSpPr/>
          <p:nvPr/>
        </p:nvSpPr>
        <p:spPr>
          <a:xfrm>
            <a:off x="10648800" y="1501200"/>
            <a:ext cx="1094760" cy="71640"/>
          </a:xfrm>
          <a:custGeom>
            <a:avLst/>
            <a:gdLst>
              <a:gd name="textAreaLeft" fmla="*/ 0 w 1094760"/>
              <a:gd name="textAreaRight" fmla="*/ 1095120 w 1094760"/>
              <a:gd name="textAreaTop" fmla="*/ 0 h 71640"/>
              <a:gd name="textAreaBottom" fmla="*/ 72000 h 71640"/>
            </a:gdLst>
            <a:ahLst/>
            <a:rect l="textAreaLeft" t="textAreaTop" r="textAreaRight" b="textAreaBottom"/>
            <a:pathLst>
              <a:path w="1095375" h="95250">
                <a:moveTo>
                  <a:pt x="0" y="95250"/>
                </a:moveTo>
                <a:lnTo>
                  <a:pt x="95250" y="0"/>
                </a:lnTo>
                <a:lnTo>
                  <a:pt x="1095375" y="0"/>
                </a:lnTo>
                <a:lnTo>
                  <a:pt x="1000125" y="95250"/>
                </a:lnTo>
                <a:close/>
              </a:path>
            </a:pathLst>
          </a:custGeom>
          <a:solidFill>
            <a:srgbClr val="f3caa8"/>
          </a:solidFill>
          <a:ln w="133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000000"/>
              </a:solidFill>
              <a:latin typeface="Arial"/>
            </a:endParaRPr>
          </a:p>
        </p:txBody>
      </p:sp>
      <p:sp>
        <p:nvSpPr>
          <p:cNvPr id="823" name="Google Shape;879;p10"/>
          <p:cNvSpPr/>
          <p:nvPr/>
        </p:nvSpPr>
        <p:spPr>
          <a:xfrm>
            <a:off x="11649240" y="1501200"/>
            <a:ext cx="94680" cy="600120"/>
          </a:xfrm>
          <a:custGeom>
            <a:avLst/>
            <a:gdLst>
              <a:gd name="textAreaLeft" fmla="*/ 0 w 94680"/>
              <a:gd name="textAreaRight" fmla="*/ 95040 w 94680"/>
              <a:gd name="textAreaTop" fmla="*/ 0 h 600120"/>
              <a:gd name="textAreaBottom" fmla="*/ 600480 h 600120"/>
            </a:gdLst>
            <a:ahLst/>
            <a:rect l="textAreaLeft" t="textAreaTop" r="textAreaRight" b="textAreaBottom"/>
            <a:pathLst>
              <a:path w="95250" h="790575">
                <a:moveTo>
                  <a:pt x="0" y="95250"/>
                </a:moveTo>
                <a:lnTo>
                  <a:pt x="95250" y="0"/>
                </a:lnTo>
                <a:lnTo>
                  <a:pt x="95250" y="695325"/>
                </a:lnTo>
                <a:lnTo>
                  <a:pt x="0" y="790575"/>
                </a:lnTo>
                <a:close/>
              </a:path>
            </a:pathLst>
          </a:custGeom>
          <a:solidFill>
            <a:srgbClr val="e99d5d"/>
          </a:solidFill>
          <a:ln w="133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4" name="Google Shape;880;p10"/>
          <p:cNvSpPr/>
          <p:nvPr/>
        </p:nvSpPr>
        <p:spPr>
          <a:xfrm>
            <a:off x="10648800" y="1573560"/>
            <a:ext cx="999360" cy="527760"/>
          </a:xfrm>
          <a:prstGeom prst="rect">
            <a:avLst/>
          </a:prstGeom>
          <a:solidFill>
            <a:srgbClr val="f9e4d2"/>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5" name="Google Shape;881;p10"/>
          <p:cNvSpPr/>
          <p:nvPr/>
        </p:nvSpPr>
        <p:spPr>
          <a:xfrm>
            <a:off x="1089900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6" name="Google Shape;882;p10"/>
          <p:cNvSpPr/>
          <p:nvPr/>
        </p:nvSpPr>
        <p:spPr>
          <a:xfrm>
            <a:off x="1114884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7" name="Google Shape;883;p10"/>
          <p:cNvSpPr/>
          <p:nvPr/>
        </p:nvSpPr>
        <p:spPr>
          <a:xfrm>
            <a:off x="11399040" y="1573560"/>
            <a:ext cx="360" cy="527760"/>
          </a:xfrm>
          <a:custGeom>
            <a:avLst/>
            <a:gdLst>
              <a:gd name="textAreaLeft" fmla="*/ 0 w 360"/>
              <a:gd name="textAreaRight" fmla="*/ 720 w 360"/>
              <a:gd name="textAreaTop" fmla="*/ 0 h 527760"/>
              <a:gd name="textAreaBottom" fmla="*/ 528120 h 527760"/>
            </a:gdLst>
            <a:ahLst/>
            <a:rect l="textAreaLeft" t="textAreaTop" r="textAreaRight" b="textAreaBottom"/>
            <a:pathLst>
              <a:path w="953" h="695325">
                <a:moveTo>
                  <a:pt x="0" y="0"/>
                </a:moveTo>
                <a:lnTo>
                  <a:pt x="0" y="695325"/>
                </a:lnTo>
              </a:path>
            </a:pathLst>
          </a:custGeom>
          <a:noFill/>
          <a:ln w="9525">
            <a:solidFill>
              <a:srgbClr val="f0bb8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28" name="Google Shape;884;p10"/>
          <p:cNvSpPr/>
          <p:nvPr/>
        </p:nvSpPr>
        <p:spPr>
          <a:xfrm>
            <a:off x="10648800" y="1705680"/>
            <a:ext cx="999360" cy="360"/>
          </a:xfrm>
          <a:custGeom>
            <a:avLst/>
            <a:gdLst>
              <a:gd name="textAreaLeft" fmla="*/ 0 w 999360"/>
              <a:gd name="textAreaRight" fmla="*/ 999720 w 999360"/>
              <a:gd name="textAreaTop" fmla="*/ 0 h 360"/>
              <a:gd name="textAreaBottom" fmla="*/ 72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29" name="Google Shape;885;p10"/>
          <p:cNvSpPr/>
          <p:nvPr/>
        </p:nvSpPr>
        <p:spPr>
          <a:xfrm>
            <a:off x="10648800" y="1837800"/>
            <a:ext cx="999360" cy="360"/>
          </a:xfrm>
          <a:custGeom>
            <a:avLst/>
            <a:gdLst>
              <a:gd name="textAreaLeft" fmla="*/ 0 w 999360"/>
              <a:gd name="textAreaRight" fmla="*/ 999720 w 999360"/>
              <a:gd name="textAreaTop" fmla="*/ 0 h 360"/>
              <a:gd name="textAreaBottom" fmla="*/ 72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0" name="Google Shape;886;p10"/>
          <p:cNvSpPr/>
          <p:nvPr/>
        </p:nvSpPr>
        <p:spPr>
          <a:xfrm>
            <a:off x="10648800" y="1969920"/>
            <a:ext cx="999360" cy="360"/>
          </a:xfrm>
          <a:custGeom>
            <a:avLst/>
            <a:gdLst>
              <a:gd name="textAreaLeft" fmla="*/ 0 w 999360"/>
              <a:gd name="textAreaRight" fmla="*/ 999720 w 999360"/>
              <a:gd name="textAreaTop" fmla="*/ 0 h 360"/>
              <a:gd name="textAreaBottom" fmla="*/ 720 h 360"/>
            </a:gdLst>
            <a:ahLst/>
            <a:rect l="textAreaLeft" t="textAreaTop" r="textAreaRight" b="textAreaBottom"/>
            <a:pathLst>
              <a:path w="1000125" h="953">
                <a:moveTo>
                  <a:pt x="0" y="0"/>
                </a:moveTo>
                <a:lnTo>
                  <a:pt x="1000125" y="0"/>
                </a:lnTo>
              </a:path>
            </a:pathLst>
          </a:custGeom>
          <a:noFill/>
          <a:ln w="9525">
            <a:solidFill>
              <a:srgbClr val="f0bb8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1" name="Google Shape;887;p10"/>
          <p:cNvSpPr/>
          <p:nvPr/>
        </p:nvSpPr>
        <p:spPr>
          <a:xfrm>
            <a:off x="10686960" y="1631520"/>
            <a:ext cx="923040" cy="4118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V: 128</a:t>
            </a:r>
            <a:endParaRPr b="0" lang="en-US" sz="1490" spc="-1" strike="noStrike">
              <a:solidFill>
                <a:srgbClr val="000000"/>
              </a:solidFill>
              <a:latin typeface="Arial"/>
            </a:endParaRPr>
          </a:p>
        </p:txBody>
      </p:sp>
      <p:sp>
        <p:nvSpPr>
          <p:cNvPr id="832" name="Google Shape;888;p10"/>
          <p:cNvSpPr/>
          <p:nvPr/>
        </p:nvSpPr>
        <p:spPr>
          <a:xfrm>
            <a:off x="10153800" y="1841400"/>
            <a:ext cx="447120" cy="360"/>
          </a:xfrm>
          <a:custGeom>
            <a:avLst/>
            <a:gdLst>
              <a:gd name="textAreaLeft" fmla="*/ 0 w 447120"/>
              <a:gd name="textAreaRight" fmla="*/ 447480 w 447120"/>
              <a:gd name="textAreaTop" fmla="*/ 0 h 360"/>
              <a:gd name="textAreaBottom" fmla="*/ 720 h 360"/>
            </a:gdLst>
            <a:ahLst/>
            <a:rect l="textAreaLeft" t="textAreaTop" r="textAreaRight" b="textAreaBottom"/>
            <a:pathLst>
              <a:path w="447675" h="953">
                <a:moveTo>
                  <a:pt x="0" y="0"/>
                </a:moveTo>
                <a:lnTo>
                  <a:pt x="4476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3" name="Google Shape;889;p10"/>
          <p:cNvSpPr/>
          <p:nvPr/>
        </p:nvSpPr>
        <p:spPr>
          <a:xfrm>
            <a:off x="10506240" y="180792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34" name="Google Shape;890;p10"/>
          <p:cNvSpPr/>
          <p:nvPr/>
        </p:nvSpPr>
        <p:spPr>
          <a:xfrm>
            <a:off x="533520" y="2695680"/>
            <a:ext cx="3133080" cy="6073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5" name="Google Shape;891;p10"/>
          <p:cNvSpPr/>
          <p:nvPr/>
        </p:nvSpPr>
        <p:spPr>
          <a:xfrm>
            <a:off x="609480" y="2731680"/>
            <a:ext cx="2980440" cy="534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1674d1"/>
                </a:solidFill>
                <a:latin typeface="Verdana"/>
                <a:ea typeface="Verdana"/>
              </a:rPr>
              <a:t>3 × 3 + BN + ReLU</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1674d1"/>
                </a:solidFill>
                <a:latin typeface="Verdana"/>
                <a:ea typeface="Verdana"/>
              </a:rPr>
              <a:t>1 × 1 + sigmoid</a:t>
            </a:r>
            <a:endParaRPr b="0" lang="en-US" sz="1490" spc="-1" strike="noStrike">
              <a:solidFill>
                <a:srgbClr val="000000"/>
              </a:solidFill>
              <a:latin typeface="Arial"/>
            </a:endParaRPr>
          </a:p>
        </p:txBody>
      </p:sp>
      <p:sp>
        <p:nvSpPr>
          <p:cNvPr id="836" name="Google Shape;892;p10"/>
          <p:cNvSpPr/>
          <p:nvPr/>
        </p:nvSpPr>
        <p:spPr>
          <a:xfrm>
            <a:off x="4076640" y="2695680"/>
            <a:ext cx="1666080" cy="60732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37" name="Google Shape;893;p10"/>
          <p:cNvSpPr/>
          <p:nvPr/>
        </p:nvSpPr>
        <p:spPr>
          <a:xfrm>
            <a:off x="4152960" y="2731680"/>
            <a:ext cx="1513800" cy="534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1674d1"/>
                </a:solidFill>
                <a:latin typeface="Verdana"/>
                <a:ea typeface="Verdana"/>
              </a:rPr>
              <a:t>R: 1 ch</a:t>
            </a:r>
            <a:endParaRPr b="0" lang="en-US" sz="1620" spc="-1" strike="noStrike">
              <a:solidFill>
                <a:srgbClr val="000000"/>
              </a:solidFill>
              <a:latin typeface="Arial"/>
            </a:endParaRPr>
          </a:p>
        </p:txBody>
      </p:sp>
      <p:sp>
        <p:nvSpPr>
          <p:cNvPr id="838" name="Google Shape;894;p10"/>
          <p:cNvSpPr/>
          <p:nvPr/>
        </p:nvSpPr>
        <p:spPr>
          <a:xfrm>
            <a:off x="3666960" y="2999520"/>
            <a:ext cx="408960" cy="360"/>
          </a:xfrm>
          <a:custGeom>
            <a:avLst/>
            <a:gdLst>
              <a:gd name="textAreaLeft" fmla="*/ 0 w 408960"/>
              <a:gd name="textAreaRight" fmla="*/ 409320 w 408960"/>
              <a:gd name="textAreaTop" fmla="*/ 0 h 360"/>
              <a:gd name="textAreaBottom" fmla="*/ 720 h 360"/>
            </a:gdLst>
            <a:ahLst/>
            <a:rect l="textAreaLeft" t="textAreaTop" r="textAreaRight" b="textAreaBottom"/>
            <a:pathLst>
              <a:path w="409575" h="953">
                <a:moveTo>
                  <a:pt x="0" y="0"/>
                </a:moveTo>
                <a:lnTo>
                  <a:pt x="409575"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39" name="Google Shape;895;p10"/>
          <p:cNvSpPr/>
          <p:nvPr/>
        </p:nvSpPr>
        <p:spPr>
          <a:xfrm>
            <a:off x="3981600" y="296640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40" name="Google Shape;896;p10"/>
          <p:cNvSpPr/>
          <p:nvPr/>
        </p:nvSpPr>
        <p:spPr>
          <a:xfrm>
            <a:off x="2076480" y="2102040"/>
            <a:ext cx="3142440" cy="592920"/>
          </a:xfrm>
          <a:custGeom>
            <a:avLst/>
            <a:gdLst>
              <a:gd name="textAreaLeft" fmla="*/ 0 w 3142440"/>
              <a:gd name="textAreaRight" fmla="*/ 3142800 w 3142440"/>
              <a:gd name="textAreaTop" fmla="*/ 0 h 592920"/>
              <a:gd name="textAreaBottom" fmla="*/ 593280 h 592920"/>
            </a:gdLst>
            <a:ahLst/>
            <a:rect l="textAreaLeft" t="textAreaTop" r="textAreaRight" b="textAreaBottom"/>
            <a:pathLst>
              <a:path w="3143250" h="781050">
                <a:moveTo>
                  <a:pt x="3143250" y="0"/>
                </a:moveTo>
                <a:lnTo>
                  <a:pt x="3143250" y="390525"/>
                </a:lnTo>
                <a:lnTo>
                  <a:pt x="0" y="390525"/>
                </a:lnTo>
                <a:lnTo>
                  <a:pt x="0" y="781050"/>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1" name="Google Shape;897;p10"/>
          <p:cNvSpPr/>
          <p:nvPr/>
        </p:nvSpPr>
        <p:spPr>
          <a:xfrm>
            <a:off x="2032560" y="262332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42" name="Google Shape;898;p10"/>
          <p:cNvSpPr/>
          <p:nvPr/>
        </p:nvSpPr>
        <p:spPr>
          <a:xfrm>
            <a:off x="5838840" y="1841400"/>
            <a:ext cx="218520" cy="1816200"/>
          </a:xfrm>
          <a:custGeom>
            <a:avLst/>
            <a:gdLst>
              <a:gd name="textAreaLeft" fmla="*/ 0 w 218520"/>
              <a:gd name="textAreaRight" fmla="*/ 218880 w 218520"/>
              <a:gd name="textAreaTop" fmla="*/ 0 h 1816200"/>
              <a:gd name="textAreaBottom" fmla="*/ 1816560 h 1816200"/>
            </a:gdLst>
            <a:ahLst/>
            <a:rect l="textAreaLeft" t="textAreaTop" r="textAreaRight" b="textAreaBottom"/>
            <a:pathLst>
              <a:path w="219075" h="2390775">
                <a:moveTo>
                  <a:pt x="0" y="0"/>
                </a:moveTo>
                <a:lnTo>
                  <a:pt x="219075" y="0"/>
                </a:lnTo>
                <a:lnTo>
                  <a:pt x="219075" y="239077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3" name="Google Shape;899;p10"/>
          <p:cNvSpPr/>
          <p:nvPr/>
        </p:nvSpPr>
        <p:spPr>
          <a:xfrm>
            <a:off x="6014160" y="358596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44" name="Google Shape;900;p10"/>
          <p:cNvSpPr/>
          <p:nvPr/>
        </p:nvSpPr>
        <p:spPr>
          <a:xfrm>
            <a:off x="6496200" y="2695680"/>
            <a:ext cx="3133080" cy="60732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5" name="Google Shape;901;p10"/>
          <p:cNvSpPr/>
          <p:nvPr/>
        </p:nvSpPr>
        <p:spPr>
          <a:xfrm>
            <a:off x="6572160" y="2731680"/>
            <a:ext cx="2980440" cy="534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c86a1b"/>
                </a:solidFill>
                <a:latin typeface="Verdana"/>
                <a:ea typeface="Verdana"/>
              </a:rPr>
              <a:t>Channel L2 norm</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c86a1b"/>
                </a:solidFill>
                <a:latin typeface="Verdana"/>
                <a:ea typeface="Verdana"/>
              </a:rPr>
              <a:t>÷ spatial maximum</a:t>
            </a:r>
            <a:endParaRPr b="0" lang="en-US" sz="1490" spc="-1" strike="noStrike">
              <a:solidFill>
                <a:srgbClr val="000000"/>
              </a:solidFill>
              <a:latin typeface="Arial"/>
            </a:endParaRPr>
          </a:p>
        </p:txBody>
      </p:sp>
      <p:sp>
        <p:nvSpPr>
          <p:cNvPr id="846" name="Google Shape;902;p10"/>
          <p:cNvSpPr/>
          <p:nvPr/>
        </p:nvSpPr>
        <p:spPr>
          <a:xfrm>
            <a:off x="10039320" y="2695680"/>
            <a:ext cx="1618560" cy="60732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47" name="Google Shape;903;p10"/>
          <p:cNvSpPr/>
          <p:nvPr/>
        </p:nvSpPr>
        <p:spPr>
          <a:xfrm>
            <a:off x="10115640" y="2731680"/>
            <a:ext cx="1466280" cy="5349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c86a1b"/>
                </a:solidFill>
                <a:latin typeface="Verdana"/>
                <a:ea typeface="Verdana"/>
              </a:rPr>
              <a:t>O: 1 ch</a:t>
            </a:r>
            <a:endParaRPr b="0" lang="en-US" sz="1620" spc="-1" strike="noStrike">
              <a:solidFill>
                <a:srgbClr val="000000"/>
              </a:solidFill>
              <a:latin typeface="Arial"/>
            </a:endParaRPr>
          </a:p>
        </p:txBody>
      </p:sp>
      <p:sp>
        <p:nvSpPr>
          <p:cNvPr id="848" name="Google Shape;904;p10"/>
          <p:cNvSpPr/>
          <p:nvPr/>
        </p:nvSpPr>
        <p:spPr>
          <a:xfrm>
            <a:off x="9629640" y="2999520"/>
            <a:ext cx="408960" cy="360"/>
          </a:xfrm>
          <a:custGeom>
            <a:avLst/>
            <a:gdLst>
              <a:gd name="textAreaLeft" fmla="*/ 0 w 408960"/>
              <a:gd name="textAreaRight" fmla="*/ 409320 w 408960"/>
              <a:gd name="textAreaTop" fmla="*/ 0 h 360"/>
              <a:gd name="textAreaBottom" fmla="*/ 720 h 360"/>
            </a:gdLst>
            <a:ahLst/>
            <a:rect l="textAreaLeft" t="textAreaTop" r="textAreaRight" b="textAreaBottom"/>
            <a:pathLst>
              <a:path w="409575" h="953">
                <a:moveTo>
                  <a:pt x="0" y="0"/>
                </a:moveTo>
                <a:lnTo>
                  <a:pt x="409575"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49" name="Google Shape;905;p10"/>
          <p:cNvSpPr/>
          <p:nvPr/>
        </p:nvSpPr>
        <p:spPr>
          <a:xfrm>
            <a:off x="9944280" y="296640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50" name="Google Shape;906;p10"/>
          <p:cNvSpPr/>
          <p:nvPr/>
        </p:nvSpPr>
        <p:spPr>
          <a:xfrm>
            <a:off x="8048520" y="2102040"/>
            <a:ext cx="3094920" cy="592920"/>
          </a:xfrm>
          <a:custGeom>
            <a:avLst/>
            <a:gdLst>
              <a:gd name="textAreaLeft" fmla="*/ 0 w 3094920"/>
              <a:gd name="textAreaRight" fmla="*/ 3095280 w 3094920"/>
              <a:gd name="textAreaTop" fmla="*/ 0 h 592920"/>
              <a:gd name="textAreaBottom" fmla="*/ 593280 h 592920"/>
            </a:gdLst>
            <a:ahLst/>
            <a:rect l="textAreaLeft" t="textAreaTop" r="textAreaRight" b="textAreaBottom"/>
            <a:pathLst>
              <a:path w="3095625" h="781050">
                <a:moveTo>
                  <a:pt x="3095625" y="0"/>
                </a:moveTo>
                <a:lnTo>
                  <a:pt x="3095625" y="390525"/>
                </a:lnTo>
                <a:lnTo>
                  <a:pt x="0" y="390525"/>
                </a:lnTo>
                <a:lnTo>
                  <a:pt x="0" y="78105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1" name="Google Shape;907;p10"/>
          <p:cNvSpPr/>
          <p:nvPr/>
        </p:nvSpPr>
        <p:spPr>
          <a:xfrm>
            <a:off x="8004960" y="262332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2" name="Google Shape;908;p10"/>
          <p:cNvSpPr/>
          <p:nvPr/>
        </p:nvSpPr>
        <p:spPr>
          <a:xfrm>
            <a:off x="11430000" y="1841400"/>
            <a:ext cx="475560" cy="1816200"/>
          </a:xfrm>
          <a:custGeom>
            <a:avLst/>
            <a:gdLst>
              <a:gd name="textAreaLeft" fmla="*/ 0 w 475560"/>
              <a:gd name="textAreaRight" fmla="*/ 475920 w 475560"/>
              <a:gd name="textAreaTop" fmla="*/ 0 h 1816200"/>
              <a:gd name="textAreaBottom" fmla="*/ 1816560 h 1816200"/>
            </a:gdLst>
            <a:ahLst/>
            <a:rect l="textAreaLeft" t="textAreaTop" r="textAreaRight" b="textAreaBottom"/>
            <a:pathLst>
              <a:path w="476250" h="2390775">
                <a:moveTo>
                  <a:pt x="381000" y="0"/>
                </a:moveTo>
                <a:lnTo>
                  <a:pt x="476250" y="0"/>
                </a:lnTo>
                <a:lnTo>
                  <a:pt x="476250" y="2257425"/>
                </a:lnTo>
                <a:lnTo>
                  <a:pt x="0" y="2257425"/>
                </a:lnTo>
                <a:lnTo>
                  <a:pt x="0" y="239077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3" name="Google Shape;909;p10"/>
          <p:cNvSpPr/>
          <p:nvPr/>
        </p:nvSpPr>
        <p:spPr>
          <a:xfrm>
            <a:off x="11386080" y="358596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4" name="Google Shape;910;p10"/>
          <p:cNvSpPr/>
          <p:nvPr/>
        </p:nvSpPr>
        <p:spPr>
          <a:xfrm>
            <a:off x="533520" y="3658320"/>
            <a:ext cx="11124360" cy="4118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5" name="Google Shape;911;p10"/>
          <p:cNvSpPr/>
          <p:nvPr/>
        </p:nvSpPr>
        <p:spPr>
          <a:xfrm>
            <a:off x="609480" y="3694680"/>
            <a:ext cx="10972080" cy="339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20" spc="-1" strike="noStrike">
                <a:solidFill>
                  <a:srgbClr val="7351c7"/>
                </a:solidFill>
                <a:latin typeface="Verdana"/>
                <a:ea typeface="Verdana"/>
              </a:rPr>
              <a:t>Concat [U, V, O, R] = 258 channels</a:t>
            </a:r>
            <a:endParaRPr b="0" lang="en-US" sz="1620" spc="-1" strike="noStrike">
              <a:solidFill>
                <a:srgbClr val="000000"/>
              </a:solidFill>
              <a:latin typeface="Arial"/>
            </a:endParaRPr>
          </a:p>
        </p:txBody>
      </p:sp>
      <p:sp>
        <p:nvSpPr>
          <p:cNvPr id="856" name="Google Shape;912;p10"/>
          <p:cNvSpPr/>
          <p:nvPr/>
        </p:nvSpPr>
        <p:spPr>
          <a:xfrm>
            <a:off x="4905360" y="3303720"/>
            <a:ext cx="360" cy="353880"/>
          </a:xfrm>
          <a:custGeom>
            <a:avLst/>
            <a:gdLst>
              <a:gd name="textAreaLeft" fmla="*/ 0 w 360"/>
              <a:gd name="textAreaRight" fmla="*/ 720 w 360"/>
              <a:gd name="textAreaTop" fmla="*/ 0 h 353880"/>
              <a:gd name="textAreaBottom" fmla="*/ 354240 h 353880"/>
            </a:gdLst>
            <a:ahLst/>
            <a:rect l="textAreaLeft" t="textAreaTop" r="textAreaRight" b="textAreaBottom"/>
            <a:pathLst>
              <a:path w="953" h="466725">
                <a:moveTo>
                  <a:pt x="0" y="0"/>
                </a:moveTo>
                <a:lnTo>
                  <a:pt x="0" y="4667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7" name="Google Shape;913;p10"/>
          <p:cNvSpPr/>
          <p:nvPr/>
        </p:nvSpPr>
        <p:spPr>
          <a:xfrm>
            <a:off x="4861440" y="358596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1674d1"/>
          </a:solidFill>
          <a:ln w="9525">
            <a:solidFill>
              <a:srgbClr val="1674d1"/>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58" name="Google Shape;914;p10"/>
          <p:cNvSpPr/>
          <p:nvPr/>
        </p:nvSpPr>
        <p:spPr>
          <a:xfrm>
            <a:off x="10848960" y="3303720"/>
            <a:ext cx="360" cy="353880"/>
          </a:xfrm>
          <a:custGeom>
            <a:avLst/>
            <a:gdLst>
              <a:gd name="textAreaLeft" fmla="*/ 0 w 360"/>
              <a:gd name="textAreaRight" fmla="*/ 720 w 360"/>
              <a:gd name="textAreaTop" fmla="*/ 0 h 353880"/>
              <a:gd name="textAreaBottom" fmla="*/ 354240 h 353880"/>
            </a:gdLst>
            <a:ahLst/>
            <a:rect l="textAreaLeft" t="textAreaTop" r="textAreaRight" b="textAreaBottom"/>
            <a:pathLst>
              <a:path w="953" h="466725">
                <a:moveTo>
                  <a:pt x="0" y="0"/>
                </a:moveTo>
                <a:lnTo>
                  <a:pt x="0" y="466725"/>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59" name="Google Shape;915;p10"/>
          <p:cNvSpPr/>
          <p:nvPr/>
        </p:nvSpPr>
        <p:spPr>
          <a:xfrm>
            <a:off x="10805040" y="3585960"/>
            <a:ext cx="86760" cy="71640"/>
          </a:xfrm>
          <a:custGeom>
            <a:avLst/>
            <a:gdLst>
              <a:gd name="textAreaLeft" fmla="*/ 0 w 86760"/>
              <a:gd name="textAreaRight" fmla="*/ 87120 w 86760"/>
              <a:gd name="textAreaTop" fmla="*/ 0 h 71640"/>
              <a:gd name="textAreaBottom" fmla="*/ 72000 h 71640"/>
            </a:gdLst>
            <a:ahLst/>
            <a:rect l="textAreaLeft" t="textAreaTop" r="textAreaRight" b="textAreaBottom"/>
            <a:pathLst>
              <a:path w="87630" h="95250">
                <a:moveTo>
                  <a:pt x="43815" y="95250"/>
                </a:moveTo>
                <a:lnTo>
                  <a:pt x="87630" y="0"/>
                </a:lnTo>
                <a:lnTo>
                  <a:pt x="0" y="0"/>
                </a:lnTo>
                <a:close/>
              </a:path>
            </a:pathLst>
          </a:custGeom>
          <a:solidFill>
            <a:srgbClr val="c86a1b"/>
          </a:solidFill>
          <a:ln w="9525">
            <a:solidFill>
              <a:srgbClr val="c86a1b"/>
            </a:solidFill>
            <a:round/>
          </a:ln>
        </p:spPr>
        <p:style>
          <a:lnRef idx="0"/>
          <a:fillRef idx="0"/>
          <a:effectRef idx="0"/>
          <a:fontRef idx="minor"/>
        </p:style>
        <p:txBody>
          <a:bodyPr lIns="90000" rIns="90000" tIns="27000" bIns="27000" anchor="t">
            <a:noAutofit/>
          </a:bodyPr>
          <a:p>
            <a:pPr>
              <a:lnSpc>
                <a:spcPct val="100000"/>
              </a:lnSpc>
              <a:tabLst>
                <a:tab algn="l" pos="0"/>
              </a:tabLst>
            </a:pPr>
            <a:endParaRPr b="0" lang="en-US" sz="1400" spc="-1" strike="noStrike">
              <a:solidFill>
                <a:srgbClr val="ffffff"/>
              </a:solidFill>
              <a:latin typeface="Arial"/>
            </a:endParaRPr>
          </a:p>
        </p:txBody>
      </p:sp>
      <p:sp>
        <p:nvSpPr>
          <p:cNvPr id="860" name="Google Shape;916;p10"/>
          <p:cNvSpPr/>
          <p:nvPr/>
        </p:nvSpPr>
        <p:spPr>
          <a:xfrm>
            <a:off x="2419200" y="4324320"/>
            <a:ext cx="2237760" cy="5061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1" name="Google Shape;917;p10"/>
          <p:cNvSpPr/>
          <p:nvPr/>
        </p:nvSpPr>
        <p:spPr>
          <a:xfrm>
            <a:off x="2495520" y="4360680"/>
            <a:ext cx="2085120" cy="433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490" spc="-1" strike="noStrike">
                <a:solidFill>
                  <a:srgbClr val="7351c7"/>
                </a:solidFill>
                <a:latin typeface="Verdana"/>
                <a:ea typeface="Verdana"/>
              </a:rPr>
              <a:t>3×3, BN, ReLU</a:t>
            </a:r>
            <a:endParaRPr b="0" lang="en-US" sz="1490" spc="-1" strike="noStrike">
              <a:solidFill>
                <a:srgbClr val="000000"/>
              </a:solidFill>
              <a:latin typeface="Arial"/>
            </a:endParaRPr>
          </a:p>
          <a:p>
            <a:pPr algn="ctr">
              <a:lnSpc>
                <a:spcPct val="100000"/>
              </a:lnSpc>
              <a:tabLst>
                <a:tab algn="l" pos="0"/>
              </a:tabLst>
            </a:pPr>
            <a:r>
              <a:rPr b="1" lang="en-US" sz="1490" spc="-1" strike="noStrike">
                <a:solidFill>
                  <a:srgbClr val="7351c7"/>
                </a:solidFill>
                <a:latin typeface="Verdana"/>
                <a:ea typeface="Verdana"/>
              </a:rPr>
              <a:t>258 → 128</a:t>
            </a:r>
            <a:endParaRPr b="0" lang="en-US" sz="1490" spc="-1" strike="noStrike">
              <a:solidFill>
                <a:srgbClr val="000000"/>
              </a:solidFill>
              <a:latin typeface="Arial"/>
            </a:endParaRPr>
          </a:p>
        </p:txBody>
      </p:sp>
      <p:sp>
        <p:nvSpPr>
          <p:cNvPr id="862" name="Google Shape;918;p10"/>
          <p:cNvSpPr/>
          <p:nvPr/>
        </p:nvSpPr>
        <p:spPr>
          <a:xfrm>
            <a:off x="5267160" y="4324320"/>
            <a:ext cx="2237760" cy="5061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3" name="Google Shape;919;p10"/>
          <p:cNvSpPr/>
          <p:nvPr/>
        </p:nvSpPr>
        <p:spPr>
          <a:xfrm>
            <a:off x="5343480" y="4360680"/>
            <a:ext cx="2085120" cy="433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7351c7"/>
                </a:solidFill>
                <a:latin typeface="Verdana"/>
                <a:ea typeface="Verdana"/>
              </a:rPr>
              <a:t>1 × 1</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7351c7"/>
                </a:solidFill>
                <a:latin typeface="Verdana"/>
                <a:ea typeface="Verdana"/>
              </a:rPr>
              <a:t>128 → 1</a:t>
            </a:r>
            <a:endParaRPr b="0" lang="en-US" sz="1550" spc="-1" strike="noStrike">
              <a:solidFill>
                <a:srgbClr val="000000"/>
              </a:solidFill>
              <a:latin typeface="Arial"/>
            </a:endParaRPr>
          </a:p>
        </p:txBody>
      </p:sp>
      <p:sp>
        <p:nvSpPr>
          <p:cNvPr id="864" name="Google Shape;920;p10"/>
          <p:cNvSpPr/>
          <p:nvPr/>
        </p:nvSpPr>
        <p:spPr>
          <a:xfrm>
            <a:off x="8115480" y="4324320"/>
            <a:ext cx="3542760" cy="5061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5" name="Google Shape;921;p10"/>
          <p:cNvSpPr/>
          <p:nvPr/>
        </p:nvSpPr>
        <p:spPr>
          <a:xfrm>
            <a:off x="8191440" y="4360680"/>
            <a:ext cx="3390120" cy="433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550" spc="-1" strike="noStrike">
                <a:solidFill>
                  <a:srgbClr val="7351c7"/>
                </a:solidFill>
                <a:latin typeface="Verdana"/>
                <a:ea typeface="Verdana"/>
              </a:rPr>
              <a:t>Sigmoid</a:t>
            </a:r>
            <a:endParaRPr b="0" lang="en-US" sz="1550" spc="-1" strike="noStrike">
              <a:solidFill>
                <a:srgbClr val="000000"/>
              </a:solidFill>
              <a:latin typeface="Arial"/>
            </a:endParaRPr>
          </a:p>
          <a:p>
            <a:pPr algn="ctr">
              <a:lnSpc>
                <a:spcPct val="100000"/>
              </a:lnSpc>
              <a:tabLst>
                <a:tab algn="l" pos="0"/>
              </a:tabLst>
            </a:pPr>
            <a:r>
              <a:rPr b="1" lang="en-US" sz="1550" spc="-1" strike="noStrike">
                <a:solidFill>
                  <a:srgbClr val="7351c7"/>
                </a:solidFill>
                <a:latin typeface="Verdana"/>
                <a:ea typeface="Verdana"/>
              </a:rPr>
              <a:t>G(x, y)</a:t>
            </a:r>
            <a:endParaRPr b="0" lang="en-US" sz="1550" spc="-1" strike="noStrike">
              <a:solidFill>
                <a:srgbClr val="000000"/>
              </a:solidFill>
              <a:latin typeface="Arial"/>
            </a:endParaRPr>
          </a:p>
        </p:txBody>
      </p:sp>
      <p:sp>
        <p:nvSpPr>
          <p:cNvPr id="866" name="Google Shape;922;p10"/>
          <p:cNvSpPr/>
          <p:nvPr/>
        </p:nvSpPr>
        <p:spPr>
          <a:xfrm>
            <a:off x="1523880" y="4070880"/>
            <a:ext cx="894600" cy="506160"/>
          </a:xfrm>
          <a:custGeom>
            <a:avLst/>
            <a:gdLst>
              <a:gd name="textAreaLeft" fmla="*/ 0 w 894600"/>
              <a:gd name="textAreaRight" fmla="*/ 894960 w 894600"/>
              <a:gd name="textAreaTop" fmla="*/ 0 h 506160"/>
              <a:gd name="textAreaBottom" fmla="*/ 506520 h 506160"/>
            </a:gdLst>
            <a:ahLst/>
            <a:rect l="textAreaLeft" t="textAreaTop" r="textAreaRight" b="textAreaBottom"/>
            <a:pathLst>
              <a:path w="895350" h="666750">
                <a:moveTo>
                  <a:pt x="0" y="0"/>
                </a:moveTo>
                <a:lnTo>
                  <a:pt x="0" y="666750"/>
                </a:lnTo>
                <a:lnTo>
                  <a:pt x="895350" y="66675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67" name="Google Shape;923;p10"/>
          <p:cNvSpPr/>
          <p:nvPr/>
        </p:nvSpPr>
        <p:spPr>
          <a:xfrm>
            <a:off x="2324160" y="454428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68" name="Google Shape;924;p10"/>
          <p:cNvSpPr/>
          <p:nvPr/>
        </p:nvSpPr>
        <p:spPr>
          <a:xfrm>
            <a:off x="4657680" y="4577760"/>
            <a:ext cx="608760" cy="360"/>
          </a:xfrm>
          <a:custGeom>
            <a:avLst/>
            <a:gdLst>
              <a:gd name="textAreaLeft" fmla="*/ 0 w 608760"/>
              <a:gd name="textAreaRight" fmla="*/ 609120 w 608760"/>
              <a:gd name="textAreaTop" fmla="*/ 0 h 360"/>
              <a:gd name="textAreaBottom" fmla="*/ 720 h 360"/>
            </a:gdLst>
            <a:ahLst/>
            <a:rect l="textAreaLeft" t="textAreaTop" r="textAreaRight" b="textAreaBottom"/>
            <a:pathLst>
              <a:path w="609600" h="953">
                <a:moveTo>
                  <a:pt x="0" y="0"/>
                </a:moveTo>
                <a:lnTo>
                  <a:pt x="6096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69" name="Google Shape;925;p10"/>
          <p:cNvSpPr/>
          <p:nvPr/>
        </p:nvSpPr>
        <p:spPr>
          <a:xfrm>
            <a:off x="5172120" y="454428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70" name="Google Shape;926;p10"/>
          <p:cNvSpPr/>
          <p:nvPr/>
        </p:nvSpPr>
        <p:spPr>
          <a:xfrm>
            <a:off x="7505640" y="4577760"/>
            <a:ext cx="608760" cy="360"/>
          </a:xfrm>
          <a:custGeom>
            <a:avLst/>
            <a:gdLst>
              <a:gd name="textAreaLeft" fmla="*/ 0 w 608760"/>
              <a:gd name="textAreaRight" fmla="*/ 609120 w 608760"/>
              <a:gd name="textAreaTop" fmla="*/ 0 h 360"/>
              <a:gd name="textAreaBottom" fmla="*/ 720 h 360"/>
            </a:gdLst>
            <a:ahLst/>
            <a:rect l="textAreaLeft" t="textAreaTop" r="textAreaRight" b="textAreaBottom"/>
            <a:pathLst>
              <a:path w="609600" h="953">
                <a:moveTo>
                  <a:pt x="0" y="0"/>
                </a:moveTo>
                <a:lnTo>
                  <a:pt x="6096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71" name="Google Shape;927;p10"/>
          <p:cNvSpPr/>
          <p:nvPr/>
        </p:nvSpPr>
        <p:spPr>
          <a:xfrm>
            <a:off x="8020080" y="4544280"/>
            <a:ext cx="94680" cy="65880"/>
          </a:xfrm>
          <a:custGeom>
            <a:avLst/>
            <a:gdLst>
              <a:gd name="textAreaLeft" fmla="*/ 0 w 94680"/>
              <a:gd name="textAreaRight" fmla="*/ 95040 w 94680"/>
              <a:gd name="textAreaTop" fmla="*/ 0 h 65880"/>
              <a:gd name="textAreaBottom" fmla="*/ 66240 h 6588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21240" bIns="21240" anchor="t">
            <a:noAutofit/>
          </a:bodyPr>
          <a:p>
            <a:pPr>
              <a:lnSpc>
                <a:spcPct val="100000"/>
              </a:lnSpc>
              <a:tabLst>
                <a:tab algn="l" pos="0"/>
              </a:tabLst>
            </a:pPr>
            <a:endParaRPr b="0" lang="en-US" sz="1400" spc="-1" strike="noStrike">
              <a:solidFill>
                <a:srgbClr val="ffffff"/>
              </a:solidFill>
              <a:latin typeface="Arial"/>
            </a:endParaRPr>
          </a:p>
        </p:txBody>
      </p:sp>
      <p:sp>
        <p:nvSpPr>
          <p:cNvPr id="872" name="Google Shape;928;p10"/>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73" name="Google Shape;929;p10"/>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R and O are learned-feature proxies. The gate has no separate reliability-label supervision.</a:t>
            </a:r>
            <a:endParaRPr b="0" lang="en-US" sz="1729" spc="-1" strike="noStrike">
              <a:solidFill>
                <a:srgbClr val="000000"/>
              </a:solidFill>
              <a:latin typeface="Arial"/>
            </a:endParaRPr>
          </a:p>
        </p:txBody>
      </p:sp>
      <p:sp>
        <p:nvSpPr>
          <p:cNvPr id="874" name="Google Shape;930;p10"/>
          <p:cNvSpPr/>
          <p:nvPr/>
        </p:nvSpPr>
        <p:spPr>
          <a:xfrm>
            <a:off x="533520" y="4981680"/>
            <a:ext cx="5142960" cy="342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1674d1"/>
                </a:solidFill>
                <a:latin typeface="Verdana"/>
                <a:ea typeface="Verdana"/>
              </a:rPr>
              <a:t>R = sigmoid(hcam(U))</a:t>
            </a:r>
            <a:endParaRPr b="0" lang="en-US" sz="1950" spc="-1" strike="noStrike">
              <a:solidFill>
                <a:srgbClr val="000000"/>
              </a:solidFill>
              <a:latin typeface="Arial"/>
            </a:endParaRPr>
          </a:p>
        </p:txBody>
      </p:sp>
      <p:sp>
        <p:nvSpPr>
          <p:cNvPr id="875" name="Google Shape;931;p10"/>
          <p:cNvSpPr/>
          <p:nvPr/>
        </p:nvSpPr>
        <p:spPr>
          <a:xfrm>
            <a:off x="533520" y="5391000"/>
            <a:ext cx="7809840" cy="370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c86a1b"/>
                </a:solidFill>
                <a:latin typeface="Verdana"/>
                <a:ea typeface="Verdana"/>
              </a:rPr>
              <a:t>O(x,y) = ‖V(x,y)‖₂ / max(ε, maxₐ,ᵦ ‖V(a,b)‖₂)</a:t>
            </a:r>
            <a:endParaRPr b="0" lang="en-US" sz="1800" spc="-1" strike="noStrike">
              <a:solidFill>
                <a:srgbClr val="000000"/>
              </a:solidFill>
              <a:latin typeface="Arial"/>
            </a:endParaRPr>
          </a:p>
        </p:txBody>
      </p:sp>
      <p:sp>
        <p:nvSpPr>
          <p:cNvPr id="876" name="Google Shape;932;p10"/>
          <p:cNvSpPr/>
          <p:nvPr/>
        </p:nvSpPr>
        <p:spPr>
          <a:xfrm>
            <a:off x="6191280" y="4981680"/>
            <a:ext cx="5466600" cy="342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G = sigmoid(hgate([U,V,O,R]))</a:t>
            </a:r>
            <a:endParaRPr b="0" lang="en-US" sz="1870" spc="-1" strike="noStrike">
              <a:solidFill>
                <a:srgbClr val="000000"/>
              </a:solidFill>
              <a:latin typeface="Arial"/>
            </a:endParaRPr>
          </a:p>
        </p:txBody>
      </p:sp>
      <p:sp>
        <p:nvSpPr>
          <p:cNvPr id="877" name="Google Shape;933;p10"/>
          <p:cNvSpPr/>
          <p:nvPr/>
        </p:nvSpPr>
        <p:spPr>
          <a:xfrm>
            <a:off x="9524880" y="5429160"/>
            <a:ext cx="2133000" cy="3042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650" spc="-1" strike="noStrike">
                <a:solidFill>
                  <a:srgbClr val="58677c"/>
                </a:solidFill>
                <a:latin typeface="Verdana"/>
                <a:ea typeface="Verdana"/>
              </a:rPr>
              <a:t>ε = 10⁻⁶</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878" name="Google Shape;939;p11"/>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gate controls a local camera–LiDAR blend</a:t>
            </a:r>
            <a:endParaRPr b="0" lang="en-US" sz="3300" spc="-1" strike="noStrike">
              <a:solidFill>
                <a:srgbClr val="000000"/>
              </a:solidFill>
              <a:latin typeface="Arial"/>
            </a:endParaRPr>
          </a:p>
        </p:txBody>
      </p:sp>
      <p:sp>
        <p:nvSpPr>
          <p:cNvPr id="879" name="Google Shape;940;p11"/>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11</a:t>
            </a:r>
            <a:endParaRPr b="0" lang="en-US" sz="1200" spc="-1" strike="noStrike">
              <a:solidFill>
                <a:srgbClr val="000000"/>
              </a:solidFill>
              <a:latin typeface="Arial"/>
            </a:endParaRPr>
          </a:p>
        </p:txBody>
      </p:sp>
      <p:sp>
        <p:nvSpPr>
          <p:cNvPr id="880" name="Google Shape;941;p11"/>
          <p:cNvSpPr/>
          <p:nvPr/>
        </p:nvSpPr>
        <p:spPr>
          <a:xfrm>
            <a:off x="533520" y="1380960"/>
            <a:ext cx="414252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One scalar per BEV cell</a:t>
            </a:r>
            <a:endParaRPr b="0" lang="en-US" sz="2170" spc="-1" strike="noStrike">
              <a:solidFill>
                <a:srgbClr val="000000"/>
              </a:solidFill>
              <a:latin typeface="Arial"/>
            </a:endParaRPr>
          </a:p>
        </p:txBody>
      </p:sp>
      <p:sp>
        <p:nvSpPr>
          <p:cNvPr id="881" name="Google Shape;942;p11"/>
          <p:cNvSpPr/>
          <p:nvPr/>
        </p:nvSpPr>
        <p:spPr>
          <a:xfrm>
            <a:off x="609480" y="2085840"/>
            <a:ext cx="2666160" cy="2666160"/>
          </a:xfrm>
          <a:prstGeom prst="rect">
            <a:avLst/>
          </a:prstGeom>
          <a:solidFill>
            <a:srgbClr val="ffffff"/>
          </a:solidFill>
          <a:ln w="114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2" name="Google Shape;943;p11"/>
          <p:cNvSpPr/>
          <p:nvPr/>
        </p:nvSpPr>
        <p:spPr>
          <a:xfrm>
            <a:off x="609480" y="20858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3" name="Google Shape;944;p11"/>
          <p:cNvSpPr/>
          <p:nvPr/>
        </p:nvSpPr>
        <p:spPr>
          <a:xfrm>
            <a:off x="942840" y="20858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4" name="Google Shape;945;p11"/>
          <p:cNvSpPr/>
          <p:nvPr/>
        </p:nvSpPr>
        <p:spPr>
          <a:xfrm>
            <a:off x="1276200" y="20858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85" name="Google Shape;946;p11"/>
          <p:cNvSpPr/>
          <p:nvPr/>
        </p:nvSpPr>
        <p:spPr>
          <a:xfrm>
            <a:off x="1609560" y="208584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6" name="Google Shape;947;p11"/>
          <p:cNvSpPr/>
          <p:nvPr/>
        </p:nvSpPr>
        <p:spPr>
          <a:xfrm>
            <a:off x="1943280" y="208584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7" name="Google Shape;948;p11"/>
          <p:cNvSpPr/>
          <p:nvPr/>
        </p:nvSpPr>
        <p:spPr>
          <a:xfrm>
            <a:off x="2276640" y="208584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8" name="Google Shape;949;p11"/>
          <p:cNvSpPr/>
          <p:nvPr/>
        </p:nvSpPr>
        <p:spPr>
          <a:xfrm>
            <a:off x="2610000" y="208584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89" name="Google Shape;950;p11"/>
          <p:cNvSpPr/>
          <p:nvPr/>
        </p:nvSpPr>
        <p:spPr>
          <a:xfrm>
            <a:off x="2943360" y="208584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0" name="Google Shape;951;p11"/>
          <p:cNvSpPr/>
          <p:nvPr/>
        </p:nvSpPr>
        <p:spPr>
          <a:xfrm>
            <a:off x="609480" y="24192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1" name="Google Shape;952;p11"/>
          <p:cNvSpPr/>
          <p:nvPr/>
        </p:nvSpPr>
        <p:spPr>
          <a:xfrm>
            <a:off x="942840" y="24192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2" name="Google Shape;953;p11"/>
          <p:cNvSpPr/>
          <p:nvPr/>
        </p:nvSpPr>
        <p:spPr>
          <a:xfrm>
            <a:off x="1276200" y="24192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3" name="Google Shape;954;p11"/>
          <p:cNvSpPr/>
          <p:nvPr/>
        </p:nvSpPr>
        <p:spPr>
          <a:xfrm>
            <a:off x="1609560" y="241920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4" name="Google Shape;955;p11"/>
          <p:cNvSpPr/>
          <p:nvPr/>
        </p:nvSpPr>
        <p:spPr>
          <a:xfrm>
            <a:off x="1943280" y="241920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5" name="Google Shape;956;p11"/>
          <p:cNvSpPr/>
          <p:nvPr/>
        </p:nvSpPr>
        <p:spPr>
          <a:xfrm>
            <a:off x="2276640" y="241920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6" name="Google Shape;957;p11"/>
          <p:cNvSpPr/>
          <p:nvPr/>
        </p:nvSpPr>
        <p:spPr>
          <a:xfrm>
            <a:off x="2610000" y="241920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7" name="Google Shape;958;p11"/>
          <p:cNvSpPr/>
          <p:nvPr/>
        </p:nvSpPr>
        <p:spPr>
          <a:xfrm>
            <a:off x="2943360" y="241920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898" name="Google Shape;959;p11"/>
          <p:cNvSpPr/>
          <p:nvPr/>
        </p:nvSpPr>
        <p:spPr>
          <a:xfrm>
            <a:off x="609480" y="27525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899" name="Google Shape;960;p11"/>
          <p:cNvSpPr/>
          <p:nvPr/>
        </p:nvSpPr>
        <p:spPr>
          <a:xfrm>
            <a:off x="942840" y="27525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0" name="Google Shape;961;p11"/>
          <p:cNvSpPr/>
          <p:nvPr/>
        </p:nvSpPr>
        <p:spPr>
          <a:xfrm>
            <a:off x="1276200" y="27525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1" name="Google Shape;962;p11"/>
          <p:cNvSpPr/>
          <p:nvPr/>
        </p:nvSpPr>
        <p:spPr>
          <a:xfrm>
            <a:off x="1609560" y="275256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2" name="Google Shape;963;p11"/>
          <p:cNvSpPr/>
          <p:nvPr/>
        </p:nvSpPr>
        <p:spPr>
          <a:xfrm>
            <a:off x="1943280" y="275256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3" name="Google Shape;964;p11"/>
          <p:cNvSpPr/>
          <p:nvPr/>
        </p:nvSpPr>
        <p:spPr>
          <a:xfrm>
            <a:off x="2276640" y="275256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4" name="Google Shape;965;p11"/>
          <p:cNvSpPr/>
          <p:nvPr/>
        </p:nvSpPr>
        <p:spPr>
          <a:xfrm>
            <a:off x="2610000" y="275256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5" name="Google Shape;966;p11"/>
          <p:cNvSpPr/>
          <p:nvPr/>
        </p:nvSpPr>
        <p:spPr>
          <a:xfrm>
            <a:off x="2943360" y="275256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06" name="Google Shape;967;p11"/>
          <p:cNvSpPr/>
          <p:nvPr/>
        </p:nvSpPr>
        <p:spPr>
          <a:xfrm>
            <a:off x="609480" y="308628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7" name="Google Shape;968;p11"/>
          <p:cNvSpPr/>
          <p:nvPr/>
        </p:nvSpPr>
        <p:spPr>
          <a:xfrm>
            <a:off x="942840" y="308628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8" name="Google Shape;969;p11"/>
          <p:cNvSpPr/>
          <p:nvPr/>
        </p:nvSpPr>
        <p:spPr>
          <a:xfrm>
            <a:off x="1276200" y="308628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09" name="Google Shape;970;p11"/>
          <p:cNvSpPr/>
          <p:nvPr/>
        </p:nvSpPr>
        <p:spPr>
          <a:xfrm>
            <a:off x="1609560" y="308628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0" name="Google Shape;971;p11"/>
          <p:cNvSpPr/>
          <p:nvPr/>
        </p:nvSpPr>
        <p:spPr>
          <a:xfrm>
            <a:off x="1943280" y="308628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1" name="Google Shape;972;p11"/>
          <p:cNvSpPr/>
          <p:nvPr/>
        </p:nvSpPr>
        <p:spPr>
          <a:xfrm>
            <a:off x="2276640" y="308628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2" name="Google Shape;973;p11"/>
          <p:cNvSpPr/>
          <p:nvPr/>
        </p:nvSpPr>
        <p:spPr>
          <a:xfrm>
            <a:off x="2610000" y="308628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3" name="Google Shape;974;p11"/>
          <p:cNvSpPr/>
          <p:nvPr/>
        </p:nvSpPr>
        <p:spPr>
          <a:xfrm>
            <a:off x="2943360" y="3086280"/>
            <a:ext cx="332640" cy="332640"/>
          </a:xfrm>
          <a:prstGeom prst="rect">
            <a:avLst/>
          </a:prstGeom>
          <a:solidFill>
            <a:srgbClr val="448bd2"/>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14" name="Google Shape;975;p11"/>
          <p:cNvSpPr/>
          <p:nvPr/>
        </p:nvSpPr>
        <p:spPr>
          <a:xfrm>
            <a:off x="609480" y="34196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5" name="Google Shape;976;p11"/>
          <p:cNvSpPr/>
          <p:nvPr/>
        </p:nvSpPr>
        <p:spPr>
          <a:xfrm>
            <a:off x="942840" y="34196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6" name="Google Shape;977;p11"/>
          <p:cNvSpPr/>
          <p:nvPr/>
        </p:nvSpPr>
        <p:spPr>
          <a:xfrm>
            <a:off x="1276200" y="341964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7" name="Google Shape;978;p11"/>
          <p:cNvSpPr/>
          <p:nvPr/>
        </p:nvSpPr>
        <p:spPr>
          <a:xfrm>
            <a:off x="1609560" y="341964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8" name="Google Shape;979;p11"/>
          <p:cNvSpPr/>
          <p:nvPr/>
        </p:nvSpPr>
        <p:spPr>
          <a:xfrm>
            <a:off x="1943280" y="341964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19" name="Google Shape;980;p11"/>
          <p:cNvSpPr/>
          <p:nvPr/>
        </p:nvSpPr>
        <p:spPr>
          <a:xfrm>
            <a:off x="2276640" y="341964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0" name="Google Shape;981;p11"/>
          <p:cNvSpPr/>
          <p:nvPr/>
        </p:nvSpPr>
        <p:spPr>
          <a:xfrm>
            <a:off x="2610000" y="341964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1" name="Google Shape;982;p11"/>
          <p:cNvSpPr/>
          <p:nvPr/>
        </p:nvSpPr>
        <p:spPr>
          <a:xfrm>
            <a:off x="2943360" y="341964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2" name="Google Shape;983;p11"/>
          <p:cNvSpPr/>
          <p:nvPr/>
        </p:nvSpPr>
        <p:spPr>
          <a:xfrm>
            <a:off x="609480" y="37530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3" name="Google Shape;984;p11"/>
          <p:cNvSpPr/>
          <p:nvPr/>
        </p:nvSpPr>
        <p:spPr>
          <a:xfrm>
            <a:off x="942840" y="37530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4" name="Google Shape;985;p11"/>
          <p:cNvSpPr/>
          <p:nvPr/>
        </p:nvSpPr>
        <p:spPr>
          <a:xfrm>
            <a:off x="1276200" y="375300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5" name="Google Shape;986;p11"/>
          <p:cNvSpPr/>
          <p:nvPr/>
        </p:nvSpPr>
        <p:spPr>
          <a:xfrm>
            <a:off x="1609560" y="375300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6" name="Google Shape;987;p11"/>
          <p:cNvSpPr/>
          <p:nvPr/>
        </p:nvSpPr>
        <p:spPr>
          <a:xfrm>
            <a:off x="1943280" y="375300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7" name="Google Shape;988;p11"/>
          <p:cNvSpPr/>
          <p:nvPr/>
        </p:nvSpPr>
        <p:spPr>
          <a:xfrm>
            <a:off x="2276640" y="375300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8" name="Google Shape;989;p11"/>
          <p:cNvSpPr/>
          <p:nvPr/>
        </p:nvSpPr>
        <p:spPr>
          <a:xfrm>
            <a:off x="2610000" y="375300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29" name="Google Shape;990;p11"/>
          <p:cNvSpPr/>
          <p:nvPr/>
        </p:nvSpPr>
        <p:spPr>
          <a:xfrm>
            <a:off x="2943360" y="375300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0" name="Google Shape;991;p11"/>
          <p:cNvSpPr/>
          <p:nvPr/>
        </p:nvSpPr>
        <p:spPr>
          <a:xfrm>
            <a:off x="609480" y="40863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1" name="Google Shape;992;p11"/>
          <p:cNvSpPr/>
          <p:nvPr/>
        </p:nvSpPr>
        <p:spPr>
          <a:xfrm>
            <a:off x="942840" y="40863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2" name="Google Shape;993;p11"/>
          <p:cNvSpPr/>
          <p:nvPr/>
        </p:nvSpPr>
        <p:spPr>
          <a:xfrm>
            <a:off x="1276200" y="408636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3" name="Google Shape;994;p11"/>
          <p:cNvSpPr/>
          <p:nvPr/>
        </p:nvSpPr>
        <p:spPr>
          <a:xfrm>
            <a:off x="1609560" y="408636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4" name="Google Shape;995;p11"/>
          <p:cNvSpPr/>
          <p:nvPr/>
        </p:nvSpPr>
        <p:spPr>
          <a:xfrm>
            <a:off x="1943280" y="408636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5" name="Google Shape;996;p11"/>
          <p:cNvSpPr/>
          <p:nvPr/>
        </p:nvSpPr>
        <p:spPr>
          <a:xfrm>
            <a:off x="2276640" y="408636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6" name="Google Shape;997;p11"/>
          <p:cNvSpPr/>
          <p:nvPr/>
        </p:nvSpPr>
        <p:spPr>
          <a:xfrm>
            <a:off x="2610000" y="408636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7" name="Google Shape;998;p11"/>
          <p:cNvSpPr/>
          <p:nvPr/>
        </p:nvSpPr>
        <p:spPr>
          <a:xfrm>
            <a:off x="2943360" y="408636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8" name="Google Shape;999;p11"/>
          <p:cNvSpPr/>
          <p:nvPr/>
        </p:nvSpPr>
        <p:spPr>
          <a:xfrm>
            <a:off x="609480" y="441972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39" name="Google Shape;1000;p11"/>
          <p:cNvSpPr/>
          <p:nvPr/>
        </p:nvSpPr>
        <p:spPr>
          <a:xfrm>
            <a:off x="942840" y="441972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0" name="Google Shape;1001;p11"/>
          <p:cNvSpPr/>
          <p:nvPr/>
        </p:nvSpPr>
        <p:spPr>
          <a:xfrm>
            <a:off x="1276200" y="4419720"/>
            <a:ext cx="332640" cy="332640"/>
          </a:xfrm>
          <a:prstGeom prst="rect">
            <a:avLst/>
          </a:prstGeom>
          <a:solidFill>
            <a:srgbClr val="cdd1d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1" name="Google Shape;1002;p11"/>
          <p:cNvSpPr/>
          <p:nvPr/>
        </p:nvSpPr>
        <p:spPr>
          <a:xfrm>
            <a:off x="1609560" y="441972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2" name="Google Shape;1003;p11"/>
          <p:cNvSpPr/>
          <p:nvPr/>
        </p:nvSpPr>
        <p:spPr>
          <a:xfrm>
            <a:off x="1943280" y="441972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3" name="Google Shape;1004;p11"/>
          <p:cNvSpPr/>
          <p:nvPr/>
        </p:nvSpPr>
        <p:spPr>
          <a:xfrm>
            <a:off x="2276640" y="441972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4" name="Google Shape;1005;p11"/>
          <p:cNvSpPr/>
          <p:nvPr/>
        </p:nvSpPr>
        <p:spPr>
          <a:xfrm>
            <a:off x="2610000" y="441972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5" name="Google Shape;1006;p11"/>
          <p:cNvSpPr/>
          <p:nvPr/>
        </p:nvSpPr>
        <p:spPr>
          <a:xfrm>
            <a:off x="2943360" y="4419720"/>
            <a:ext cx="332640" cy="332640"/>
          </a:xfrm>
          <a:prstGeom prst="rect">
            <a:avLst/>
          </a:prstGeom>
          <a:solidFill>
            <a:srgbClr val="89aed5"/>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6" name="Google Shape;1007;p11"/>
          <p:cNvSpPr/>
          <p:nvPr/>
        </p:nvSpPr>
        <p:spPr>
          <a:xfrm>
            <a:off x="94284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7" name="Google Shape;1008;p11"/>
          <p:cNvSpPr/>
          <p:nvPr/>
        </p:nvSpPr>
        <p:spPr>
          <a:xfrm>
            <a:off x="127620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8" name="Google Shape;1009;p11"/>
          <p:cNvSpPr/>
          <p:nvPr/>
        </p:nvSpPr>
        <p:spPr>
          <a:xfrm>
            <a:off x="160956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49" name="Google Shape;1010;p11"/>
          <p:cNvSpPr/>
          <p:nvPr/>
        </p:nvSpPr>
        <p:spPr>
          <a:xfrm>
            <a:off x="194328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0" name="Google Shape;1011;p11"/>
          <p:cNvSpPr/>
          <p:nvPr/>
        </p:nvSpPr>
        <p:spPr>
          <a:xfrm>
            <a:off x="227664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1" name="Google Shape;1012;p11"/>
          <p:cNvSpPr/>
          <p:nvPr/>
        </p:nvSpPr>
        <p:spPr>
          <a:xfrm>
            <a:off x="261000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2" name="Google Shape;1013;p11"/>
          <p:cNvSpPr/>
          <p:nvPr/>
        </p:nvSpPr>
        <p:spPr>
          <a:xfrm>
            <a:off x="2943360" y="2085840"/>
            <a:ext cx="360" cy="2666160"/>
          </a:xfrm>
          <a:custGeom>
            <a:avLst/>
            <a:gdLst>
              <a:gd name="textAreaLeft" fmla="*/ 0 w 360"/>
              <a:gd name="textAreaRight" fmla="*/ 720 w 360"/>
              <a:gd name="textAreaTop" fmla="*/ 0 h 2666160"/>
              <a:gd name="textAreaBottom" fmla="*/ 2666520 h 2666160"/>
            </a:gdLst>
            <a:ahLst/>
            <a:rect l="textAreaLeft" t="textAreaTop" r="textAreaRight" b="textAreaBottom"/>
            <a:pathLst>
              <a:path w="953" h="2667000">
                <a:moveTo>
                  <a:pt x="0" y="0"/>
                </a:moveTo>
                <a:lnTo>
                  <a:pt x="0" y="2667000"/>
                </a:lnTo>
              </a:path>
            </a:pathLst>
          </a:custGeom>
          <a:noFill/>
          <a:ln w="9525">
            <a:solidFill>
              <a:srgbClr val="ffffff"/>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53" name="Google Shape;1014;p11"/>
          <p:cNvSpPr/>
          <p:nvPr/>
        </p:nvSpPr>
        <p:spPr>
          <a:xfrm>
            <a:off x="609480" y="241920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4" name="Google Shape;1015;p11"/>
          <p:cNvSpPr/>
          <p:nvPr/>
        </p:nvSpPr>
        <p:spPr>
          <a:xfrm>
            <a:off x="609480" y="275256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5" name="Google Shape;1016;p11"/>
          <p:cNvSpPr/>
          <p:nvPr/>
        </p:nvSpPr>
        <p:spPr>
          <a:xfrm>
            <a:off x="609480" y="308628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6" name="Google Shape;1017;p11"/>
          <p:cNvSpPr/>
          <p:nvPr/>
        </p:nvSpPr>
        <p:spPr>
          <a:xfrm>
            <a:off x="609480" y="341964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7" name="Google Shape;1018;p11"/>
          <p:cNvSpPr/>
          <p:nvPr/>
        </p:nvSpPr>
        <p:spPr>
          <a:xfrm>
            <a:off x="609480" y="375300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8" name="Google Shape;1019;p11"/>
          <p:cNvSpPr/>
          <p:nvPr/>
        </p:nvSpPr>
        <p:spPr>
          <a:xfrm>
            <a:off x="609480" y="408636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59" name="Google Shape;1020;p11"/>
          <p:cNvSpPr/>
          <p:nvPr/>
        </p:nvSpPr>
        <p:spPr>
          <a:xfrm>
            <a:off x="609480" y="4419720"/>
            <a:ext cx="2666160" cy="360"/>
          </a:xfrm>
          <a:custGeom>
            <a:avLst/>
            <a:gdLst>
              <a:gd name="textAreaLeft" fmla="*/ 0 w 2666160"/>
              <a:gd name="textAreaRight" fmla="*/ 2666520 w 2666160"/>
              <a:gd name="textAreaTop" fmla="*/ 0 h 360"/>
              <a:gd name="textAreaBottom" fmla="*/ 720 h 360"/>
            </a:gdLst>
            <a:ahLst/>
            <a:rect l="textAreaLeft" t="textAreaTop" r="textAreaRight" b="textAreaBottom"/>
            <a:pathLst>
              <a:path w="2667000" h="953">
                <a:moveTo>
                  <a:pt x="0" y="0"/>
                </a:moveTo>
                <a:lnTo>
                  <a:pt x="2667000" y="0"/>
                </a:lnTo>
              </a:path>
            </a:pathLst>
          </a:custGeom>
          <a:noFill/>
          <a:ln w="9525">
            <a:solidFill>
              <a:srgbClr val="ffffff"/>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60" name="Google Shape;1021;p11"/>
          <p:cNvSpPr/>
          <p:nvPr/>
        </p:nvSpPr>
        <p:spPr>
          <a:xfrm>
            <a:off x="647640" y="4896000"/>
            <a:ext cx="133272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c86a1b"/>
                </a:solidFill>
                <a:latin typeface="Verdana"/>
                <a:ea typeface="Verdana"/>
              </a:rPr>
              <a:t>G = 0.2</a:t>
            </a:r>
            <a:endParaRPr b="0" lang="en-US" sz="1870" spc="-1" strike="noStrike">
              <a:solidFill>
                <a:srgbClr val="000000"/>
              </a:solidFill>
              <a:latin typeface="Arial"/>
            </a:endParaRPr>
          </a:p>
        </p:txBody>
      </p:sp>
      <p:sp>
        <p:nvSpPr>
          <p:cNvPr id="961" name="Google Shape;1022;p11"/>
          <p:cNvSpPr/>
          <p:nvPr/>
        </p:nvSpPr>
        <p:spPr>
          <a:xfrm>
            <a:off x="2076480" y="4896000"/>
            <a:ext cx="13802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1674d1"/>
                </a:solidFill>
                <a:latin typeface="Verdana"/>
                <a:ea typeface="Verdana"/>
              </a:rPr>
              <a:t>G = 0.8</a:t>
            </a:r>
            <a:endParaRPr b="0" lang="en-US" sz="1870" spc="-1" strike="noStrike">
              <a:solidFill>
                <a:srgbClr val="000000"/>
              </a:solidFill>
              <a:latin typeface="Arial"/>
            </a:endParaRPr>
          </a:p>
        </p:txBody>
      </p:sp>
      <p:sp>
        <p:nvSpPr>
          <p:cNvPr id="962" name="Google Shape;1023;p11"/>
          <p:cNvSpPr/>
          <p:nvPr/>
        </p:nvSpPr>
        <p:spPr>
          <a:xfrm>
            <a:off x="609480" y="5362560"/>
            <a:ext cx="316152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Illustrative gate map</a:t>
            </a:r>
            <a:endParaRPr b="0" lang="en-US" sz="1650" spc="-1" strike="noStrike">
              <a:solidFill>
                <a:srgbClr val="000000"/>
              </a:solidFill>
              <a:latin typeface="Arial"/>
            </a:endParaRPr>
          </a:p>
        </p:txBody>
      </p:sp>
      <p:sp>
        <p:nvSpPr>
          <p:cNvPr id="963" name="Google Shape;1024;p11"/>
          <p:cNvSpPr/>
          <p:nvPr/>
        </p:nvSpPr>
        <p:spPr>
          <a:xfrm>
            <a:off x="4114800" y="1857240"/>
            <a:ext cx="1161360" cy="761400"/>
          </a:xfrm>
          <a:prstGeom prst="rect">
            <a:avLst/>
          </a:prstGeom>
          <a:solidFill>
            <a:srgbClr val="dfedfc"/>
          </a:solidFill>
          <a:ln w="15225">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4" name="Google Shape;1025;p11"/>
          <p:cNvSpPr/>
          <p:nvPr/>
        </p:nvSpPr>
        <p:spPr>
          <a:xfrm>
            <a:off x="4191120" y="1905120"/>
            <a:ext cx="100908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1674d1"/>
                </a:solidFill>
                <a:latin typeface="Verdana"/>
                <a:ea typeface="Verdana"/>
              </a:rPr>
              <a:t>U</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1674d1"/>
                </a:solidFill>
                <a:latin typeface="Verdana"/>
                <a:ea typeface="Verdana"/>
              </a:rPr>
              <a:t>128 ch</a:t>
            </a:r>
            <a:endParaRPr b="0" lang="en-US" sz="1800" spc="-1" strike="noStrike">
              <a:solidFill>
                <a:srgbClr val="000000"/>
              </a:solidFill>
              <a:latin typeface="Arial"/>
            </a:endParaRPr>
          </a:p>
        </p:txBody>
      </p:sp>
      <p:sp>
        <p:nvSpPr>
          <p:cNvPr id="965" name="Google Shape;1026;p11"/>
          <p:cNvSpPr/>
          <p:nvPr/>
        </p:nvSpPr>
        <p:spPr>
          <a:xfrm>
            <a:off x="4114800" y="3629160"/>
            <a:ext cx="1161360" cy="76140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6" name="Google Shape;1027;p11"/>
          <p:cNvSpPr/>
          <p:nvPr/>
        </p:nvSpPr>
        <p:spPr>
          <a:xfrm>
            <a:off x="4191120" y="3676680"/>
            <a:ext cx="1009080" cy="6660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c86a1b"/>
                </a:solidFill>
                <a:latin typeface="Verdana"/>
                <a:ea typeface="Verdana"/>
              </a:rPr>
              <a:t>V</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c86a1b"/>
                </a:solidFill>
                <a:latin typeface="Verdana"/>
                <a:ea typeface="Verdana"/>
              </a:rPr>
              <a:t>128 ch</a:t>
            </a:r>
            <a:endParaRPr b="0" lang="en-US" sz="1800" spc="-1" strike="noStrike">
              <a:solidFill>
                <a:srgbClr val="000000"/>
              </a:solidFill>
              <a:latin typeface="Arial"/>
            </a:endParaRPr>
          </a:p>
        </p:txBody>
      </p:sp>
      <p:sp>
        <p:nvSpPr>
          <p:cNvPr id="967" name="Google Shape;1028;p11"/>
          <p:cNvSpPr/>
          <p:nvPr/>
        </p:nvSpPr>
        <p:spPr>
          <a:xfrm>
            <a:off x="5867280" y="2019240"/>
            <a:ext cx="437400" cy="437400"/>
          </a:xfrm>
          <a:prstGeom prst="ellipse">
            <a:avLst/>
          </a:prstGeom>
          <a:solidFill>
            <a:srgbClr val="ffffff"/>
          </a:solidFill>
          <a:ln w="190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68" name="Google Shape;1029;p11"/>
          <p:cNvSpPr/>
          <p:nvPr/>
        </p:nvSpPr>
        <p:spPr>
          <a:xfrm>
            <a:off x="5867280" y="201924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1674d1"/>
                </a:solidFill>
                <a:latin typeface="Verdana"/>
                <a:ea typeface="Verdana"/>
              </a:rPr>
              <a:t>×</a:t>
            </a:r>
            <a:endParaRPr b="0" lang="en-US" sz="2020" spc="-1" strike="noStrike">
              <a:solidFill>
                <a:srgbClr val="000000"/>
              </a:solidFill>
              <a:latin typeface="Arial"/>
            </a:endParaRPr>
          </a:p>
        </p:txBody>
      </p:sp>
      <p:sp>
        <p:nvSpPr>
          <p:cNvPr id="969" name="Google Shape;1030;p11"/>
          <p:cNvSpPr/>
          <p:nvPr/>
        </p:nvSpPr>
        <p:spPr>
          <a:xfrm>
            <a:off x="5867280" y="3790800"/>
            <a:ext cx="437400" cy="437400"/>
          </a:xfrm>
          <a:prstGeom prst="ellipse">
            <a:avLst/>
          </a:prstGeom>
          <a:solidFill>
            <a:srgbClr val="ffffff"/>
          </a:solidFill>
          <a:ln w="190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0" name="Google Shape;1031;p11"/>
          <p:cNvSpPr/>
          <p:nvPr/>
        </p:nvSpPr>
        <p:spPr>
          <a:xfrm>
            <a:off x="5867280" y="379080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c86a1b"/>
                </a:solidFill>
                <a:latin typeface="Verdana"/>
                <a:ea typeface="Verdana"/>
              </a:rPr>
              <a:t>×</a:t>
            </a:r>
            <a:endParaRPr b="0" lang="en-US" sz="2020" spc="-1" strike="noStrike">
              <a:solidFill>
                <a:srgbClr val="000000"/>
              </a:solidFill>
              <a:latin typeface="Arial"/>
            </a:endParaRPr>
          </a:p>
        </p:txBody>
      </p:sp>
      <p:sp>
        <p:nvSpPr>
          <p:cNvPr id="971" name="Google Shape;1032;p11"/>
          <p:cNvSpPr/>
          <p:nvPr/>
        </p:nvSpPr>
        <p:spPr>
          <a:xfrm>
            <a:off x="5276880" y="2238480"/>
            <a:ext cx="589680" cy="360"/>
          </a:xfrm>
          <a:custGeom>
            <a:avLst/>
            <a:gdLst>
              <a:gd name="textAreaLeft" fmla="*/ 0 w 589680"/>
              <a:gd name="textAreaRight" fmla="*/ 590040 w 589680"/>
              <a:gd name="textAreaTop" fmla="*/ 0 h 360"/>
              <a:gd name="textAreaBottom" fmla="*/ 720 h 360"/>
            </a:gdLst>
            <a:ahLst/>
            <a:rect l="textAreaLeft" t="textAreaTop" r="textAreaRight" b="textAreaBottom"/>
            <a:pathLst>
              <a:path w="590550" h="953">
                <a:moveTo>
                  <a:pt x="0" y="0"/>
                </a:moveTo>
                <a:lnTo>
                  <a:pt x="590550" y="0"/>
                </a:lnTo>
              </a:path>
            </a:pathLst>
          </a:custGeom>
          <a:noFill/>
          <a:ln w="22850">
            <a:solidFill>
              <a:srgbClr val="1674d1"/>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72" name="Google Shape;1033;p11"/>
          <p:cNvSpPr/>
          <p:nvPr/>
        </p:nvSpPr>
        <p:spPr>
          <a:xfrm>
            <a:off x="5772240" y="21945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73" name="Google Shape;1034;p11"/>
          <p:cNvSpPr/>
          <p:nvPr/>
        </p:nvSpPr>
        <p:spPr>
          <a:xfrm>
            <a:off x="5276880" y="4010040"/>
            <a:ext cx="589680" cy="360"/>
          </a:xfrm>
          <a:custGeom>
            <a:avLst/>
            <a:gdLst>
              <a:gd name="textAreaLeft" fmla="*/ 0 w 589680"/>
              <a:gd name="textAreaRight" fmla="*/ 590040 w 589680"/>
              <a:gd name="textAreaTop" fmla="*/ 0 h 360"/>
              <a:gd name="textAreaBottom" fmla="*/ 720 h 360"/>
            </a:gdLst>
            <a:ahLst/>
            <a:rect l="textAreaLeft" t="textAreaTop" r="textAreaRight" b="textAreaBottom"/>
            <a:pathLst>
              <a:path w="590550" h="953">
                <a:moveTo>
                  <a:pt x="0" y="0"/>
                </a:moveTo>
                <a:lnTo>
                  <a:pt x="590550" y="0"/>
                </a:lnTo>
              </a:path>
            </a:pathLst>
          </a:custGeom>
          <a:noFill/>
          <a:ln w="22850">
            <a:solidFill>
              <a:srgbClr val="c86a1b"/>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74" name="Google Shape;1035;p11"/>
          <p:cNvSpPr/>
          <p:nvPr/>
        </p:nvSpPr>
        <p:spPr>
          <a:xfrm>
            <a:off x="5772240" y="39661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75" name="Google Shape;1036;p11"/>
          <p:cNvSpPr/>
          <p:nvPr/>
        </p:nvSpPr>
        <p:spPr>
          <a:xfrm>
            <a:off x="5829480" y="1476360"/>
            <a:ext cx="523080" cy="3610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170" spc="-1" strike="noStrike">
                <a:solidFill>
                  <a:srgbClr val="7351c7"/>
                </a:solidFill>
                <a:latin typeface="Verdana"/>
                <a:ea typeface="Verdana"/>
              </a:rPr>
              <a:t>G</a:t>
            </a:r>
            <a:endParaRPr b="0" lang="en-US" sz="2170" spc="-1" strike="noStrike">
              <a:solidFill>
                <a:srgbClr val="000000"/>
              </a:solidFill>
              <a:latin typeface="Arial"/>
            </a:endParaRPr>
          </a:p>
        </p:txBody>
      </p:sp>
      <p:sp>
        <p:nvSpPr>
          <p:cNvPr id="976" name="Google Shape;1037;p11"/>
          <p:cNvSpPr/>
          <p:nvPr/>
        </p:nvSpPr>
        <p:spPr>
          <a:xfrm>
            <a:off x="6086520" y="1828800"/>
            <a:ext cx="360" cy="180360"/>
          </a:xfrm>
          <a:custGeom>
            <a:avLst/>
            <a:gdLst>
              <a:gd name="textAreaLeft" fmla="*/ 0 w 360"/>
              <a:gd name="textAreaRight" fmla="*/ 720 w 360"/>
              <a:gd name="textAreaTop" fmla="*/ 0 h 180360"/>
              <a:gd name="textAreaBottom" fmla="*/ 180720 h 180360"/>
            </a:gdLst>
            <a:ahLst/>
            <a:rect l="textAreaLeft" t="textAreaTop" r="textAreaRight" b="textAreaBottom"/>
            <a:pathLst>
              <a:path w="953" h="180975">
                <a:moveTo>
                  <a:pt x="0" y="0"/>
                </a:moveTo>
                <a:lnTo>
                  <a:pt x="0" y="1809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77" name="Google Shape;1038;p11"/>
          <p:cNvSpPr/>
          <p:nvPr/>
        </p:nvSpPr>
        <p:spPr>
          <a:xfrm>
            <a:off x="6042600" y="191448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78" name="Google Shape;1039;p11"/>
          <p:cNvSpPr/>
          <p:nvPr/>
        </p:nvSpPr>
        <p:spPr>
          <a:xfrm>
            <a:off x="5610240" y="3209760"/>
            <a:ext cx="980280" cy="3610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7351c7"/>
                </a:solidFill>
                <a:latin typeface="Verdana"/>
                <a:ea typeface="Verdana"/>
              </a:rPr>
              <a:t>1 − G</a:t>
            </a:r>
            <a:endParaRPr b="0" lang="en-US" sz="2020" spc="-1" strike="noStrike">
              <a:solidFill>
                <a:srgbClr val="000000"/>
              </a:solidFill>
              <a:latin typeface="Arial"/>
            </a:endParaRPr>
          </a:p>
        </p:txBody>
      </p:sp>
      <p:sp>
        <p:nvSpPr>
          <p:cNvPr id="979" name="Google Shape;1040;p11"/>
          <p:cNvSpPr/>
          <p:nvPr/>
        </p:nvSpPr>
        <p:spPr>
          <a:xfrm>
            <a:off x="6086520" y="3571920"/>
            <a:ext cx="360" cy="218520"/>
          </a:xfrm>
          <a:custGeom>
            <a:avLst/>
            <a:gdLst>
              <a:gd name="textAreaLeft" fmla="*/ 0 w 360"/>
              <a:gd name="textAreaRight" fmla="*/ 720 w 360"/>
              <a:gd name="textAreaTop" fmla="*/ 0 h 218520"/>
              <a:gd name="textAreaBottom" fmla="*/ 218880 h 218520"/>
            </a:gdLst>
            <a:ahLst/>
            <a:rect l="textAreaLeft" t="textAreaTop" r="textAreaRight" b="textAreaBottom"/>
            <a:pathLst>
              <a:path w="953" h="219075">
                <a:moveTo>
                  <a:pt x="0" y="0"/>
                </a:moveTo>
                <a:lnTo>
                  <a:pt x="0" y="21907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0" name="Google Shape;1041;p11"/>
          <p:cNvSpPr/>
          <p:nvPr/>
        </p:nvSpPr>
        <p:spPr>
          <a:xfrm>
            <a:off x="6042600" y="369576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981" name="Google Shape;1042;p11"/>
          <p:cNvSpPr/>
          <p:nvPr/>
        </p:nvSpPr>
        <p:spPr>
          <a:xfrm>
            <a:off x="7039080" y="2685960"/>
            <a:ext cx="1409040" cy="8373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2" name="Google Shape;1043;p11"/>
          <p:cNvSpPr/>
          <p:nvPr/>
        </p:nvSpPr>
        <p:spPr>
          <a:xfrm>
            <a:off x="7115040" y="2733840"/>
            <a:ext cx="1256760" cy="742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256 ch</a:t>
            </a:r>
            <a:endParaRPr b="0" lang="en-US" sz="1870" spc="-1" strike="noStrike">
              <a:solidFill>
                <a:srgbClr val="000000"/>
              </a:solidFill>
              <a:latin typeface="Arial"/>
            </a:endParaRPr>
          </a:p>
        </p:txBody>
      </p:sp>
      <p:sp>
        <p:nvSpPr>
          <p:cNvPr id="983" name="Google Shape;1044;p11"/>
          <p:cNvSpPr/>
          <p:nvPr/>
        </p:nvSpPr>
        <p:spPr>
          <a:xfrm>
            <a:off x="6305400" y="2238480"/>
            <a:ext cx="732600" cy="694440"/>
          </a:xfrm>
          <a:custGeom>
            <a:avLst/>
            <a:gdLst>
              <a:gd name="textAreaLeft" fmla="*/ 0 w 732600"/>
              <a:gd name="textAreaRight" fmla="*/ 732960 w 732600"/>
              <a:gd name="textAreaTop" fmla="*/ 0 h 694440"/>
              <a:gd name="textAreaBottom" fmla="*/ 694800 h 694440"/>
            </a:gdLst>
            <a:ahLst/>
            <a:rect l="textAreaLeft" t="textAreaTop" r="textAreaRight" b="textAreaBottom"/>
            <a:pathLst>
              <a:path w="733425" h="695325">
                <a:moveTo>
                  <a:pt x="0" y="0"/>
                </a:moveTo>
                <a:lnTo>
                  <a:pt x="447675" y="0"/>
                </a:lnTo>
                <a:lnTo>
                  <a:pt x="447675" y="695325"/>
                </a:lnTo>
                <a:lnTo>
                  <a:pt x="733425" y="695325"/>
                </a:lnTo>
              </a:path>
            </a:pathLst>
          </a:custGeom>
          <a:noFill/>
          <a:ln w="22850">
            <a:solidFill>
              <a:srgbClr val="1674d1"/>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4" name="Google Shape;1045;p11"/>
          <p:cNvSpPr/>
          <p:nvPr/>
        </p:nvSpPr>
        <p:spPr>
          <a:xfrm>
            <a:off x="6943680" y="28897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1674d1"/>
          </a:solidFill>
          <a:ln w="9525">
            <a:solidFill>
              <a:srgbClr val="1674d1"/>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85" name="Google Shape;1046;p11"/>
          <p:cNvSpPr/>
          <p:nvPr/>
        </p:nvSpPr>
        <p:spPr>
          <a:xfrm>
            <a:off x="6305400" y="3276720"/>
            <a:ext cx="732600" cy="732600"/>
          </a:xfrm>
          <a:custGeom>
            <a:avLst/>
            <a:gdLst>
              <a:gd name="textAreaLeft" fmla="*/ 0 w 732600"/>
              <a:gd name="textAreaRight" fmla="*/ 732960 w 732600"/>
              <a:gd name="textAreaTop" fmla="*/ 0 h 732600"/>
              <a:gd name="textAreaBottom" fmla="*/ 732960 h 732600"/>
            </a:gdLst>
            <a:ahLst/>
            <a:rect l="textAreaLeft" t="textAreaTop" r="textAreaRight" b="textAreaBottom"/>
            <a:pathLst>
              <a:path w="733425" h="733425">
                <a:moveTo>
                  <a:pt x="0" y="733425"/>
                </a:moveTo>
                <a:lnTo>
                  <a:pt x="447675" y="733425"/>
                </a:lnTo>
                <a:lnTo>
                  <a:pt x="447675" y="0"/>
                </a:lnTo>
                <a:lnTo>
                  <a:pt x="733425"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6" name="Google Shape;1047;p11"/>
          <p:cNvSpPr/>
          <p:nvPr/>
        </p:nvSpPr>
        <p:spPr>
          <a:xfrm>
            <a:off x="6943680" y="32328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87" name="Google Shape;1048;p11"/>
          <p:cNvSpPr/>
          <p:nvPr/>
        </p:nvSpPr>
        <p:spPr>
          <a:xfrm>
            <a:off x="8962920" y="2571840"/>
            <a:ext cx="1618560" cy="10659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88" name="Google Shape;1049;p11"/>
          <p:cNvSpPr/>
          <p:nvPr/>
        </p:nvSpPr>
        <p:spPr>
          <a:xfrm>
            <a:off x="9039240" y="2619360"/>
            <a:ext cx="1466280" cy="9709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3 × 3</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BN + ReLU</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256 ch</a:t>
            </a:r>
            <a:endParaRPr b="0" lang="en-US" sz="1729" spc="-1" strike="noStrike">
              <a:solidFill>
                <a:srgbClr val="000000"/>
              </a:solidFill>
              <a:latin typeface="Arial"/>
            </a:endParaRPr>
          </a:p>
        </p:txBody>
      </p:sp>
      <p:sp>
        <p:nvSpPr>
          <p:cNvPr id="989" name="Google Shape;1050;p11"/>
          <p:cNvSpPr/>
          <p:nvPr/>
        </p:nvSpPr>
        <p:spPr>
          <a:xfrm>
            <a:off x="8448840" y="3105000"/>
            <a:ext cx="513720" cy="360"/>
          </a:xfrm>
          <a:custGeom>
            <a:avLst/>
            <a:gdLst>
              <a:gd name="textAreaLeft" fmla="*/ 0 w 513720"/>
              <a:gd name="textAreaRight" fmla="*/ 514080 w 513720"/>
              <a:gd name="textAreaTop" fmla="*/ 0 h 360"/>
              <a:gd name="textAreaBottom" fmla="*/ 720 h 360"/>
            </a:gdLst>
            <a:ahLst/>
            <a:rect l="textAreaLeft" t="textAreaTop" r="textAreaRight" b="textAreaBottom"/>
            <a:pathLst>
              <a:path w="514350" h="953">
                <a:moveTo>
                  <a:pt x="0" y="0"/>
                </a:moveTo>
                <a:lnTo>
                  <a:pt x="51435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90" name="Google Shape;1051;p11"/>
          <p:cNvSpPr/>
          <p:nvPr/>
        </p:nvSpPr>
        <p:spPr>
          <a:xfrm>
            <a:off x="8867880" y="30614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1" name="Google Shape;1052;p11"/>
          <p:cNvSpPr/>
          <p:nvPr/>
        </p:nvSpPr>
        <p:spPr>
          <a:xfrm>
            <a:off x="11020320" y="2886120"/>
            <a:ext cx="437400" cy="43740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2" name="Google Shape;1053;p11"/>
          <p:cNvSpPr/>
          <p:nvPr/>
        </p:nvSpPr>
        <p:spPr>
          <a:xfrm>
            <a:off x="11020320" y="288612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993" name="Google Shape;1054;p11"/>
          <p:cNvSpPr/>
          <p:nvPr/>
        </p:nvSpPr>
        <p:spPr>
          <a:xfrm>
            <a:off x="10582200" y="3105000"/>
            <a:ext cx="437400" cy="360"/>
          </a:xfrm>
          <a:custGeom>
            <a:avLst/>
            <a:gdLst>
              <a:gd name="textAreaLeft" fmla="*/ 0 w 437400"/>
              <a:gd name="textAreaRight" fmla="*/ 437760 w 437400"/>
              <a:gd name="textAreaTop" fmla="*/ 0 h 360"/>
              <a:gd name="textAreaBottom" fmla="*/ 720 h 360"/>
            </a:gdLst>
            <a:ahLst/>
            <a:rect l="textAreaLeft" t="textAreaTop" r="textAreaRight" b="textAreaBottom"/>
            <a:pathLst>
              <a:path w="438150" h="953">
                <a:moveTo>
                  <a:pt x="0" y="0"/>
                </a:moveTo>
                <a:lnTo>
                  <a:pt x="43815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994" name="Google Shape;1055;p11"/>
          <p:cNvSpPr/>
          <p:nvPr/>
        </p:nvSpPr>
        <p:spPr>
          <a:xfrm>
            <a:off x="10925280" y="30614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5" name="Google Shape;1056;p11"/>
          <p:cNvSpPr/>
          <p:nvPr/>
        </p:nvSpPr>
        <p:spPr>
          <a:xfrm>
            <a:off x="7077240" y="4638600"/>
            <a:ext cx="3047400" cy="694440"/>
          </a:xfrm>
          <a:prstGeom prst="rect">
            <a:avLst/>
          </a:prstGeom>
          <a:solidFill>
            <a:srgbClr val="fbe8d8"/>
          </a:solidFill>
          <a:ln w="152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6" name="Google Shape;1057;p11"/>
          <p:cNvSpPr/>
          <p:nvPr/>
        </p:nvSpPr>
        <p:spPr>
          <a:xfrm>
            <a:off x="7153200" y="4686480"/>
            <a:ext cx="2894760" cy="599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c86a1b"/>
                </a:solidFill>
                <a:latin typeface="Verdana"/>
                <a:ea typeface="Verdana"/>
              </a:rPr>
              <a:t>1 × 1 residual</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c86a1b"/>
                </a:solidFill>
                <a:latin typeface="Verdana"/>
                <a:ea typeface="Verdana"/>
              </a:rPr>
              <a:t>128 → 256</a:t>
            </a:r>
            <a:endParaRPr b="0" lang="en-US" sz="1800" spc="-1" strike="noStrike">
              <a:solidFill>
                <a:srgbClr val="000000"/>
              </a:solidFill>
              <a:latin typeface="Arial"/>
            </a:endParaRPr>
          </a:p>
        </p:txBody>
      </p:sp>
      <p:sp>
        <p:nvSpPr>
          <p:cNvPr id="997" name="Google Shape;1058;p11"/>
          <p:cNvSpPr/>
          <p:nvPr/>
        </p:nvSpPr>
        <p:spPr>
          <a:xfrm>
            <a:off x="4695840" y="4390920"/>
            <a:ext cx="2380680" cy="589680"/>
          </a:xfrm>
          <a:custGeom>
            <a:avLst/>
            <a:gdLst>
              <a:gd name="textAreaLeft" fmla="*/ 0 w 2380680"/>
              <a:gd name="textAreaRight" fmla="*/ 2381040 w 2380680"/>
              <a:gd name="textAreaTop" fmla="*/ 0 h 589680"/>
              <a:gd name="textAreaBottom" fmla="*/ 590040 h 589680"/>
            </a:gdLst>
            <a:ahLst/>
            <a:rect l="textAreaLeft" t="textAreaTop" r="textAreaRight" b="textAreaBottom"/>
            <a:pathLst>
              <a:path w="2381250" h="590550">
                <a:moveTo>
                  <a:pt x="0" y="0"/>
                </a:moveTo>
                <a:lnTo>
                  <a:pt x="0" y="590550"/>
                </a:lnTo>
                <a:lnTo>
                  <a:pt x="2381250" y="59055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998" name="Google Shape;1059;p11"/>
          <p:cNvSpPr/>
          <p:nvPr/>
        </p:nvSpPr>
        <p:spPr>
          <a:xfrm>
            <a:off x="6981840" y="49377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c86a1b"/>
          </a:solidFill>
          <a:ln w="9525">
            <a:solidFill>
              <a:srgbClr val="c86a1b"/>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999" name="Google Shape;1060;p11"/>
          <p:cNvSpPr/>
          <p:nvPr/>
        </p:nvSpPr>
        <p:spPr>
          <a:xfrm>
            <a:off x="10125000" y="3324240"/>
            <a:ext cx="1113840" cy="1656720"/>
          </a:xfrm>
          <a:custGeom>
            <a:avLst/>
            <a:gdLst>
              <a:gd name="textAreaLeft" fmla="*/ 0 w 1113840"/>
              <a:gd name="textAreaRight" fmla="*/ 1114200 w 1113840"/>
              <a:gd name="textAreaTop" fmla="*/ 0 h 1656720"/>
              <a:gd name="textAreaBottom" fmla="*/ 1657080 h 1656720"/>
            </a:gdLst>
            <a:ahLst/>
            <a:rect l="textAreaLeft" t="textAreaTop" r="textAreaRight" b="textAreaBottom"/>
            <a:pathLst>
              <a:path w="1114425" h="1657350">
                <a:moveTo>
                  <a:pt x="0" y="1657350"/>
                </a:moveTo>
                <a:lnTo>
                  <a:pt x="1114425" y="1657350"/>
                </a:lnTo>
                <a:lnTo>
                  <a:pt x="1114425" y="0"/>
                </a:lnTo>
              </a:path>
            </a:pathLst>
          </a:custGeom>
          <a:noFill/>
          <a:ln w="22850">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00" name="Google Shape;1061;p11"/>
          <p:cNvSpPr/>
          <p:nvPr/>
        </p:nvSpPr>
        <p:spPr>
          <a:xfrm>
            <a:off x="11195640" y="33242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c86a1b"/>
          </a:solidFill>
          <a:ln w="9525">
            <a:solidFill>
              <a:srgbClr val="c86a1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01" name="Google Shape;1062;p11"/>
          <p:cNvSpPr/>
          <p:nvPr/>
        </p:nvSpPr>
        <p:spPr>
          <a:xfrm>
            <a:off x="9744120" y="1676520"/>
            <a:ext cx="1913760" cy="6566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80" spc="-1" strike="noStrike">
                <a:solidFill>
                  <a:srgbClr val="7351c7"/>
                </a:solidFill>
                <a:latin typeface="Verdana"/>
                <a:ea typeface="Verdana"/>
              </a:rPr>
              <a:t>Fused BEV</a:t>
            </a:r>
            <a:endParaRPr b="0" lang="en-US" sz="1580" spc="-1" strike="noStrike">
              <a:solidFill>
                <a:srgbClr val="000000"/>
              </a:solidFill>
              <a:latin typeface="Arial"/>
            </a:endParaRPr>
          </a:p>
          <a:p>
            <a:pPr algn="ctr">
              <a:lnSpc>
                <a:spcPct val="100000"/>
              </a:lnSpc>
              <a:tabLst>
                <a:tab algn="l" pos="0"/>
              </a:tabLst>
            </a:pPr>
            <a:r>
              <a:rPr b="0" lang="en-US" sz="1580" spc="-1" strike="noStrike">
                <a:solidFill>
                  <a:srgbClr val="7351c7"/>
                </a:solidFill>
                <a:latin typeface="Verdana"/>
                <a:ea typeface="Verdana"/>
              </a:rPr>
              <a:t>256 ch, 180 × 180</a:t>
            </a:r>
            <a:endParaRPr b="0" lang="en-US" sz="1580" spc="-1" strike="noStrike">
              <a:solidFill>
                <a:srgbClr val="000000"/>
              </a:solidFill>
              <a:latin typeface="Arial"/>
            </a:endParaRPr>
          </a:p>
        </p:txBody>
      </p:sp>
      <p:sp>
        <p:nvSpPr>
          <p:cNvPr id="1002" name="Google Shape;1063;p11"/>
          <p:cNvSpPr/>
          <p:nvPr/>
        </p:nvSpPr>
        <p:spPr>
          <a:xfrm>
            <a:off x="4105440" y="5543640"/>
            <a:ext cx="75430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F = ψ([G·U, (1−G)·V]) + WᵣV</a:t>
            </a:r>
            <a:endParaRPr b="0" lang="en-US" sz="2100" spc="-1" strike="noStrike">
              <a:solidFill>
                <a:srgbClr val="000000"/>
              </a:solidFill>
              <a:latin typeface="Arial"/>
            </a:endParaRPr>
          </a:p>
        </p:txBody>
      </p:sp>
      <p:sp>
        <p:nvSpPr>
          <p:cNvPr id="1003" name="Google Shape;1064;p11"/>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04" name="Google Shape;1065;p11"/>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A high G increases the camera contribution. The LiDAR residual remains an additional path.</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005" name="Google Shape;1071;p12"/>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fused map becomes 200 object queries</a:t>
            </a:r>
            <a:endParaRPr b="0" lang="en-US" sz="3300" spc="-1" strike="noStrike">
              <a:solidFill>
                <a:srgbClr val="000000"/>
              </a:solidFill>
              <a:latin typeface="Arial"/>
            </a:endParaRPr>
          </a:p>
        </p:txBody>
      </p:sp>
      <p:sp>
        <p:nvSpPr>
          <p:cNvPr id="1006" name="Google Shape;1072;p12"/>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12</a:t>
            </a:r>
            <a:endParaRPr b="0" lang="en-US" sz="1200" spc="-1" strike="noStrike">
              <a:solidFill>
                <a:srgbClr val="000000"/>
              </a:solidFill>
              <a:latin typeface="Arial"/>
            </a:endParaRPr>
          </a:p>
        </p:txBody>
      </p:sp>
      <p:sp>
        <p:nvSpPr>
          <p:cNvPr id="1007" name="Google Shape;1073;p12"/>
          <p:cNvSpPr/>
          <p:nvPr/>
        </p:nvSpPr>
        <p:spPr>
          <a:xfrm>
            <a:off x="533520" y="1504800"/>
            <a:ext cx="2313720" cy="780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08" name="Google Shape;1074;p12"/>
          <p:cNvSpPr/>
          <p:nvPr/>
        </p:nvSpPr>
        <p:spPr>
          <a:xfrm>
            <a:off x="609480" y="1552680"/>
            <a:ext cx="2161440" cy="685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7351c7"/>
                </a:solidFill>
                <a:latin typeface="Verdana"/>
                <a:ea typeface="Verdana"/>
              </a:rPr>
              <a:t>Fused BEV</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256 × 180 × 180</a:t>
            </a:r>
            <a:endParaRPr b="0" lang="en-US" sz="1800" spc="-1" strike="noStrike">
              <a:solidFill>
                <a:srgbClr val="000000"/>
              </a:solidFill>
              <a:latin typeface="Arial"/>
            </a:endParaRPr>
          </a:p>
        </p:txBody>
      </p:sp>
      <p:sp>
        <p:nvSpPr>
          <p:cNvPr id="1009" name="Google Shape;1075;p12"/>
          <p:cNvSpPr/>
          <p:nvPr/>
        </p:nvSpPr>
        <p:spPr>
          <a:xfrm>
            <a:off x="3390840" y="1504800"/>
            <a:ext cx="2475720" cy="7804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0" name="Google Shape;1076;p12"/>
          <p:cNvSpPr/>
          <p:nvPr/>
        </p:nvSpPr>
        <p:spPr>
          <a:xfrm>
            <a:off x="3467160" y="1552680"/>
            <a:ext cx="2323440" cy="685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SECOND + FPN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512 × 180 × 180</a:t>
            </a:r>
            <a:endParaRPr b="0" lang="en-US" sz="1800" spc="-1" strike="noStrike">
              <a:solidFill>
                <a:srgbClr val="000000"/>
              </a:solidFill>
              <a:latin typeface="Arial"/>
            </a:endParaRPr>
          </a:p>
        </p:txBody>
      </p:sp>
      <p:sp>
        <p:nvSpPr>
          <p:cNvPr id="1011" name="Google Shape;1077;p12"/>
          <p:cNvSpPr/>
          <p:nvPr/>
        </p:nvSpPr>
        <p:spPr>
          <a:xfrm>
            <a:off x="2847960" y="1895400"/>
            <a:ext cx="542160" cy="360"/>
          </a:xfrm>
          <a:custGeom>
            <a:avLst/>
            <a:gdLst>
              <a:gd name="textAreaLeft" fmla="*/ 0 w 542160"/>
              <a:gd name="textAreaRight" fmla="*/ 542520 w 542160"/>
              <a:gd name="textAreaTop" fmla="*/ 0 h 360"/>
              <a:gd name="textAreaBottom" fmla="*/ 720 h 360"/>
            </a:gdLst>
            <a:ahLst/>
            <a:rect l="textAreaLeft" t="textAreaTop" r="textAreaRight" b="textAreaBottom"/>
            <a:pathLst>
              <a:path w="542925" h="953">
                <a:moveTo>
                  <a:pt x="0" y="0"/>
                </a:moveTo>
                <a:lnTo>
                  <a:pt x="54292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12" name="Google Shape;1078;p12"/>
          <p:cNvSpPr/>
          <p:nvPr/>
        </p:nvSpPr>
        <p:spPr>
          <a:xfrm>
            <a:off x="3295800" y="18518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13" name="Google Shape;1079;p12"/>
          <p:cNvSpPr/>
          <p:nvPr/>
        </p:nvSpPr>
        <p:spPr>
          <a:xfrm>
            <a:off x="6429240" y="1504800"/>
            <a:ext cx="2475720" cy="7804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4" name="Google Shape;1080;p12"/>
          <p:cNvSpPr/>
          <p:nvPr/>
        </p:nvSpPr>
        <p:spPr>
          <a:xfrm>
            <a:off x="6505560" y="1552680"/>
            <a:ext cx="2323440" cy="685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Shared 3 × 3</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128 × 180 × 180</a:t>
            </a:r>
            <a:endParaRPr b="0" lang="en-US" sz="1800" spc="-1" strike="noStrike">
              <a:solidFill>
                <a:srgbClr val="000000"/>
              </a:solidFill>
              <a:latin typeface="Arial"/>
            </a:endParaRPr>
          </a:p>
        </p:txBody>
      </p:sp>
      <p:sp>
        <p:nvSpPr>
          <p:cNvPr id="1015" name="Google Shape;1081;p12"/>
          <p:cNvSpPr/>
          <p:nvPr/>
        </p:nvSpPr>
        <p:spPr>
          <a:xfrm>
            <a:off x="5867280" y="1895400"/>
            <a:ext cx="561240" cy="360"/>
          </a:xfrm>
          <a:custGeom>
            <a:avLst/>
            <a:gdLst>
              <a:gd name="textAreaLeft" fmla="*/ 0 w 561240"/>
              <a:gd name="textAreaRight" fmla="*/ 561600 w 561240"/>
              <a:gd name="textAreaTop" fmla="*/ 0 h 360"/>
              <a:gd name="textAreaBottom" fmla="*/ 72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016" name="Google Shape;1082;p12"/>
          <p:cNvSpPr/>
          <p:nvPr/>
        </p:nvSpPr>
        <p:spPr>
          <a:xfrm>
            <a:off x="6334200" y="18518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017" name="Google Shape;1083;p12"/>
          <p:cNvSpPr/>
          <p:nvPr/>
        </p:nvSpPr>
        <p:spPr>
          <a:xfrm>
            <a:off x="1752480" y="2286000"/>
            <a:ext cx="5914440" cy="818280"/>
          </a:xfrm>
          <a:custGeom>
            <a:avLst/>
            <a:gdLst>
              <a:gd name="textAreaLeft" fmla="*/ 0 w 5914440"/>
              <a:gd name="textAreaRight" fmla="*/ 5914800 w 5914440"/>
              <a:gd name="textAreaTop" fmla="*/ 0 h 818280"/>
              <a:gd name="textAreaBottom" fmla="*/ 818640 h 818280"/>
            </a:gdLst>
            <a:ahLst/>
            <a:rect l="textAreaLeft" t="textAreaTop" r="textAreaRight" b="textAreaBottom"/>
            <a:pathLst>
              <a:path w="5915025" h="819150">
                <a:moveTo>
                  <a:pt x="5915025" y="0"/>
                </a:moveTo>
                <a:lnTo>
                  <a:pt x="5915025" y="428625"/>
                </a:lnTo>
                <a:lnTo>
                  <a:pt x="0" y="428625"/>
                </a:lnTo>
                <a:lnTo>
                  <a:pt x="0" y="8191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18" name="Google Shape;1084;p12"/>
          <p:cNvSpPr/>
          <p:nvPr/>
        </p:nvSpPr>
        <p:spPr>
          <a:xfrm>
            <a:off x="1708920" y="300996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19" name="Google Shape;1085;p12"/>
          <p:cNvSpPr/>
          <p:nvPr/>
        </p:nvSpPr>
        <p:spPr>
          <a:xfrm>
            <a:off x="609480" y="3200400"/>
            <a:ext cx="2380680" cy="1904400"/>
          </a:xfrm>
          <a:prstGeom prst="rect">
            <a:avLst/>
          </a:prstGeom>
          <a:solidFill>
            <a:srgbClr val="ffffff"/>
          </a:solidFill>
          <a:ln w="114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0" name="Google Shape;1086;p12"/>
          <p:cNvSpPr/>
          <p:nvPr/>
        </p:nvSpPr>
        <p:spPr>
          <a:xfrm>
            <a:off x="60948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1" name="Google Shape;1087;p12"/>
          <p:cNvSpPr/>
          <p:nvPr/>
        </p:nvSpPr>
        <p:spPr>
          <a:xfrm>
            <a:off x="847800" y="320040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2" name="Google Shape;1088;p12"/>
          <p:cNvSpPr/>
          <p:nvPr/>
        </p:nvSpPr>
        <p:spPr>
          <a:xfrm>
            <a:off x="1085760" y="320040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3" name="Google Shape;1089;p12"/>
          <p:cNvSpPr/>
          <p:nvPr/>
        </p:nvSpPr>
        <p:spPr>
          <a:xfrm>
            <a:off x="1324080" y="320040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4" name="Google Shape;1090;p12"/>
          <p:cNvSpPr/>
          <p:nvPr/>
        </p:nvSpPr>
        <p:spPr>
          <a:xfrm>
            <a:off x="156204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5" name="Google Shape;1091;p12"/>
          <p:cNvSpPr/>
          <p:nvPr/>
        </p:nvSpPr>
        <p:spPr>
          <a:xfrm>
            <a:off x="180036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6" name="Google Shape;1092;p12"/>
          <p:cNvSpPr/>
          <p:nvPr/>
        </p:nvSpPr>
        <p:spPr>
          <a:xfrm>
            <a:off x="203832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7" name="Google Shape;1093;p12"/>
          <p:cNvSpPr/>
          <p:nvPr/>
        </p:nvSpPr>
        <p:spPr>
          <a:xfrm>
            <a:off x="227664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8" name="Google Shape;1094;p12"/>
          <p:cNvSpPr/>
          <p:nvPr/>
        </p:nvSpPr>
        <p:spPr>
          <a:xfrm>
            <a:off x="251460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29" name="Google Shape;1095;p12"/>
          <p:cNvSpPr/>
          <p:nvPr/>
        </p:nvSpPr>
        <p:spPr>
          <a:xfrm>
            <a:off x="2752560" y="32004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0" name="Google Shape;1096;p12"/>
          <p:cNvSpPr/>
          <p:nvPr/>
        </p:nvSpPr>
        <p:spPr>
          <a:xfrm>
            <a:off x="609480" y="34383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1" name="Google Shape;1097;p12"/>
          <p:cNvSpPr/>
          <p:nvPr/>
        </p:nvSpPr>
        <p:spPr>
          <a:xfrm>
            <a:off x="847800" y="343836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2" name="Google Shape;1098;p12"/>
          <p:cNvSpPr/>
          <p:nvPr/>
        </p:nvSpPr>
        <p:spPr>
          <a:xfrm>
            <a:off x="1085760" y="343836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3" name="Google Shape;1099;p12"/>
          <p:cNvSpPr/>
          <p:nvPr/>
        </p:nvSpPr>
        <p:spPr>
          <a:xfrm>
            <a:off x="1324080" y="343836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4" name="Google Shape;1100;p12"/>
          <p:cNvSpPr/>
          <p:nvPr/>
        </p:nvSpPr>
        <p:spPr>
          <a:xfrm>
            <a:off x="1562040" y="34383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5" name="Google Shape;1101;p12"/>
          <p:cNvSpPr/>
          <p:nvPr/>
        </p:nvSpPr>
        <p:spPr>
          <a:xfrm>
            <a:off x="1800360" y="343836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6" name="Google Shape;1102;p12"/>
          <p:cNvSpPr/>
          <p:nvPr/>
        </p:nvSpPr>
        <p:spPr>
          <a:xfrm>
            <a:off x="2038320" y="34383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7" name="Google Shape;1103;p12"/>
          <p:cNvSpPr/>
          <p:nvPr/>
        </p:nvSpPr>
        <p:spPr>
          <a:xfrm>
            <a:off x="2276640" y="343836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8" name="Google Shape;1104;p12"/>
          <p:cNvSpPr/>
          <p:nvPr/>
        </p:nvSpPr>
        <p:spPr>
          <a:xfrm>
            <a:off x="2514600" y="34383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39" name="Google Shape;1105;p12"/>
          <p:cNvSpPr/>
          <p:nvPr/>
        </p:nvSpPr>
        <p:spPr>
          <a:xfrm>
            <a:off x="2752560" y="343836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0" name="Google Shape;1106;p12"/>
          <p:cNvSpPr/>
          <p:nvPr/>
        </p:nvSpPr>
        <p:spPr>
          <a:xfrm>
            <a:off x="609480" y="367668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1" name="Google Shape;1107;p12"/>
          <p:cNvSpPr/>
          <p:nvPr/>
        </p:nvSpPr>
        <p:spPr>
          <a:xfrm>
            <a:off x="847800" y="367668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2" name="Google Shape;1108;p12"/>
          <p:cNvSpPr/>
          <p:nvPr/>
        </p:nvSpPr>
        <p:spPr>
          <a:xfrm>
            <a:off x="1085760" y="3676680"/>
            <a:ext cx="237240" cy="23724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43" name="Google Shape;1109;p12"/>
          <p:cNvSpPr/>
          <p:nvPr/>
        </p:nvSpPr>
        <p:spPr>
          <a:xfrm>
            <a:off x="1324080" y="367668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4" name="Google Shape;1110;p12"/>
          <p:cNvSpPr/>
          <p:nvPr/>
        </p:nvSpPr>
        <p:spPr>
          <a:xfrm>
            <a:off x="1562040" y="367668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5" name="Google Shape;1111;p12"/>
          <p:cNvSpPr/>
          <p:nvPr/>
        </p:nvSpPr>
        <p:spPr>
          <a:xfrm>
            <a:off x="1800360" y="367668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6" name="Google Shape;1112;p12"/>
          <p:cNvSpPr/>
          <p:nvPr/>
        </p:nvSpPr>
        <p:spPr>
          <a:xfrm>
            <a:off x="2038320" y="367668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7" name="Google Shape;1113;p12"/>
          <p:cNvSpPr/>
          <p:nvPr/>
        </p:nvSpPr>
        <p:spPr>
          <a:xfrm>
            <a:off x="2276640" y="367668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8" name="Google Shape;1114;p12"/>
          <p:cNvSpPr/>
          <p:nvPr/>
        </p:nvSpPr>
        <p:spPr>
          <a:xfrm>
            <a:off x="2514600" y="367668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49" name="Google Shape;1115;p12"/>
          <p:cNvSpPr/>
          <p:nvPr/>
        </p:nvSpPr>
        <p:spPr>
          <a:xfrm>
            <a:off x="2752560" y="367668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0" name="Google Shape;1116;p12"/>
          <p:cNvSpPr/>
          <p:nvPr/>
        </p:nvSpPr>
        <p:spPr>
          <a:xfrm>
            <a:off x="609480" y="391464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1" name="Google Shape;1117;p12"/>
          <p:cNvSpPr/>
          <p:nvPr/>
        </p:nvSpPr>
        <p:spPr>
          <a:xfrm>
            <a:off x="847800" y="391464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2" name="Google Shape;1118;p12"/>
          <p:cNvSpPr/>
          <p:nvPr/>
        </p:nvSpPr>
        <p:spPr>
          <a:xfrm>
            <a:off x="1085760" y="391464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3" name="Google Shape;1119;p12"/>
          <p:cNvSpPr/>
          <p:nvPr/>
        </p:nvSpPr>
        <p:spPr>
          <a:xfrm>
            <a:off x="1324080" y="391464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4" name="Google Shape;1120;p12"/>
          <p:cNvSpPr/>
          <p:nvPr/>
        </p:nvSpPr>
        <p:spPr>
          <a:xfrm>
            <a:off x="1562040" y="391464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5" name="Google Shape;1121;p12"/>
          <p:cNvSpPr/>
          <p:nvPr/>
        </p:nvSpPr>
        <p:spPr>
          <a:xfrm>
            <a:off x="1800360" y="391464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6" name="Google Shape;1122;p12"/>
          <p:cNvSpPr/>
          <p:nvPr/>
        </p:nvSpPr>
        <p:spPr>
          <a:xfrm>
            <a:off x="2038320" y="391464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7" name="Google Shape;1123;p12"/>
          <p:cNvSpPr/>
          <p:nvPr/>
        </p:nvSpPr>
        <p:spPr>
          <a:xfrm>
            <a:off x="2276640" y="3914640"/>
            <a:ext cx="237240" cy="23724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58" name="Google Shape;1124;p12"/>
          <p:cNvSpPr/>
          <p:nvPr/>
        </p:nvSpPr>
        <p:spPr>
          <a:xfrm>
            <a:off x="2514600" y="391464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59" name="Google Shape;1125;p12"/>
          <p:cNvSpPr/>
          <p:nvPr/>
        </p:nvSpPr>
        <p:spPr>
          <a:xfrm>
            <a:off x="2752560" y="391464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0" name="Google Shape;1126;p12"/>
          <p:cNvSpPr/>
          <p:nvPr/>
        </p:nvSpPr>
        <p:spPr>
          <a:xfrm>
            <a:off x="609480" y="415296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1" name="Google Shape;1127;p12"/>
          <p:cNvSpPr/>
          <p:nvPr/>
        </p:nvSpPr>
        <p:spPr>
          <a:xfrm>
            <a:off x="847800" y="41529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2" name="Google Shape;1128;p12"/>
          <p:cNvSpPr/>
          <p:nvPr/>
        </p:nvSpPr>
        <p:spPr>
          <a:xfrm>
            <a:off x="1085760" y="415296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3" name="Google Shape;1129;p12"/>
          <p:cNvSpPr/>
          <p:nvPr/>
        </p:nvSpPr>
        <p:spPr>
          <a:xfrm>
            <a:off x="1324080" y="41529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4" name="Google Shape;1130;p12"/>
          <p:cNvSpPr/>
          <p:nvPr/>
        </p:nvSpPr>
        <p:spPr>
          <a:xfrm>
            <a:off x="1562040" y="41529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5" name="Google Shape;1131;p12"/>
          <p:cNvSpPr/>
          <p:nvPr/>
        </p:nvSpPr>
        <p:spPr>
          <a:xfrm>
            <a:off x="1800360" y="415296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6" name="Google Shape;1132;p12"/>
          <p:cNvSpPr/>
          <p:nvPr/>
        </p:nvSpPr>
        <p:spPr>
          <a:xfrm>
            <a:off x="2038320" y="415296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7" name="Google Shape;1133;p12"/>
          <p:cNvSpPr/>
          <p:nvPr/>
        </p:nvSpPr>
        <p:spPr>
          <a:xfrm>
            <a:off x="2276640" y="415296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8" name="Google Shape;1134;p12"/>
          <p:cNvSpPr/>
          <p:nvPr/>
        </p:nvSpPr>
        <p:spPr>
          <a:xfrm>
            <a:off x="2514600" y="415296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69" name="Google Shape;1135;p12"/>
          <p:cNvSpPr/>
          <p:nvPr/>
        </p:nvSpPr>
        <p:spPr>
          <a:xfrm>
            <a:off x="2752560" y="415296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0" name="Google Shape;1136;p12"/>
          <p:cNvSpPr/>
          <p:nvPr/>
        </p:nvSpPr>
        <p:spPr>
          <a:xfrm>
            <a:off x="609480" y="439092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1" name="Google Shape;1137;p12"/>
          <p:cNvSpPr/>
          <p:nvPr/>
        </p:nvSpPr>
        <p:spPr>
          <a:xfrm>
            <a:off x="847800" y="439092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2" name="Google Shape;1138;p12"/>
          <p:cNvSpPr/>
          <p:nvPr/>
        </p:nvSpPr>
        <p:spPr>
          <a:xfrm>
            <a:off x="1085760" y="439092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3" name="Google Shape;1139;p12"/>
          <p:cNvSpPr/>
          <p:nvPr/>
        </p:nvSpPr>
        <p:spPr>
          <a:xfrm>
            <a:off x="1324080" y="439092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4" name="Google Shape;1140;p12"/>
          <p:cNvSpPr/>
          <p:nvPr/>
        </p:nvSpPr>
        <p:spPr>
          <a:xfrm>
            <a:off x="1562040" y="439092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5" name="Google Shape;1141;p12"/>
          <p:cNvSpPr/>
          <p:nvPr/>
        </p:nvSpPr>
        <p:spPr>
          <a:xfrm>
            <a:off x="1800360" y="439092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6" name="Google Shape;1142;p12"/>
          <p:cNvSpPr/>
          <p:nvPr/>
        </p:nvSpPr>
        <p:spPr>
          <a:xfrm>
            <a:off x="2038320" y="439092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7" name="Google Shape;1143;p12"/>
          <p:cNvSpPr/>
          <p:nvPr/>
        </p:nvSpPr>
        <p:spPr>
          <a:xfrm>
            <a:off x="2276640" y="439092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8" name="Google Shape;1144;p12"/>
          <p:cNvSpPr/>
          <p:nvPr/>
        </p:nvSpPr>
        <p:spPr>
          <a:xfrm>
            <a:off x="2514600" y="439092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79" name="Google Shape;1145;p12"/>
          <p:cNvSpPr/>
          <p:nvPr/>
        </p:nvSpPr>
        <p:spPr>
          <a:xfrm>
            <a:off x="2752560" y="439092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0" name="Google Shape;1146;p12"/>
          <p:cNvSpPr/>
          <p:nvPr/>
        </p:nvSpPr>
        <p:spPr>
          <a:xfrm>
            <a:off x="609480" y="462924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1" name="Google Shape;1147;p12"/>
          <p:cNvSpPr/>
          <p:nvPr/>
        </p:nvSpPr>
        <p:spPr>
          <a:xfrm>
            <a:off x="847800" y="462924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2" name="Google Shape;1148;p12"/>
          <p:cNvSpPr/>
          <p:nvPr/>
        </p:nvSpPr>
        <p:spPr>
          <a:xfrm>
            <a:off x="1085760" y="462924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3" name="Google Shape;1149;p12"/>
          <p:cNvSpPr/>
          <p:nvPr/>
        </p:nvSpPr>
        <p:spPr>
          <a:xfrm>
            <a:off x="1324080" y="462924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4" name="Google Shape;1150;p12"/>
          <p:cNvSpPr/>
          <p:nvPr/>
        </p:nvSpPr>
        <p:spPr>
          <a:xfrm>
            <a:off x="1562040" y="462924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5" name="Google Shape;1151;p12"/>
          <p:cNvSpPr/>
          <p:nvPr/>
        </p:nvSpPr>
        <p:spPr>
          <a:xfrm>
            <a:off x="1800360" y="4629240"/>
            <a:ext cx="237240" cy="237240"/>
          </a:xfrm>
          <a:prstGeom prst="rect">
            <a:avLst/>
          </a:prstGeom>
          <a:solidFill>
            <a:srgbClr val="4d657d"/>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086" name="Google Shape;1152;p12"/>
          <p:cNvSpPr/>
          <p:nvPr/>
        </p:nvSpPr>
        <p:spPr>
          <a:xfrm>
            <a:off x="2038320" y="462924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7" name="Google Shape;1153;p12"/>
          <p:cNvSpPr/>
          <p:nvPr/>
        </p:nvSpPr>
        <p:spPr>
          <a:xfrm>
            <a:off x="2276640" y="4629240"/>
            <a:ext cx="237240" cy="237240"/>
          </a:xfrm>
          <a:prstGeom prst="rect">
            <a:avLst/>
          </a:prstGeom>
          <a:solidFill>
            <a:srgbClr val="f7f8f9"/>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8" name="Google Shape;1154;p12"/>
          <p:cNvSpPr/>
          <p:nvPr/>
        </p:nvSpPr>
        <p:spPr>
          <a:xfrm>
            <a:off x="2514600" y="462924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89" name="Google Shape;1155;p12"/>
          <p:cNvSpPr/>
          <p:nvPr/>
        </p:nvSpPr>
        <p:spPr>
          <a:xfrm>
            <a:off x="2752560" y="462924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0" name="Google Shape;1156;p12"/>
          <p:cNvSpPr/>
          <p:nvPr/>
        </p:nvSpPr>
        <p:spPr>
          <a:xfrm>
            <a:off x="609480" y="48672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1" name="Google Shape;1157;p12"/>
          <p:cNvSpPr/>
          <p:nvPr/>
        </p:nvSpPr>
        <p:spPr>
          <a:xfrm>
            <a:off x="847800" y="48672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2" name="Google Shape;1158;p12"/>
          <p:cNvSpPr/>
          <p:nvPr/>
        </p:nvSpPr>
        <p:spPr>
          <a:xfrm>
            <a:off x="1085760" y="48672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3" name="Google Shape;1159;p12"/>
          <p:cNvSpPr/>
          <p:nvPr/>
        </p:nvSpPr>
        <p:spPr>
          <a:xfrm>
            <a:off x="1324080" y="486720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4" name="Google Shape;1160;p12"/>
          <p:cNvSpPr/>
          <p:nvPr/>
        </p:nvSpPr>
        <p:spPr>
          <a:xfrm>
            <a:off x="1562040" y="486720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5" name="Google Shape;1161;p12"/>
          <p:cNvSpPr/>
          <p:nvPr/>
        </p:nvSpPr>
        <p:spPr>
          <a:xfrm>
            <a:off x="1800360" y="4867200"/>
            <a:ext cx="237240" cy="237240"/>
          </a:xfrm>
          <a:prstGeom prst="rect">
            <a:avLst/>
          </a:prstGeom>
          <a:solidFill>
            <a:srgbClr val="adb8c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6" name="Google Shape;1162;p12"/>
          <p:cNvSpPr/>
          <p:nvPr/>
        </p:nvSpPr>
        <p:spPr>
          <a:xfrm>
            <a:off x="2038320" y="4867200"/>
            <a:ext cx="237240" cy="237240"/>
          </a:xfrm>
          <a:prstGeom prst="rect">
            <a:avLst/>
          </a:prstGeom>
          <a:solidFill>
            <a:srgbClr val="d9dee3"/>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7" name="Google Shape;1163;p12"/>
          <p:cNvSpPr/>
          <p:nvPr/>
        </p:nvSpPr>
        <p:spPr>
          <a:xfrm>
            <a:off x="2276640" y="4867200"/>
            <a:ext cx="237240" cy="237240"/>
          </a:xfrm>
          <a:prstGeom prst="rect">
            <a:avLst/>
          </a:prstGeom>
          <a:solidFill>
            <a:srgbClr val="fbfcfc"/>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8" name="Google Shape;1164;p12"/>
          <p:cNvSpPr/>
          <p:nvPr/>
        </p:nvSpPr>
        <p:spPr>
          <a:xfrm>
            <a:off x="2514600" y="48672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099" name="Google Shape;1165;p12"/>
          <p:cNvSpPr/>
          <p:nvPr/>
        </p:nvSpPr>
        <p:spPr>
          <a:xfrm>
            <a:off x="2752560" y="4867200"/>
            <a:ext cx="237240" cy="237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0" name="Google Shape;1166;p12"/>
          <p:cNvSpPr/>
          <p:nvPr/>
        </p:nvSpPr>
        <p:spPr>
          <a:xfrm>
            <a:off x="84780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1" name="Google Shape;1167;p12"/>
          <p:cNvSpPr/>
          <p:nvPr/>
        </p:nvSpPr>
        <p:spPr>
          <a:xfrm>
            <a:off x="108576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2" name="Google Shape;1168;p12"/>
          <p:cNvSpPr/>
          <p:nvPr/>
        </p:nvSpPr>
        <p:spPr>
          <a:xfrm>
            <a:off x="132408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3" name="Google Shape;1169;p12"/>
          <p:cNvSpPr/>
          <p:nvPr/>
        </p:nvSpPr>
        <p:spPr>
          <a:xfrm>
            <a:off x="156204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4" name="Google Shape;1170;p12"/>
          <p:cNvSpPr/>
          <p:nvPr/>
        </p:nvSpPr>
        <p:spPr>
          <a:xfrm>
            <a:off x="180036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5" name="Google Shape;1171;p12"/>
          <p:cNvSpPr/>
          <p:nvPr/>
        </p:nvSpPr>
        <p:spPr>
          <a:xfrm>
            <a:off x="203832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6" name="Google Shape;1172;p12"/>
          <p:cNvSpPr/>
          <p:nvPr/>
        </p:nvSpPr>
        <p:spPr>
          <a:xfrm>
            <a:off x="227664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7" name="Google Shape;1173;p12"/>
          <p:cNvSpPr/>
          <p:nvPr/>
        </p:nvSpPr>
        <p:spPr>
          <a:xfrm>
            <a:off x="251460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8" name="Google Shape;1174;p12"/>
          <p:cNvSpPr/>
          <p:nvPr/>
        </p:nvSpPr>
        <p:spPr>
          <a:xfrm>
            <a:off x="2752560" y="3200400"/>
            <a:ext cx="360" cy="1904400"/>
          </a:xfrm>
          <a:custGeom>
            <a:avLst/>
            <a:gdLst>
              <a:gd name="textAreaLeft" fmla="*/ 0 w 360"/>
              <a:gd name="textAreaRight" fmla="*/ 720 w 360"/>
              <a:gd name="textAreaTop" fmla="*/ 0 h 1904400"/>
              <a:gd name="textAreaBottom" fmla="*/ 1904760 h 1904400"/>
            </a:gdLst>
            <a:ahLst/>
            <a:rect l="textAreaLeft" t="textAreaTop" r="textAreaRight" b="textAreaBottom"/>
            <a:pathLst>
              <a:path w="953" h="1905000">
                <a:moveTo>
                  <a:pt x="0" y="0"/>
                </a:moveTo>
                <a:lnTo>
                  <a:pt x="0" y="1905000"/>
                </a:lnTo>
              </a:path>
            </a:pathLst>
          </a:custGeom>
          <a:noFill/>
          <a:ln w="9525">
            <a:solidFill>
              <a:srgbClr val="dfe5ed"/>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09" name="Google Shape;1175;p12"/>
          <p:cNvSpPr/>
          <p:nvPr/>
        </p:nvSpPr>
        <p:spPr>
          <a:xfrm>
            <a:off x="609480" y="343836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0" name="Google Shape;1176;p12"/>
          <p:cNvSpPr/>
          <p:nvPr/>
        </p:nvSpPr>
        <p:spPr>
          <a:xfrm>
            <a:off x="609480" y="367668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1" name="Google Shape;1177;p12"/>
          <p:cNvSpPr/>
          <p:nvPr/>
        </p:nvSpPr>
        <p:spPr>
          <a:xfrm>
            <a:off x="609480" y="391464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2" name="Google Shape;1178;p12"/>
          <p:cNvSpPr/>
          <p:nvPr/>
        </p:nvSpPr>
        <p:spPr>
          <a:xfrm>
            <a:off x="609480" y="415296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3" name="Google Shape;1179;p12"/>
          <p:cNvSpPr/>
          <p:nvPr/>
        </p:nvSpPr>
        <p:spPr>
          <a:xfrm>
            <a:off x="609480" y="439092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4" name="Google Shape;1180;p12"/>
          <p:cNvSpPr/>
          <p:nvPr/>
        </p:nvSpPr>
        <p:spPr>
          <a:xfrm>
            <a:off x="609480" y="462924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5" name="Google Shape;1181;p12"/>
          <p:cNvSpPr/>
          <p:nvPr/>
        </p:nvSpPr>
        <p:spPr>
          <a:xfrm>
            <a:off x="609480" y="4867200"/>
            <a:ext cx="2380680" cy="360"/>
          </a:xfrm>
          <a:custGeom>
            <a:avLst/>
            <a:gdLst>
              <a:gd name="textAreaLeft" fmla="*/ 0 w 2380680"/>
              <a:gd name="textAreaRight" fmla="*/ 2381040 w 2380680"/>
              <a:gd name="textAreaTop" fmla="*/ 0 h 360"/>
              <a:gd name="textAreaBottom" fmla="*/ 720 h 360"/>
            </a:gdLst>
            <a:ahLst/>
            <a:rect l="textAreaLeft" t="textAreaTop" r="textAreaRight" b="textAreaBottom"/>
            <a:pathLst>
              <a:path w="2381250" h="953">
                <a:moveTo>
                  <a:pt x="0" y="0"/>
                </a:moveTo>
                <a:lnTo>
                  <a:pt x="2381250" y="0"/>
                </a:lnTo>
              </a:path>
            </a:pathLst>
          </a:custGeom>
          <a:noFill/>
          <a:ln w="9525">
            <a:solidFill>
              <a:srgbClr val="dfe5ed"/>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16" name="Google Shape;1182;p12"/>
          <p:cNvSpPr/>
          <p:nvPr/>
        </p:nvSpPr>
        <p:spPr>
          <a:xfrm>
            <a:off x="1085760" y="3676680"/>
            <a:ext cx="237240" cy="23724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7" name="Google Shape;1183;p12"/>
          <p:cNvSpPr/>
          <p:nvPr/>
        </p:nvSpPr>
        <p:spPr>
          <a:xfrm>
            <a:off x="2276640" y="3914640"/>
            <a:ext cx="237240" cy="23724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8" name="Google Shape;1184;p12"/>
          <p:cNvSpPr/>
          <p:nvPr/>
        </p:nvSpPr>
        <p:spPr>
          <a:xfrm>
            <a:off x="1800360" y="4629240"/>
            <a:ext cx="237240" cy="23724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19" name="Google Shape;1185;p12"/>
          <p:cNvSpPr/>
          <p:nvPr/>
        </p:nvSpPr>
        <p:spPr>
          <a:xfrm>
            <a:off x="542880" y="5267160"/>
            <a:ext cx="25902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304c68"/>
                </a:solidFill>
                <a:latin typeface="Verdana"/>
                <a:ea typeface="Verdana"/>
              </a:rPr>
              <a:t>10 class heatmaps</a:t>
            </a:r>
            <a:endParaRPr b="0" lang="en-US" sz="1729" spc="-1" strike="noStrike">
              <a:solidFill>
                <a:srgbClr val="000000"/>
              </a:solidFill>
              <a:latin typeface="Arial"/>
            </a:endParaRPr>
          </a:p>
        </p:txBody>
      </p:sp>
      <p:sp>
        <p:nvSpPr>
          <p:cNvPr id="1120" name="Google Shape;1186;p12"/>
          <p:cNvSpPr/>
          <p:nvPr/>
        </p:nvSpPr>
        <p:spPr>
          <a:xfrm>
            <a:off x="3591000" y="3629160"/>
            <a:ext cx="2152080" cy="8755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1" name="Google Shape;1187;p12"/>
          <p:cNvSpPr/>
          <p:nvPr/>
        </p:nvSpPr>
        <p:spPr>
          <a:xfrm>
            <a:off x="3666960" y="3676680"/>
            <a:ext cx="1999440" cy="780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Local maxima</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 top 200</a:t>
            </a:r>
            <a:endParaRPr b="0" lang="en-US" sz="1950" spc="-1" strike="noStrike">
              <a:solidFill>
                <a:srgbClr val="000000"/>
              </a:solidFill>
              <a:latin typeface="Arial"/>
            </a:endParaRPr>
          </a:p>
        </p:txBody>
      </p:sp>
      <p:sp>
        <p:nvSpPr>
          <p:cNvPr id="1122" name="Google Shape;1188;p12"/>
          <p:cNvSpPr/>
          <p:nvPr/>
        </p:nvSpPr>
        <p:spPr>
          <a:xfrm>
            <a:off x="2990880" y="4057560"/>
            <a:ext cx="599400" cy="360"/>
          </a:xfrm>
          <a:custGeom>
            <a:avLst/>
            <a:gdLst>
              <a:gd name="textAreaLeft" fmla="*/ 0 w 599400"/>
              <a:gd name="textAreaRight" fmla="*/ 599760 w 599400"/>
              <a:gd name="textAreaTop" fmla="*/ 0 h 360"/>
              <a:gd name="textAreaBottom" fmla="*/ 720 h 360"/>
            </a:gdLst>
            <a:ahLst/>
            <a:rect l="textAreaLeft" t="textAreaTop" r="textAreaRight" b="textAreaBottom"/>
            <a:pathLst>
              <a:path w="600075" h="953">
                <a:moveTo>
                  <a:pt x="0" y="0"/>
                </a:moveTo>
                <a:lnTo>
                  <a:pt x="6000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23" name="Google Shape;1189;p12"/>
          <p:cNvSpPr/>
          <p:nvPr/>
        </p:nvSpPr>
        <p:spPr>
          <a:xfrm>
            <a:off x="3495600" y="4014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24" name="Google Shape;1190;p12"/>
          <p:cNvSpPr/>
          <p:nvPr/>
        </p:nvSpPr>
        <p:spPr>
          <a:xfrm>
            <a:off x="6372360" y="3629160"/>
            <a:ext cx="2332800" cy="87552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5" name="Google Shape;1191;p12"/>
          <p:cNvSpPr/>
          <p:nvPr/>
        </p:nvSpPr>
        <p:spPr>
          <a:xfrm>
            <a:off x="6448320" y="3676680"/>
            <a:ext cx="2180520" cy="7804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Gather 128-dim</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BEV features</a:t>
            </a:r>
            <a:endParaRPr b="0" lang="en-US" sz="1870" spc="-1" strike="noStrike">
              <a:solidFill>
                <a:srgbClr val="000000"/>
              </a:solidFill>
              <a:latin typeface="Arial"/>
            </a:endParaRPr>
          </a:p>
        </p:txBody>
      </p:sp>
      <p:sp>
        <p:nvSpPr>
          <p:cNvPr id="1126" name="Google Shape;1192;p12"/>
          <p:cNvSpPr/>
          <p:nvPr/>
        </p:nvSpPr>
        <p:spPr>
          <a:xfrm>
            <a:off x="5743440" y="4057560"/>
            <a:ext cx="627840" cy="360"/>
          </a:xfrm>
          <a:custGeom>
            <a:avLst/>
            <a:gdLst>
              <a:gd name="textAreaLeft" fmla="*/ 0 w 627840"/>
              <a:gd name="textAreaRight" fmla="*/ 628200 w 627840"/>
              <a:gd name="textAreaTop" fmla="*/ 0 h 360"/>
              <a:gd name="textAreaBottom" fmla="*/ 720 h 360"/>
            </a:gdLst>
            <a:ahLst/>
            <a:rect l="textAreaLeft" t="textAreaTop" r="textAreaRight" b="textAreaBottom"/>
            <a:pathLst>
              <a:path w="628650" h="953">
                <a:moveTo>
                  <a:pt x="0" y="0"/>
                </a:moveTo>
                <a:lnTo>
                  <a:pt x="62865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27" name="Google Shape;1193;p12"/>
          <p:cNvSpPr/>
          <p:nvPr/>
        </p:nvSpPr>
        <p:spPr>
          <a:xfrm>
            <a:off x="6276960" y="4014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28" name="Google Shape;1194;p12"/>
          <p:cNvSpPr/>
          <p:nvPr/>
        </p:nvSpPr>
        <p:spPr>
          <a:xfrm>
            <a:off x="7524720" y="1895400"/>
            <a:ext cx="1685160" cy="1732680"/>
          </a:xfrm>
          <a:custGeom>
            <a:avLst/>
            <a:gdLst>
              <a:gd name="textAreaLeft" fmla="*/ 0 w 1685160"/>
              <a:gd name="textAreaRight" fmla="*/ 1685520 w 1685160"/>
              <a:gd name="textAreaTop" fmla="*/ 0 h 1732680"/>
              <a:gd name="textAreaBottom" fmla="*/ 1733040 h 1732680"/>
            </a:gdLst>
            <a:ahLst/>
            <a:rect l="textAreaLeft" t="textAreaTop" r="textAreaRight" b="textAreaBottom"/>
            <a:pathLst>
              <a:path w="1685925" h="1733550">
                <a:moveTo>
                  <a:pt x="1381125" y="0"/>
                </a:moveTo>
                <a:lnTo>
                  <a:pt x="1685925" y="0"/>
                </a:lnTo>
                <a:lnTo>
                  <a:pt x="1685925" y="1047750"/>
                </a:lnTo>
                <a:lnTo>
                  <a:pt x="0" y="1047750"/>
                </a:lnTo>
                <a:lnTo>
                  <a:pt x="0" y="17335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29" name="Google Shape;1195;p12"/>
          <p:cNvSpPr/>
          <p:nvPr/>
        </p:nvSpPr>
        <p:spPr>
          <a:xfrm>
            <a:off x="7480800" y="353376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30" name="Google Shape;1196;p12"/>
          <p:cNvSpPr/>
          <p:nvPr/>
        </p:nvSpPr>
        <p:spPr>
          <a:xfrm>
            <a:off x="9448920" y="2333520"/>
            <a:ext cx="213300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304c68"/>
                </a:solidFill>
                <a:latin typeface="Verdana"/>
                <a:ea typeface="Verdana"/>
              </a:rPr>
              <a:t>Feature lookup</a:t>
            </a:r>
            <a:endParaRPr b="0" lang="en-US" sz="1580" spc="-1" strike="noStrike">
              <a:solidFill>
                <a:srgbClr val="000000"/>
              </a:solidFill>
              <a:latin typeface="Arial"/>
            </a:endParaRPr>
          </a:p>
        </p:txBody>
      </p:sp>
      <p:sp>
        <p:nvSpPr>
          <p:cNvPr id="1131" name="Google Shape;1197;p12"/>
          <p:cNvSpPr/>
          <p:nvPr/>
        </p:nvSpPr>
        <p:spPr>
          <a:xfrm>
            <a:off x="9277200" y="3838680"/>
            <a:ext cx="437400" cy="43740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2" name="Google Shape;1198;p12"/>
          <p:cNvSpPr/>
          <p:nvPr/>
        </p:nvSpPr>
        <p:spPr>
          <a:xfrm>
            <a:off x="9277200" y="383868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1133" name="Google Shape;1199;p12"/>
          <p:cNvSpPr/>
          <p:nvPr/>
        </p:nvSpPr>
        <p:spPr>
          <a:xfrm>
            <a:off x="8705880" y="4057560"/>
            <a:ext cx="570960" cy="360"/>
          </a:xfrm>
          <a:custGeom>
            <a:avLst/>
            <a:gdLst>
              <a:gd name="textAreaLeft" fmla="*/ 0 w 570960"/>
              <a:gd name="textAreaRight" fmla="*/ 571320 w 570960"/>
              <a:gd name="textAreaTop" fmla="*/ 0 h 360"/>
              <a:gd name="textAreaBottom" fmla="*/ 720 h 360"/>
            </a:gdLst>
            <a:ahLst/>
            <a:rect l="textAreaLeft" t="textAreaTop" r="textAreaRight" b="textAreaBottom"/>
            <a:pathLst>
              <a:path w="571500" h="953">
                <a:moveTo>
                  <a:pt x="0" y="0"/>
                </a:moveTo>
                <a:lnTo>
                  <a:pt x="5715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34" name="Google Shape;1200;p12"/>
          <p:cNvSpPr/>
          <p:nvPr/>
        </p:nvSpPr>
        <p:spPr>
          <a:xfrm>
            <a:off x="9182160" y="4014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35" name="Google Shape;1201;p12"/>
          <p:cNvSpPr/>
          <p:nvPr/>
        </p:nvSpPr>
        <p:spPr>
          <a:xfrm>
            <a:off x="8820000" y="5029200"/>
            <a:ext cx="1513800" cy="64692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6" name="Google Shape;1202;p12"/>
          <p:cNvSpPr/>
          <p:nvPr/>
        </p:nvSpPr>
        <p:spPr>
          <a:xfrm>
            <a:off x="8896320" y="5076720"/>
            <a:ext cx="1361520" cy="5518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7351c7"/>
                </a:solidFill>
                <a:latin typeface="Verdana"/>
                <a:ea typeface="Verdana"/>
              </a:rPr>
              <a:t>Class</a:t>
            </a:r>
            <a:endParaRPr b="0" lang="en-US" sz="1650" spc="-1" strike="noStrike">
              <a:solidFill>
                <a:srgbClr val="000000"/>
              </a:solidFill>
              <a:latin typeface="Arial"/>
            </a:endParaRPr>
          </a:p>
          <a:p>
            <a:pPr algn="ctr">
              <a:lnSpc>
                <a:spcPct val="100000"/>
              </a:lnSpc>
              <a:tabLst>
                <a:tab algn="l" pos="0"/>
              </a:tabLst>
            </a:pPr>
            <a:r>
              <a:rPr b="1" lang="en-US" sz="1650" spc="-1" strike="noStrike">
                <a:solidFill>
                  <a:srgbClr val="7351c7"/>
                </a:solidFill>
                <a:latin typeface="Verdana"/>
                <a:ea typeface="Verdana"/>
              </a:rPr>
              <a:t>embedding</a:t>
            </a:r>
            <a:endParaRPr b="0" lang="en-US" sz="1650" spc="-1" strike="noStrike">
              <a:solidFill>
                <a:srgbClr val="000000"/>
              </a:solidFill>
              <a:latin typeface="Arial"/>
            </a:endParaRPr>
          </a:p>
        </p:txBody>
      </p:sp>
      <p:sp>
        <p:nvSpPr>
          <p:cNvPr id="1137" name="Google Shape;1203;p12"/>
          <p:cNvSpPr/>
          <p:nvPr/>
        </p:nvSpPr>
        <p:spPr>
          <a:xfrm>
            <a:off x="9572760" y="4276800"/>
            <a:ext cx="360" cy="751680"/>
          </a:xfrm>
          <a:custGeom>
            <a:avLst/>
            <a:gdLst>
              <a:gd name="textAreaLeft" fmla="*/ 0 w 360"/>
              <a:gd name="textAreaRight" fmla="*/ 720 w 360"/>
              <a:gd name="textAreaTop" fmla="*/ 0 h 751680"/>
              <a:gd name="textAreaBottom" fmla="*/ 752040 h 751680"/>
            </a:gdLst>
            <a:ahLst/>
            <a:rect l="textAreaLeft" t="textAreaTop" r="textAreaRight" b="textAreaBottom"/>
            <a:pathLst>
              <a:path w="953" h="752475">
                <a:moveTo>
                  <a:pt x="0" y="752475"/>
                </a:moveTo>
                <a:lnTo>
                  <a:pt x="0"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38" name="Google Shape;1204;p12"/>
          <p:cNvSpPr/>
          <p:nvPr/>
        </p:nvSpPr>
        <p:spPr>
          <a:xfrm>
            <a:off x="9528840" y="427680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39" name="Google Shape;1205;p12"/>
          <p:cNvSpPr/>
          <p:nvPr/>
        </p:nvSpPr>
        <p:spPr>
          <a:xfrm>
            <a:off x="10477440" y="3524400"/>
            <a:ext cx="1170720" cy="104040"/>
          </a:xfrm>
          <a:custGeom>
            <a:avLst/>
            <a:gdLst>
              <a:gd name="textAreaLeft" fmla="*/ 0 w 1170720"/>
              <a:gd name="textAreaRight" fmla="*/ 1171080 w 1170720"/>
              <a:gd name="textAreaTop" fmla="*/ 0 h 104040"/>
              <a:gd name="textAreaBottom" fmla="*/ 104400 h 104040"/>
            </a:gdLst>
            <a:ahLst/>
            <a:rect l="textAreaLeft" t="textAreaTop" r="textAreaRight" b="textAreaBottom"/>
            <a:pathLst>
              <a:path w="1171575" h="104775">
                <a:moveTo>
                  <a:pt x="0" y="104775"/>
                </a:moveTo>
                <a:lnTo>
                  <a:pt x="104775" y="0"/>
                </a:lnTo>
                <a:lnTo>
                  <a:pt x="1171575" y="0"/>
                </a:lnTo>
                <a:lnTo>
                  <a:pt x="1066800" y="104775"/>
                </a:lnTo>
                <a:close/>
              </a:path>
            </a:pathLst>
          </a:custGeom>
          <a:solidFill>
            <a:srgbClr val="a9c0d7"/>
          </a:solidFill>
          <a:ln w="133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0" name="Google Shape;1206;p12"/>
          <p:cNvSpPr/>
          <p:nvPr/>
        </p:nvSpPr>
        <p:spPr>
          <a:xfrm>
            <a:off x="11544480" y="3524400"/>
            <a:ext cx="104040" cy="980280"/>
          </a:xfrm>
          <a:custGeom>
            <a:avLst/>
            <a:gdLst>
              <a:gd name="textAreaLeft" fmla="*/ 0 w 104040"/>
              <a:gd name="textAreaRight" fmla="*/ 104400 w 104040"/>
              <a:gd name="textAreaTop" fmla="*/ 0 h 980280"/>
              <a:gd name="textAreaBottom" fmla="*/ 980640 h 980280"/>
            </a:gdLst>
            <a:ahLst/>
            <a:rect l="textAreaLeft" t="textAreaTop" r="textAreaRight" b="textAreaBottom"/>
            <a:pathLst>
              <a:path w="104775" h="981075">
                <a:moveTo>
                  <a:pt x="0" y="104775"/>
                </a:moveTo>
                <a:lnTo>
                  <a:pt x="104775" y="0"/>
                </a:lnTo>
                <a:lnTo>
                  <a:pt x="104775" y="876300"/>
                </a:lnTo>
                <a:lnTo>
                  <a:pt x="0" y="981075"/>
                </a:lnTo>
                <a:close/>
              </a:path>
            </a:pathLst>
          </a:custGeom>
          <a:solidFill>
            <a:srgbClr val="608bb6"/>
          </a:solidFill>
          <a:ln w="133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41" name="Google Shape;1207;p12"/>
          <p:cNvSpPr/>
          <p:nvPr/>
        </p:nvSpPr>
        <p:spPr>
          <a:xfrm>
            <a:off x="10477440" y="3629160"/>
            <a:ext cx="1065960" cy="875520"/>
          </a:xfrm>
          <a:prstGeom prst="rect">
            <a:avLst/>
          </a:prstGeom>
          <a:solidFill>
            <a:srgbClr val="d3dfeb"/>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2" name="Google Shape;1208;p12"/>
          <p:cNvSpPr/>
          <p:nvPr/>
        </p:nvSpPr>
        <p:spPr>
          <a:xfrm>
            <a:off x="10744200" y="362916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3" name="Google Shape;1209;p12"/>
          <p:cNvSpPr/>
          <p:nvPr/>
        </p:nvSpPr>
        <p:spPr>
          <a:xfrm>
            <a:off x="11010960" y="362916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4" name="Google Shape;1210;p12"/>
          <p:cNvSpPr/>
          <p:nvPr/>
        </p:nvSpPr>
        <p:spPr>
          <a:xfrm>
            <a:off x="11277720" y="362916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9525">
            <a:solidFill>
              <a:srgbClr val="91aec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45" name="Google Shape;1211;p12"/>
          <p:cNvSpPr/>
          <p:nvPr/>
        </p:nvSpPr>
        <p:spPr>
          <a:xfrm>
            <a:off x="10477440" y="384804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6" name="Google Shape;1212;p12"/>
          <p:cNvSpPr/>
          <p:nvPr/>
        </p:nvSpPr>
        <p:spPr>
          <a:xfrm>
            <a:off x="10477440" y="406728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7" name="Google Shape;1213;p12"/>
          <p:cNvSpPr/>
          <p:nvPr/>
        </p:nvSpPr>
        <p:spPr>
          <a:xfrm>
            <a:off x="10477440" y="4286160"/>
            <a:ext cx="1065960" cy="360"/>
          </a:xfrm>
          <a:custGeom>
            <a:avLst/>
            <a:gdLst>
              <a:gd name="textAreaLeft" fmla="*/ 0 w 1065960"/>
              <a:gd name="textAreaRight" fmla="*/ 1066320 w 1065960"/>
              <a:gd name="textAreaTop" fmla="*/ 0 h 360"/>
              <a:gd name="textAreaBottom" fmla="*/ 720 h 360"/>
            </a:gdLst>
            <a:ahLst/>
            <a:rect l="textAreaLeft" t="textAreaTop" r="textAreaRight" b="textAreaBottom"/>
            <a:pathLst>
              <a:path w="1066800" h="953">
                <a:moveTo>
                  <a:pt x="0" y="0"/>
                </a:moveTo>
                <a:lnTo>
                  <a:pt x="1066800" y="0"/>
                </a:lnTo>
              </a:path>
            </a:pathLst>
          </a:custGeom>
          <a:noFill/>
          <a:ln w="9525">
            <a:solidFill>
              <a:srgbClr val="91aec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48" name="Google Shape;1214;p12"/>
          <p:cNvSpPr/>
          <p:nvPr/>
        </p:nvSpPr>
        <p:spPr>
          <a:xfrm>
            <a:off x="10515600" y="3705120"/>
            <a:ext cx="990000" cy="7232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304c68"/>
                </a:solidFill>
                <a:latin typeface="Verdana"/>
                <a:ea typeface="Verdana"/>
              </a:rPr>
              <a:t>Queries</a:t>
            </a:r>
            <a:endParaRPr b="0" lang="en-US" sz="1729" spc="-1" strike="noStrike">
              <a:solidFill>
                <a:srgbClr val="000000"/>
              </a:solidFill>
              <a:latin typeface="Arial"/>
            </a:endParaRPr>
          </a:p>
        </p:txBody>
      </p:sp>
      <p:sp>
        <p:nvSpPr>
          <p:cNvPr id="1149" name="Google Shape;1215;p12"/>
          <p:cNvSpPr/>
          <p:nvPr/>
        </p:nvSpPr>
        <p:spPr>
          <a:xfrm>
            <a:off x="10287000" y="4638600"/>
            <a:ext cx="14472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500" spc="-1" strike="noStrike">
                <a:solidFill>
                  <a:srgbClr val="304c68"/>
                </a:solidFill>
                <a:latin typeface="Verdana"/>
                <a:ea typeface="Verdana"/>
              </a:rPr>
              <a:t>128 × 200</a:t>
            </a:r>
            <a:endParaRPr b="0" lang="en-US" sz="1500" spc="-1" strike="noStrike">
              <a:solidFill>
                <a:srgbClr val="000000"/>
              </a:solidFill>
              <a:latin typeface="Arial"/>
            </a:endParaRPr>
          </a:p>
        </p:txBody>
      </p:sp>
      <p:sp>
        <p:nvSpPr>
          <p:cNvPr id="1150" name="Google Shape;1216;p12"/>
          <p:cNvSpPr/>
          <p:nvPr/>
        </p:nvSpPr>
        <p:spPr>
          <a:xfrm>
            <a:off x="9715680" y="4057560"/>
            <a:ext cx="713520" cy="360"/>
          </a:xfrm>
          <a:custGeom>
            <a:avLst/>
            <a:gdLst>
              <a:gd name="textAreaLeft" fmla="*/ 0 w 713520"/>
              <a:gd name="textAreaRight" fmla="*/ 713880 w 713520"/>
              <a:gd name="textAreaTop" fmla="*/ 0 h 360"/>
              <a:gd name="textAreaBottom" fmla="*/ 720 h 360"/>
            </a:gdLst>
            <a:ahLst/>
            <a:rect l="textAreaLeft" t="textAreaTop" r="textAreaRight" b="textAreaBottom"/>
            <a:pathLst>
              <a:path w="714375" h="953">
                <a:moveTo>
                  <a:pt x="0" y="0"/>
                </a:moveTo>
                <a:lnTo>
                  <a:pt x="7143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51" name="Google Shape;1217;p12"/>
          <p:cNvSpPr/>
          <p:nvPr/>
        </p:nvSpPr>
        <p:spPr>
          <a:xfrm>
            <a:off x="10334520" y="4014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52" name="Google Shape;1218;p12"/>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53" name="Google Shape;1219;p12"/>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16253b"/>
                </a:solidFill>
                <a:latin typeface="Verdana"/>
                <a:ea typeface="Verdana"/>
              </a:rPr>
              <a:t>qᵢ = B(sᵢ) + E(onehot(cᵢ))      (sᵢ,cᵢ) ∈ Top200(LocalMax(sigmoid(H)))</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154" name="Google Shape;1225;p13"/>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Each query attends to the entire BEV map</a:t>
            </a:r>
            <a:endParaRPr b="0" lang="en-US" sz="3300" spc="-1" strike="noStrike">
              <a:solidFill>
                <a:srgbClr val="000000"/>
              </a:solidFill>
              <a:latin typeface="Arial"/>
            </a:endParaRPr>
          </a:p>
        </p:txBody>
      </p:sp>
      <p:sp>
        <p:nvSpPr>
          <p:cNvPr id="1155" name="Google Shape;1226;p13"/>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13</a:t>
            </a:r>
            <a:endParaRPr b="0" lang="en-US" sz="1200" spc="-1" strike="noStrike">
              <a:solidFill>
                <a:srgbClr val="000000"/>
              </a:solidFill>
              <a:latin typeface="Arial"/>
            </a:endParaRPr>
          </a:p>
        </p:txBody>
      </p:sp>
      <p:sp>
        <p:nvSpPr>
          <p:cNvPr id="1156" name="Google Shape;1227;p13"/>
          <p:cNvSpPr/>
          <p:nvPr/>
        </p:nvSpPr>
        <p:spPr>
          <a:xfrm>
            <a:off x="533520" y="1343160"/>
            <a:ext cx="11124360" cy="465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304c68"/>
                </a:solidFill>
                <a:latin typeface="Verdana"/>
                <a:ea typeface="Verdana"/>
              </a:rPr>
              <a:t>Attention(Q,K,V) = softmax(QKᵀ / √16)V</a:t>
            </a:r>
            <a:endParaRPr b="0" lang="en-US" sz="2250" spc="-1" strike="noStrike">
              <a:solidFill>
                <a:srgbClr val="000000"/>
              </a:solidFill>
              <a:latin typeface="Arial"/>
            </a:endParaRPr>
          </a:p>
        </p:txBody>
      </p:sp>
      <p:sp>
        <p:nvSpPr>
          <p:cNvPr id="1157" name="Google Shape;1228;p13"/>
          <p:cNvSpPr/>
          <p:nvPr/>
        </p:nvSpPr>
        <p:spPr>
          <a:xfrm>
            <a:off x="533520" y="2162160"/>
            <a:ext cx="2256840" cy="9327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58" name="Google Shape;1229;p13"/>
          <p:cNvSpPr/>
          <p:nvPr/>
        </p:nvSpPr>
        <p:spPr>
          <a:xfrm>
            <a:off x="609480" y="2209680"/>
            <a:ext cx="210420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Self-attention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8 heads</a:t>
            </a:r>
            <a:endParaRPr b="0" lang="en-US" sz="1950" spc="-1" strike="noStrike">
              <a:solidFill>
                <a:srgbClr val="000000"/>
              </a:solidFill>
              <a:latin typeface="Arial"/>
            </a:endParaRPr>
          </a:p>
        </p:txBody>
      </p:sp>
      <p:sp>
        <p:nvSpPr>
          <p:cNvPr id="1159" name="Google Shape;1230;p13"/>
          <p:cNvSpPr/>
          <p:nvPr/>
        </p:nvSpPr>
        <p:spPr>
          <a:xfrm>
            <a:off x="3352680" y="2162160"/>
            <a:ext cx="2456640" cy="9327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60" name="Google Shape;1231;p13"/>
          <p:cNvSpPr/>
          <p:nvPr/>
        </p:nvSpPr>
        <p:spPr>
          <a:xfrm>
            <a:off x="3429000" y="2209680"/>
            <a:ext cx="230436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Cross-attention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8 heads</a:t>
            </a:r>
            <a:endParaRPr b="0" lang="en-US" sz="1950" spc="-1" strike="noStrike">
              <a:solidFill>
                <a:srgbClr val="000000"/>
              </a:solidFill>
              <a:latin typeface="Arial"/>
            </a:endParaRPr>
          </a:p>
        </p:txBody>
      </p:sp>
      <p:sp>
        <p:nvSpPr>
          <p:cNvPr id="1161" name="Google Shape;1232;p13"/>
          <p:cNvSpPr/>
          <p:nvPr/>
        </p:nvSpPr>
        <p:spPr>
          <a:xfrm>
            <a:off x="6372360" y="2162160"/>
            <a:ext cx="2523240" cy="9327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62" name="Google Shape;1233;p13"/>
          <p:cNvSpPr/>
          <p:nvPr/>
        </p:nvSpPr>
        <p:spPr>
          <a:xfrm>
            <a:off x="6448320" y="2209680"/>
            <a:ext cx="237096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Feed-forward</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304c68"/>
                </a:solidFill>
                <a:latin typeface="Verdana"/>
                <a:ea typeface="Verdana"/>
              </a:rPr>
              <a:t>128 → 256 → 128</a:t>
            </a:r>
            <a:endParaRPr b="0" lang="en-US" sz="1800" spc="-1" strike="noStrike">
              <a:solidFill>
                <a:srgbClr val="000000"/>
              </a:solidFill>
              <a:latin typeface="Arial"/>
            </a:endParaRPr>
          </a:p>
        </p:txBody>
      </p:sp>
      <p:sp>
        <p:nvSpPr>
          <p:cNvPr id="1163" name="Google Shape;1234;p13"/>
          <p:cNvSpPr/>
          <p:nvPr/>
        </p:nvSpPr>
        <p:spPr>
          <a:xfrm>
            <a:off x="2790720" y="2629080"/>
            <a:ext cx="561240" cy="360"/>
          </a:xfrm>
          <a:custGeom>
            <a:avLst/>
            <a:gdLst>
              <a:gd name="textAreaLeft" fmla="*/ 0 w 561240"/>
              <a:gd name="textAreaRight" fmla="*/ 561600 w 561240"/>
              <a:gd name="textAreaTop" fmla="*/ 0 h 360"/>
              <a:gd name="textAreaBottom" fmla="*/ 72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4" name="Google Shape;1235;p13"/>
          <p:cNvSpPr/>
          <p:nvPr/>
        </p:nvSpPr>
        <p:spPr>
          <a:xfrm>
            <a:off x="3257640" y="25851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5" name="Google Shape;1236;p13"/>
          <p:cNvSpPr/>
          <p:nvPr/>
        </p:nvSpPr>
        <p:spPr>
          <a:xfrm>
            <a:off x="5810400" y="2629080"/>
            <a:ext cx="561240" cy="360"/>
          </a:xfrm>
          <a:custGeom>
            <a:avLst/>
            <a:gdLst>
              <a:gd name="textAreaLeft" fmla="*/ 0 w 561240"/>
              <a:gd name="textAreaRight" fmla="*/ 561600 w 561240"/>
              <a:gd name="textAreaTop" fmla="*/ 0 h 360"/>
              <a:gd name="textAreaBottom" fmla="*/ 720 h 360"/>
            </a:gdLst>
            <a:ahLst/>
            <a:rect l="textAreaLeft" t="textAreaTop" r="textAreaRight" b="textAreaBottom"/>
            <a:pathLst>
              <a:path w="561975" h="953">
                <a:moveTo>
                  <a:pt x="0" y="0"/>
                </a:moveTo>
                <a:lnTo>
                  <a:pt x="56197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6" name="Google Shape;1237;p13"/>
          <p:cNvSpPr/>
          <p:nvPr/>
        </p:nvSpPr>
        <p:spPr>
          <a:xfrm>
            <a:off x="6276960" y="25851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7" name="Google Shape;1238;p13"/>
          <p:cNvSpPr/>
          <p:nvPr/>
        </p:nvSpPr>
        <p:spPr>
          <a:xfrm>
            <a:off x="8896320" y="2629080"/>
            <a:ext cx="532800" cy="360"/>
          </a:xfrm>
          <a:custGeom>
            <a:avLst/>
            <a:gdLst>
              <a:gd name="textAreaLeft" fmla="*/ 0 w 532800"/>
              <a:gd name="textAreaRight" fmla="*/ 533160 w 532800"/>
              <a:gd name="textAreaTop" fmla="*/ 0 h 360"/>
              <a:gd name="textAreaBottom" fmla="*/ 720 h 360"/>
            </a:gdLst>
            <a:ahLst/>
            <a:rect l="textAreaLeft" t="textAreaTop" r="textAreaRight" b="textAreaBottom"/>
            <a:pathLst>
              <a:path w="533400" h="953">
                <a:moveTo>
                  <a:pt x="0" y="0"/>
                </a:moveTo>
                <a:lnTo>
                  <a:pt x="5334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68" name="Google Shape;1239;p13"/>
          <p:cNvSpPr/>
          <p:nvPr/>
        </p:nvSpPr>
        <p:spPr>
          <a:xfrm>
            <a:off x="9334440" y="25851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169" name="Google Shape;1240;p13"/>
          <p:cNvSpPr/>
          <p:nvPr/>
        </p:nvSpPr>
        <p:spPr>
          <a:xfrm>
            <a:off x="523800" y="3276720"/>
            <a:ext cx="227592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58677c"/>
                </a:solidFill>
                <a:latin typeface="Verdana"/>
                <a:ea typeface="Verdana"/>
              </a:rPr>
              <a:t>Query interaction</a:t>
            </a:r>
            <a:endParaRPr b="0" lang="en-US" sz="1650" spc="-1" strike="noStrike">
              <a:solidFill>
                <a:srgbClr val="000000"/>
              </a:solidFill>
              <a:latin typeface="Arial"/>
            </a:endParaRPr>
          </a:p>
        </p:txBody>
      </p:sp>
      <p:sp>
        <p:nvSpPr>
          <p:cNvPr id="1170" name="Google Shape;1241;p13"/>
          <p:cNvSpPr/>
          <p:nvPr/>
        </p:nvSpPr>
        <p:spPr>
          <a:xfrm>
            <a:off x="6381720" y="3276720"/>
            <a:ext cx="251388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58677c"/>
                </a:solidFill>
                <a:latin typeface="Verdana"/>
                <a:ea typeface="Verdana"/>
              </a:rPr>
              <a:t>Feature update</a:t>
            </a:r>
            <a:endParaRPr b="0" lang="en-US" sz="1650" spc="-1" strike="noStrike">
              <a:solidFill>
                <a:srgbClr val="000000"/>
              </a:solidFill>
              <a:latin typeface="Arial"/>
            </a:endParaRPr>
          </a:p>
        </p:txBody>
      </p:sp>
      <p:sp>
        <p:nvSpPr>
          <p:cNvPr id="1171" name="Google Shape;1242;p13"/>
          <p:cNvSpPr/>
          <p:nvPr/>
        </p:nvSpPr>
        <p:spPr>
          <a:xfrm>
            <a:off x="2381400" y="4429080"/>
            <a:ext cx="4409280" cy="85644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2" name="Google Shape;1243;p13"/>
          <p:cNvSpPr/>
          <p:nvPr/>
        </p:nvSpPr>
        <p:spPr>
          <a:xfrm>
            <a:off x="2457360" y="4476600"/>
            <a:ext cx="4257000" cy="761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304c68"/>
                </a:solidFill>
                <a:latin typeface="Verdana"/>
                <a:ea typeface="Verdana"/>
              </a:rPr>
              <a:t>32,400 BEV positions</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304c68"/>
                </a:solidFill>
                <a:latin typeface="Verdana"/>
                <a:ea typeface="Verdana"/>
              </a:rPr>
              <a:t>128 ch + position encoding</a:t>
            </a:r>
            <a:endParaRPr b="0" lang="en-US" sz="1729" spc="-1" strike="noStrike">
              <a:solidFill>
                <a:srgbClr val="000000"/>
              </a:solidFill>
              <a:latin typeface="Arial"/>
            </a:endParaRPr>
          </a:p>
        </p:txBody>
      </p:sp>
      <p:sp>
        <p:nvSpPr>
          <p:cNvPr id="1173" name="Google Shape;1244;p13"/>
          <p:cNvSpPr/>
          <p:nvPr/>
        </p:nvSpPr>
        <p:spPr>
          <a:xfrm>
            <a:off x="4581360" y="3095640"/>
            <a:ext cx="360" cy="1332720"/>
          </a:xfrm>
          <a:custGeom>
            <a:avLst/>
            <a:gdLst>
              <a:gd name="textAreaLeft" fmla="*/ 0 w 360"/>
              <a:gd name="textAreaRight" fmla="*/ 720 w 360"/>
              <a:gd name="textAreaTop" fmla="*/ 0 h 1332720"/>
              <a:gd name="textAreaBottom" fmla="*/ 1333080 h 1332720"/>
            </a:gdLst>
            <a:ahLst/>
            <a:rect l="textAreaLeft" t="textAreaTop" r="textAreaRight" b="textAreaBottom"/>
            <a:pathLst>
              <a:path w="953" h="1333500">
                <a:moveTo>
                  <a:pt x="0" y="1333500"/>
                </a:moveTo>
                <a:lnTo>
                  <a:pt x="0"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4" name="Google Shape;1245;p13"/>
          <p:cNvSpPr/>
          <p:nvPr/>
        </p:nvSpPr>
        <p:spPr>
          <a:xfrm>
            <a:off x="4537800" y="30956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75" name="Google Shape;1246;p13"/>
          <p:cNvSpPr/>
          <p:nvPr/>
        </p:nvSpPr>
        <p:spPr>
          <a:xfrm>
            <a:off x="4791240" y="3914640"/>
            <a:ext cx="2009160" cy="2754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304c68"/>
                </a:solidFill>
                <a:latin typeface="Verdana"/>
                <a:ea typeface="Verdana"/>
              </a:rPr>
              <a:t>Keys / values</a:t>
            </a:r>
            <a:endParaRPr b="0" lang="en-US" sz="1650" spc="-1" strike="noStrike">
              <a:solidFill>
                <a:srgbClr val="000000"/>
              </a:solidFill>
              <a:latin typeface="Arial"/>
            </a:endParaRPr>
          </a:p>
        </p:txBody>
      </p:sp>
      <p:sp>
        <p:nvSpPr>
          <p:cNvPr id="1176" name="Google Shape;1247;p13"/>
          <p:cNvSpPr/>
          <p:nvPr/>
        </p:nvSpPr>
        <p:spPr>
          <a:xfrm>
            <a:off x="533520" y="5553000"/>
            <a:ext cx="80956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8 heads × 16 channels = 128      200 queries × 32,400 BEV keys</a:t>
            </a:r>
            <a:endParaRPr b="0" lang="en-US" sz="1650" spc="-1" strike="noStrike">
              <a:solidFill>
                <a:srgbClr val="000000"/>
              </a:solidFill>
              <a:latin typeface="Arial"/>
            </a:endParaRPr>
          </a:p>
        </p:txBody>
      </p:sp>
      <p:sp>
        <p:nvSpPr>
          <p:cNvPr id="1177" name="Google Shape;1248;p13"/>
          <p:cNvSpPr/>
          <p:nvPr/>
        </p:nvSpPr>
        <p:spPr>
          <a:xfrm>
            <a:off x="9420120" y="2162160"/>
            <a:ext cx="2237760" cy="9327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78" name="Google Shape;1249;p13"/>
          <p:cNvSpPr/>
          <p:nvPr/>
        </p:nvSpPr>
        <p:spPr>
          <a:xfrm>
            <a:off x="9496440" y="2209680"/>
            <a:ext cx="2085120" cy="8373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Prediction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heads</a:t>
            </a:r>
            <a:endParaRPr b="0" lang="en-US" sz="1950" spc="-1" strike="noStrike">
              <a:solidFill>
                <a:srgbClr val="000000"/>
              </a:solidFill>
              <a:latin typeface="Arial"/>
            </a:endParaRPr>
          </a:p>
        </p:txBody>
      </p:sp>
      <p:sp>
        <p:nvSpPr>
          <p:cNvPr id="1179" name="Google Shape;1250;p13"/>
          <p:cNvSpPr/>
          <p:nvPr/>
        </p:nvSpPr>
        <p:spPr>
          <a:xfrm>
            <a:off x="9353520" y="3438360"/>
            <a:ext cx="2304360" cy="37080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0" name="Google Shape;1251;p13"/>
          <p:cNvSpPr/>
          <p:nvPr/>
        </p:nvSpPr>
        <p:spPr>
          <a:xfrm>
            <a:off x="9429840" y="3486240"/>
            <a:ext cx="2152080" cy="275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center  2</a:t>
            </a:r>
            <a:endParaRPr b="0" lang="en-US" sz="1650" spc="-1" strike="noStrike">
              <a:solidFill>
                <a:srgbClr val="000000"/>
              </a:solidFill>
              <a:latin typeface="Arial"/>
            </a:endParaRPr>
          </a:p>
        </p:txBody>
      </p:sp>
      <p:sp>
        <p:nvSpPr>
          <p:cNvPr id="1181" name="Google Shape;1252;p13"/>
          <p:cNvSpPr/>
          <p:nvPr/>
        </p:nvSpPr>
        <p:spPr>
          <a:xfrm>
            <a:off x="9353520" y="3886200"/>
            <a:ext cx="2304360" cy="37080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2" name="Google Shape;1253;p13"/>
          <p:cNvSpPr/>
          <p:nvPr/>
        </p:nvSpPr>
        <p:spPr>
          <a:xfrm>
            <a:off x="9429840" y="3933720"/>
            <a:ext cx="2152080" cy="275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height  1</a:t>
            </a:r>
            <a:endParaRPr b="0" lang="en-US" sz="1650" spc="-1" strike="noStrike">
              <a:solidFill>
                <a:srgbClr val="000000"/>
              </a:solidFill>
              <a:latin typeface="Arial"/>
            </a:endParaRPr>
          </a:p>
        </p:txBody>
      </p:sp>
      <p:sp>
        <p:nvSpPr>
          <p:cNvPr id="1183" name="Google Shape;1254;p13"/>
          <p:cNvSpPr/>
          <p:nvPr/>
        </p:nvSpPr>
        <p:spPr>
          <a:xfrm>
            <a:off x="9353520" y="4334040"/>
            <a:ext cx="2304360" cy="37080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4" name="Google Shape;1255;p13"/>
          <p:cNvSpPr/>
          <p:nvPr/>
        </p:nvSpPr>
        <p:spPr>
          <a:xfrm>
            <a:off x="9429840" y="4381560"/>
            <a:ext cx="2152080" cy="275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log dims  3</a:t>
            </a:r>
            <a:endParaRPr b="0" lang="en-US" sz="1650" spc="-1" strike="noStrike">
              <a:solidFill>
                <a:srgbClr val="000000"/>
              </a:solidFill>
              <a:latin typeface="Arial"/>
            </a:endParaRPr>
          </a:p>
        </p:txBody>
      </p:sp>
      <p:sp>
        <p:nvSpPr>
          <p:cNvPr id="1185" name="Google Shape;1256;p13"/>
          <p:cNvSpPr/>
          <p:nvPr/>
        </p:nvSpPr>
        <p:spPr>
          <a:xfrm>
            <a:off x="9353520" y="4781520"/>
            <a:ext cx="2304360" cy="37080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6" name="Google Shape;1257;p13"/>
          <p:cNvSpPr/>
          <p:nvPr/>
        </p:nvSpPr>
        <p:spPr>
          <a:xfrm>
            <a:off x="9429840" y="4829040"/>
            <a:ext cx="2152080" cy="275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sin / cos  2</a:t>
            </a:r>
            <a:endParaRPr b="0" lang="en-US" sz="1650" spc="-1" strike="noStrike">
              <a:solidFill>
                <a:srgbClr val="000000"/>
              </a:solidFill>
              <a:latin typeface="Arial"/>
            </a:endParaRPr>
          </a:p>
        </p:txBody>
      </p:sp>
      <p:sp>
        <p:nvSpPr>
          <p:cNvPr id="1187" name="Google Shape;1258;p13"/>
          <p:cNvSpPr/>
          <p:nvPr/>
        </p:nvSpPr>
        <p:spPr>
          <a:xfrm>
            <a:off x="9353520" y="5229360"/>
            <a:ext cx="2304360" cy="37080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88" name="Google Shape;1259;p13"/>
          <p:cNvSpPr/>
          <p:nvPr/>
        </p:nvSpPr>
        <p:spPr>
          <a:xfrm>
            <a:off x="9429840" y="5276880"/>
            <a:ext cx="2152080" cy="275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650" spc="-1" strike="noStrike">
                <a:solidFill>
                  <a:srgbClr val="087f6c"/>
                </a:solidFill>
                <a:latin typeface="Verdana"/>
                <a:ea typeface="Verdana"/>
              </a:rPr>
              <a:t>velocity  2</a:t>
            </a:r>
            <a:endParaRPr b="0" lang="en-US" sz="1650" spc="-1" strike="noStrike">
              <a:solidFill>
                <a:srgbClr val="000000"/>
              </a:solidFill>
              <a:latin typeface="Arial"/>
            </a:endParaRPr>
          </a:p>
        </p:txBody>
      </p:sp>
      <p:sp>
        <p:nvSpPr>
          <p:cNvPr id="1189" name="Google Shape;1260;p13"/>
          <p:cNvSpPr/>
          <p:nvPr/>
        </p:nvSpPr>
        <p:spPr>
          <a:xfrm>
            <a:off x="10544040" y="3095640"/>
            <a:ext cx="360" cy="237240"/>
          </a:xfrm>
          <a:custGeom>
            <a:avLst/>
            <a:gdLst>
              <a:gd name="textAreaLeft" fmla="*/ 0 w 360"/>
              <a:gd name="textAreaRight" fmla="*/ 720 w 360"/>
              <a:gd name="textAreaTop" fmla="*/ 0 h 237240"/>
              <a:gd name="textAreaBottom" fmla="*/ 237600 h 237240"/>
            </a:gdLst>
            <a:ahLst/>
            <a:rect l="textAreaLeft" t="textAreaTop" r="textAreaRight" b="textAreaBottom"/>
            <a:pathLst>
              <a:path w="953" h="238125">
                <a:moveTo>
                  <a:pt x="0" y="0"/>
                </a:moveTo>
                <a:lnTo>
                  <a:pt x="0" y="238125"/>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0" name="Google Shape;1261;p13"/>
          <p:cNvSpPr/>
          <p:nvPr/>
        </p:nvSpPr>
        <p:spPr>
          <a:xfrm>
            <a:off x="10500480" y="323856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191" name="Google Shape;1262;p13"/>
          <p:cNvSpPr/>
          <p:nvPr/>
        </p:nvSpPr>
        <p:spPr>
          <a:xfrm>
            <a:off x="9248760" y="5705640"/>
            <a:ext cx="2475720" cy="2660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304c68"/>
                </a:solidFill>
                <a:latin typeface="Verdana"/>
                <a:ea typeface="Verdana"/>
              </a:rPr>
              <a:t>+ 10 class logits</a:t>
            </a:r>
            <a:endParaRPr b="0" lang="en-US" sz="1650" spc="-1" strike="noStrike">
              <a:solidFill>
                <a:srgbClr val="000000"/>
              </a:solidFill>
              <a:latin typeface="Arial"/>
            </a:endParaRPr>
          </a:p>
        </p:txBody>
      </p:sp>
      <p:sp>
        <p:nvSpPr>
          <p:cNvPr id="1192" name="Google Shape;1263;p13"/>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193" name="Google Shape;1264;p13"/>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One decoder layer creates a coarse 10-value box code for each object query.</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194" name="Google Shape;1270;p14"/>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Local sampling around each coarse center</a:t>
            </a:r>
            <a:endParaRPr b="0" lang="en-US" sz="3300" spc="-1" strike="noStrike">
              <a:solidFill>
                <a:srgbClr val="000000"/>
              </a:solidFill>
              <a:latin typeface="Arial"/>
            </a:endParaRPr>
          </a:p>
        </p:txBody>
      </p:sp>
      <p:sp>
        <p:nvSpPr>
          <p:cNvPr id="1195" name="Google Shape;1271;p14"/>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14</a:t>
            </a:r>
            <a:endParaRPr b="0" lang="en-US" sz="1200" spc="-1" strike="noStrike">
              <a:solidFill>
                <a:srgbClr val="000000"/>
              </a:solidFill>
              <a:latin typeface="Arial"/>
            </a:endParaRPr>
          </a:p>
        </p:txBody>
      </p:sp>
      <p:sp>
        <p:nvSpPr>
          <p:cNvPr id="1196" name="Google Shape;1272;p14"/>
          <p:cNvSpPr/>
          <p:nvPr/>
        </p:nvSpPr>
        <p:spPr>
          <a:xfrm>
            <a:off x="533520" y="1362240"/>
            <a:ext cx="409500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Coarse proposal on BEV</a:t>
            </a:r>
            <a:endParaRPr b="0" lang="en-US" sz="2100" spc="-1" strike="noStrike">
              <a:solidFill>
                <a:srgbClr val="000000"/>
              </a:solidFill>
              <a:latin typeface="Arial"/>
            </a:endParaRPr>
          </a:p>
        </p:txBody>
      </p:sp>
      <p:sp>
        <p:nvSpPr>
          <p:cNvPr id="1197" name="Google Shape;1273;p14"/>
          <p:cNvSpPr/>
          <p:nvPr/>
        </p:nvSpPr>
        <p:spPr>
          <a:xfrm>
            <a:off x="609480" y="2124000"/>
            <a:ext cx="2952000" cy="2952000"/>
          </a:xfrm>
          <a:prstGeom prst="rect">
            <a:avLst/>
          </a:prstGeom>
          <a:solidFill>
            <a:srgbClr val="e5ebf2"/>
          </a:solidFill>
          <a:ln w="114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8" name="Google Shape;1274;p14"/>
          <p:cNvSpPr/>
          <p:nvPr/>
        </p:nvSpPr>
        <p:spPr>
          <a:xfrm>
            <a:off x="90504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199" name="Google Shape;1275;p14"/>
          <p:cNvSpPr/>
          <p:nvPr/>
        </p:nvSpPr>
        <p:spPr>
          <a:xfrm>
            <a:off x="120024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0" name="Google Shape;1276;p14"/>
          <p:cNvSpPr/>
          <p:nvPr/>
        </p:nvSpPr>
        <p:spPr>
          <a:xfrm>
            <a:off x="149544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1" name="Google Shape;1277;p14"/>
          <p:cNvSpPr/>
          <p:nvPr/>
        </p:nvSpPr>
        <p:spPr>
          <a:xfrm>
            <a:off x="179064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2" name="Google Shape;1278;p14"/>
          <p:cNvSpPr/>
          <p:nvPr/>
        </p:nvSpPr>
        <p:spPr>
          <a:xfrm>
            <a:off x="208584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3" name="Google Shape;1279;p14"/>
          <p:cNvSpPr/>
          <p:nvPr/>
        </p:nvSpPr>
        <p:spPr>
          <a:xfrm>
            <a:off x="238140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4" name="Google Shape;1280;p14"/>
          <p:cNvSpPr/>
          <p:nvPr/>
        </p:nvSpPr>
        <p:spPr>
          <a:xfrm>
            <a:off x="267660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5" name="Google Shape;1281;p14"/>
          <p:cNvSpPr/>
          <p:nvPr/>
        </p:nvSpPr>
        <p:spPr>
          <a:xfrm>
            <a:off x="297180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6" name="Google Shape;1282;p14"/>
          <p:cNvSpPr/>
          <p:nvPr/>
        </p:nvSpPr>
        <p:spPr>
          <a:xfrm>
            <a:off x="3267000" y="2124000"/>
            <a:ext cx="360" cy="2952000"/>
          </a:xfrm>
          <a:custGeom>
            <a:avLst/>
            <a:gdLst>
              <a:gd name="textAreaLeft" fmla="*/ 0 w 360"/>
              <a:gd name="textAreaRight" fmla="*/ 720 w 360"/>
              <a:gd name="textAreaTop" fmla="*/ 0 h 2952000"/>
              <a:gd name="textAreaBottom" fmla="*/ 2952360 h 2952000"/>
            </a:gdLst>
            <a:ahLst/>
            <a:rect l="textAreaLeft" t="textAreaTop" r="textAreaRight" b="textAreaBottom"/>
            <a:pathLst>
              <a:path w="953" h="2952750">
                <a:moveTo>
                  <a:pt x="0" y="0"/>
                </a:moveTo>
                <a:lnTo>
                  <a:pt x="0" y="2952750"/>
                </a:lnTo>
              </a:path>
            </a:pathLst>
          </a:custGeom>
          <a:noFill/>
          <a:ln w="9525">
            <a:solidFill>
              <a:srgbClr val="bccada"/>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07" name="Google Shape;1283;p14"/>
          <p:cNvSpPr/>
          <p:nvPr/>
        </p:nvSpPr>
        <p:spPr>
          <a:xfrm>
            <a:off x="609480" y="241920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8" name="Google Shape;1284;p14"/>
          <p:cNvSpPr/>
          <p:nvPr/>
        </p:nvSpPr>
        <p:spPr>
          <a:xfrm>
            <a:off x="609480" y="271476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09" name="Google Shape;1285;p14"/>
          <p:cNvSpPr/>
          <p:nvPr/>
        </p:nvSpPr>
        <p:spPr>
          <a:xfrm>
            <a:off x="609480" y="300996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0" name="Google Shape;1286;p14"/>
          <p:cNvSpPr/>
          <p:nvPr/>
        </p:nvSpPr>
        <p:spPr>
          <a:xfrm>
            <a:off x="609480" y="330516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1" name="Google Shape;1287;p14"/>
          <p:cNvSpPr/>
          <p:nvPr/>
        </p:nvSpPr>
        <p:spPr>
          <a:xfrm>
            <a:off x="609480" y="360036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2" name="Google Shape;1288;p14"/>
          <p:cNvSpPr/>
          <p:nvPr/>
        </p:nvSpPr>
        <p:spPr>
          <a:xfrm>
            <a:off x="609480" y="389556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3" name="Google Shape;1289;p14"/>
          <p:cNvSpPr/>
          <p:nvPr/>
        </p:nvSpPr>
        <p:spPr>
          <a:xfrm>
            <a:off x="609480" y="419112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4" name="Google Shape;1290;p14"/>
          <p:cNvSpPr/>
          <p:nvPr/>
        </p:nvSpPr>
        <p:spPr>
          <a:xfrm>
            <a:off x="609480" y="448632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5" name="Google Shape;1291;p14"/>
          <p:cNvSpPr/>
          <p:nvPr/>
        </p:nvSpPr>
        <p:spPr>
          <a:xfrm>
            <a:off x="609480" y="4781520"/>
            <a:ext cx="2952000" cy="360"/>
          </a:xfrm>
          <a:custGeom>
            <a:avLst/>
            <a:gdLst>
              <a:gd name="textAreaLeft" fmla="*/ 0 w 2952000"/>
              <a:gd name="textAreaRight" fmla="*/ 2952360 w 2952000"/>
              <a:gd name="textAreaTop" fmla="*/ 0 h 360"/>
              <a:gd name="textAreaBottom" fmla="*/ 720 h 360"/>
            </a:gdLst>
            <a:ahLst/>
            <a:rect l="textAreaLeft" t="textAreaTop" r="textAreaRight" b="textAreaBottom"/>
            <a:pathLst>
              <a:path w="2952750" h="953">
                <a:moveTo>
                  <a:pt x="0" y="0"/>
                </a:moveTo>
                <a:lnTo>
                  <a:pt x="2952750" y="0"/>
                </a:lnTo>
              </a:path>
            </a:pathLst>
          </a:custGeom>
          <a:noFill/>
          <a:ln w="9525">
            <a:solidFill>
              <a:srgbClr val="bccada"/>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16" name="Google Shape;1292;p14"/>
          <p:cNvSpPr/>
          <p:nvPr/>
        </p:nvSpPr>
        <p:spPr>
          <a:xfrm>
            <a:off x="1669320" y="3245400"/>
            <a:ext cx="1175400" cy="862200"/>
          </a:xfrm>
          <a:custGeom>
            <a:avLst/>
            <a:gdLst>
              <a:gd name="textAreaLeft" fmla="*/ 0 w 1175400"/>
              <a:gd name="textAreaRight" fmla="*/ 1175760 w 1175400"/>
              <a:gd name="textAreaTop" fmla="*/ 0 h 862200"/>
              <a:gd name="textAreaBottom" fmla="*/ 862560 h 862200"/>
            </a:gdLst>
            <a:ahLst/>
            <a:rect l="textAreaLeft" t="textAreaTop" r="textAreaRight" b="textAreaBottom"/>
            <a:pathLst>
              <a:path w="1175947" h="862841">
                <a:moveTo>
                  <a:pt x="0" y="361609"/>
                </a:moveTo>
                <a:lnTo>
                  <a:pt x="993514" y="0"/>
                </a:lnTo>
                <a:lnTo>
                  <a:pt x="1175947" y="501232"/>
                </a:lnTo>
                <a:lnTo>
                  <a:pt x="182434" y="862841"/>
                </a:lnTo>
                <a:close/>
              </a:path>
            </a:pathLst>
          </a:custGeom>
          <a:noFill/>
          <a:ln w="285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7" name="Google Shape;1293;p14"/>
          <p:cNvSpPr/>
          <p:nvPr/>
        </p:nvSpPr>
        <p:spPr>
          <a:xfrm>
            <a:off x="2257560" y="3495960"/>
            <a:ext cx="496080" cy="180000"/>
          </a:xfrm>
          <a:custGeom>
            <a:avLst/>
            <a:gdLst>
              <a:gd name="textAreaLeft" fmla="*/ 0 w 496080"/>
              <a:gd name="textAreaRight" fmla="*/ 496440 w 496080"/>
              <a:gd name="textAreaTop" fmla="*/ 0 h 180000"/>
              <a:gd name="textAreaBottom" fmla="*/ 180360 h 180000"/>
            </a:gdLst>
            <a:ahLst/>
            <a:rect l="textAreaLeft" t="textAreaTop" r="textAreaRight" b="textAreaBottom"/>
            <a:pathLst>
              <a:path w="496757" h="180805">
                <a:moveTo>
                  <a:pt x="0" y="180805"/>
                </a:moveTo>
                <a:lnTo>
                  <a:pt x="496757" y="0"/>
                </a:lnTo>
              </a:path>
            </a:pathLst>
          </a:custGeom>
          <a:noFill/>
          <a:ln w="285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8" name="Google Shape;1294;p14"/>
          <p:cNvSpPr/>
          <p:nvPr/>
        </p:nvSpPr>
        <p:spPr>
          <a:xfrm>
            <a:off x="2048040" y="3505320"/>
            <a:ext cx="428040" cy="428040"/>
          </a:xfrm>
          <a:prstGeom prst="rect">
            <a:avLst/>
          </a:prstGeom>
          <a:noFill/>
          <a:ln w="285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19" name="Google Shape;1295;p14"/>
          <p:cNvSpPr/>
          <p:nvPr/>
        </p:nvSpPr>
        <p:spPr>
          <a:xfrm>
            <a:off x="2219400" y="3676680"/>
            <a:ext cx="75600" cy="75600"/>
          </a:xfrm>
          <a:prstGeom prst="ellipse">
            <a:avLst/>
          </a:prstGeom>
          <a:solidFill>
            <a:srgbClr val="7351c7"/>
          </a:solidFill>
          <a:ln w="9525">
            <a:solidFill>
              <a:srgbClr val="7351c7"/>
            </a:solidFill>
            <a:round/>
          </a:ln>
        </p:spPr>
        <p:style>
          <a:lnRef idx="0"/>
          <a:fillRef idx="0"/>
          <a:effectRef idx="0"/>
          <a:fontRef idx="minor"/>
        </p:style>
        <p:txBody>
          <a:bodyPr lIns="90000" rIns="90000" tIns="8640" bIns="8640" anchor="t">
            <a:noAutofit/>
          </a:bodyPr>
          <a:p>
            <a:pPr>
              <a:lnSpc>
                <a:spcPct val="100000"/>
              </a:lnSpc>
              <a:tabLst>
                <a:tab algn="l" pos="0"/>
              </a:tabLst>
            </a:pPr>
            <a:endParaRPr b="0" lang="en-US" sz="1400" spc="-1" strike="noStrike">
              <a:solidFill>
                <a:srgbClr val="ffffff"/>
              </a:solidFill>
              <a:latin typeface="Arial"/>
            </a:endParaRPr>
          </a:p>
        </p:txBody>
      </p:sp>
      <p:sp>
        <p:nvSpPr>
          <p:cNvPr id="1220" name="Google Shape;1296;p14"/>
          <p:cNvSpPr/>
          <p:nvPr/>
        </p:nvSpPr>
        <p:spPr>
          <a:xfrm>
            <a:off x="2562120" y="2895480"/>
            <a:ext cx="1856520" cy="818280"/>
          </a:xfrm>
          <a:custGeom>
            <a:avLst/>
            <a:gdLst>
              <a:gd name="textAreaLeft" fmla="*/ 0 w 1856520"/>
              <a:gd name="textAreaRight" fmla="*/ 1856880 w 1856520"/>
              <a:gd name="textAreaTop" fmla="*/ 0 h 818280"/>
              <a:gd name="textAreaBottom" fmla="*/ 818640 h 818280"/>
            </a:gdLst>
            <a:ahLst/>
            <a:rect l="textAreaLeft" t="textAreaTop" r="textAreaRight" b="textAreaBottom"/>
            <a:pathLst>
              <a:path w="1857375" h="819150">
                <a:moveTo>
                  <a:pt x="0" y="819150"/>
                </a:moveTo>
                <a:lnTo>
                  <a:pt x="1400175" y="819150"/>
                </a:lnTo>
                <a:lnTo>
                  <a:pt x="1400175" y="0"/>
                </a:lnTo>
                <a:lnTo>
                  <a:pt x="1857375"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1" name="Google Shape;1297;p14"/>
          <p:cNvSpPr/>
          <p:nvPr/>
        </p:nvSpPr>
        <p:spPr>
          <a:xfrm>
            <a:off x="4324320" y="28519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22" name="Google Shape;1298;p14"/>
          <p:cNvSpPr/>
          <p:nvPr/>
        </p:nvSpPr>
        <p:spPr>
          <a:xfrm>
            <a:off x="4486320" y="1362240"/>
            <a:ext cx="40186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5 × 5 sample centers</a:t>
            </a:r>
            <a:endParaRPr b="0" lang="en-US" sz="2100" spc="-1" strike="noStrike">
              <a:solidFill>
                <a:srgbClr val="000000"/>
              </a:solidFill>
              <a:latin typeface="Arial"/>
            </a:endParaRPr>
          </a:p>
        </p:txBody>
      </p:sp>
      <p:sp>
        <p:nvSpPr>
          <p:cNvPr id="1223" name="Google Shape;1299;p14"/>
          <p:cNvSpPr/>
          <p:nvPr/>
        </p:nvSpPr>
        <p:spPr>
          <a:xfrm>
            <a:off x="4543560" y="2124000"/>
            <a:ext cx="2704320" cy="270432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4" name="Google Shape;1300;p14"/>
          <p:cNvSpPr/>
          <p:nvPr/>
        </p:nvSpPr>
        <p:spPr>
          <a:xfrm>
            <a:off x="488160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5" name="Google Shape;1301;p14"/>
          <p:cNvSpPr/>
          <p:nvPr/>
        </p:nvSpPr>
        <p:spPr>
          <a:xfrm>
            <a:off x="521964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6" name="Google Shape;1302;p14"/>
          <p:cNvSpPr/>
          <p:nvPr/>
        </p:nvSpPr>
        <p:spPr>
          <a:xfrm>
            <a:off x="555768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7" name="Google Shape;1303;p14"/>
          <p:cNvSpPr/>
          <p:nvPr/>
        </p:nvSpPr>
        <p:spPr>
          <a:xfrm>
            <a:off x="589608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8" name="Google Shape;1304;p14"/>
          <p:cNvSpPr/>
          <p:nvPr/>
        </p:nvSpPr>
        <p:spPr>
          <a:xfrm>
            <a:off x="623412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29" name="Google Shape;1305;p14"/>
          <p:cNvSpPr/>
          <p:nvPr/>
        </p:nvSpPr>
        <p:spPr>
          <a:xfrm>
            <a:off x="657216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30" name="Google Shape;1306;p14"/>
          <p:cNvSpPr/>
          <p:nvPr/>
        </p:nvSpPr>
        <p:spPr>
          <a:xfrm>
            <a:off x="6910560" y="2124000"/>
            <a:ext cx="360" cy="2704320"/>
          </a:xfrm>
          <a:custGeom>
            <a:avLst/>
            <a:gdLst>
              <a:gd name="textAreaLeft" fmla="*/ 0 w 360"/>
              <a:gd name="textAreaRight" fmla="*/ 720 w 360"/>
              <a:gd name="textAreaTop" fmla="*/ 0 h 2704320"/>
              <a:gd name="textAreaBottom" fmla="*/ 2704680 h 2704320"/>
            </a:gdLst>
            <a:ahLst/>
            <a:rect l="textAreaLeft" t="textAreaTop" r="textAreaRight" b="textAreaBottom"/>
            <a:pathLst>
              <a:path w="953" h="2705100">
                <a:moveTo>
                  <a:pt x="0" y="0"/>
                </a:moveTo>
                <a:lnTo>
                  <a:pt x="0" y="27051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31" name="Google Shape;1307;p14"/>
          <p:cNvSpPr/>
          <p:nvPr/>
        </p:nvSpPr>
        <p:spPr>
          <a:xfrm>
            <a:off x="4543560" y="246204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2" name="Google Shape;1308;p14"/>
          <p:cNvSpPr/>
          <p:nvPr/>
        </p:nvSpPr>
        <p:spPr>
          <a:xfrm>
            <a:off x="4543560" y="280044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3" name="Google Shape;1309;p14"/>
          <p:cNvSpPr/>
          <p:nvPr/>
        </p:nvSpPr>
        <p:spPr>
          <a:xfrm>
            <a:off x="4543560" y="313848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4" name="Google Shape;1310;p14"/>
          <p:cNvSpPr/>
          <p:nvPr/>
        </p:nvSpPr>
        <p:spPr>
          <a:xfrm>
            <a:off x="4543560" y="347652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5" name="Google Shape;1311;p14"/>
          <p:cNvSpPr/>
          <p:nvPr/>
        </p:nvSpPr>
        <p:spPr>
          <a:xfrm>
            <a:off x="4543560" y="381492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6" name="Google Shape;1312;p14"/>
          <p:cNvSpPr/>
          <p:nvPr/>
        </p:nvSpPr>
        <p:spPr>
          <a:xfrm>
            <a:off x="4543560" y="415296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7" name="Google Shape;1313;p14"/>
          <p:cNvSpPr/>
          <p:nvPr/>
        </p:nvSpPr>
        <p:spPr>
          <a:xfrm>
            <a:off x="4543560" y="4491000"/>
            <a:ext cx="2704320" cy="360"/>
          </a:xfrm>
          <a:custGeom>
            <a:avLst/>
            <a:gdLst>
              <a:gd name="textAreaLeft" fmla="*/ 0 w 2704320"/>
              <a:gd name="textAreaRight" fmla="*/ 2704680 w 2704320"/>
              <a:gd name="textAreaTop" fmla="*/ 0 h 360"/>
              <a:gd name="textAreaBottom" fmla="*/ 720 h 360"/>
            </a:gdLst>
            <a:ahLst/>
            <a:rect l="textAreaLeft" t="textAreaTop" r="textAreaRight" b="textAreaBottom"/>
            <a:pathLst>
              <a:path w="2705100" h="953">
                <a:moveTo>
                  <a:pt x="0" y="0"/>
                </a:moveTo>
                <a:lnTo>
                  <a:pt x="27051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38" name="Google Shape;1314;p14"/>
          <p:cNvSpPr/>
          <p:nvPr/>
        </p:nvSpPr>
        <p:spPr>
          <a:xfrm>
            <a:off x="4905360" y="246708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39" name="Google Shape;1315;p14"/>
          <p:cNvSpPr/>
          <p:nvPr/>
        </p:nvSpPr>
        <p:spPr>
          <a:xfrm>
            <a:off x="5324400" y="246708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0" name="Google Shape;1316;p14"/>
          <p:cNvSpPr/>
          <p:nvPr/>
        </p:nvSpPr>
        <p:spPr>
          <a:xfrm>
            <a:off x="5743440" y="246708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1" name="Google Shape;1317;p14"/>
          <p:cNvSpPr/>
          <p:nvPr/>
        </p:nvSpPr>
        <p:spPr>
          <a:xfrm>
            <a:off x="6162840" y="246708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2" name="Google Shape;1318;p14"/>
          <p:cNvSpPr/>
          <p:nvPr/>
        </p:nvSpPr>
        <p:spPr>
          <a:xfrm>
            <a:off x="6581880" y="246708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3" name="Google Shape;1319;p14"/>
          <p:cNvSpPr/>
          <p:nvPr/>
        </p:nvSpPr>
        <p:spPr>
          <a:xfrm>
            <a:off x="4905360" y="288612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4" name="Google Shape;1320;p14"/>
          <p:cNvSpPr/>
          <p:nvPr/>
        </p:nvSpPr>
        <p:spPr>
          <a:xfrm>
            <a:off x="5324400" y="288612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5" name="Google Shape;1321;p14"/>
          <p:cNvSpPr/>
          <p:nvPr/>
        </p:nvSpPr>
        <p:spPr>
          <a:xfrm>
            <a:off x="5743440" y="288612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6" name="Google Shape;1322;p14"/>
          <p:cNvSpPr/>
          <p:nvPr/>
        </p:nvSpPr>
        <p:spPr>
          <a:xfrm>
            <a:off x="6162840" y="288612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7" name="Google Shape;1323;p14"/>
          <p:cNvSpPr/>
          <p:nvPr/>
        </p:nvSpPr>
        <p:spPr>
          <a:xfrm>
            <a:off x="6581880" y="288612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8" name="Google Shape;1324;p14"/>
          <p:cNvSpPr/>
          <p:nvPr/>
        </p:nvSpPr>
        <p:spPr>
          <a:xfrm>
            <a:off x="4905360" y="330516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49" name="Google Shape;1325;p14"/>
          <p:cNvSpPr/>
          <p:nvPr/>
        </p:nvSpPr>
        <p:spPr>
          <a:xfrm>
            <a:off x="5324400" y="330516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0" name="Google Shape;1326;p14"/>
          <p:cNvSpPr/>
          <p:nvPr/>
        </p:nvSpPr>
        <p:spPr>
          <a:xfrm>
            <a:off x="5743440" y="330516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1" name="Google Shape;1327;p14"/>
          <p:cNvSpPr/>
          <p:nvPr/>
        </p:nvSpPr>
        <p:spPr>
          <a:xfrm>
            <a:off x="6162840" y="330516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2" name="Google Shape;1328;p14"/>
          <p:cNvSpPr/>
          <p:nvPr/>
        </p:nvSpPr>
        <p:spPr>
          <a:xfrm>
            <a:off x="6581880" y="330516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3" name="Google Shape;1329;p14"/>
          <p:cNvSpPr/>
          <p:nvPr/>
        </p:nvSpPr>
        <p:spPr>
          <a:xfrm>
            <a:off x="4905360" y="372420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4" name="Google Shape;1330;p14"/>
          <p:cNvSpPr/>
          <p:nvPr/>
        </p:nvSpPr>
        <p:spPr>
          <a:xfrm>
            <a:off x="5324400" y="372420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5" name="Google Shape;1331;p14"/>
          <p:cNvSpPr/>
          <p:nvPr/>
        </p:nvSpPr>
        <p:spPr>
          <a:xfrm>
            <a:off x="5743440" y="372420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6" name="Google Shape;1332;p14"/>
          <p:cNvSpPr/>
          <p:nvPr/>
        </p:nvSpPr>
        <p:spPr>
          <a:xfrm>
            <a:off x="6162840" y="372420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7" name="Google Shape;1333;p14"/>
          <p:cNvSpPr/>
          <p:nvPr/>
        </p:nvSpPr>
        <p:spPr>
          <a:xfrm>
            <a:off x="6581880" y="372420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8" name="Google Shape;1334;p14"/>
          <p:cNvSpPr/>
          <p:nvPr/>
        </p:nvSpPr>
        <p:spPr>
          <a:xfrm>
            <a:off x="4905360" y="414324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59" name="Google Shape;1335;p14"/>
          <p:cNvSpPr/>
          <p:nvPr/>
        </p:nvSpPr>
        <p:spPr>
          <a:xfrm>
            <a:off x="5324400" y="414324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0" name="Google Shape;1336;p14"/>
          <p:cNvSpPr/>
          <p:nvPr/>
        </p:nvSpPr>
        <p:spPr>
          <a:xfrm>
            <a:off x="5743440" y="414324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1" name="Google Shape;1337;p14"/>
          <p:cNvSpPr/>
          <p:nvPr/>
        </p:nvSpPr>
        <p:spPr>
          <a:xfrm>
            <a:off x="6162840" y="414324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2" name="Google Shape;1338;p14"/>
          <p:cNvSpPr/>
          <p:nvPr/>
        </p:nvSpPr>
        <p:spPr>
          <a:xfrm>
            <a:off x="6581880" y="4143240"/>
            <a:ext cx="94680" cy="94680"/>
          </a:xfrm>
          <a:prstGeom prst="ellipse">
            <a:avLst/>
          </a:prstGeom>
          <a:solidFill>
            <a:srgbClr val="7351c7"/>
          </a:solidFill>
          <a:ln w="9525">
            <a:solidFill>
              <a:srgbClr val="7351c7"/>
            </a:solidFill>
            <a:round/>
          </a:ln>
        </p:spPr>
        <p:style>
          <a:lnRef idx="0"/>
          <a:fillRef idx="0"/>
          <a:effectRef idx="0"/>
          <a:fontRef idx="minor"/>
        </p:style>
        <p:txBody>
          <a:bodyPr lIns="90000" rIns="90000" tIns="22680" bIns="22680" anchor="t">
            <a:noAutofit/>
          </a:bodyPr>
          <a:p>
            <a:pPr>
              <a:lnSpc>
                <a:spcPct val="100000"/>
              </a:lnSpc>
              <a:tabLst>
                <a:tab algn="l" pos="0"/>
              </a:tabLst>
            </a:pPr>
            <a:endParaRPr b="0" lang="en-US" sz="1400" spc="-1" strike="noStrike">
              <a:solidFill>
                <a:srgbClr val="ffffff"/>
              </a:solidFill>
              <a:latin typeface="Arial"/>
            </a:endParaRPr>
          </a:p>
        </p:txBody>
      </p:sp>
      <p:sp>
        <p:nvSpPr>
          <p:cNvPr id="1263" name="Google Shape;1339;p14"/>
          <p:cNvSpPr/>
          <p:nvPr/>
        </p:nvSpPr>
        <p:spPr>
          <a:xfrm>
            <a:off x="5123880" y="2884680"/>
            <a:ext cx="1333800" cy="935280"/>
          </a:xfrm>
          <a:custGeom>
            <a:avLst/>
            <a:gdLst>
              <a:gd name="textAreaLeft" fmla="*/ 0 w 1333800"/>
              <a:gd name="textAreaRight" fmla="*/ 1334160 w 1333800"/>
              <a:gd name="textAreaTop" fmla="*/ 0 h 935280"/>
              <a:gd name="textAreaBottom" fmla="*/ 935640 h 935280"/>
            </a:gdLst>
            <a:ahLst/>
            <a:rect l="textAreaLeft" t="textAreaTop" r="textAreaRight" b="textAreaBottom"/>
            <a:pathLst>
              <a:path w="1334622" h="936124">
                <a:moveTo>
                  <a:pt x="0" y="416991"/>
                </a:moveTo>
                <a:lnTo>
                  <a:pt x="1145673" y="0"/>
                </a:lnTo>
                <a:lnTo>
                  <a:pt x="1334622" y="519133"/>
                </a:lnTo>
                <a:lnTo>
                  <a:pt x="188949" y="936124"/>
                </a:lnTo>
                <a:close/>
              </a:path>
            </a:pathLst>
          </a:custGeom>
          <a:noFill/>
          <a:ln w="190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4" name="Google Shape;1340;p14"/>
          <p:cNvSpPr/>
          <p:nvPr/>
        </p:nvSpPr>
        <p:spPr>
          <a:xfrm>
            <a:off x="5791320" y="3144240"/>
            <a:ext cx="572040" cy="207720"/>
          </a:xfrm>
          <a:custGeom>
            <a:avLst/>
            <a:gdLst>
              <a:gd name="textAreaLeft" fmla="*/ 0 w 572040"/>
              <a:gd name="textAreaRight" fmla="*/ 572400 w 572040"/>
              <a:gd name="textAreaTop" fmla="*/ 0 h 207720"/>
              <a:gd name="textAreaBottom" fmla="*/ 208080 h 207720"/>
            </a:gdLst>
            <a:ahLst/>
            <a:rect l="textAreaLeft" t="textAreaTop" r="textAreaRight" b="textAreaBottom"/>
            <a:pathLst>
              <a:path w="572837" h="208495">
                <a:moveTo>
                  <a:pt x="0" y="208495"/>
                </a:moveTo>
                <a:lnTo>
                  <a:pt x="572837" y="0"/>
                </a:lnTo>
              </a:path>
            </a:pathLst>
          </a:custGeom>
          <a:noFill/>
          <a:ln w="190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5" name="Google Shape;1341;p14"/>
          <p:cNvSpPr/>
          <p:nvPr/>
        </p:nvSpPr>
        <p:spPr>
          <a:xfrm>
            <a:off x="5734080" y="3295800"/>
            <a:ext cx="113760" cy="113760"/>
          </a:xfrm>
          <a:prstGeom prst="ellipse">
            <a:avLst/>
          </a:prstGeom>
          <a:solidFill>
            <a:srgbClr val="7351c7"/>
          </a:solidFill>
          <a:ln w="9525">
            <a:solidFill>
              <a:srgbClr val="7351c7"/>
            </a:solidFill>
            <a:round/>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266" name="Google Shape;1342;p14"/>
          <p:cNvSpPr/>
          <p:nvPr/>
        </p:nvSpPr>
        <p:spPr>
          <a:xfrm>
            <a:off x="4952880" y="5153040"/>
            <a:ext cx="1675800" cy="360"/>
          </a:xfrm>
          <a:custGeom>
            <a:avLst/>
            <a:gdLst>
              <a:gd name="textAreaLeft" fmla="*/ 0 w 1675800"/>
              <a:gd name="textAreaRight" fmla="*/ 1676160 w 1675800"/>
              <a:gd name="textAreaTop" fmla="*/ 0 h 360"/>
              <a:gd name="textAreaBottom" fmla="*/ 720 h 360"/>
            </a:gdLst>
            <a:ahLst/>
            <a:rect l="textAreaLeft" t="textAreaTop" r="textAreaRight" b="textAreaBottom"/>
            <a:pathLst>
              <a:path w="1676400" h="953">
                <a:moveTo>
                  <a:pt x="0" y="0"/>
                </a:moveTo>
                <a:lnTo>
                  <a:pt x="1676400" y="0"/>
                </a:lnTo>
              </a:path>
            </a:pathLst>
          </a:custGeom>
          <a:noFill/>
          <a:ln w="15225">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67" name="Google Shape;1343;p14"/>
          <p:cNvSpPr/>
          <p:nvPr/>
        </p:nvSpPr>
        <p:spPr>
          <a:xfrm>
            <a:off x="6534000" y="51091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68" name="Google Shape;1344;p14"/>
          <p:cNvSpPr/>
          <p:nvPr/>
        </p:nvSpPr>
        <p:spPr>
          <a:xfrm>
            <a:off x="4952880" y="5019840"/>
            <a:ext cx="360" cy="218520"/>
          </a:xfrm>
          <a:custGeom>
            <a:avLst/>
            <a:gdLst>
              <a:gd name="textAreaLeft" fmla="*/ 0 w 360"/>
              <a:gd name="textAreaRight" fmla="*/ 720 w 360"/>
              <a:gd name="textAreaTop" fmla="*/ 0 h 218520"/>
              <a:gd name="textAreaBottom" fmla="*/ 218880 h 218520"/>
            </a:gdLst>
            <a:ahLst/>
            <a:rect l="textAreaLeft" t="textAreaTop" r="textAreaRight" b="textAreaBottom"/>
            <a:pathLst>
              <a:path w="953" h="219075">
                <a:moveTo>
                  <a:pt x="0" y="0"/>
                </a:moveTo>
                <a:lnTo>
                  <a:pt x="0" y="219075"/>
                </a:lnTo>
              </a:path>
            </a:pathLst>
          </a:custGeom>
          <a:no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69" name="Google Shape;1345;p14"/>
          <p:cNvSpPr/>
          <p:nvPr/>
        </p:nvSpPr>
        <p:spPr>
          <a:xfrm>
            <a:off x="6629400" y="5019840"/>
            <a:ext cx="360" cy="218520"/>
          </a:xfrm>
          <a:custGeom>
            <a:avLst/>
            <a:gdLst>
              <a:gd name="textAreaLeft" fmla="*/ 0 w 360"/>
              <a:gd name="textAreaRight" fmla="*/ 720 w 360"/>
              <a:gd name="textAreaTop" fmla="*/ 0 h 218520"/>
              <a:gd name="textAreaBottom" fmla="*/ 218880 h 218520"/>
            </a:gdLst>
            <a:ahLst/>
            <a:rect l="textAreaLeft" t="textAreaTop" r="textAreaRight" b="textAreaBottom"/>
            <a:pathLst>
              <a:path w="953" h="219075">
                <a:moveTo>
                  <a:pt x="0" y="0"/>
                </a:moveTo>
                <a:lnTo>
                  <a:pt x="0" y="219075"/>
                </a:lnTo>
              </a:path>
            </a:pathLst>
          </a:custGeom>
          <a:no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0" name="Google Shape;1346;p14"/>
          <p:cNvSpPr/>
          <p:nvPr/>
        </p:nvSpPr>
        <p:spPr>
          <a:xfrm>
            <a:off x="4429080" y="5305320"/>
            <a:ext cx="303768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650" spc="-1" strike="noStrike">
                <a:solidFill>
                  <a:srgbClr val="7351c7"/>
                </a:solidFill>
                <a:latin typeface="Verdana"/>
                <a:ea typeface="Verdana"/>
              </a:rPr>
              <a:t>2.4 m outer-center span</a:t>
            </a:r>
            <a:endParaRPr b="0" lang="en-US" sz="1650" spc="-1" strike="noStrike">
              <a:solidFill>
                <a:srgbClr val="000000"/>
              </a:solidFill>
              <a:latin typeface="Arial"/>
            </a:endParaRPr>
          </a:p>
        </p:txBody>
      </p:sp>
      <p:sp>
        <p:nvSpPr>
          <p:cNvPr id="1271" name="Google Shape;1347;p14"/>
          <p:cNvSpPr/>
          <p:nvPr/>
        </p:nvSpPr>
        <p:spPr>
          <a:xfrm>
            <a:off x="7419960" y="3371760"/>
            <a:ext cx="723240" cy="360"/>
          </a:xfrm>
          <a:custGeom>
            <a:avLst/>
            <a:gdLst>
              <a:gd name="textAreaLeft" fmla="*/ 0 w 723240"/>
              <a:gd name="textAreaRight" fmla="*/ 723600 w 723240"/>
              <a:gd name="textAreaTop" fmla="*/ 0 h 360"/>
              <a:gd name="textAreaBottom" fmla="*/ 720 h 360"/>
            </a:gdLst>
            <a:ahLst/>
            <a:rect l="textAreaLeft" t="textAreaTop" r="textAreaRight" b="textAreaBottom"/>
            <a:pathLst>
              <a:path w="723900" h="953">
                <a:moveTo>
                  <a:pt x="0" y="0"/>
                </a:moveTo>
                <a:lnTo>
                  <a:pt x="7239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72" name="Google Shape;1348;p14"/>
          <p:cNvSpPr/>
          <p:nvPr/>
        </p:nvSpPr>
        <p:spPr>
          <a:xfrm>
            <a:off x="8048520" y="33282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73" name="Google Shape;1349;p14"/>
          <p:cNvSpPr/>
          <p:nvPr/>
        </p:nvSpPr>
        <p:spPr>
          <a:xfrm>
            <a:off x="8315280" y="2419200"/>
            <a:ext cx="1399320" cy="161280"/>
          </a:xfrm>
          <a:custGeom>
            <a:avLst/>
            <a:gdLst>
              <a:gd name="textAreaLeft" fmla="*/ 0 w 1399320"/>
              <a:gd name="textAreaRight" fmla="*/ 1399680 w 1399320"/>
              <a:gd name="textAreaTop" fmla="*/ 0 h 161280"/>
              <a:gd name="textAreaBottom" fmla="*/ 161640 h 161280"/>
            </a:gdLst>
            <a:ahLst/>
            <a:rect l="textAreaLeft" t="textAreaTop" r="textAreaRight" b="textAreaBottom"/>
            <a:pathLst>
              <a:path w="1400175" h="161925">
                <a:moveTo>
                  <a:pt x="0" y="161925"/>
                </a:moveTo>
                <a:lnTo>
                  <a:pt x="161925" y="0"/>
                </a:lnTo>
                <a:lnTo>
                  <a:pt x="1400175" y="0"/>
                </a:lnTo>
                <a:lnTo>
                  <a:pt x="1238250" y="161925"/>
                </a:lnTo>
                <a:close/>
              </a:path>
            </a:pathLst>
          </a:custGeom>
          <a:solidFill>
            <a:srgbClr val="cec2eb"/>
          </a:solidFill>
          <a:ln w="133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4" name="Google Shape;1350;p14"/>
          <p:cNvSpPr/>
          <p:nvPr/>
        </p:nvSpPr>
        <p:spPr>
          <a:xfrm>
            <a:off x="9553680" y="2419200"/>
            <a:ext cx="161280" cy="1732680"/>
          </a:xfrm>
          <a:custGeom>
            <a:avLst/>
            <a:gdLst>
              <a:gd name="textAreaLeft" fmla="*/ 0 w 161280"/>
              <a:gd name="textAreaRight" fmla="*/ 161640 w 161280"/>
              <a:gd name="textAreaTop" fmla="*/ 0 h 1732680"/>
              <a:gd name="textAreaBottom" fmla="*/ 1733040 h 1732680"/>
            </a:gdLst>
            <a:ahLst/>
            <a:rect l="textAreaLeft" t="textAreaTop" r="textAreaRight" b="textAreaBottom"/>
            <a:pathLst>
              <a:path w="161925" h="1733550">
                <a:moveTo>
                  <a:pt x="0" y="161925"/>
                </a:moveTo>
                <a:lnTo>
                  <a:pt x="161925" y="0"/>
                </a:lnTo>
                <a:lnTo>
                  <a:pt x="161925" y="1571625"/>
                </a:lnTo>
                <a:lnTo>
                  <a:pt x="0" y="1733550"/>
                </a:lnTo>
                <a:close/>
              </a:path>
            </a:pathLst>
          </a:custGeom>
          <a:solidFill>
            <a:srgbClr val="a48edb"/>
          </a:solidFill>
          <a:ln w="133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5" name="Google Shape;1351;p14"/>
          <p:cNvSpPr/>
          <p:nvPr/>
        </p:nvSpPr>
        <p:spPr>
          <a:xfrm>
            <a:off x="8315280" y="2581200"/>
            <a:ext cx="1237680" cy="1571040"/>
          </a:xfrm>
          <a:prstGeom prst="rect">
            <a:avLst/>
          </a:prstGeom>
          <a:solidFill>
            <a:srgbClr val="e6e0f5"/>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6" name="Google Shape;1352;p14"/>
          <p:cNvSpPr/>
          <p:nvPr/>
        </p:nvSpPr>
        <p:spPr>
          <a:xfrm>
            <a:off x="8624880" y="2581200"/>
            <a:ext cx="360" cy="1571040"/>
          </a:xfrm>
          <a:custGeom>
            <a:avLst/>
            <a:gdLst>
              <a:gd name="textAreaLeft" fmla="*/ 0 w 360"/>
              <a:gd name="textAreaRight" fmla="*/ 720 w 360"/>
              <a:gd name="textAreaTop" fmla="*/ 0 h 1571040"/>
              <a:gd name="textAreaBottom" fmla="*/ 1571400 h 157104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7" name="Google Shape;1353;p14"/>
          <p:cNvSpPr/>
          <p:nvPr/>
        </p:nvSpPr>
        <p:spPr>
          <a:xfrm>
            <a:off x="8934480" y="2581200"/>
            <a:ext cx="360" cy="1571040"/>
          </a:xfrm>
          <a:custGeom>
            <a:avLst/>
            <a:gdLst>
              <a:gd name="textAreaLeft" fmla="*/ 0 w 360"/>
              <a:gd name="textAreaRight" fmla="*/ 720 w 360"/>
              <a:gd name="textAreaTop" fmla="*/ 0 h 1571040"/>
              <a:gd name="textAreaBottom" fmla="*/ 1571400 h 157104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8" name="Google Shape;1354;p14"/>
          <p:cNvSpPr/>
          <p:nvPr/>
        </p:nvSpPr>
        <p:spPr>
          <a:xfrm>
            <a:off x="9244080" y="2581200"/>
            <a:ext cx="360" cy="1571040"/>
          </a:xfrm>
          <a:custGeom>
            <a:avLst/>
            <a:gdLst>
              <a:gd name="textAreaLeft" fmla="*/ 0 w 360"/>
              <a:gd name="textAreaRight" fmla="*/ 720 w 360"/>
              <a:gd name="textAreaTop" fmla="*/ 0 h 1571040"/>
              <a:gd name="textAreaBottom" fmla="*/ 1571400 h 1571040"/>
            </a:gdLst>
            <a:ahLst/>
            <a:rect l="textAreaLeft" t="textAreaTop" r="textAreaRight" b="textAreaBottom"/>
            <a:pathLst>
              <a:path w="953" h="1571625">
                <a:moveTo>
                  <a:pt x="0" y="0"/>
                </a:moveTo>
                <a:lnTo>
                  <a:pt x="0" y="1571625"/>
                </a:lnTo>
              </a:path>
            </a:pathLst>
          </a:custGeom>
          <a:noFill/>
          <a:ln w="9525">
            <a:solidFill>
              <a:srgbClr val="c0b1e6"/>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79" name="Google Shape;1355;p14"/>
          <p:cNvSpPr/>
          <p:nvPr/>
        </p:nvSpPr>
        <p:spPr>
          <a:xfrm>
            <a:off x="8315280" y="297432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0" name="Google Shape;1356;p14"/>
          <p:cNvSpPr/>
          <p:nvPr/>
        </p:nvSpPr>
        <p:spPr>
          <a:xfrm>
            <a:off x="8315280" y="336708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1" name="Google Shape;1357;p14"/>
          <p:cNvSpPr/>
          <p:nvPr/>
        </p:nvSpPr>
        <p:spPr>
          <a:xfrm>
            <a:off x="8315280" y="3759840"/>
            <a:ext cx="1237680" cy="360"/>
          </a:xfrm>
          <a:custGeom>
            <a:avLst/>
            <a:gdLst>
              <a:gd name="textAreaLeft" fmla="*/ 0 w 1237680"/>
              <a:gd name="textAreaRight" fmla="*/ 1238040 w 1237680"/>
              <a:gd name="textAreaTop" fmla="*/ 0 h 360"/>
              <a:gd name="textAreaBottom" fmla="*/ 720 h 360"/>
            </a:gdLst>
            <a:ahLst/>
            <a:rect l="textAreaLeft" t="textAreaTop" r="textAreaRight" b="textAreaBottom"/>
            <a:pathLst>
              <a:path w="1238250" h="953">
                <a:moveTo>
                  <a:pt x="0" y="0"/>
                </a:moveTo>
                <a:lnTo>
                  <a:pt x="1238250" y="0"/>
                </a:lnTo>
              </a:path>
            </a:pathLst>
          </a:custGeom>
          <a:noFill/>
          <a:ln w="9525">
            <a:solidFill>
              <a:srgbClr val="c0b1e6"/>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2" name="Google Shape;1358;p14"/>
          <p:cNvSpPr/>
          <p:nvPr/>
        </p:nvSpPr>
        <p:spPr>
          <a:xfrm>
            <a:off x="8353440" y="2657520"/>
            <a:ext cx="1161360" cy="1418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128 ch</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 25</a:t>
            </a:r>
            <a:endParaRPr b="0" lang="en-US" sz="1729" spc="-1" strike="noStrike">
              <a:solidFill>
                <a:srgbClr val="000000"/>
              </a:solidFill>
              <a:latin typeface="Arial"/>
            </a:endParaRPr>
          </a:p>
        </p:txBody>
      </p:sp>
      <p:sp>
        <p:nvSpPr>
          <p:cNvPr id="1283" name="Google Shape;1359;p14"/>
          <p:cNvSpPr/>
          <p:nvPr/>
        </p:nvSpPr>
        <p:spPr>
          <a:xfrm>
            <a:off x="9705960" y="3371760"/>
            <a:ext cx="418320" cy="360"/>
          </a:xfrm>
          <a:custGeom>
            <a:avLst/>
            <a:gdLst>
              <a:gd name="textAreaLeft" fmla="*/ 0 w 418320"/>
              <a:gd name="textAreaRight" fmla="*/ 418680 w 418320"/>
              <a:gd name="textAreaTop" fmla="*/ 0 h 360"/>
              <a:gd name="textAreaBottom" fmla="*/ 720 h 360"/>
            </a:gdLst>
            <a:ahLst/>
            <a:rect l="textAreaLeft" t="textAreaTop" r="textAreaRight" b="textAreaBottom"/>
            <a:pathLst>
              <a:path w="419100" h="953">
                <a:moveTo>
                  <a:pt x="0" y="0"/>
                </a:moveTo>
                <a:lnTo>
                  <a:pt x="419100"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84" name="Google Shape;1360;p14"/>
          <p:cNvSpPr/>
          <p:nvPr/>
        </p:nvSpPr>
        <p:spPr>
          <a:xfrm>
            <a:off x="10029960" y="33282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285" name="Google Shape;1361;p14"/>
          <p:cNvSpPr/>
          <p:nvPr/>
        </p:nvSpPr>
        <p:spPr>
          <a:xfrm>
            <a:off x="10125000" y="2924280"/>
            <a:ext cx="1532880" cy="8946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86" name="Google Shape;1362;p14"/>
          <p:cNvSpPr/>
          <p:nvPr/>
        </p:nvSpPr>
        <p:spPr>
          <a:xfrm>
            <a:off x="10201320" y="2971800"/>
            <a:ext cx="138024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7351c7"/>
                </a:solidFill>
                <a:latin typeface="Verdana"/>
                <a:ea typeface="Verdana"/>
              </a:rPr>
              <a:t>Mean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7351c7"/>
                </a:solidFill>
                <a:latin typeface="Verdana"/>
                <a:ea typeface="Verdana"/>
              </a:rPr>
              <a:t>pool</a:t>
            </a:r>
            <a:endParaRPr b="0" lang="en-US" sz="1950" spc="-1" strike="noStrike">
              <a:solidFill>
                <a:srgbClr val="000000"/>
              </a:solidFill>
              <a:latin typeface="Arial"/>
            </a:endParaRPr>
          </a:p>
        </p:txBody>
      </p:sp>
      <p:sp>
        <p:nvSpPr>
          <p:cNvPr id="1287" name="Google Shape;1363;p14"/>
          <p:cNvSpPr/>
          <p:nvPr/>
        </p:nvSpPr>
        <p:spPr>
          <a:xfrm>
            <a:off x="10001160" y="4143240"/>
            <a:ext cx="1656720" cy="6375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950" spc="-1" strike="noStrike">
                <a:solidFill>
                  <a:srgbClr val="7351c7"/>
                </a:solidFill>
                <a:latin typeface="Verdana"/>
                <a:ea typeface="Verdana"/>
              </a:rPr>
              <a:t>128-dim</a:t>
            </a:r>
            <a:endParaRPr b="0" lang="en-US" sz="1950" spc="-1" strike="noStrike">
              <a:solidFill>
                <a:srgbClr val="000000"/>
              </a:solidFill>
              <a:latin typeface="Arial"/>
            </a:endParaRPr>
          </a:p>
          <a:p>
            <a:pPr algn="ctr">
              <a:lnSpc>
                <a:spcPct val="100000"/>
              </a:lnSpc>
              <a:tabLst>
                <a:tab algn="l" pos="0"/>
              </a:tabLst>
            </a:pPr>
            <a:r>
              <a:rPr b="0" lang="en-US" sz="1950" spc="-1" strike="noStrike">
                <a:solidFill>
                  <a:srgbClr val="7351c7"/>
                </a:solidFill>
                <a:latin typeface="Verdana"/>
                <a:ea typeface="Verdana"/>
              </a:rPr>
              <a:t>local context</a:t>
            </a:r>
            <a:endParaRPr b="0" lang="en-US" sz="1950" spc="-1" strike="noStrike">
              <a:solidFill>
                <a:srgbClr val="000000"/>
              </a:solidFill>
              <a:latin typeface="Arial"/>
            </a:endParaRPr>
          </a:p>
        </p:txBody>
      </p:sp>
      <p:sp>
        <p:nvSpPr>
          <p:cNvPr id="1288" name="Google Shape;1364;p14"/>
          <p:cNvSpPr/>
          <p:nvPr/>
        </p:nvSpPr>
        <p:spPr>
          <a:xfrm>
            <a:off x="533520" y="5467320"/>
            <a:ext cx="3980880" cy="2851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0.6 m between sample centers</a:t>
            </a:r>
            <a:endParaRPr b="0" lang="en-US" sz="1729" spc="-1" strike="noStrike">
              <a:solidFill>
                <a:srgbClr val="000000"/>
              </a:solidFill>
              <a:latin typeface="Arial"/>
            </a:endParaRPr>
          </a:p>
        </p:txBody>
      </p:sp>
      <p:sp>
        <p:nvSpPr>
          <p:cNvPr id="1289" name="Google Shape;1365;p14"/>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290" name="Google Shape;1366;p14"/>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16253b"/>
                </a:solidFill>
                <a:latin typeface="Verdana"/>
                <a:ea typeface="Verdana"/>
              </a:rPr>
              <a:t>ℓ</a:t>
            </a:r>
            <a:r>
              <a:rPr b="0" lang="en-US" sz="1800" spc="-1" strike="noStrike">
                <a:solidFill>
                  <a:srgbClr val="16253b"/>
                </a:solidFill>
                <a:latin typeface="Verdana"/>
                <a:ea typeface="Verdana"/>
              </a:rPr>
              <a:t>ᵢ = (1/25) Σδ B̃(cᵢ + δ)      δ ∈ {−2,−1,0,1,2}²      B̃: bilinear sampling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291" name="Google Shape;1372;p15"/>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local box refinement network</a:t>
            </a:r>
            <a:endParaRPr b="0" lang="en-US" sz="3300" spc="-1" strike="noStrike">
              <a:solidFill>
                <a:srgbClr val="000000"/>
              </a:solidFill>
              <a:latin typeface="Arial"/>
            </a:endParaRPr>
          </a:p>
        </p:txBody>
      </p:sp>
      <p:sp>
        <p:nvSpPr>
          <p:cNvPr id="1292" name="Google Shape;1373;p15"/>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15</a:t>
            </a:r>
            <a:endParaRPr b="0" lang="en-US" sz="1200" spc="-1" strike="noStrike">
              <a:solidFill>
                <a:srgbClr val="000000"/>
              </a:solidFill>
              <a:latin typeface="Arial"/>
            </a:endParaRPr>
          </a:p>
        </p:txBody>
      </p:sp>
      <p:sp>
        <p:nvSpPr>
          <p:cNvPr id="1293" name="Google Shape;1374;p15"/>
          <p:cNvSpPr/>
          <p:nvPr/>
        </p:nvSpPr>
        <p:spPr>
          <a:xfrm>
            <a:off x="533520" y="1714680"/>
            <a:ext cx="2380680" cy="78984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4" name="Google Shape;1375;p15"/>
          <p:cNvSpPr/>
          <p:nvPr/>
        </p:nvSpPr>
        <p:spPr>
          <a:xfrm>
            <a:off x="609480" y="1762200"/>
            <a:ext cx="2228040" cy="694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Decoder query</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128 channels</a:t>
            </a:r>
            <a:endParaRPr b="0" lang="en-US" sz="1870" spc="-1" strike="noStrike">
              <a:solidFill>
                <a:srgbClr val="000000"/>
              </a:solidFill>
              <a:latin typeface="Arial"/>
            </a:endParaRPr>
          </a:p>
        </p:txBody>
      </p:sp>
      <p:sp>
        <p:nvSpPr>
          <p:cNvPr id="1295" name="Google Shape;1376;p15"/>
          <p:cNvSpPr/>
          <p:nvPr/>
        </p:nvSpPr>
        <p:spPr>
          <a:xfrm>
            <a:off x="533520" y="3409920"/>
            <a:ext cx="2380680" cy="7898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6" name="Google Shape;1377;p15"/>
          <p:cNvSpPr/>
          <p:nvPr/>
        </p:nvSpPr>
        <p:spPr>
          <a:xfrm>
            <a:off x="609480" y="3457440"/>
            <a:ext cx="2228040" cy="694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Local context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128 channels</a:t>
            </a:r>
            <a:endParaRPr b="0" lang="en-US" sz="1870" spc="-1" strike="noStrike">
              <a:solidFill>
                <a:srgbClr val="000000"/>
              </a:solidFill>
              <a:latin typeface="Arial"/>
            </a:endParaRPr>
          </a:p>
        </p:txBody>
      </p:sp>
      <p:sp>
        <p:nvSpPr>
          <p:cNvPr id="1297" name="Google Shape;1378;p15"/>
          <p:cNvSpPr/>
          <p:nvPr/>
        </p:nvSpPr>
        <p:spPr>
          <a:xfrm>
            <a:off x="3524400" y="2543040"/>
            <a:ext cx="1761480" cy="83736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298" name="Google Shape;1379;p15"/>
          <p:cNvSpPr/>
          <p:nvPr/>
        </p:nvSpPr>
        <p:spPr>
          <a:xfrm>
            <a:off x="3600360" y="2590920"/>
            <a:ext cx="1608840" cy="7423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Concat</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256 ch</a:t>
            </a:r>
            <a:endParaRPr b="0" lang="en-US" sz="1870" spc="-1" strike="noStrike">
              <a:solidFill>
                <a:srgbClr val="000000"/>
              </a:solidFill>
              <a:latin typeface="Arial"/>
            </a:endParaRPr>
          </a:p>
        </p:txBody>
      </p:sp>
      <p:sp>
        <p:nvSpPr>
          <p:cNvPr id="1299" name="Google Shape;1380;p15"/>
          <p:cNvSpPr/>
          <p:nvPr/>
        </p:nvSpPr>
        <p:spPr>
          <a:xfrm>
            <a:off x="2914560" y="2104920"/>
            <a:ext cx="608760" cy="646920"/>
          </a:xfrm>
          <a:custGeom>
            <a:avLst/>
            <a:gdLst>
              <a:gd name="textAreaLeft" fmla="*/ 0 w 608760"/>
              <a:gd name="textAreaRight" fmla="*/ 609120 w 608760"/>
              <a:gd name="textAreaTop" fmla="*/ 0 h 646920"/>
              <a:gd name="textAreaBottom" fmla="*/ 647280 h 646920"/>
            </a:gdLst>
            <a:ahLst/>
            <a:rect l="textAreaLeft" t="textAreaTop" r="textAreaRight" b="textAreaBottom"/>
            <a:pathLst>
              <a:path w="609600" h="647700">
                <a:moveTo>
                  <a:pt x="0" y="0"/>
                </a:moveTo>
                <a:lnTo>
                  <a:pt x="314325" y="0"/>
                </a:lnTo>
                <a:lnTo>
                  <a:pt x="314325" y="647700"/>
                </a:lnTo>
                <a:lnTo>
                  <a:pt x="609600" y="64770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0" name="Google Shape;1381;p15"/>
          <p:cNvSpPr/>
          <p:nvPr/>
        </p:nvSpPr>
        <p:spPr>
          <a:xfrm>
            <a:off x="3429000" y="27090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1" name="Google Shape;1382;p15"/>
          <p:cNvSpPr/>
          <p:nvPr/>
        </p:nvSpPr>
        <p:spPr>
          <a:xfrm>
            <a:off x="2914560" y="3181320"/>
            <a:ext cx="608760" cy="618480"/>
          </a:xfrm>
          <a:custGeom>
            <a:avLst/>
            <a:gdLst>
              <a:gd name="textAreaLeft" fmla="*/ 0 w 608760"/>
              <a:gd name="textAreaRight" fmla="*/ 609120 w 608760"/>
              <a:gd name="textAreaTop" fmla="*/ 0 h 618480"/>
              <a:gd name="textAreaBottom" fmla="*/ 618840 h 618480"/>
            </a:gdLst>
            <a:ahLst/>
            <a:rect l="textAreaLeft" t="textAreaTop" r="textAreaRight" b="textAreaBottom"/>
            <a:pathLst>
              <a:path w="609600" h="619125">
                <a:moveTo>
                  <a:pt x="0" y="619125"/>
                </a:moveTo>
                <a:lnTo>
                  <a:pt x="314325" y="619125"/>
                </a:lnTo>
                <a:lnTo>
                  <a:pt x="314325" y="0"/>
                </a:lnTo>
                <a:lnTo>
                  <a:pt x="609600"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2" name="Google Shape;1383;p15"/>
          <p:cNvSpPr/>
          <p:nvPr/>
        </p:nvSpPr>
        <p:spPr>
          <a:xfrm>
            <a:off x="3429000" y="31374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3" name="Google Shape;1384;p15"/>
          <p:cNvSpPr/>
          <p:nvPr/>
        </p:nvSpPr>
        <p:spPr>
          <a:xfrm>
            <a:off x="5905440" y="2409840"/>
            <a:ext cx="1951920" cy="11138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4" name="Google Shape;1385;p15"/>
          <p:cNvSpPr/>
          <p:nvPr/>
        </p:nvSpPr>
        <p:spPr>
          <a:xfrm>
            <a:off x="5981760" y="2457360"/>
            <a:ext cx="1799640" cy="1018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7351c7"/>
                </a:solidFill>
                <a:latin typeface="Verdana"/>
                <a:ea typeface="Verdana"/>
              </a:rPr>
              <a:t>1 × 1 Conv1d</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BN + ReLU</a:t>
            </a:r>
            <a:endParaRPr b="0" lang="en-US" sz="1800" spc="-1" strike="noStrike">
              <a:solidFill>
                <a:srgbClr val="000000"/>
              </a:solidFill>
              <a:latin typeface="Arial"/>
            </a:endParaRPr>
          </a:p>
          <a:p>
            <a:pPr algn="ctr">
              <a:lnSpc>
                <a:spcPct val="100000"/>
              </a:lnSpc>
              <a:tabLst>
                <a:tab algn="l" pos="0"/>
              </a:tabLst>
            </a:pPr>
            <a:r>
              <a:rPr b="1" lang="en-US" sz="1800" spc="-1" strike="noStrike">
                <a:solidFill>
                  <a:srgbClr val="7351c7"/>
                </a:solidFill>
                <a:latin typeface="Verdana"/>
                <a:ea typeface="Verdana"/>
              </a:rPr>
              <a:t>256 → 128</a:t>
            </a:r>
            <a:endParaRPr b="0" lang="en-US" sz="1800" spc="-1" strike="noStrike">
              <a:solidFill>
                <a:srgbClr val="000000"/>
              </a:solidFill>
              <a:latin typeface="Arial"/>
            </a:endParaRPr>
          </a:p>
        </p:txBody>
      </p:sp>
      <p:sp>
        <p:nvSpPr>
          <p:cNvPr id="1305" name="Google Shape;1386;p15"/>
          <p:cNvSpPr/>
          <p:nvPr/>
        </p:nvSpPr>
        <p:spPr>
          <a:xfrm>
            <a:off x="5286240" y="2962440"/>
            <a:ext cx="618480" cy="360"/>
          </a:xfrm>
          <a:custGeom>
            <a:avLst/>
            <a:gdLst>
              <a:gd name="textAreaLeft" fmla="*/ 0 w 618480"/>
              <a:gd name="textAreaRight" fmla="*/ 618840 w 618480"/>
              <a:gd name="textAreaTop" fmla="*/ 0 h 360"/>
              <a:gd name="textAreaBottom" fmla="*/ 720 h 360"/>
            </a:gdLst>
            <a:ahLst/>
            <a:rect l="textAreaLeft" t="textAreaTop" r="textAreaRight" b="textAreaBottom"/>
            <a:pathLst>
              <a:path w="619125" h="953">
                <a:moveTo>
                  <a:pt x="0" y="0"/>
                </a:moveTo>
                <a:lnTo>
                  <a:pt x="619125"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06" name="Google Shape;1387;p15"/>
          <p:cNvSpPr/>
          <p:nvPr/>
        </p:nvSpPr>
        <p:spPr>
          <a:xfrm>
            <a:off x="5810400" y="2918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07" name="Google Shape;1388;p15"/>
          <p:cNvSpPr/>
          <p:nvPr/>
        </p:nvSpPr>
        <p:spPr>
          <a:xfrm>
            <a:off x="8439120" y="2409840"/>
            <a:ext cx="2599560" cy="111384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08" name="Google Shape;1389;p15"/>
          <p:cNvSpPr/>
          <p:nvPr/>
        </p:nvSpPr>
        <p:spPr>
          <a:xfrm>
            <a:off x="8515440" y="2457360"/>
            <a:ext cx="2447280" cy="1018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Box residual heads</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2 convs per head</a:t>
            </a:r>
            <a:endParaRPr b="0" lang="en-US" sz="1729" spc="-1" strike="noStrike">
              <a:solidFill>
                <a:srgbClr val="000000"/>
              </a:solidFill>
              <a:latin typeface="Arial"/>
            </a:endParaRPr>
          </a:p>
        </p:txBody>
      </p:sp>
      <p:sp>
        <p:nvSpPr>
          <p:cNvPr id="1309" name="Google Shape;1390;p15"/>
          <p:cNvSpPr/>
          <p:nvPr/>
        </p:nvSpPr>
        <p:spPr>
          <a:xfrm>
            <a:off x="7858080" y="2962440"/>
            <a:ext cx="580320" cy="360"/>
          </a:xfrm>
          <a:custGeom>
            <a:avLst/>
            <a:gdLst>
              <a:gd name="textAreaLeft" fmla="*/ 0 w 580320"/>
              <a:gd name="textAreaRight" fmla="*/ 580680 w 580320"/>
              <a:gd name="textAreaTop" fmla="*/ 0 h 360"/>
              <a:gd name="textAreaBottom" fmla="*/ 720 h 360"/>
            </a:gdLst>
            <a:ahLst/>
            <a:rect l="textAreaLeft" t="textAreaTop" r="textAreaRight" b="textAreaBottom"/>
            <a:pathLst>
              <a:path w="581025" h="953">
                <a:moveTo>
                  <a:pt x="0" y="0"/>
                </a:moveTo>
                <a:lnTo>
                  <a:pt x="581025" y="0"/>
                </a:lnTo>
              </a:path>
            </a:pathLst>
          </a:custGeom>
          <a:noFill/>
          <a:ln w="2285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10" name="Google Shape;1391;p15"/>
          <p:cNvSpPr/>
          <p:nvPr/>
        </p:nvSpPr>
        <p:spPr>
          <a:xfrm>
            <a:off x="8344080" y="29185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11" name="Google Shape;1392;p15"/>
          <p:cNvSpPr/>
          <p:nvPr/>
        </p:nvSpPr>
        <p:spPr>
          <a:xfrm>
            <a:off x="533520" y="5067360"/>
            <a:ext cx="2961720" cy="63756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2" name="Google Shape;1393;p15"/>
          <p:cNvSpPr/>
          <p:nvPr/>
        </p:nvSpPr>
        <p:spPr>
          <a:xfrm>
            <a:off x="609480" y="5114880"/>
            <a:ext cx="2809080" cy="5421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Coarse box code b</a:t>
            </a:r>
            <a:endParaRPr b="0" lang="en-US" sz="1950" spc="-1" strike="noStrike">
              <a:solidFill>
                <a:srgbClr val="000000"/>
              </a:solidFill>
              <a:latin typeface="Arial"/>
            </a:endParaRPr>
          </a:p>
        </p:txBody>
      </p:sp>
      <p:sp>
        <p:nvSpPr>
          <p:cNvPr id="1313" name="Google Shape;1394;p15"/>
          <p:cNvSpPr/>
          <p:nvPr/>
        </p:nvSpPr>
        <p:spPr>
          <a:xfrm>
            <a:off x="11049120" y="5181480"/>
            <a:ext cx="437400" cy="437400"/>
          </a:xfrm>
          <a:prstGeom prst="ellipse">
            <a:avLst/>
          </a:prstGeom>
          <a:solidFill>
            <a:srgbClr val="ffffff"/>
          </a:solidFill>
          <a:ln w="190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4" name="Google Shape;1395;p15"/>
          <p:cNvSpPr/>
          <p:nvPr/>
        </p:nvSpPr>
        <p:spPr>
          <a:xfrm>
            <a:off x="11049120" y="518148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7351c7"/>
                </a:solidFill>
                <a:latin typeface="Verdana"/>
                <a:ea typeface="Verdana"/>
              </a:rPr>
              <a:t>+</a:t>
            </a:r>
            <a:endParaRPr b="0" lang="en-US" sz="2020" spc="-1" strike="noStrike">
              <a:solidFill>
                <a:srgbClr val="000000"/>
              </a:solidFill>
              <a:latin typeface="Arial"/>
            </a:endParaRPr>
          </a:p>
        </p:txBody>
      </p:sp>
      <p:sp>
        <p:nvSpPr>
          <p:cNvPr id="1315" name="Google Shape;1396;p15"/>
          <p:cNvSpPr/>
          <p:nvPr/>
        </p:nvSpPr>
        <p:spPr>
          <a:xfrm>
            <a:off x="3495600" y="5400720"/>
            <a:ext cx="7552440" cy="360"/>
          </a:xfrm>
          <a:custGeom>
            <a:avLst/>
            <a:gdLst>
              <a:gd name="textAreaLeft" fmla="*/ 0 w 7552440"/>
              <a:gd name="textAreaRight" fmla="*/ 7552800 w 7552440"/>
              <a:gd name="textAreaTop" fmla="*/ 0 h 360"/>
              <a:gd name="textAreaBottom" fmla="*/ 720 h 360"/>
            </a:gdLst>
            <a:ahLst/>
            <a:rect l="textAreaLeft" t="textAreaTop" r="textAreaRight" b="textAreaBottom"/>
            <a:pathLst>
              <a:path w="7553325" h="953">
                <a:moveTo>
                  <a:pt x="0" y="0"/>
                </a:moveTo>
                <a:lnTo>
                  <a:pt x="7553325"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16" name="Google Shape;1397;p15"/>
          <p:cNvSpPr/>
          <p:nvPr/>
        </p:nvSpPr>
        <p:spPr>
          <a:xfrm>
            <a:off x="10953720" y="535680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17" name="Google Shape;1398;p15"/>
          <p:cNvSpPr/>
          <p:nvPr/>
        </p:nvSpPr>
        <p:spPr>
          <a:xfrm>
            <a:off x="11039400" y="2962440"/>
            <a:ext cx="227880" cy="2218680"/>
          </a:xfrm>
          <a:custGeom>
            <a:avLst/>
            <a:gdLst>
              <a:gd name="textAreaLeft" fmla="*/ 0 w 227880"/>
              <a:gd name="textAreaRight" fmla="*/ 228240 w 227880"/>
              <a:gd name="textAreaTop" fmla="*/ 0 h 2218680"/>
              <a:gd name="textAreaBottom" fmla="*/ 2219040 h 2218680"/>
            </a:gdLst>
            <a:ahLst/>
            <a:rect l="textAreaLeft" t="textAreaTop" r="textAreaRight" b="textAreaBottom"/>
            <a:pathLst>
              <a:path w="228600" h="2219325">
                <a:moveTo>
                  <a:pt x="0" y="0"/>
                </a:moveTo>
                <a:lnTo>
                  <a:pt x="228600" y="0"/>
                </a:lnTo>
                <a:lnTo>
                  <a:pt x="228600" y="221932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18" name="Google Shape;1399;p15"/>
          <p:cNvSpPr/>
          <p:nvPr/>
        </p:nvSpPr>
        <p:spPr>
          <a:xfrm>
            <a:off x="11224440" y="50864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19" name="Google Shape;1400;p15"/>
          <p:cNvSpPr/>
          <p:nvPr/>
        </p:nvSpPr>
        <p:spPr>
          <a:xfrm>
            <a:off x="10487160" y="4200480"/>
            <a:ext cx="64692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Δb</a:t>
            </a:r>
            <a:endParaRPr b="0" lang="en-US" sz="2170" spc="-1" strike="noStrike">
              <a:solidFill>
                <a:srgbClr val="000000"/>
              </a:solidFill>
              <a:latin typeface="Arial"/>
            </a:endParaRPr>
          </a:p>
        </p:txBody>
      </p:sp>
      <p:sp>
        <p:nvSpPr>
          <p:cNvPr id="1320" name="Google Shape;1401;p15"/>
          <p:cNvSpPr/>
          <p:nvPr/>
        </p:nvSpPr>
        <p:spPr>
          <a:xfrm>
            <a:off x="8362800" y="4562640"/>
            <a:ext cx="3295080" cy="4471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470" spc="-1" strike="noStrike">
                <a:solidFill>
                  <a:srgbClr val="7351c7"/>
                </a:solidFill>
                <a:latin typeface="Verdana"/>
                <a:ea typeface="Verdana"/>
              </a:rPr>
              <a:t>b′ = b + αΔb</a:t>
            </a:r>
            <a:endParaRPr b="0" lang="en-US" sz="2470" spc="-1" strike="noStrike">
              <a:solidFill>
                <a:srgbClr val="000000"/>
              </a:solidFill>
              <a:latin typeface="Arial"/>
            </a:endParaRPr>
          </a:p>
        </p:txBody>
      </p:sp>
      <p:sp>
        <p:nvSpPr>
          <p:cNvPr id="1321" name="Google Shape;1402;p15"/>
          <p:cNvSpPr/>
          <p:nvPr/>
        </p:nvSpPr>
        <p:spPr>
          <a:xfrm>
            <a:off x="4000680" y="3743280"/>
            <a:ext cx="7562160" cy="48492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729" spc="-1" strike="noStrike">
                <a:solidFill>
                  <a:srgbClr val="7351c7"/>
                </a:solidFill>
                <a:latin typeface="Verdana"/>
                <a:ea typeface="Verdana"/>
              </a:rPr>
              <a:t>center 2   height 1   log dims 3   sin/cos 2   velocity 2</a:t>
            </a:r>
            <a:endParaRPr b="0" lang="en-US" sz="1729" spc="-1" strike="noStrike">
              <a:solidFill>
                <a:srgbClr val="000000"/>
              </a:solidFill>
              <a:latin typeface="Arial"/>
            </a:endParaRPr>
          </a:p>
        </p:txBody>
      </p:sp>
      <p:sp>
        <p:nvSpPr>
          <p:cNvPr id="1322" name="Google Shape;1403;p15"/>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23" name="Google Shape;1404;p15"/>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The branch corrects the encoded box. The original classification logits remain unchanged.</a:t>
            </a:r>
            <a:endParaRPr b="0" lang="en-US" sz="1729" spc="-1" strike="noStrike">
              <a:solidFill>
                <a:srgbClr val="000000"/>
              </a:solidFill>
              <a:latin typeface="Arial"/>
            </a:endParaRPr>
          </a:p>
        </p:txBody>
      </p:sp>
      <p:sp>
        <p:nvSpPr>
          <p:cNvPr id="1324" name="Google Shape;1405;p15"/>
          <p:cNvSpPr/>
          <p:nvPr/>
        </p:nvSpPr>
        <p:spPr>
          <a:xfrm>
            <a:off x="3971880" y="4476600"/>
            <a:ext cx="428544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7351c7"/>
                </a:solidFill>
                <a:latin typeface="Verdana"/>
                <a:ea typeface="Verdana"/>
              </a:rPr>
              <a:t>Δb = hrefine([qᵢ, ℓᵢ])       α = 1</a:t>
            </a:r>
            <a:endParaRPr b="0" lang="en-US" sz="1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25" name="Google Shape;1411;p16"/>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The training objective</a:t>
            </a:r>
            <a:endParaRPr b="0" lang="en-US" sz="3300" spc="-1" strike="noStrike">
              <a:solidFill>
                <a:srgbClr val="000000"/>
              </a:solidFill>
              <a:latin typeface="Arial"/>
            </a:endParaRPr>
          </a:p>
        </p:txBody>
      </p:sp>
      <p:sp>
        <p:nvSpPr>
          <p:cNvPr id="1326" name="Google Shape;1412;p16"/>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16</a:t>
            </a:r>
            <a:endParaRPr b="0" lang="en-US" sz="1200" spc="-1" strike="noStrike">
              <a:solidFill>
                <a:srgbClr val="000000"/>
              </a:solidFill>
              <a:latin typeface="Arial"/>
            </a:endParaRPr>
          </a:p>
        </p:txBody>
      </p:sp>
      <p:sp>
        <p:nvSpPr>
          <p:cNvPr id="1327" name="Google Shape;1413;p16"/>
          <p:cNvSpPr/>
          <p:nvPr/>
        </p:nvSpPr>
        <p:spPr>
          <a:xfrm>
            <a:off x="533520" y="1743120"/>
            <a:ext cx="2428200" cy="8470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28" name="Google Shape;1414;p16"/>
          <p:cNvSpPr/>
          <p:nvPr/>
        </p:nvSpPr>
        <p:spPr>
          <a:xfrm>
            <a:off x="609480" y="1790640"/>
            <a:ext cx="2275920" cy="751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Dense center</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heatmap</a:t>
            </a:r>
            <a:endParaRPr b="0" lang="en-US" sz="1950" spc="-1" strike="noStrike">
              <a:solidFill>
                <a:srgbClr val="000000"/>
              </a:solidFill>
              <a:latin typeface="Arial"/>
            </a:endParaRPr>
          </a:p>
        </p:txBody>
      </p:sp>
      <p:sp>
        <p:nvSpPr>
          <p:cNvPr id="1329" name="Google Shape;1415;p16"/>
          <p:cNvSpPr/>
          <p:nvPr/>
        </p:nvSpPr>
        <p:spPr>
          <a:xfrm>
            <a:off x="3800520" y="1743120"/>
            <a:ext cx="2485440" cy="8470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0" name="Google Shape;1416;p16"/>
          <p:cNvSpPr/>
          <p:nvPr/>
        </p:nvSpPr>
        <p:spPr>
          <a:xfrm>
            <a:off x="3876840" y="1790640"/>
            <a:ext cx="2332800" cy="751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Gaussian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focal loss</a:t>
            </a:r>
            <a:endParaRPr b="0" lang="en-US" sz="1950" spc="-1" strike="noStrike">
              <a:solidFill>
                <a:srgbClr val="000000"/>
              </a:solidFill>
              <a:latin typeface="Arial"/>
            </a:endParaRPr>
          </a:p>
        </p:txBody>
      </p:sp>
      <p:sp>
        <p:nvSpPr>
          <p:cNvPr id="1331" name="Google Shape;1417;p16"/>
          <p:cNvSpPr/>
          <p:nvPr/>
        </p:nvSpPr>
        <p:spPr>
          <a:xfrm>
            <a:off x="2962440" y="2162160"/>
            <a:ext cx="837360" cy="360"/>
          </a:xfrm>
          <a:custGeom>
            <a:avLst/>
            <a:gdLst>
              <a:gd name="textAreaLeft" fmla="*/ 0 w 837360"/>
              <a:gd name="textAreaRight" fmla="*/ 837720 w 837360"/>
              <a:gd name="textAreaTop" fmla="*/ 0 h 360"/>
              <a:gd name="textAreaBottom" fmla="*/ 720 h 360"/>
            </a:gdLst>
            <a:ahLst/>
            <a:rect l="textAreaLeft" t="textAreaTop" r="textAreaRight" b="textAreaBottom"/>
            <a:pathLst>
              <a:path w="838200" h="953">
                <a:moveTo>
                  <a:pt x="0" y="0"/>
                </a:moveTo>
                <a:lnTo>
                  <a:pt x="8382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32" name="Google Shape;1418;p16"/>
          <p:cNvSpPr/>
          <p:nvPr/>
        </p:nvSpPr>
        <p:spPr>
          <a:xfrm>
            <a:off x="3705120" y="211824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33" name="Google Shape;1419;p16"/>
          <p:cNvSpPr/>
          <p:nvPr/>
        </p:nvSpPr>
        <p:spPr>
          <a:xfrm>
            <a:off x="533520" y="3543480"/>
            <a:ext cx="2428200" cy="89460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4" name="Google Shape;1420;p16"/>
          <p:cNvSpPr/>
          <p:nvPr/>
        </p:nvSpPr>
        <p:spPr>
          <a:xfrm>
            <a:off x="609480" y="3591000"/>
            <a:ext cx="227592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Proposal classes</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 refined boxes</a:t>
            </a:r>
            <a:endParaRPr b="0" lang="en-US" sz="1870" spc="-1" strike="noStrike">
              <a:solidFill>
                <a:srgbClr val="000000"/>
              </a:solidFill>
              <a:latin typeface="Arial"/>
            </a:endParaRPr>
          </a:p>
        </p:txBody>
      </p:sp>
      <p:sp>
        <p:nvSpPr>
          <p:cNvPr id="1335" name="Google Shape;1421;p16"/>
          <p:cNvSpPr/>
          <p:nvPr/>
        </p:nvSpPr>
        <p:spPr>
          <a:xfrm>
            <a:off x="3800520" y="3543480"/>
            <a:ext cx="2485440" cy="89460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36" name="Google Shape;1422;p16"/>
          <p:cNvSpPr/>
          <p:nvPr/>
        </p:nvSpPr>
        <p:spPr>
          <a:xfrm>
            <a:off x="3876840" y="3591000"/>
            <a:ext cx="2332800" cy="79956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950" spc="-1" strike="noStrike">
                <a:solidFill>
                  <a:srgbClr val="304c68"/>
                </a:solidFill>
                <a:latin typeface="Verdana"/>
                <a:ea typeface="Verdana"/>
              </a:rPr>
              <a:t>Hungarian</a:t>
            </a:r>
            <a:endParaRPr b="0" lang="en-US" sz="1950" spc="-1" strike="noStrike">
              <a:solidFill>
                <a:srgbClr val="000000"/>
              </a:solidFill>
              <a:latin typeface="Arial"/>
            </a:endParaRPr>
          </a:p>
          <a:p>
            <a:pPr algn="ctr">
              <a:lnSpc>
                <a:spcPct val="100000"/>
              </a:lnSpc>
              <a:tabLst>
                <a:tab algn="l" pos="0"/>
              </a:tabLst>
            </a:pPr>
            <a:r>
              <a:rPr b="1" lang="en-US" sz="1950" spc="-1" strike="noStrike">
                <a:solidFill>
                  <a:srgbClr val="304c68"/>
                </a:solidFill>
                <a:latin typeface="Verdana"/>
                <a:ea typeface="Verdana"/>
              </a:rPr>
              <a:t>assignment</a:t>
            </a:r>
            <a:endParaRPr b="0" lang="en-US" sz="1950" spc="-1" strike="noStrike">
              <a:solidFill>
                <a:srgbClr val="000000"/>
              </a:solidFill>
              <a:latin typeface="Arial"/>
            </a:endParaRPr>
          </a:p>
        </p:txBody>
      </p:sp>
      <p:sp>
        <p:nvSpPr>
          <p:cNvPr id="1337" name="Google Shape;1423;p16"/>
          <p:cNvSpPr/>
          <p:nvPr/>
        </p:nvSpPr>
        <p:spPr>
          <a:xfrm>
            <a:off x="2962440" y="4000680"/>
            <a:ext cx="837360" cy="360"/>
          </a:xfrm>
          <a:custGeom>
            <a:avLst/>
            <a:gdLst>
              <a:gd name="textAreaLeft" fmla="*/ 0 w 837360"/>
              <a:gd name="textAreaRight" fmla="*/ 837720 w 837360"/>
              <a:gd name="textAreaTop" fmla="*/ 0 h 360"/>
              <a:gd name="textAreaBottom" fmla="*/ 720 h 360"/>
            </a:gdLst>
            <a:ahLst/>
            <a:rect l="textAreaLeft" t="textAreaTop" r="textAreaRight" b="textAreaBottom"/>
            <a:pathLst>
              <a:path w="838200" h="953">
                <a:moveTo>
                  <a:pt x="0" y="0"/>
                </a:moveTo>
                <a:lnTo>
                  <a:pt x="8382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38" name="Google Shape;1424;p16"/>
          <p:cNvSpPr/>
          <p:nvPr/>
        </p:nvSpPr>
        <p:spPr>
          <a:xfrm>
            <a:off x="3705120" y="39567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39" name="Google Shape;1425;p16"/>
          <p:cNvSpPr/>
          <p:nvPr/>
        </p:nvSpPr>
        <p:spPr>
          <a:xfrm>
            <a:off x="4019400" y="4943520"/>
            <a:ext cx="2056680" cy="580320"/>
          </a:xfrm>
          <a:prstGeom prst="rect">
            <a:avLst/>
          </a:prstGeom>
          <a:solidFill>
            <a:srgbClr val="dcf2eb"/>
          </a:solid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0" name="Google Shape;1426;p16"/>
          <p:cNvSpPr/>
          <p:nvPr/>
        </p:nvSpPr>
        <p:spPr>
          <a:xfrm>
            <a:off x="4095720" y="4991040"/>
            <a:ext cx="1904400" cy="48492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087f6c"/>
                </a:solidFill>
                <a:latin typeface="Verdana"/>
                <a:ea typeface="Verdana"/>
              </a:rPr>
              <a:t>Ground truth</a:t>
            </a:r>
            <a:endParaRPr b="0" lang="en-US" sz="1870" spc="-1" strike="noStrike">
              <a:solidFill>
                <a:srgbClr val="000000"/>
              </a:solidFill>
              <a:latin typeface="Arial"/>
            </a:endParaRPr>
          </a:p>
        </p:txBody>
      </p:sp>
      <p:sp>
        <p:nvSpPr>
          <p:cNvPr id="1341" name="Google Shape;1427;p16"/>
          <p:cNvSpPr/>
          <p:nvPr/>
        </p:nvSpPr>
        <p:spPr>
          <a:xfrm>
            <a:off x="5048280" y="4438800"/>
            <a:ext cx="360" cy="504000"/>
          </a:xfrm>
          <a:custGeom>
            <a:avLst/>
            <a:gdLst>
              <a:gd name="textAreaLeft" fmla="*/ 0 w 360"/>
              <a:gd name="textAreaRight" fmla="*/ 720 w 360"/>
              <a:gd name="textAreaTop" fmla="*/ 0 h 504000"/>
              <a:gd name="textAreaBottom" fmla="*/ 504360 h 504000"/>
            </a:gdLst>
            <a:ahLst/>
            <a:rect l="textAreaLeft" t="textAreaTop" r="textAreaRight" b="textAreaBottom"/>
            <a:pathLst>
              <a:path w="953" h="504825">
                <a:moveTo>
                  <a:pt x="0" y="504825"/>
                </a:moveTo>
                <a:lnTo>
                  <a:pt x="0" y="0"/>
                </a:lnTo>
              </a:path>
            </a:pathLst>
          </a:custGeom>
          <a:noFill/>
          <a:ln w="2285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2" name="Google Shape;1428;p16"/>
          <p:cNvSpPr/>
          <p:nvPr/>
        </p:nvSpPr>
        <p:spPr>
          <a:xfrm>
            <a:off x="5004360" y="443880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087f6c"/>
          </a:solidFill>
          <a:ln w="95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43" name="Google Shape;1429;p16"/>
          <p:cNvSpPr/>
          <p:nvPr/>
        </p:nvSpPr>
        <p:spPr>
          <a:xfrm>
            <a:off x="5048280" y="2590920"/>
            <a:ext cx="1618560" cy="2637720"/>
          </a:xfrm>
          <a:custGeom>
            <a:avLst/>
            <a:gdLst>
              <a:gd name="textAreaLeft" fmla="*/ 0 w 1618560"/>
              <a:gd name="textAreaRight" fmla="*/ 1618920 w 1618560"/>
              <a:gd name="textAreaTop" fmla="*/ 0 h 2637720"/>
              <a:gd name="textAreaBottom" fmla="*/ 2638080 h 2637720"/>
            </a:gdLst>
            <a:ahLst/>
            <a:rect l="textAreaLeft" t="textAreaTop" r="textAreaRight" b="textAreaBottom"/>
            <a:pathLst>
              <a:path w="1619250" h="2638425">
                <a:moveTo>
                  <a:pt x="1028700" y="2638425"/>
                </a:moveTo>
                <a:lnTo>
                  <a:pt x="1619250" y="2638425"/>
                </a:lnTo>
                <a:lnTo>
                  <a:pt x="1619250" y="314325"/>
                </a:lnTo>
                <a:lnTo>
                  <a:pt x="0" y="314325"/>
                </a:lnTo>
                <a:lnTo>
                  <a:pt x="0" y="0"/>
                </a:lnTo>
              </a:path>
            </a:pathLst>
          </a:custGeom>
          <a:noFill/>
          <a:ln w="2285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4" name="Google Shape;1430;p16"/>
          <p:cNvSpPr/>
          <p:nvPr/>
        </p:nvSpPr>
        <p:spPr>
          <a:xfrm>
            <a:off x="5004360" y="259092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087f6c"/>
          </a:solidFill>
          <a:ln w="95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45" name="Google Shape;1431;p16"/>
          <p:cNvSpPr/>
          <p:nvPr/>
        </p:nvSpPr>
        <p:spPr>
          <a:xfrm>
            <a:off x="7477200" y="3095640"/>
            <a:ext cx="2742480" cy="780480"/>
          </a:xfrm>
          <a:prstGeom prst="rect">
            <a:avLst/>
          </a:prstGeom>
          <a:solidFill>
            <a:srgbClr val="e5ebf2"/>
          </a:solidFill>
          <a:ln w="152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6" name="Google Shape;1432;p16"/>
          <p:cNvSpPr/>
          <p:nvPr/>
        </p:nvSpPr>
        <p:spPr>
          <a:xfrm>
            <a:off x="7553160" y="3143160"/>
            <a:ext cx="2590200" cy="685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304c68"/>
                </a:solidFill>
                <a:latin typeface="Verdana"/>
                <a:ea typeface="Verdana"/>
              </a:rPr>
              <a:t>Sigmoid focal</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304c68"/>
                </a:solidFill>
                <a:latin typeface="Verdana"/>
                <a:ea typeface="Verdana"/>
              </a:rPr>
              <a:t>classification</a:t>
            </a:r>
            <a:endParaRPr b="0" lang="en-US" sz="1870" spc="-1" strike="noStrike">
              <a:solidFill>
                <a:srgbClr val="000000"/>
              </a:solidFill>
              <a:latin typeface="Arial"/>
            </a:endParaRPr>
          </a:p>
        </p:txBody>
      </p:sp>
      <p:sp>
        <p:nvSpPr>
          <p:cNvPr id="1347" name="Google Shape;1433;p16"/>
          <p:cNvSpPr/>
          <p:nvPr/>
        </p:nvSpPr>
        <p:spPr>
          <a:xfrm>
            <a:off x="7477200" y="4295880"/>
            <a:ext cx="2742480" cy="780480"/>
          </a:xfrm>
          <a:prstGeom prst="rect">
            <a:avLst/>
          </a:prstGeom>
          <a:solidFill>
            <a:srgbClr val="eee7fa"/>
          </a:solidFill>
          <a:ln w="152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48" name="Google Shape;1434;p16"/>
          <p:cNvSpPr/>
          <p:nvPr/>
        </p:nvSpPr>
        <p:spPr>
          <a:xfrm>
            <a:off x="7553160" y="4343400"/>
            <a:ext cx="2590200" cy="6850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70" spc="-1" strike="noStrike">
                <a:solidFill>
                  <a:srgbClr val="7351c7"/>
                </a:solidFill>
                <a:latin typeface="Verdana"/>
                <a:ea typeface="Verdana"/>
              </a:rPr>
              <a:t>Weighted L1</a:t>
            </a:r>
            <a:endParaRPr b="0" lang="en-US" sz="1870" spc="-1" strike="noStrike">
              <a:solidFill>
                <a:srgbClr val="000000"/>
              </a:solidFill>
              <a:latin typeface="Arial"/>
            </a:endParaRPr>
          </a:p>
          <a:p>
            <a:pPr algn="ctr">
              <a:lnSpc>
                <a:spcPct val="100000"/>
              </a:lnSpc>
              <a:tabLst>
                <a:tab algn="l" pos="0"/>
              </a:tabLst>
            </a:pPr>
            <a:r>
              <a:rPr b="1" lang="en-US" sz="1870" spc="-1" strike="noStrike">
                <a:solidFill>
                  <a:srgbClr val="7351c7"/>
                </a:solidFill>
                <a:latin typeface="Verdana"/>
                <a:ea typeface="Verdana"/>
              </a:rPr>
              <a:t>box regression</a:t>
            </a:r>
            <a:endParaRPr b="0" lang="en-US" sz="1870" spc="-1" strike="noStrike">
              <a:solidFill>
                <a:srgbClr val="000000"/>
              </a:solidFill>
              <a:latin typeface="Arial"/>
            </a:endParaRPr>
          </a:p>
        </p:txBody>
      </p:sp>
      <p:sp>
        <p:nvSpPr>
          <p:cNvPr id="1349" name="Google Shape;1435;p16"/>
          <p:cNvSpPr/>
          <p:nvPr/>
        </p:nvSpPr>
        <p:spPr>
          <a:xfrm>
            <a:off x="6286680" y="3486240"/>
            <a:ext cx="1189800" cy="504000"/>
          </a:xfrm>
          <a:custGeom>
            <a:avLst/>
            <a:gdLst>
              <a:gd name="textAreaLeft" fmla="*/ 0 w 1189800"/>
              <a:gd name="textAreaRight" fmla="*/ 1190160 w 1189800"/>
              <a:gd name="textAreaTop" fmla="*/ 0 h 504000"/>
              <a:gd name="textAreaBottom" fmla="*/ 504360 h 504000"/>
            </a:gdLst>
            <a:ahLst/>
            <a:rect l="textAreaLeft" t="textAreaTop" r="textAreaRight" b="textAreaBottom"/>
            <a:pathLst>
              <a:path w="1190625" h="504825">
                <a:moveTo>
                  <a:pt x="0" y="504825"/>
                </a:moveTo>
                <a:lnTo>
                  <a:pt x="676275" y="504825"/>
                </a:lnTo>
                <a:lnTo>
                  <a:pt x="676275" y="0"/>
                </a:lnTo>
                <a:lnTo>
                  <a:pt x="1190625" y="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0" name="Google Shape;1436;p16"/>
          <p:cNvSpPr/>
          <p:nvPr/>
        </p:nvSpPr>
        <p:spPr>
          <a:xfrm>
            <a:off x="7381800" y="3442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1" name="Google Shape;1437;p16"/>
          <p:cNvSpPr/>
          <p:nvPr/>
        </p:nvSpPr>
        <p:spPr>
          <a:xfrm>
            <a:off x="6286680" y="3990960"/>
            <a:ext cx="1189800" cy="694440"/>
          </a:xfrm>
          <a:custGeom>
            <a:avLst/>
            <a:gdLst>
              <a:gd name="textAreaLeft" fmla="*/ 0 w 1189800"/>
              <a:gd name="textAreaRight" fmla="*/ 1190160 w 1189800"/>
              <a:gd name="textAreaTop" fmla="*/ 0 h 694440"/>
              <a:gd name="textAreaBottom" fmla="*/ 694800 h 694440"/>
            </a:gdLst>
            <a:ahLst/>
            <a:rect l="textAreaLeft" t="textAreaTop" r="textAreaRight" b="textAreaBottom"/>
            <a:pathLst>
              <a:path w="1190625" h="695325">
                <a:moveTo>
                  <a:pt x="0" y="0"/>
                </a:moveTo>
                <a:lnTo>
                  <a:pt x="676275" y="0"/>
                </a:lnTo>
                <a:lnTo>
                  <a:pt x="676275" y="695325"/>
                </a:lnTo>
                <a:lnTo>
                  <a:pt x="1190625" y="695325"/>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2" name="Google Shape;1438;p16"/>
          <p:cNvSpPr/>
          <p:nvPr/>
        </p:nvSpPr>
        <p:spPr>
          <a:xfrm>
            <a:off x="7381800" y="464256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3" name="Google Shape;1439;p16"/>
          <p:cNvSpPr/>
          <p:nvPr/>
        </p:nvSpPr>
        <p:spPr>
          <a:xfrm>
            <a:off x="10944360" y="3286080"/>
            <a:ext cx="437400" cy="437400"/>
          </a:xfrm>
          <a:prstGeom prst="ellipse">
            <a:avLst/>
          </a:prstGeom>
          <a:solidFill>
            <a:srgbClr val="ffffff"/>
          </a:solidFill>
          <a:ln w="19050">
            <a:solidFill>
              <a:srgbClr val="16253b"/>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4" name="Google Shape;1440;p16"/>
          <p:cNvSpPr/>
          <p:nvPr/>
        </p:nvSpPr>
        <p:spPr>
          <a:xfrm>
            <a:off x="10944360" y="3286080"/>
            <a:ext cx="437400" cy="4374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2020" spc="-1" strike="noStrike">
                <a:solidFill>
                  <a:srgbClr val="16253b"/>
                </a:solidFill>
                <a:latin typeface="Verdana"/>
                <a:ea typeface="Verdana"/>
              </a:rPr>
              <a:t>+</a:t>
            </a:r>
            <a:endParaRPr b="0" lang="en-US" sz="2020" spc="-1" strike="noStrike">
              <a:solidFill>
                <a:srgbClr val="000000"/>
              </a:solidFill>
              <a:latin typeface="Arial"/>
            </a:endParaRPr>
          </a:p>
        </p:txBody>
      </p:sp>
      <p:sp>
        <p:nvSpPr>
          <p:cNvPr id="1355" name="Google Shape;1441;p16"/>
          <p:cNvSpPr/>
          <p:nvPr/>
        </p:nvSpPr>
        <p:spPr>
          <a:xfrm>
            <a:off x="10220400" y="3486240"/>
            <a:ext cx="723240" cy="360"/>
          </a:xfrm>
          <a:custGeom>
            <a:avLst/>
            <a:gdLst>
              <a:gd name="textAreaLeft" fmla="*/ 0 w 723240"/>
              <a:gd name="textAreaRight" fmla="*/ 723600 w 723240"/>
              <a:gd name="textAreaTop" fmla="*/ 0 h 360"/>
              <a:gd name="textAreaBottom" fmla="*/ 720 h 360"/>
            </a:gdLst>
            <a:ahLst/>
            <a:rect l="textAreaLeft" t="textAreaTop" r="textAreaRight" b="textAreaBottom"/>
            <a:pathLst>
              <a:path w="723900" h="953">
                <a:moveTo>
                  <a:pt x="0" y="0"/>
                </a:moveTo>
                <a:lnTo>
                  <a:pt x="723900" y="0"/>
                </a:lnTo>
              </a:path>
            </a:pathLst>
          </a:custGeom>
          <a:noFill/>
          <a:ln w="22850">
            <a:solidFill>
              <a:srgbClr val="304c68"/>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56" name="Google Shape;1442;p16"/>
          <p:cNvSpPr/>
          <p:nvPr/>
        </p:nvSpPr>
        <p:spPr>
          <a:xfrm>
            <a:off x="10848960" y="344232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304c68"/>
          </a:solidFill>
          <a:ln w="9525">
            <a:solidFill>
              <a:srgbClr val="304c68"/>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357" name="Google Shape;1443;p16"/>
          <p:cNvSpPr/>
          <p:nvPr/>
        </p:nvSpPr>
        <p:spPr>
          <a:xfrm>
            <a:off x="10220400" y="3724200"/>
            <a:ext cx="942120" cy="961200"/>
          </a:xfrm>
          <a:custGeom>
            <a:avLst/>
            <a:gdLst>
              <a:gd name="textAreaLeft" fmla="*/ 0 w 942120"/>
              <a:gd name="textAreaRight" fmla="*/ 942480 w 942120"/>
              <a:gd name="textAreaTop" fmla="*/ 0 h 961200"/>
              <a:gd name="textAreaBottom" fmla="*/ 961560 h 961200"/>
            </a:gdLst>
            <a:ahLst/>
            <a:rect l="textAreaLeft" t="textAreaTop" r="textAreaRight" b="textAreaBottom"/>
            <a:pathLst>
              <a:path w="942975" h="962025">
                <a:moveTo>
                  <a:pt x="0" y="962025"/>
                </a:moveTo>
                <a:lnTo>
                  <a:pt x="942975" y="962025"/>
                </a:lnTo>
                <a:lnTo>
                  <a:pt x="942975" y="0"/>
                </a:lnTo>
              </a:path>
            </a:pathLst>
          </a:custGeom>
          <a:noFill/>
          <a:ln w="22850">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58" name="Google Shape;1444;p16"/>
          <p:cNvSpPr/>
          <p:nvPr/>
        </p:nvSpPr>
        <p:spPr>
          <a:xfrm>
            <a:off x="11119320" y="372420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0"/>
                </a:moveTo>
                <a:lnTo>
                  <a:pt x="0" y="95250"/>
                </a:lnTo>
                <a:lnTo>
                  <a:pt x="87630" y="95250"/>
                </a:lnTo>
                <a:close/>
              </a:path>
            </a:pathLst>
          </a:cu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59" name="Google Shape;1445;p16"/>
          <p:cNvSpPr/>
          <p:nvPr/>
        </p:nvSpPr>
        <p:spPr>
          <a:xfrm>
            <a:off x="6286680" y="2162160"/>
            <a:ext cx="4876200" cy="1123200"/>
          </a:xfrm>
          <a:custGeom>
            <a:avLst/>
            <a:gdLst>
              <a:gd name="textAreaLeft" fmla="*/ 0 w 4876200"/>
              <a:gd name="textAreaRight" fmla="*/ 4876560 w 4876200"/>
              <a:gd name="textAreaTop" fmla="*/ 0 h 1123200"/>
              <a:gd name="textAreaBottom" fmla="*/ 1123560 h 1123200"/>
            </a:gdLst>
            <a:ahLst/>
            <a:rect l="textAreaLeft" t="textAreaTop" r="textAreaRight" b="textAreaBottom"/>
            <a:pathLst>
              <a:path w="4876800" h="1123950">
                <a:moveTo>
                  <a:pt x="0" y="0"/>
                </a:moveTo>
                <a:lnTo>
                  <a:pt x="4876800" y="0"/>
                </a:lnTo>
                <a:lnTo>
                  <a:pt x="4876800" y="1123950"/>
                </a:lnTo>
              </a:path>
            </a:pathLst>
          </a:custGeom>
          <a:noFill/>
          <a:ln w="22850">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60" name="Google Shape;1446;p16"/>
          <p:cNvSpPr/>
          <p:nvPr/>
        </p:nvSpPr>
        <p:spPr>
          <a:xfrm>
            <a:off x="11119320" y="3191040"/>
            <a:ext cx="86760" cy="94680"/>
          </a:xfrm>
          <a:custGeom>
            <a:avLst/>
            <a:gdLst>
              <a:gd name="textAreaLeft" fmla="*/ 0 w 86760"/>
              <a:gd name="textAreaRight" fmla="*/ 87120 w 86760"/>
              <a:gd name="textAreaTop" fmla="*/ 0 h 94680"/>
              <a:gd name="textAreaBottom" fmla="*/ 95040 h 94680"/>
            </a:gdLst>
            <a:ahLst/>
            <a:rect l="textAreaLeft" t="textAreaTop" r="textAreaRight" b="textAreaBottom"/>
            <a:pathLst>
              <a:path w="87630" h="95250">
                <a:moveTo>
                  <a:pt x="43815" y="95250"/>
                </a:moveTo>
                <a:lnTo>
                  <a:pt x="87630" y="0"/>
                </a:lnTo>
                <a:lnTo>
                  <a:pt x="0" y="0"/>
                </a:lnTo>
                <a:close/>
              </a:path>
            </a:pathLst>
          </a:cu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61" name="Google Shape;1447;p16"/>
          <p:cNvSpPr/>
          <p:nvPr/>
        </p:nvSpPr>
        <p:spPr>
          <a:xfrm>
            <a:off x="10382400" y="4962600"/>
            <a:ext cx="1294560" cy="30420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7351c7"/>
                </a:solidFill>
                <a:latin typeface="Verdana"/>
                <a:ea typeface="Verdana"/>
              </a:rPr>
              <a:t>× 0.25</a:t>
            </a:r>
            <a:endParaRPr b="0" lang="en-US" sz="1870" spc="-1" strike="noStrike">
              <a:solidFill>
                <a:srgbClr val="000000"/>
              </a:solidFill>
              <a:latin typeface="Arial"/>
            </a:endParaRPr>
          </a:p>
        </p:txBody>
      </p:sp>
      <p:sp>
        <p:nvSpPr>
          <p:cNvPr id="1362" name="Google Shape;1448;p16"/>
          <p:cNvSpPr/>
          <p:nvPr/>
        </p:nvSpPr>
        <p:spPr>
          <a:xfrm>
            <a:off x="10458360" y="2705040"/>
            <a:ext cx="1285200" cy="3423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1870" spc="-1" strike="noStrike">
                <a:solidFill>
                  <a:srgbClr val="16253b"/>
                </a:solidFill>
                <a:latin typeface="Verdana"/>
                <a:ea typeface="Verdana"/>
              </a:rPr>
              <a:t>Total loss</a:t>
            </a:r>
            <a:endParaRPr b="0" lang="en-US" sz="1870" spc="-1" strike="noStrike">
              <a:solidFill>
                <a:srgbClr val="000000"/>
              </a:solidFill>
              <a:latin typeface="Arial"/>
            </a:endParaRPr>
          </a:p>
        </p:txBody>
      </p:sp>
      <p:sp>
        <p:nvSpPr>
          <p:cNvPr id="1363" name="Google Shape;1449;p16"/>
          <p:cNvSpPr/>
          <p:nvPr/>
        </p:nvSpPr>
        <p:spPr>
          <a:xfrm>
            <a:off x="533520" y="5610240"/>
            <a:ext cx="1112436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320" spc="-1" strike="noStrike">
                <a:solidFill>
                  <a:srgbClr val="7351c7"/>
                </a:solidFill>
                <a:latin typeface="Verdana"/>
                <a:ea typeface="Verdana"/>
              </a:rPr>
              <a:t>L = Lheatmap + Lclass + 0.25 Lbox</a:t>
            </a:r>
            <a:endParaRPr b="0" lang="en-US" sz="2320" spc="-1" strike="noStrike">
              <a:solidFill>
                <a:srgbClr val="000000"/>
              </a:solidFill>
              <a:latin typeface="Arial"/>
            </a:endParaRPr>
          </a:p>
        </p:txBody>
      </p:sp>
      <p:sp>
        <p:nvSpPr>
          <p:cNvPr id="1364" name="Google Shape;1450;p16"/>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65" name="Google Shape;1451;p16"/>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16253b"/>
                </a:solidFill>
                <a:latin typeface="Verdana"/>
                <a:ea typeface="Verdana"/>
              </a:rPr>
              <a:t>Matching cost: C = 0.15 Cclass + 0.25 CBEV − 0.25 IoU₃D</a:t>
            </a:r>
            <a:endParaRPr b="0" lang="en-US" sz="1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66" name="Google Shape;1457;p17"/>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Qualitative output in six camera views</a:t>
            </a:r>
            <a:endParaRPr b="0" lang="en-US" sz="3300" spc="-1" strike="noStrike">
              <a:solidFill>
                <a:srgbClr val="000000"/>
              </a:solidFill>
              <a:latin typeface="Arial"/>
            </a:endParaRPr>
          </a:p>
        </p:txBody>
      </p:sp>
      <p:sp>
        <p:nvSpPr>
          <p:cNvPr id="1367" name="Google Shape;1458;p17"/>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18</a:t>
            </a:r>
            <a:endParaRPr b="0" lang="en-US" sz="1200" spc="-1" strike="noStrike">
              <a:solidFill>
                <a:srgbClr val="000000"/>
              </a:solidFill>
              <a:latin typeface="Arial"/>
            </a:endParaRPr>
          </a:p>
        </p:txBody>
      </p:sp>
      <p:sp>
        <p:nvSpPr>
          <p:cNvPr id="1368" name="Google Shape;1459;p17"/>
          <p:cNvSpPr/>
          <p:nvPr/>
        </p:nvSpPr>
        <p:spPr>
          <a:xfrm>
            <a:off x="533520" y="601992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69" name="Google Shape;1460;p17"/>
          <p:cNvSpPr/>
          <p:nvPr/>
        </p:nvSpPr>
        <p:spPr>
          <a:xfrm>
            <a:off x="533520" y="6181560"/>
            <a:ext cx="1033380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16253b"/>
                </a:solidFill>
                <a:latin typeface="Verdana"/>
                <a:ea typeface="Verdana"/>
              </a:rPr>
              <a:t>Inspect box centers, extents and orientation across overlapping views.</a:t>
            </a:r>
            <a:endParaRPr b="0" lang="en-US" sz="1729" spc="-1" strike="noStrike">
              <a:solidFill>
                <a:srgbClr val="000000"/>
              </a:solidFill>
              <a:latin typeface="Arial"/>
            </a:endParaRPr>
          </a:p>
        </p:txBody>
      </p:sp>
      <p:pic>
        <p:nvPicPr>
          <p:cNvPr id="1370" name="Google Shape;1461;p17" descr="">
            <a:hlinkClick r:id="rId1"/>
          </p:cNvPr>
          <p:cNvPicPr/>
          <p:nvPr/>
        </p:nvPicPr>
        <p:blipFill>
          <a:blip r:embed="rId2"/>
          <a:stretch/>
        </p:blipFill>
        <p:spPr>
          <a:xfrm>
            <a:off x="152280" y="1389960"/>
            <a:ext cx="11886840" cy="445752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1370"/>
                                        </p:tgtEl>
                                        <p:attrNameLst>
                                          <p:attrName>style.visibility</p:attrName>
                                        </p:attrNameLst>
                                      </p:cBhvr>
                                      <p:to>
                                        <p:strVal val="visible"/>
                                      </p:to>
                                    </p:set>
                                    <p:animEffect filter="fade" transition="in">
                                      <p:cBhvr additive="repl">
                                        <p:cTn id="7" dur="1000"/>
                                        <p:tgtEl>
                                          <p:spTgt spid="1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71" name="Google Shape;1467;p22"/>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Bilinear sampling and BEV coordinates</a:t>
            </a:r>
            <a:endParaRPr b="0" lang="en-US" sz="3300" spc="-1" strike="noStrike">
              <a:solidFill>
                <a:srgbClr val="000000"/>
              </a:solidFill>
              <a:latin typeface="Arial"/>
            </a:endParaRPr>
          </a:p>
        </p:txBody>
      </p:sp>
      <p:sp>
        <p:nvSpPr>
          <p:cNvPr id="1372" name="Google Shape;1468;p22"/>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23</a:t>
            </a:r>
            <a:endParaRPr b="0" lang="en-US" sz="1200" spc="-1" strike="noStrike">
              <a:solidFill>
                <a:srgbClr val="000000"/>
              </a:solidFill>
              <a:latin typeface="Arial"/>
            </a:endParaRPr>
          </a:p>
        </p:txBody>
      </p:sp>
      <p:sp>
        <p:nvSpPr>
          <p:cNvPr id="1373" name="Google Shape;1469;p22"/>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374" name="Google Shape;1470;p22"/>
          <p:cNvSpPr/>
          <p:nvPr/>
        </p:nvSpPr>
        <p:spPr>
          <a:xfrm>
            <a:off x="533520" y="1380960"/>
            <a:ext cx="4552200" cy="342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One sub-cell lookup</a:t>
            </a:r>
            <a:endParaRPr b="0" lang="en-US" sz="2170" spc="-1" strike="noStrike">
              <a:solidFill>
                <a:srgbClr val="000000"/>
              </a:solidFill>
              <a:latin typeface="Arial"/>
            </a:endParaRPr>
          </a:p>
        </p:txBody>
      </p:sp>
      <p:sp>
        <p:nvSpPr>
          <p:cNvPr id="1375" name="Google Shape;1471;p22"/>
          <p:cNvSpPr/>
          <p:nvPr/>
        </p:nvSpPr>
        <p:spPr>
          <a:xfrm>
            <a:off x="895320" y="2305080"/>
            <a:ext cx="2856960" cy="2475720"/>
          </a:xfrm>
          <a:prstGeom prst="rect">
            <a:avLst/>
          </a:prstGeom>
          <a:solidFill>
            <a:srgbClr val="ffffff"/>
          </a:solidFill>
          <a:ln w="114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76" name="Google Shape;1472;p22"/>
          <p:cNvSpPr/>
          <p:nvPr/>
        </p:nvSpPr>
        <p:spPr>
          <a:xfrm>
            <a:off x="819000" y="2228760"/>
            <a:ext cx="151560" cy="15156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77" name="Google Shape;1473;p22"/>
          <p:cNvSpPr/>
          <p:nvPr/>
        </p:nvSpPr>
        <p:spPr>
          <a:xfrm>
            <a:off x="647640" y="1809720"/>
            <a:ext cx="494640" cy="3423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2</a:t>
            </a:r>
            <a:endParaRPr b="0" lang="en-US" sz="2020" spc="-1" strike="noStrike">
              <a:solidFill>
                <a:srgbClr val="000000"/>
              </a:solidFill>
              <a:latin typeface="Arial"/>
            </a:endParaRPr>
          </a:p>
        </p:txBody>
      </p:sp>
      <p:sp>
        <p:nvSpPr>
          <p:cNvPr id="1378" name="Google Shape;1474;p22"/>
          <p:cNvSpPr/>
          <p:nvPr/>
        </p:nvSpPr>
        <p:spPr>
          <a:xfrm>
            <a:off x="3676680" y="2228760"/>
            <a:ext cx="151560" cy="15156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79" name="Google Shape;1475;p22"/>
          <p:cNvSpPr/>
          <p:nvPr/>
        </p:nvSpPr>
        <p:spPr>
          <a:xfrm>
            <a:off x="3505320" y="1809720"/>
            <a:ext cx="494640" cy="3423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4</a:t>
            </a:r>
            <a:endParaRPr b="0" lang="en-US" sz="2020" spc="-1" strike="noStrike">
              <a:solidFill>
                <a:srgbClr val="000000"/>
              </a:solidFill>
              <a:latin typeface="Arial"/>
            </a:endParaRPr>
          </a:p>
        </p:txBody>
      </p:sp>
      <p:sp>
        <p:nvSpPr>
          <p:cNvPr id="1380" name="Google Shape;1476;p22"/>
          <p:cNvSpPr/>
          <p:nvPr/>
        </p:nvSpPr>
        <p:spPr>
          <a:xfrm>
            <a:off x="819000" y="4705200"/>
            <a:ext cx="151560" cy="15156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1" name="Google Shape;1477;p22"/>
          <p:cNvSpPr/>
          <p:nvPr/>
        </p:nvSpPr>
        <p:spPr>
          <a:xfrm>
            <a:off x="647640" y="4286160"/>
            <a:ext cx="494640" cy="3423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6</a:t>
            </a:r>
            <a:endParaRPr b="0" lang="en-US" sz="2020" spc="-1" strike="noStrike">
              <a:solidFill>
                <a:srgbClr val="000000"/>
              </a:solidFill>
              <a:latin typeface="Arial"/>
            </a:endParaRPr>
          </a:p>
        </p:txBody>
      </p:sp>
      <p:sp>
        <p:nvSpPr>
          <p:cNvPr id="1382" name="Google Shape;1478;p22"/>
          <p:cNvSpPr/>
          <p:nvPr/>
        </p:nvSpPr>
        <p:spPr>
          <a:xfrm>
            <a:off x="3676680" y="4705200"/>
            <a:ext cx="151560" cy="151560"/>
          </a:xfrm>
          <a:prstGeom prst="ellipse">
            <a:avLst/>
          </a:prstGeom>
          <a:solidFill>
            <a:srgbClr val="304c68"/>
          </a:solidFill>
          <a:ln w="952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3" name="Google Shape;1479;p22"/>
          <p:cNvSpPr/>
          <p:nvPr/>
        </p:nvSpPr>
        <p:spPr>
          <a:xfrm>
            <a:off x="3505320" y="4286160"/>
            <a:ext cx="494640" cy="3423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020" spc="-1" strike="noStrike">
                <a:solidFill>
                  <a:srgbClr val="304c68"/>
                </a:solidFill>
                <a:latin typeface="Verdana"/>
                <a:ea typeface="Verdana"/>
              </a:rPr>
              <a:t>8</a:t>
            </a:r>
            <a:endParaRPr b="0" lang="en-US" sz="2020" spc="-1" strike="noStrike">
              <a:solidFill>
                <a:srgbClr val="000000"/>
              </a:solidFill>
              <a:latin typeface="Arial"/>
            </a:endParaRPr>
          </a:p>
        </p:txBody>
      </p:sp>
      <p:sp>
        <p:nvSpPr>
          <p:cNvPr id="1384" name="Google Shape;1480;p22"/>
          <p:cNvSpPr/>
          <p:nvPr/>
        </p:nvSpPr>
        <p:spPr>
          <a:xfrm>
            <a:off x="1609560" y="2305080"/>
            <a:ext cx="360" cy="2475720"/>
          </a:xfrm>
          <a:custGeom>
            <a:avLst/>
            <a:gdLst>
              <a:gd name="textAreaLeft" fmla="*/ 0 w 360"/>
              <a:gd name="textAreaRight" fmla="*/ 720 w 360"/>
              <a:gd name="textAreaTop" fmla="*/ 0 h 2475720"/>
              <a:gd name="textAreaBottom" fmla="*/ 2476080 h 2475720"/>
            </a:gdLst>
            <a:ahLst/>
            <a:rect l="textAreaLeft" t="textAreaTop" r="textAreaRight" b="textAreaBottom"/>
            <a:pathLst>
              <a:path w="953" h="2476500">
                <a:moveTo>
                  <a:pt x="0" y="0"/>
                </a:moveTo>
                <a:lnTo>
                  <a:pt x="0" y="2476500"/>
                </a:lnTo>
              </a:path>
            </a:pathLst>
          </a:custGeom>
          <a:noFill/>
          <a:ln w="14275">
            <a:solidFill>
              <a:srgbClr val="7351c7"/>
            </a:solidFill>
            <a:prstDash val="dash"/>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85" name="Google Shape;1481;p22"/>
          <p:cNvSpPr/>
          <p:nvPr/>
        </p:nvSpPr>
        <p:spPr>
          <a:xfrm>
            <a:off x="895320" y="4162320"/>
            <a:ext cx="2856960" cy="360"/>
          </a:xfrm>
          <a:custGeom>
            <a:avLst/>
            <a:gdLst>
              <a:gd name="textAreaLeft" fmla="*/ 0 w 2856960"/>
              <a:gd name="textAreaRight" fmla="*/ 2857320 w 2856960"/>
              <a:gd name="textAreaTop" fmla="*/ 0 h 360"/>
              <a:gd name="textAreaBottom" fmla="*/ 720 h 360"/>
            </a:gdLst>
            <a:ahLst/>
            <a:rect l="textAreaLeft" t="textAreaTop" r="textAreaRight" b="textAreaBottom"/>
            <a:pathLst>
              <a:path w="2857500" h="953">
                <a:moveTo>
                  <a:pt x="0" y="0"/>
                </a:moveTo>
                <a:lnTo>
                  <a:pt x="2857500" y="0"/>
                </a:lnTo>
              </a:path>
            </a:pathLst>
          </a:custGeom>
          <a:noFill/>
          <a:ln w="14275">
            <a:solidFill>
              <a:srgbClr val="7351c7"/>
            </a:solidFill>
            <a:prstDash val="dash"/>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386" name="Google Shape;1482;p22"/>
          <p:cNvSpPr/>
          <p:nvPr/>
        </p:nvSpPr>
        <p:spPr>
          <a:xfrm>
            <a:off x="1533600" y="4086360"/>
            <a:ext cx="151560" cy="151560"/>
          </a:xfrm>
          <a:prstGeom prst="ellipse">
            <a:avLst/>
          </a:prstGeom>
          <a:solidFill>
            <a:srgbClr val="7351c7"/>
          </a:solidFill>
          <a:ln w="952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387" name="Google Shape;1483;p22"/>
          <p:cNvSpPr/>
          <p:nvPr/>
        </p:nvSpPr>
        <p:spPr>
          <a:xfrm>
            <a:off x="533520" y="5219640"/>
            <a:ext cx="427608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950" spc="-1" strike="noStrike">
                <a:solidFill>
                  <a:srgbClr val="7351c7"/>
                </a:solidFill>
                <a:latin typeface="Verdana"/>
                <a:ea typeface="Verdana"/>
              </a:rPr>
              <a:t>Sample at (0.25, 0.75)</a:t>
            </a:r>
            <a:endParaRPr b="0" lang="en-US" sz="1950" spc="-1" strike="noStrike">
              <a:solidFill>
                <a:srgbClr val="000000"/>
              </a:solidFill>
              <a:latin typeface="Arial"/>
            </a:endParaRPr>
          </a:p>
        </p:txBody>
      </p:sp>
      <p:sp>
        <p:nvSpPr>
          <p:cNvPr id="1388" name="Google Shape;1484;p22"/>
          <p:cNvSpPr/>
          <p:nvPr/>
        </p:nvSpPr>
        <p:spPr>
          <a:xfrm>
            <a:off x="533520" y="5619600"/>
            <a:ext cx="4666680" cy="618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650" spc="-1" strike="noStrike">
                <a:solidFill>
                  <a:srgbClr val="7351c7"/>
                </a:solidFill>
                <a:latin typeface="Verdana"/>
                <a:ea typeface="Verdana"/>
              </a:rPr>
              <a:t>B̃ = 0.1875·2 + 0.0625·4</a:t>
            </a:r>
            <a:endParaRPr b="0" lang="en-US" sz="1650" spc="-1" strike="noStrike">
              <a:solidFill>
                <a:srgbClr val="000000"/>
              </a:solidFill>
              <a:latin typeface="Arial"/>
            </a:endParaRPr>
          </a:p>
          <a:p>
            <a:pPr>
              <a:lnSpc>
                <a:spcPct val="100000"/>
              </a:lnSpc>
              <a:tabLst>
                <a:tab algn="l" pos="0"/>
              </a:tabLst>
            </a:pPr>
            <a:r>
              <a:rPr b="1" lang="en-US" sz="1650" spc="-1" strike="noStrike">
                <a:solidFill>
                  <a:srgbClr val="7351c7"/>
                </a:solidFill>
                <a:latin typeface="Verdana"/>
                <a:ea typeface="Verdana"/>
              </a:rPr>
              <a:t>    </a:t>
            </a:r>
            <a:r>
              <a:rPr b="1" lang="en-US" sz="1650" spc="-1" strike="noStrike">
                <a:solidFill>
                  <a:srgbClr val="7351c7"/>
                </a:solidFill>
                <a:latin typeface="Verdana"/>
                <a:ea typeface="Verdana"/>
              </a:rPr>
              <a:t>+ 0.5625·6 + 0.1875·8 = 5.5</a:t>
            </a:r>
            <a:endParaRPr b="0" lang="en-US" sz="1650" spc="-1" strike="noStrike">
              <a:solidFill>
                <a:srgbClr val="000000"/>
              </a:solidFill>
              <a:latin typeface="Arial"/>
            </a:endParaRPr>
          </a:p>
        </p:txBody>
      </p:sp>
      <p:sp>
        <p:nvSpPr>
          <p:cNvPr id="1389" name="Google Shape;1485;p22"/>
          <p:cNvSpPr/>
          <p:nvPr/>
        </p:nvSpPr>
        <p:spPr>
          <a:xfrm>
            <a:off x="5457960" y="1380960"/>
            <a:ext cx="6171480" cy="370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16253b"/>
                </a:solidFill>
                <a:latin typeface="Verdana"/>
                <a:ea typeface="Verdana"/>
              </a:rPr>
              <a:t>Normalized grid coordinates</a:t>
            </a:r>
            <a:endParaRPr b="0" lang="en-US" sz="2170" spc="-1" strike="noStrike">
              <a:solidFill>
                <a:srgbClr val="000000"/>
              </a:solidFill>
              <a:latin typeface="Arial"/>
            </a:endParaRPr>
          </a:p>
        </p:txBody>
      </p:sp>
      <p:sp>
        <p:nvSpPr>
          <p:cNvPr id="1390" name="Google Shape;1486;p22"/>
          <p:cNvSpPr/>
          <p:nvPr/>
        </p:nvSpPr>
        <p:spPr>
          <a:xfrm>
            <a:off x="5457960" y="2181240"/>
            <a:ext cx="6171480" cy="9709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70" spc="-1" strike="noStrike">
                <a:solidFill>
                  <a:srgbClr val="7351c7"/>
                </a:solidFill>
                <a:latin typeface="Verdana"/>
                <a:ea typeface="Verdana"/>
              </a:rPr>
              <a:t>gₓ = 2(cₓ + δₓ)/(W − 1) − 1</a:t>
            </a:r>
            <a:endParaRPr b="0" lang="en-US" sz="2170" spc="-1" strike="noStrike">
              <a:solidFill>
                <a:srgbClr val="000000"/>
              </a:solidFill>
              <a:latin typeface="Arial"/>
            </a:endParaRPr>
          </a:p>
          <a:p>
            <a:pPr>
              <a:lnSpc>
                <a:spcPct val="100000"/>
              </a:lnSpc>
              <a:tabLst>
                <a:tab algn="l" pos="0"/>
              </a:tabLst>
            </a:pPr>
            <a:r>
              <a:rPr b="0" lang="en-US" sz="2170" spc="-1" strike="noStrike">
                <a:solidFill>
                  <a:srgbClr val="7351c7"/>
                </a:solidFill>
                <a:latin typeface="Verdana"/>
                <a:ea typeface="Verdana"/>
              </a:rPr>
              <a:t>gᵧ = 2(cᵧ + δᵧ)/(H − 1) − 1</a:t>
            </a:r>
            <a:endParaRPr b="0" lang="en-US" sz="2170" spc="-1" strike="noStrike">
              <a:solidFill>
                <a:srgbClr val="000000"/>
              </a:solidFill>
              <a:latin typeface="Arial"/>
            </a:endParaRPr>
          </a:p>
        </p:txBody>
      </p:sp>
      <p:sp>
        <p:nvSpPr>
          <p:cNvPr id="1391" name="Google Shape;1487;p22"/>
          <p:cNvSpPr/>
          <p:nvPr/>
        </p:nvSpPr>
        <p:spPr>
          <a:xfrm>
            <a:off x="5457960" y="3533760"/>
            <a:ext cx="6171480" cy="1218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100" spc="-1" strike="noStrike">
                <a:solidFill>
                  <a:srgbClr val="16253b"/>
                </a:solidFill>
                <a:latin typeface="Verdana"/>
                <a:ea typeface="Verdana"/>
              </a:rPr>
              <a:t>align_corners = True</a:t>
            </a:r>
            <a:endParaRPr b="0" lang="en-US" sz="2100" spc="-1" strike="noStrike">
              <a:solidFill>
                <a:srgbClr val="000000"/>
              </a:solidFill>
              <a:latin typeface="Arial"/>
            </a:endParaRPr>
          </a:p>
          <a:p>
            <a:pPr>
              <a:lnSpc>
                <a:spcPct val="100000"/>
              </a:lnSpc>
              <a:tabLst>
                <a:tab algn="l" pos="0"/>
              </a:tabLst>
            </a:pPr>
            <a:r>
              <a:rPr b="0" lang="en-US" sz="2100" spc="-1" strike="noStrike">
                <a:solidFill>
                  <a:srgbClr val="16253b"/>
                </a:solidFill>
                <a:latin typeface="Verdana"/>
                <a:ea typeface="Verdana"/>
              </a:rPr>
              <a:t>Bilinear interpolation</a:t>
            </a:r>
            <a:endParaRPr b="0" lang="en-US" sz="2100" spc="-1" strike="noStrike">
              <a:solidFill>
                <a:srgbClr val="000000"/>
              </a:solidFill>
              <a:latin typeface="Arial"/>
            </a:endParaRPr>
          </a:p>
          <a:p>
            <a:pPr>
              <a:lnSpc>
                <a:spcPct val="100000"/>
              </a:lnSpc>
              <a:tabLst>
                <a:tab algn="l" pos="0"/>
              </a:tabLst>
            </a:pPr>
            <a:r>
              <a:rPr b="0" lang="en-US" sz="2100" spc="-1" strike="noStrike">
                <a:solidFill>
                  <a:srgbClr val="16253b"/>
                </a:solidFill>
                <a:latin typeface="Verdana"/>
                <a:ea typeface="Verdana"/>
              </a:rPr>
              <a:t>Zero padding outside BEV</a:t>
            </a:r>
            <a:endParaRPr b="0" lang="en-US" sz="2100" spc="-1" strike="noStrike">
              <a:solidFill>
                <a:srgbClr val="000000"/>
              </a:solidFill>
              <a:latin typeface="Arial"/>
            </a:endParaRPr>
          </a:p>
        </p:txBody>
      </p:sp>
      <p:sp>
        <p:nvSpPr>
          <p:cNvPr id="1392" name="Google Shape;1488;p22"/>
          <p:cNvSpPr/>
          <p:nvPr/>
        </p:nvSpPr>
        <p:spPr>
          <a:xfrm>
            <a:off x="5457960" y="5210280"/>
            <a:ext cx="6171480" cy="7326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Gradients reach sampled features</a:t>
            </a:r>
            <a:endParaRPr b="0" lang="en-US" sz="2100" spc="-1" strike="noStrike">
              <a:solidFill>
                <a:srgbClr val="000000"/>
              </a:solidFill>
              <a:latin typeface="Arial"/>
            </a:endParaRPr>
          </a:p>
          <a:p>
            <a:pPr>
              <a:lnSpc>
                <a:spcPct val="100000"/>
              </a:lnSpc>
              <a:tabLst>
                <a:tab algn="l" pos="0"/>
              </a:tabLst>
            </a:pPr>
            <a:r>
              <a:rPr b="1" lang="en-US" sz="2100" spc="-1" strike="noStrike">
                <a:solidFill>
                  <a:srgbClr val="7351c7"/>
                </a:solidFill>
                <a:latin typeface="Verdana"/>
                <a:ea typeface="Verdana"/>
              </a:rPr>
              <a:t>and the coarse center</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393" name="Google Shape;1494;p23"/>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Bilinear sampling keeps center gradients</a:t>
            </a:r>
            <a:endParaRPr b="0" lang="en-US" sz="3300" spc="-1" strike="noStrike">
              <a:solidFill>
                <a:srgbClr val="000000"/>
              </a:solidFill>
              <a:latin typeface="Arial"/>
            </a:endParaRPr>
          </a:p>
        </p:txBody>
      </p:sp>
      <p:sp>
        <p:nvSpPr>
          <p:cNvPr id="1394" name="Google Shape;1495;p23"/>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24</a:t>
            </a:r>
            <a:endParaRPr b="0" lang="en-US" sz="1200" spc="-1" strike="noStrike">
              <a:solidFill>
                <a:srgbClr val="000000"/>
              </a:solidFill>
              <a:latin typeface="Arial"/>
            </a:endParaRPr>
          </a:p>
        </p:txBody>
      </p:sp>
      <p:sp>
        <p:nvSpPr>
          <p:cNvPr id="1395" name="Google Shape;1496;p23"/>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396" name="Google Shape;1497;p23"/>
          <p:cNvSpPr/>
          <p:nvPr/>
        </p:nvSpPr>
        <p:spPr>
          <a:xfrm>
            <a:off x="533520" y="1380960"/>
            <a:ext cx="485712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Four neighboring cells</a:t>
            </a:r>
            <a:endParaRPr b="0" lang="en-US" sz="2100" spc="-1" strike="noStrike">
              <a:solidFill>
                <a:srgbClr val="000000"/>
              </a:solidFill>
              <a:latin typeface="Arial"/>
            </a:endParaRPr>
          </a:p>
        </p:txBody>
      </p:sp>
      <p:sp>
        <p:nvSpPr>
          <p:cNvPr id="1397" name="Google Shape;1498;p23"/>
          <p:cNvSpPr/>
          <p:nvPr/>
        </p:nvSpPr>
        <p:spPr>
          <a:xfrm>
            <a:off x="800280" y="2104920"/>
            <a:ext cx="3428280" cy="2342520"/>
          </a:xfrm>
          <a:prstGeom prst="rect">
            <a:avLst/>
          </a:prstGeom>
          <a:solidFill>
            <a:srgbClr val="ffffff"/>
          </a:solid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398" name="Google Shape;1499;p23"/>
          <p:cNvSpPr/>
          <p:nvPr/>
        </p:nvSpPr>
        <p:spPr>
          <a:xfrm>
            <a:off x="743040" y="2048040"/>
            <a:ext cx="113760" cy="11376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399" name="Google Shape;1500;p23"/>
          <p:cNvSpPr/>
          <p:nvPr/>
        </p:nvSpPr>
        <p:spPr>
          <a:xfrm>
            <a:off x="514440" y="1733400"/>
            <a:ext cx="951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F₀₀</a:t>
            </a:r>
            <a:endParaRPr b="0" lang="en-US" sz="1870" spc="-1" strike="noStrike">
              <a:solidFill>
                <a:srgbClr val="000000"/>
              </a:solidFill>
              <a:latin typeface="Arial"/>
            </a:endParaRPr>
          </a:p>
        </p:txBody>
      </p:sp>
      <p:sp>
        <p:nvSpPr>
          <p:cNvPr id="1400" name="Google Shape;1501;p23"/>
          <p:cNvSpPr/>
          <p:nvPr/>
        </p:nvSpPr>
        <p:spPr>
          <a:xfrm>
            <a:off x="4172040" y="2048040"/>
            <a:ext cx="113760" cy="11376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1" name="Google Shape;1502;p23"/>
          <p:cNvSpPr/>
          <p:nvPr/>
        </p:nvSpPr>
        <p:spPr>
          <a:xfrm>
            <a:off x="3943440" y="1733400"/>
            <a:ext cx="951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F₁₀</a:t>
            </a:r>
            <a:endParaRPr b="0" lang="en-US" sz="1870" spc="-1" strike="noStrike">
              <a:solidFill>
                <a:srgbClr val="000000"/>
              </a:solidFill>
              <a:latin typeface="Arial"/>
            </a:endParaRPr>
          </a:p>
        </p:txBody>
      </p:sp>
      <p:sp>
        <p:nvSpPr>
          <p:cNvPr id="1402" name="Google Shape;1503;p23"/>
          <p:cNvSpPr/>
          <p:nvPr/>
        </p:nvSpPr>
        <p:spPr>
          <a:xfrm>
            <a:off x="743040" y="4390920"/>
            <a:ext cx="113760" cy="11376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3" name="Google Shape;1504;p23"/>
          <p:cNvSpPr/>
          <p:nvPr/>
        </p:nvSpPr>
        <p:spPr>
          <a:xfrm>
            <a:off x="514440" y="4591080"/>
            <a:ext cx="951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F₀₁</a:t>
            </a:r>
            <a:endParaRPr b="0" lang="en-US" sz="1870" spc="-1" strike="noStrike">
              <a:solidFill>
                <a:srgbClr val="000000"/>
              </a:solidFill>
              <a:latin typeface="Arial"/>
            </a:endParaRPr>
          </a:p>
        </p:txBody>
      </p:sp>
      <p:sp>
        <p:nvSpPr>
          <p:cNvPr id="1404" name="Google Shape;1505;p23"/>
          <p:cNvSpPr/>
          <p:nvPr/>
        </p:nvSpPr>
        <p:spPr>
          <a:xfrm>
            <a:off x="4172040" y="4390920"/>
            <a:ext cx="113760" cy="113760"/>
          </a:xfrm>
          <a:prstGeom prst="ellipse">
            <a:avLst/>
          </a:prstGeom>
          <a:solidFill>
            <a:srgbClr val="304c68"/>
          </a:solidFill>
          <a:ln w="0">
            <a:noFill/>
          </a:ln>
        </p:spPr>
        <p:style>
          <a:lnRef idx="0"/>
          <a:fillRef idx="0"/>
          <a:effectRef idx="0"/>
          <a:fontRef idx="minor"/>
        </p:style>
        <p:txBody>
          <a:bodyPr lIns="90000" rIns="90000" tIns="36000" bIns="36000" anchor="t">
            <a:noAutofit/>
          </a:bodyPr>
          <a:p>
            <a:pPr>
              <a:lnSpc>
                <a:spcPct val="100000"/>
              </a:lnSpc>
              <a:tabLst>
                <a:tab algn="l" pos="0"/>
              </a:tabLst>
            </a:pPr>
            <a:endParaRPr b="0" lang="en-US" sz="1400" spc="-1" strike="noStrike">
              <a:solidFill>
                <a:srgbClr val="ffffff"/>
              </a:solidFill>
              <a:latin typeface="Arial"/>
            </a:endParaRPr>
          </a:p>
        </p:txBody>
      </p:sp>
      <p:sp>
        <p:nvSpPr>
          <p:cNvPr id="1405" name="Google Shape;1506;p23"/>
          <p:cNvSpPr/>
          <p:nvPr/>
        </p:nvSpPr>
        <p:spPr>
          <a:xfrm>
            <a:off x="3943440" y="4591080"/>
            <a:ext cx="951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F₁₁</a:t>
            </a:r>
            <a:endParaRPr b="0" lang="en-US" sz="1870" spc="-1" strike="noStrike">
              <a:solidFill>
                <a:srgbClr val="000000"/>
              </a:solidFill>
              <a:latin typeface="Arial"/>
            </a:endParaRPr>
          </a:p>
        </p:txBody>
      </p:sp>
      <p:sp>
        <p:nvSpPr>
          <p:cNvPr id="1406" name="Google Shape;1507;p23"/>
          <p:cNvSpPr/>
          <p:nvPr/>
        </p:nvSpPr>
        <p:spPr>
          <a:xfrm>
            <a:off x="1781280" y="3514680"/>
            <a:ext cx="151560" cy="151560"/>
          </a:xfrm>
          <a:prstGeom prst="ellipse">
            <a:avLst/>
          </a:prstGeom>
          <a:solidFill>
            <a:srgbClr val="7351c7"/>
          </a:solidFill>
          <a:ln w="0">
            <a:noFill/>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ffffff"/>
              </a:solidFill>
              <a:latin typeface="Arial"/>
            </a:endParaRPr>
          </a:p>
        </p:txBody>
      </p:sp>
      <p:sp>
        <p:nvSpPr>
          <p:cNvPr id="1407" name="Google Shape;1508;p23"/>
          <p:cNvSpPr/>
          <p:nvPr/>
        </p:nvSpPr>
        <p:spPr>
          <a:xfrm>
            <a:off x="1857240" y="2104920"/>
            <a:ext cx="360" cy="2342520"/>
          </a:xfrm>
          <a:custGeom>
            <a:avLst/>
            <a:gdLst>
              <a:gd name="textAreaLeft" fmla="*/ 0 w 360"/>
              <a:gd name="textAreaRight" fmla="*/ 720 w 360"/>
              <a:gd name="textAreaTop" fmla="*/ 0 h 2342520"/>
              <a:gd name="textAreaBottom" fmla="*/ 2342880 h 2342520"/>
            </a:gdLst>
            <a:ahLst/>
            <a:rect l="textAreaLeft" t="textAreaTop" r="textAreaRight" b="textAreaBottom"/>
            <a:pathLst>
              <a:path w="953" h="2343150">
                <a:moveTo>
                  <a:pt x="0" y="0"/>
                </a:moveTo>
                <a:lnTo>
                  <a:pt x="0" y="2343150"/>
                </a:lnTo>
              </a:path>
            </a:pathLst>
          </a:custGeom>
          <a:noFill/>
          <a:ln w="123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08" name="Google Shape;1509;p23"/>
          <p:cNvSpPr/>
          <p:nvPr/>
        </p:nvSpPr>
        <p:spPr>
          <a:xfrm>
            <a:off x="800280" y="3591000"/>
            <a:ext cx="3428280" cy="360"/>
          </a:xfrm>
          <a:custGeom>
            <a:avLst/>
            <a:gdLst>
              <a:gd name="textAreaLeft" fmla="*/ 0 w 3428280"/>
              <a:gd name="textAreaRight" fmla="*/ 3428640 w 3428280"/>
              <a:gd name="textAreaTop" fmla="*/ 0 h 360"/>
              <a:gd name="textAreaBottom" fmla="*/ 720 h 360"/>
            </a:gdLst>
            <a:ahLst/>
            <a:rect l="textAreaLeft" t="textAreaTop" r="textAreaRight" b="textAreaBottom"/>
            <a:pathLst>
              <a:path w="3429000" h="953">
                <a:moveTo>
                  <a:pt x="0" y="0"/>
                </a:moveTo>
                <a:lnTo>
                  <a:pt x="3429000" y="0"/>
                </a:lnTo>
              </a:path>
            </a:pathLst>
          </a:custGeom>
          <a:noFill/>
          <a:ln w="12375">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09" name="Google Shape;1510;p23"/>
          <p:cNvSpPr/>
          <p:nvPr/>
        </p:nvSpPr>
        <p:spPr>
          <a:xfrm>
            <a:off x="533520" y="5095800"/>
            <a:ext cx="495216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7351c7"/>
                </a:solidFill>
                <a:latin typeface="Verdana"/>
                <a:ea typeface="Verdana"/>
              </a:rPr>
              <a:t>x = x₀ + a,   y = y₀ + b</a:t>
            </a:r>
            <a:endParaRPr b="0" lang="en-US" sz="2020" spc="-1" strike="noStrike">
              <a:solidFill>
                <a:srgbClr val="000000"/>
              </a:solidFill>
              <a:latin typeface="Arial"/>
            </a:endParaRPr>
          </a:p>
        </p:txBody>
      </p:sp>
      <p:sp>
        <p:nvSpPr>
          <p:cNvPr id="1410" name="Google Shape;1511;p23"/>
          <p:cNvSpPr/>
          <p:nvPr/>
        </p:nvSpPr>
        <p:spPr>
          <a:xfrm>
            <a:off x="533520" y="5572080"/>
            <a:ext cx="495216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0 ≤ a,b &lt; 1</a:t>
            </a:r>
            <a:endParaRPr b="0" lang="en-US" sz="1729" spc="-1" strike="noStrike">
              <a:solidFill>
                <a:srgbClr val="000000"/>
              </a:solidFill>
              <a:latin typeface="Arial"/>
            </a:endParaRPr>
          </a:p>
        </p:txBody>
      </p:sp>
      <p:sp>
        <p:nvSpPr>
          <p:cNvPr id="1411" name="Google Shape;1512;p23"/>
          <p:cNvSpPr/>
          <p:nvPr/>
        </p:nvSpPr>
        <p:spPr>
          <a:xfrm>
            <a:off x="5295960" y="1876320"/>
            <a:ext cx="63619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B̃(x,y) = (1−a)(1−b)F₀₀ + a(1−b)F₁₀</a:t>
            </a:r>
            <a:endParaRPr b="0" lang="en-US" sz="1870" spc="-1" strike="noStrike">
              <a:solidFill>
                <a:srgbClr val="000000"/>
              </a:solidFill>
              <a:latin typeface="Arial"/>
            </a:endParaRPr>
          </a:p>
        </p:txBody>
      </p:sp>
      <p:sp>
        <p:nvSpPr>
          <p:cNvPr id="1412" name="Google Shape;1513;p23"/>
          <p:cNvSpPr/>
          <p:nvPr/>
        </p:nvSpPr>
        <p:spPr>
          <a:xfrm>
            <a:off x="5295960" y="2352600"/>
            <a:ext cx="63619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70" spc="-1" strike="noStrike">
                <a:solidFill>
                  <a:srgbClr val="7351c7"/>
                </a:solidFill>
                <a:latin typeface="Verdana"/>
                <a:ea typeface="Verdana"/>
              </a:rPr>
              <a:t>                </a:t>
            </a:r>
            <a:r>
              <a:rPr b="1" lang="en-US" sz="1870" spc="-1" strike="noStrike">
                <a:solidFill>
                  <a:srgbClr val="7351c7"/>
                </a:solidFill>
                <a:latin typeface="Verdana"/>
                <a:ea typeface="Verdana"/>
              </a:rPr>
              <a:t>+ (1−a)bF₀₁ + abF₁₁</a:t>
            </a:r>
            <a:endParaRPr b="0" lang="en-US" sz="1870" spc="-1" strike="noStrike">
              <a:solidFill>
                <a:srgbClr val="000000"/>
              </a:solidFill>
              <a:latin typeface="Arial"/>
            </a:endParaRPr>
          </a:p>
        </p:txBody>
      </p:sp>
      <p:sp>
        <p:nvSpPr>
          <p:cNvPr id="1413" name="Google Shape;1514;p23"/>
          <p:cNvSpPr/>
          <p:nvPr/>
        </p:nvSpPr>
        <p:spPr>
          <a:xfrm>
            <a:off x="5295960" y="3086280"/>
            <a:ext cx="63619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a:t>
            </a:r>
            <a:r>
              <a:rPr b="0" lang="en-US" sz="1870" spc="-1" strike="noStrike">
                <a:solidFill>
                  <a:srgbClr val="304c68"/>
                </a:solidFill>
                <a:latin typeface="Verdana"/>
                <a:ea typeface="Verdana"/>
              </a:rPr>
              <a:t>B̃/∂x = (1−b)(F₁₀−F₀₀) + b(F₁₁−F₀₁)</a:t>
            </a:r>
            <a:endParaRPr b="0" lang="en-US" sz="1870" spc="-1" strike="noStrike">
              <a:solidFill>
                <a:srgbClr val="000000"/>
              </a:solidFill>
              <a:latin typeface="Arial"/>
            </a:endParaRPr>
          </a:p>
        </p:txBody>
      </p:sp>
      <p:sp>
        <p:nvSpPr>
          <p:cNvPr id="1414" name="Google Shape;1515;p23"/>
          <p:cNvSpPr/>
          <p:nvPr/>
        </p:nvSpPr>
        <p:spPr>
          <a:xfrm>
            <a:off x="5295960" y="3562200"/>
            <a:ext cx="636192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304c68"/>
                </a:solidFill>
                <a:latin typeface="Verdana"/>
                <a:ea typeface="Verdana"/>
              </a:rPr>
              <a:t>∂</a:t>
            </a:r>
            <a:r>
              <a:rPr b="0" lang="en-US" sz="1870" spc="-1" strike="noStrike">
                <a:solidFill>
                  <a:srgbClr val="304c68"/>
                </a:solidFill>
                <a:latin typeface="Verdana"/>
                <a:ea typeface="Verdana"/>
              </a:rPr>
              <a:t>B̃/∂y = (1−a)(F₀₁−F₀₀) + a(F₁₁−F₁₀)</a:t>
            </a:r>
            <a:endParaRPr b="0" lang="en-US" sz="1870" spc="-1" strike="noStrike">
              <a:solidFill>
                <a:srgbClr val="000000"/>
              </a:solidFill>
              <a:latin typeface="Arial"/>
            </a:endParaRPr>
          </a:p>
        </p:txBody>
      </p:sp>
      <p:sp>
        <p:nvSpPr>
          <p:cNvPr id="1415" name="Google Shape;1516;p23"/>
          <p:cNvSpPr/>
          <p:nvPr/>
        </p:nvSpPr>
        <p:spPr>
          <a:xfrm>
            <a:off x="5381640" y="4562640"/>
            <a:ext cx="1513800" cy="666000"/>
          </a:xfrm>
          <a:prstGeom prst="rect">
            <a:avLst/>
          </a:prstGeom>
          <a:solidFill>
            <a:srgbClr val="e5ebf2"/>
          </a:solidFill>
          <a:ln w="14275">
            <a:solidFill>
              <a:srgbClr val="304c68"/>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6" name="Google Shape;1517;p23"/>
          <p:cNvSpPr/>
          <p:nvPr/>
        </p:nvSpPr>
        <p:spPr>
          <a:xfrm>
            <a:off x="5477040" y="4629240"/>
            <a:ext cx="1323360" cy="532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304c68"/>
                </a:solidFill>
                <a:latin typeface="Verdana"/>
                <a:ea typeface="Verdana"/>
              </a:rPr>
              <a:t>Box loss</a:t>
            </a:r>
            <a:endParaRPr b="0" lang="en-US" sz="1800" spc="-1" strike="noStrike">
              <a:solidFill>
                <a:srgbClr val="000000"/>
              </a:solidFill>
              <a:latin typeface="Arial"/>
            </a:endParaRPr>
          </a:p>
        </p:txBody>
      </p:sp>
      <p:sp>
        <p:nvSpPr>
          <p:cNvPr id="1417" name="Google Shape;1518;p23"/>
          <p:cNvSpPr/>
          <p:nvPr/>
        </p:nvSpPr>
        <p:spPr>
          <a:xfrm>
            <a:off x="7400880" y="4562640"/>
            <a:ext cx="1637640" cy="666000"/>
          </a:xfrm>
          <a:prstGeom prst="rect">
            <a:avLst/>
          </a:prstGeom>
          <a:solidFill>
            <a:srgbClr val="eee7fa"/>
          </a:solid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18" name="Google Shape;1519;p23"/>
          <p:cNvSpPr/>
          <p:nvPr/>
        </p:nvSpPr>
        <p:spPr>
          <a:xfrm>
            <a:off x="7496280" y="4629240"/>
            <a:ext cx="1447200" cy="532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Local</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features</a:t>
            </a:r>
            <a:endParaRPr b="0" lang="en-US" sz="1729" spc="-1" strike="noStrike">
              <a:solidFill>
                <a:srgbClr val="000000"/>
              </a:solidFill>
              <a:latin typeface="Arial"/>
            </a:endParaRPr>
          </a:p>
        </p:txBody>
      </p:sp>
      <p:sp>
        <p:nvSpPr>
          <p:cNvPr id="1419" name="Google Shape;1520;p23"/>
          <p:cNvSpPr/>
          <p:nvPr/>
        </p:nvSpPr>
        <p:spPr>
          <a:xfrm>
            <a:off x="9563040" y="4562640"/>
            <a:ext cx="1999440" cy="666000"/>
          </a:xfrm>
          <a:prstGeom prst="rect">
            <a:avLst/>
          </a:prstGeom>
          <a:solidFill>
            <a:srgbClr val="eee7fa"/>
          </a:solidFill>
          <a:ln w="14275">
            <a:solidFill>
              <a:srgbClr val="7351c7"/>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20" name="Google Shape;1521;p23"/>
          <p:cNvSpPr/>
          <p:nvPr/>
        </p:nvSpPr>
        <p:spPr>
          <a:xfrm>
            <a:off x="9658440" y="4629240"/>
            <a:ext cx="1809000" cy="53280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1" lang="en-US" sz="1729" spc="-1" strike="noStrike">
                <a:solidFill>
                  <a:srgbClr val="7351c7"/>
                </a:solidFill>
                <a:latin typeface="Verdana"/>
                <a:ea typeface="Verdana"/>
              </a:rPr>
              <a:t>Coarse</a:t>
            </a:r>
            <a:endParaRPr b="0" lang="en-US" sz="1729" spc="-1" strike="noStrike">
              <a:solidFill>
                <a:srgbClr val="000000"/>
              </a:solidFill>
              <a:latin typeface="Arial"/>
            </a:endParaRPr>
          </a:p>
          <a:p>
            <a:pPr algn="ctr">
              <a:lnSpc>
                <a:spcPct val="100000"/>
              </a:lnSpc>
              <a:tabLst>
                <a:tab algn="l" pos="0"/>
              </a:tabLst>
            </a:pPr>
            <a:r>
              <a:rPr b="1" lang="en-US" sz="1729" spc="-1" strike="noStrike">
                <a:solidFill>
                  <a:srgbClr val="7351c7"/>
                </a:solidFill>
                <a:latin typeface="Verdana"/>
                <a:ea typeface="Verdana"/>
              </a:rPr>
              <a:t>center</a:t>
            </a:r>
            <a:endParaRPr b="0" lang="en-US" sz="1729" spc="-1" strike="noStrike">
              <a:solidFill>
                <a:srgbClr val="000000"/>
              </a:solidFill>
              <a:latin typeface="Arial"/>
            </a:endParaRPr>
          </a:p>
        </p:txBody>
      </p:sp>
      <p:sp>
        <p:nvSpPr>
          <p:cNvPr id="1421" name="Google Shape;1522;p23"/>
          <p:cNvSpPr/>
          <p:nvPr/>
        </p:nvSpPr>
        <p:spPr>
          <a:xfrm>
            <a:off x="6896160" y="4896000"/>
            <a:ext cx="504000" cy="360"/>
          </a:xfrm>
          <a:custGeom>
            <a:avLst/>
            <a:gdLst>
              <a:gd name="textAreaLeft" fmla="*/ 0 w 504000"/>
              <a:gd name="textAreaRight" fmla="*/ 504360 w 504000"/>
              <a:gd name="textAreaTop" fmla="*/ 0 h 360"/>
              <a:gd name="textAreaBottom" fmla="*/ 720 h 360"/>
            </a:gdLst>
            <a:ahLst/>
            <a:rect l="textAreaLeft" t="textAreaTop" r="textAreaRight" b="textAreaBottom"/>
            <a:pathLst>
              <a:path w="504825" h="953">
                <a:moveTo>
                  <a:pt x="0" y="0"/>
                </a:moveTo>
                <a:lnTo>
                  <a:pt x="504825" y="0"/>
                </a:lnTo>
              </a:path>
            </a:pathLst>
          </a:custGeom>
          <a:noFill/>
          <a:ln w="2190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22" name="Google Shape;1523;p23"/>
          <p:cNvSpPr/>
          <p:nvPr/>
        </p:nvSpPr>
        <p:spPr>
          <a:xfrm>
            <a:off x="7305840" y="48520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423" name="Google Shape;1524;p23"/>
          <p:cNvSpPr/>
          <p:nvPr/>
        </p:nvSpPr>
        <p:spPr>
          <a:xfrm>
            <a:off x="9039240" y="4896000"/>
            <a:ext cx="523080" cy="360"/>
          </a:xfrm>
          <a:custGeom>
            <a:avLst/>
            <a:gdLst>
              <a:gd name="textAreaLeft" fmla="*/ 0 w 523080"/>
              <a:gd name="textAreaRight" fmla="*/ 523440 w 523080"/>
              <a:gd name="textAreaTop" fmla="*/ 0 h 360"/>
              <a:gd name="textAreaBottom" fmla="*/ 720 h 360"/>
            </a:gdLst>
            <a:ahLst/>
            <a:rect l="textAreaLeft" t="textAreaTop" r="textAreaRight" b="textAreaBottom"/>
            <a:pathLst>
              <a:path w="523875" h="953">
                <a:moveTo>
                  <a:pt x="0" y="0"/>
                </a:moveTo>
                <a:lnTo>
                  <a:pt x="523875" y="0"/>
                </a:lnTo>
              </a:path>
            </a:pathLst>
          </a:custGeom>
          <a:noFill/>
          <a:ln w="21900">
            <a:solidFill>
              <a:srgbClr val="7351c7"/>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24" name="Google Shape;1525;p23"/>
          <p:cNvSpPr/>
          <p:nvPr/>
        </p:nvSpPr>
        <p:spPr>
          <a:xfrm>
            <a:off x="9468000" y="4852080"/>
            <a:ext cx="94680" cy="86760"/>
          </a:xfrm>
          <a:custGeom>
            <a:avLst/>
            <a:gdLst>
              <a:gd name="textAreaLeft" fmla="*/ 0 w 94680"/>
              <a:gd name="textAreaRight" fmla="*/ 95040 w 94680"/>
              <a:gd name="textAreaTop" fmla="*/ 0 h 86760"/>
              <a:gd name="textAreaBottom" fmla="*/ 87120 h 86760"/>
            </a:gdLst>
            <a:ahLst/>
            <a:rect l="textAreaLeft" t="textAreaTop" r="textAreaRight" b="textAreaBottom"/>
            <a:pathLst>
              <a:path w="95250" h="87630">
                <a:moveTo>
                  <a:pt x="95250" y="43815"/>
                </a:moveTo>
                <a:lnTo>
                  <a:pt x="0" y="0"/>
                </a:lnTo>
                <a:lnTo>
                  <a:pt x="0" y="87630"/>
                </a:lnTo>
                <a:close/>
              </a:path>
            </a:pathLst>
          </a:custGeom>
          <a:solidFill>
            <a:srgbClr val="7351c7"/>
          </a:solidFill>
          <a:ln w="9525">
            <a:solidFill>
              <a:srgbClr val="7351c7"/>
            </a:solidFill>
            <a:round/>
          </a:ln>
        </p:spPr>
        <p:style>
          <a:lnRef idx="0"/>
          <a:fillRef idx="0"/>
          <a:effectRef idx="0"/>
          <a:fontRef idx="minor"/>
        </p:style>
        <p:txBody>
          <a:bodyPr lIns="90000" rIns="90000" tIns="42120" bIns="42120" anchor="t">
            <a:noAutofit/>
          </a:bodyPr>
          <a:p>
            <a:pPr>
              <a:lnSpc>
                <a:spcPct val="100000"/>
              </a:lnSpc>
              <a:tabLst>
                <a:tab algn="l" pos="0"/>
              </a:tabLst>
            </a:pPr>
            <a:endParaRPr b="0" lang="en-US" sz="1400" spc="-1" strike="noStrike">
              <a:solidFill>
                <a:srgbClr val="ffffff"/>
              </a:solidFill>
              <a:latin typeface="Arial"/>
            </a:endParaRPr>
          </a:p>
        </p:txBody>
      </p:sp>
      <p:sp>
        <p:nvSpPr>
          <p:cNvPr id="1425" name="Google Shape;1526;p23"/>
          <p:cNvSpPr/>
          <p:nvPr/>
        </p:nvSpPr>
        <p:spPr>
          <a:xfrm>
            <a:off x="5381640" y="5467320"/>
            <a:ext cx="619056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Gradient path through the sampler</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26" name="Google Shape;1532;p24"/>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Box encoding and metric decoding</a:t>
            </a:r>
            <a:endParaRPr b="0" lang="en-US" sz="3300" spc="-1" strike="noStrike">
              <a:solidFill>
                <a:srgbClr val="000000"/>
              </a:solidFill>
              <a:latin typeface="Arial"/>
            </a:endParaRPr>
          </a:p>
        </p:txBody>
      </p:sp>
      <p:sp>
        <p:nvSpPr>
          <p:cNvPr id="1427" name="Google Shape;1533;p24"/>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25</a:t>
            </a:r>
            <a:endParaRPr b="0" lang="en-US" sz="1200" spc="-1" strike="noStrike">
              <a:solidFill>
                <a:srgbClr val="000000"/>
              </a:solidFill>
              <a:latin typeface="Arial"/>
            </a:endParaRPr>
          </a:p>
        </p:txBody>
      </p:sp>
      <p:sp>
        <p:nvSpPr>
          <p:cNvPr id="1428" name="Google Shape;1534;p24"/>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graphicFrame>
        <p:nvGraphicFramePr>
          <p:cNvPr id="1429" name="Google Shape;1535;p24"/>
          <p:cNvGraphicFramePr/>
          <p:nvPr/>
        </p:nvGraphicFramePr>
        <p:xfrm>
          <a:off x="533520" y="1523880"/>
          <a:ext cx="7238160" cy="4008600"/>
        </p:xfrm>
        <a:graphic>
          <a:graphicData uri="http://schemas.openxmlformats.org/drawingml/2006/table">
            <a:tbl>
              <a:tblPr/>
              <a:tblGrid>
                <a:gridCol w="1618920"/>
                <a:gridCol w="2476440"/>
                <a:gridCol w="3142800"/>
              </a:tblGrid>
              <a:tr h="667800">
                <a:tc>
                  <a:txBody>
                    <a:bodyPr anchor="ctr">
                      <a:noAutofit/>
                    </a:bodyPr>
                    <a:p>
                      <a:pPr>
                        <a:lnSpc>
                          <a:spcPct val="100000"/>
                        </a:lnSpc>
                        <a:tabLst>
                          <a:tab algn="l" pos="0"/>
                        </a:tabLst>
                      </a:pPr>
                      <a:r>
                        <a:rPr b="1" lang="en-US" sz="1650" spc="-1" strike="noStrike">
                          <a:solidFill>
                            <a:srgbClr val="ffffff"/>
                          </a:solidFill>
                          <a:latin typeface="Verdana"/>
                          <a:ea typeface="Verdana"/>
                        </a:rPr>
                        <a:t>Head</a:t>
                      </a:r>
                      <a:endParaRPr b="0" lang="en-US" sz="165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Encoded values</a:t>
                      </a:r>
                      <a:endParaRPr b="0" lang="en-US" sz="165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Decode</a:t>
                      </a:r>
                      <a:endParaRPr b="0" lang="en-US" sz="165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Center</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cₓ, cᵧ</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x, y = 0.6c − 54 m</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Height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z</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Metric height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Dimensions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log l, log w, log h</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Exponentiate</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Rotation</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sin θ, cos θ</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θ = atan2(sin θ, cos θ)</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667800">
                <a:tc>
                  <a:txBody>
                    <a:bodyPr anchor="ctr">
                      <a:noAutofit/>
                    </a:bodyPr>
                    <a:p>
                      <a:pPr>
                        <a:lnSpc>
                          <a:spcPct val="100000"/>
                        </a:lnSpc>
                        <a:tabLst>
                          <a:tab algn="l" pos="0"/>
                        </a:tabLst>
                      </a:pPr>
                      <a:r>
                        <a:rPr b="0" lang="en-US" sz="1650" spc="-1" strike="noStrike">
                          <a:solidFill>
                            <a:srgbClr val="16253b"/>
                          </a:solidFill>
                          <a:latin typeface="Verdana"/>
                          <a:ea typeface="Verdana"/>
                        </a:rPr>
                        <a:t>Velocity</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vₓ, vᵧ</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ffffff"/>
                    </a:solidFill>
                  </a:tcPr>
                </a:tc>
              </a:tr>
            </a:tbl>
          </a:graphicData>
        </a:graphic>
      </p:graphicFrame>
      <p:sp>
        <p:nvSpPr>
          <p:cNvPr id="1430" name="Google Shape;1536;p24"/>
          <p:cNvSpPr/>
          <p:nvPr/>
        </p:nvSpPr>
        <p:spPr>
          <a:xfrm>
            <a:off x="8772480" y="2886120"/>
            <a:ext cx="1627920" cy="875520"/>
          </a:xfrm>
          <a:custGeom>
            <a:avLst/>
            <a:gdLst>
              <a:gd name="textAreaLeft" fmla="*/ 0 w 1627920"/>
              <a:gd name="textAreaRight" fmla="*/ 1628280 w 1627920"/>
              <a:gd name="textAreaTop" fmla="*/ 0 h 875520"/>
              <a:gd name="textAreaBottom" fmla="*/ 875880 h 875520"/>
            </a:gdLst>
            <a:ahLst/>
            <a:rect l="textAreaLeft" t="textAreaTop" r="textAreaRight" b="textAreaBottom"/>
            <a:pathLst>
              <a:path w="1628775" h="876300">
                <a:moveTo>
                  <a:pt x="0" y="0"/>
                </a:moveTo>
                <a:lnTo>
                  <a:pt x="1628775" y="0"/>
                </a:lnTo>
                <a:lnTo>
                  <a:pt x="1628775" y="876300"/>
                </a:lnTo>
                <a:lnTo>
                  <a:pt x="0" y="876300"/>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1" name="Google Shape;1537;p24"/>
          <p:cNvSpPr/>
          <p:nvPr/>
        </p:nvSpPr>
        <p:spPr>
          <a:xfrm>
            <a:off x="9296280" y="2362320"/>
            <a:ext cx="1627920" cy="875520"/>
          </a:xfrm>
          <a:custGeom>
            <a:avLst/>
            <a:gdLst>
              <a:gd name="textAreaLeft" fmla="*/ 0 w 1627920"/>
              <a:gd name="textAreaRight" fmla="*/ 1628280 w 1627920"/>
              <a:gd name="textAreaTop" fmla="*/ 0 h 875520"/>
              <a:gd name="textAreaBottom" fmla="*/ 875880 h 875520"/>
            </a:gdLst>
            <a:ahLst/>
            <a:rect l="textAreaLeft" t="textAreaTop" r="textAreaRight" b="textAreaBottom"/>
            <a:pathLst>
              <a:path w="1628775" h="876300">
                <a:moveTo>
                  <a:pt x="0" y="0"/>
                </a:moveTo>
                <a:lnTo>
                  <a:pt x="1628775" y="0"/>
                </a:lnTo>
                <a:lnTo>
                  <a:pt x="1628775" y="876300"/>
                </a:lnTo>
                <a:lnTo>
                  <a:pt x="0" y="876300"/>
                </a:lnTo>
                <a:close/>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2" name="Google Shape;1538;p24"/>
          <p:cNvSpPr/>
          <p:nvPr/>
        </p:nvSpPr>
        <p:spPr>
          <a:xfrm>
            <a:off x="8772480" y="2362320"/>
            <a:ext cx="523080" cy="523080"/>
          </a:xfrm>
          <a:custGeom>
            <a:avLst/>
            <a:gdLst>
              <a:gd name="textAreaLeft" fmla="*/ 0 w 523080"/>
              <a:gd name="textAreaRight" fmla="*/ 523440 w 523080"/>
              <a:gd name="textAreaTop" fmla="*/ 0 h 523080"/>
              <a:gd name="textAreaBottom" fmla="*/ 523440 h 52308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3" name="Google Shape;1539;p24"/>
          <p:cNvSpPr/>
          <p:nvPr/>
        </p:nvSpPr>
        <p:spPr>
          <a:xfrm>
            <a:off x="10401480" y="2362320"/>
            <a:ext cx="523080" cy="523080"/>
          </a:xfrm>
          <a:custGeom>
            <a:avLst/>
            <a:gdLst>
              <a:gd name="textAreaLeft" fmla="*/ 0 w 523080"/>
              <a:gd name="textAreaRight" fmla="*/ 523440 w 523080"/>
              <a:gd name="textAreaTop" fmla="*/ 0 h 523080"/>
              <a:gd name="textAreaBottom" fmla="*/ 523440 h 52308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4" name="Google Shape;1540;p24"/>
          <p:cNvSpPr/>
          <p:nvPr/>
        </p:nvSpPr>
        <p:spPr>
          <a:xfrm>
            <a:off x="10401480" y="3238560"/>
            <a:ext cx="523080" cy="523080"/>
          </a:xfrm>
          <a:custGeom>
            <a:avLst/>
            <a:gdLst>
              <a:gd name="textAreaLeft" fmla="*/ 0 w 523080"/>
              <a:gd name="textAreaRight" fmla="*/ 523440 w 523080"/>
              <a:gd name="textAreaTop" fmla="*/ 0 h 523080"/>
              <a:gd name="textAreaBottom" fmla="*/ 523440 h 52308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5" name="Google Shape;1541;p24"/>
          <p:cNvSpPr/>
          <p:nvPr/>
        </p:nvSpPr>
        <p:spPr>
          <a:xfrm>
            <a:off x="8772480" y="3238560"/>
            <a:ext cx="523080" cy="523080"/>
          </a:xfrm>
          <a:custGeom>
            <a:avLst/>
            <a:gdLst>
              <a:gd name="textAreaLeft" fmla="*/ 0 w 523080"/>
              <a:gd name="textAreaRight" fmla="*/ 523440 w 523080"/>
              <a:gd name="textAreaTop" fmla="*/ 0 h 523080"/>
              <a:gd name="textAreaBottom" fmla="*/ 523440 h 523080"/>
            </a:gdLst>
            <a:ahLst/>
            <a:rect l="textAreaLeft" t="textAreaTop" r="textAreaRight" b="textAreaBottom"/>
            <a:pathLst>
              <a:path w="523875" h="523875">
                <a:moveTo>
                  <a:pt x="0" y="523875"/>
                </a:moveTo>
                <a:lnTo>
                  <a:pt x="523875"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6" name="Google Shape;1542;p24"/>
          <p:cNvSpPr/>
          <p:nvPr/>
        </p:nvSpPr>
        <p:spPr>
          <a:xfrm>
            <a:off x="8772480" y="3981600"/>
            <a:ext cx="1627920" cy="360"/>
          </a:xfrm>
          <a:custGeom>
            <a:avLst/>
            <a:gdLst>
              <a:gd name="textAreaLeft" fmla="*/ 0 w 1627920"/>
              <a:gd name="textAreaRight" fmla="*/ 1628280 w 1627920"/>
              <a:gd name="textAreaTop" fmla="*/ 0 h 360"/>
              <a:gd name="textAreaBottom" fmla="*/ 720 h 360"/>
            </a:gdLst>
            <a:ahLst/>
            <a:rect l="textAreaLeft" t="textAreaTop" r="textAreaRight" b="textAreaBottom"/>
            <a:pathLst>
              <a:path w="1628775" h="953">
                <a:moveTo>
                  <a:pt x="0" y="0"/>
                </a:moveTo>
                <a:lnTo>
                  <a:pt x="1628775" y="0"/>
                </a:lnTo>
              </a:path>
            </a:pathLst>
          </a:custGeom>
          <a:noFill/>
          <a:ln w="16175">
            <a:solidFill>
              <a:srgbClr val="087f6c"/>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37" name="Google Shape;1543;p24"/>
          <p:cNvSpPr/>
          <p:nvPr/>
        </p:nvSpPr>
        <p:spPr>
          <a:xfrm>
            <a:off x="8858160" y="4086360"/>
            <a:ext cx="154224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00" spc="-1" strike="noStrike">
                <a:solidFill>
                  <a:srgbClr val="087f6c"/>
                </a:solidFill>
                <a:latin typeface="Verdana"/>
                <a:ea typeface="Verdana"/>
              </a:rPr>
              <a:t>length</a:t>
            </a:r>
            <a:endParaRPr b="0" lang="en-US" sz="1800" spc="-1" strike="noStrike">
              <a:solidFill>
                <a:srgbClr val="000000"/>
              </a:solidFill>
              <a:latin typeface="Arial"/>
            </a:endParaRPr>
          </a:p>
        </p:txBody>
      </p:sp>
      <p:sp>
        <p:nvSpPr>
          <p:cNvPr id="1438" name="Google Shape;1544;p24"/>
          <p:cNvSpPr/>
          <p:nvPr/>
        </p:nvSpPr>
        <p:spPr>
          <a:xfrm>
            <a:off x="11163240" y="2362320"/>
            <a:ext cx="360" cy="875520"/>
          </a:xfrm>
          <a:custGeom>
            <a:avLst/>
            <a:gdLst>
              <a:gd name="textAreaLeft" fmla="*/ 0 w 360"/>
              <a:gd name="textAreaRight" fmla="*/ 720 w 360"/>
              <a:gd name="textAreaTop" fmla="*/ 0 h 875520"/>
              <a:gd name="textAreaBottom" fmla="*/ 875880 h 875520"/>
            </a:gdLst>
            <a:ahLst/>
            <a:rect l="textAreaLeft" t="textAreaTop" r="textAreaRight" b="textAreaBottom"/>
            <a:pathLst>
              <a:path w="953" h="876300">
                <a:moveTo>
                  <a:pt x="0" y="0"/>
                </a:moveTo>
                <a:lnTo>
                  <a:pt x="0" y="876300"/>
                </a:lnTo>
              </a:path>
            </a:pathLst>
          </a:custGeom>
          <a:noFill/>
          <a:ln w="15225">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39" name="Google Shape;1545;p24"/>
          <p:cNvSpPr/>
          <p:nvPr/>
        </p:nvSpPr>
        <p:spPr>
          <a:xfrm>
            <a:off x="11248920" y="2657520"/>
            <a:ext cx="370800" cy="4564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0" lang="en-US" sz="1870" spc="-1" strike="noStrike">
                <a:solidFill>
                  <a:srgbClr val="087f6c"/>
                </a:solidFill>
                <a:latin typeface="Verdana"/>
                <a:ea typeface="Verdana"/>
              </a:rPr>
              <a:t>h</a:t>
            </a:r>
            <a:endParaRPr b="0" lang="en-US" sz="1870" spc="-1" strike="noStrike">
              <a:solidFill>
                <a:srgbClr val="000000"/>
              </a:solidFill>
              <a:latin typeface="Arial"/>
            </a:endParaRPr>
          </a:p>
        </p:txBody>
      </p:sp>
      <p:sp>
        <p:nvSpPr>
          <p:cNvPr id="1440" name="Google Shape;1546;p24"/>
          <p:cNvSpPr/>
          <p:nvPr/>
        </p:nvSpPr>
        <p:spPr>
          <a:xfrm>
            <a:off x="9344160" y="2390760"/>
            <a:ext cx="1999440" cy="942120"/>
          </a:xfrm>
          <a:custGeom>
            <a:avLst/>
            <a:gdLst>
              <a:gd name="textAreaLeft" fmla="*/ 0 w 1999440"/>
              <a:gd name="textAreaRight" fmla="*/ 1999800 w 1999440"/>
              <a:gd name="textAreaTop" fmla="*/ 0 h 942120"/>
              <a:gd name="textAreaBottom" fmla="*/ 942480 h 942120"/>
            </a:gdLst>
            <a:ahLst/>
            <a:rect l="textAreaLeft" t="textAreaTop" r="textAreaRight" b="textAreaBottom"/>
            <a:pathLst>
              <a:path w="2000250" h="942975">
                <a:moveTo>
                  <a:pt x="0" y="942975"/>
                </a:moveTo>
                <a:lnTo>
                  <a:pt x="2000250" y="0"/>
                </a:lnTo>
              </a:path>
            </a:pathLst>
          </a:custGeom>
          <a:noFill/>
          <a:ln w="23800">
            <a:solidFill>
              <a:srgbClr val="087f6c"/>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41" name="Google Shape;1547;p24"/>
          <p:cNvSpPr/>
          <p:nvPr/>
        </p:nvSpPr>
        <p:spPr>
          <a:xfrm>
            <a:off x="11239560" y="2390760"/>
            <a:ext cx="104040" cy="79560"/>
          </a:xfrm>
          <a:custGeom>
            <a:avLst/>
            <a:gdLst>
              <a:gd name="textAreaLeft" fmla="*/ 0 w 104040"/>
              <a:gd name="textAreaRight" fmla="*/ 104400 w 104040"/>
              <a:gd name="textAreaTop" fmla="*/ 0 h 79560"/>
              <a:gd name="textAreaBottom" fmla="*/ 79920 h 79560"/>
            </a:gdLst>
            <a:ahLst/>
            <a:rect l="textAreaLeft" t="textAreaTop" r="textAreaRight" b="textAreaBottom"/>
            <a:pathLst>
              <a:path w="104840" h="80248">
                <a:moveTo>
                  <a:pt x="104840" y="0"/>
                </a:moveTo>
                <a:lnTo>
                  <a:pt x="0" y="985"/>
                </a:lnTo>
                <a:lnTo>
                  <a:pt x="37367" y="80248"/>
                </a:lnTo>
                <a:close/>
              </a:path>
            </a:pathLst>
          </a:custGeom>
          <a:solidFill>
            <a:srgbClr val="087f6c"/>
          </a:solidFill>
          <a:ln w="9525">
            <a:solidFill>
              <a:srgbClr val="087f6c"/>
            </a:solidFill>
            <a:round/>
          </a:ln>
        </p:spPr>
        <p:style>
          <a:lnRef idx="0"/>
          <a:fillRef idx="0"/>
          <a:effectRef idx="0"/>
          <a:fontRef idx="minor"/>
        </p:style>
        <p:txBody>
          <a:bodyPr lIns="90000" rIns="90000" tIns="34920" bIns="34920" anchor="t">
            <a:noAutofit/>
          </a:bodyPr>
          <a:p>
            <a:pPr>
              <a:lnSpc>
                <a:spcPct val="100000"/>
              </a:lnSpc>
              <a:tabLst>
                <a:tab algn="l" pos="0"/>
              </a:tabLst>
            </a:pPr>
            <a:endParaRPr b="0" lang="en-US" sz="1400" spc="-1" strike="noStrike">
              <a:solidFill>
                <a:srgbClr val="ffffff"/>
              </a:solidFill>
              <a:latin typeface="Arial"/>
            </a:endParaRPr>
          </a:p>
        </p:txBody>
      </p:sp>
      <p:sp>
        <p:nvSpPr>
          <p:cNvPr id="1442" name="Google Shape;1548;p24"/>
          <p:cNvSpPr/>
          <p:nvPr/>
        </p:nvSpPr>
        <p:spPr>
          <a:xfrm>
            <a:off x="10039320" y="1990800"/>
            <a:ext cx="161856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00" spc="-1" strike="noStrike">
                <a:solidFill>
                  <a:srgbClr val="087f6c"/>
                </a:solidFill>
                <a:latin typeface="Verdana"/>
                <a:ea typeface="Verdana"/>
              </a:rPr>
              <a:t>velocity</a:t>
            </a:r>
            <a:endParaRPr b="0" lang="en-US" sz="1800" spc="-1" strike="noStrike">
              <a:solidFill>
                <a:srgbClr val="000000"/>
              </a:solidFill>
              <a:latin typeface="Arial"/>
            </a:endParaRPr>
          </a:p>
        </p:txBody>
      </p:sp>
      <p:sp>
        <p:nvSpPr>
          <p:cNvPr id="1443" name="Google Shape;1549;p24"/>
          <p:cNvSpPr/>
          <p:nvPr/>
        </p:nvSpPr>
        <p:spPr>
          <a:xfrm>
            <a:off x="8391600" y="4857840"/>
            <a:ext cx="3256920" cy="79956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Lst>
            </a:pPr>
            <a:r>
              <a:rPr b="1" lang="en-US" sz="2320" spc="-1" strike="noStrike">
                <a:solidFill>
                  <a:srgbClr val="7351c7"/>
                </a:solidFill>
                <a:latin typeface="Verdana"/>
                <a:ea typeface="Verdana"/>
              </a:rPr>
              <a:t>10 encoded</a:t>
            </a:r>
            <a:endParaRPr b="0" lang="en-US" sz="2320" spc="-1" strike="noStrike">
              <a:solidFill>
                <a:srgbClr val="000000"/>
              </a:solidFill>
              <a:latin typeface="Arial"/>
            </a:endParaRPr>
          </a:p>
          <a:p>
            <a:pPr algn="ctr">
              <a:lnSpc>
                <a:spcPct val="100000"/>
              </a:lnSpc>
              <a:tabLst>
                <a:tab algn="l" pos="0"/>
              </a:tabLst>
            </a:pPr>
            <a:r>
              <a:rPr b="1" lang="en-US" sz="2320" spc="-1" strike="noStrike">
                <a:solidFill>
                  <a:srgbClr val="7351c7"/>
                </a:solidFill>
                <a:latin typeface="Verdana"/>
                <a:ea typeface="Verdana"/>
              </a:rPr>
              <a:t>box values</a:t>
            </a:r>
            <a:endParaRPr b="0" lang="en-US" sz="23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44" name="Google Shape;1555;p25"/>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Loss formulas and assignment costs</a:t>
            </a:r>
            <a:endParaRPr b="0" lang="en-US" sz="3300" spc="-1" strike="noStrike">
              <a:solidFill>
                <a:srgbClr val="000000"/>
              </a:solidFill>
              <a:latin typeface="Arial"/>
            </a:endParaRPr>
          </a:p>
        </p:txBody>
      </p:sp>
      <p:sp>
        <p:nvSpPr>
          <p:cNvPr id="1445" name="Google Shape;1556;p25"/>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26</a:t>
            </a:r>
            <a:endParaRPr b="0" lang="en-US" sz="1200" spc="-1" strike="noStrike">
              <a:solidFill>
                <a:srgbClr val="000000"/>
              </a:solidFill>
              <a:latin typeface="Arial"/>
            </a:endParaRPr>
          </a:p>
        </p:txBody>
      </p:sp>
      <p:sp>
        <p:nvSpPr>
          <p:cNvPr id="1446" name="Google Shape;1557;p25"/>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447" name="Google Shape;1558;p25"/>
          <p:cNvSpPr/>
          <p:nvPr/>
        </p:nvSpPr>
        <p:spPr>
          <a:xfrm>
            <a:off x="533520" y="1380960"/>
            <a:ext cx="5238000" cy="35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Dense center heatmap</a:t>
            </a:r>
            <a:endParaRPr b="0" lang="en-US" sz="2100" spc="-1" strike="noStrike">
              <a:solidFill>
                <a:srgbClr val="000000"/>
              </a:solidFill>
              <a:latin typeface="Arial"/>
            </a:endParaRPr>
          </a:p>
        </p:txBody>
      </p:sp>
      <p:sp>
        <p:nvSpPr>
          <p:cNvPr id="1448" name="Google Shape;1559;p25"/>
          <p:cNvSpPr/>
          <p:nvPr/>
        </p:nvSpPr>
        <p:spPr>
          <a:xfrm>
            <a:off x="533520" y="1924200"/>
            <a:ext cx="514296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304c68"/>
                </a:solidFill>
                <a:latin typeface="Verdana"/>
                <a:ea typeface="Verdana"/>
              </a:rPr>
              <a:t>ℓ</a:t>
            </a:r>
            <a:r>
              <a:rPr b="1" lang="en-US" sz="2170" spc="-1" strike="noStrike">
                <a:solidFill>
                  <a:srgbClr val="304c68"/>
                </a:solidFill>
                <a:latin typeface="Verdana"/>
                <a:ea typeface="Verdana"/>
              </a:rPr>
              <a:t>hm = −(1 − p)² log p</a:t>
            </a:r>
            <a:endParaRPr b="0" lang="en-US" sz="2170" spc="-1" strike="noStrike">
              <a:solidFill>
                <a:srgbClr val="000000"/>
              </a:solidFill>
              <a:latin typeface="Arial"/>
            </a:endParaRPr>
          </a:p>
        </p:txBody>
      </p:sp>
      <p:sp>
        <p:nvSpPr>
          <p:cNvPr id="1449" name="Google Shape;1560;p25"/>
          <p:cNvSpPr/>
          <p:nvPr/>
        </p:nvSpPr>
        <p:spPr>
          <a:xfrm>
            <a:off x="533520" y="2371680"/>
            <a:ext cx="514296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at an object center, y = 1</a:t>
            </a:r>
            <a:endParaRPr b="0" lang="en-US" sz="1650" spc="-1" strike="noStrike">
              <a:solidFill>
                <a:srgbClr val="000000"/>
              </a:solidFill>
              <a:latin typeface="Arial"/>
            </a:endParaRPr>
          </a:p>
        </p:txBody>
      </p:sp>
      <p:sp>
        <p:nvSpPr>
          <p:cNvPr id="1450" name="Google Shape;1561;p25"/>
          <p:cNvSpPr/>
          <p:nvPr/>
        </p:nvSpPr>
        <p:spPr>
          <a:xfrm>
            <a:off x="533520" y="2838600"/>
            <a:ext cx="533340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ℓ</a:t>
            </a:r>
            <a:r>
              <a:rPr b="1" lang="en-US" sz="2100" spc="-1" strike="noStrike">
                <a:solidFill>
                  <a:srgbClr val="304c68"/>
                </a:solidFill>
                <a:latin typeface="Verdana"/>
                <a:ea typeface="Verdana"/>
              </a:rPr>
              <a:t>hm = −(1 − y)⁴ p² log(1 − p)</a:t>
            </a:r>
            <a:endParaRPr b="0" lang="en-US" sz="2100" spc="-1" strike="noStrike">
              <a:solidFill>
                <a:srgbClr val="000000"/>
              </a:solidFill>
              <a:latin typeface="Arial"/>
            </a:endParaRPr>
          </a:p>
        </p:txBody>
      </p:sp>
      <p:sp>
        <p:nvSpPr>
          <p:cNvPr id="1451" name="Google Shape;1562;p25"/>
          <p:cNvSpPr/>
          <p:nvPr/>
        </p:nvSpPr>
        <p:spPr>
          <a:xfrm>
            <a:off x="533520" y="3286080"/>
            <a:ext cx="514296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at other pixels, 0 ≤ y &lt; 1</a:t>
            </a:r>
            <a:endParaRPr b="0" lang="en-US" sz="1650" spc="-1" strike="noStrike">
              <a:solidFill>
                <a:srgbClr val="000000"/>
              </a:solidFill>
              <a:latin typeface="Arial"/>
            </a:endParaRPr>
          </a:p>
        </p:txBody>
      </p:sp>
      <p:sp>
        <p:nvSpPr>
          <p:cNvPr id="1452" name="Google Shape;1563;p25"/>
          <p:cNvSpPr/>
          <p:nvPr/>
        </p:nvSpPr>
        <p:spPr>
          <a:xfrm>
            <a:off x="533520" y="3762360"/>
            <a:ext cx="5238000" cy="637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729" spc="-1" strike="noStrike">
                <a:solidFill>
                  <a:srgbClr val="58677c"/>
                </a:solidFill>
                <a:latin typeface="Verdana"/>
                <a:ea typeface="Verdana"/>
              </a:rPr>
              <a:t>p: predicted center probability</a:t>
            </a:r>
            <a:endParaRPr b="0" lang="en-US" sz="1729" spc="-1" strike="noStrike">
              <a:solidFill>
                <a:srgbClr val="000000"/>
              </a:solidFill>
              <a:latin typeface="Arial"/>
            </a:endParaRPr>
          </a:p>
          <a:p>
            <a:pPr>
              <a:lnSpc>
                <a:spcPct val="100000"/>
              </a:lnSpc>
              <a:tabLst>
                <a:tab algn="l" pos="0"/>
              </a:tabLst>
            </a:pPr>
            <a:r>
              <a:rPr b="0" lang="en-US" sz="1729" spc="-1" strike="noStrike">
                <a:solidFill>
                  <a:srgbClr val="58677c"/>
                </a:solidFill>
                <a:latin typeface="Verdana"/>
                <a:ea typeface="Verdana"/>
              </a:rPr>
              <a:t>y: Gaussian target heatmap</a:t>
            </a:r>
            <a:endParaRPr b="0" lang="en-US" sz="1729" spc="-1" strike="noStrike">
              <a:solidFill>
                <a:srgbClr val="000000"/>
              </a:solidFill>
              <a:latin typeface="Arial"/>
            </a:endParaRPr>
          </a:p>
        </p:txBody>
      </p:sp>
      <p:sp>
        <p:nvSpPr>
          <p:cNvPr id="1453" name="Google Shape;1564;p25"/>
          <p:cNvSpPr/>
          <p:nvPr/>
        </p:nvSpPr>
        <p:spPr>
          <a:xfrm>
            <a:off x="6076800" y="1380960"/>
            <a:ext cx="360" cy="3047400"/>
          </a:xfrm>
          <a:custGeom>
            <a:avLst/>
            <a:gdLst>
              <a:gd name="textAreaLeft" fmla="*/ 0 w 360"/>
              <a:gd name="textAreaRight" fmla="*/ 720 w 360"/>
              <a:gd name="textAreaTop" fmla="*/ 0 h 3047400"/>
              <a:gd name="textAreaBottom" fmla="*/ 3047760 h 3047400"/>
            </a:gdLst>
            <a:ahLst/>
            <a:rect l="textAreaLeft" t="textAreaTop" r="textAreaRight" b="textAreaBottom"/>
            <a:pathLst>
              <a:path w="953" h="3048000">
                <a:moveTo>
                  <a:pt x="0" y="0"/>
                </a:moveTo>
                <a:lnTo>
                  <a:pt x="0" y="3048000"/>
                </a:lnTo>
              </a:path>
            </a:pathLst>
          </a:custGeom>
          <a:noFill/>
          <a:ln w="9525">
            <a:solidFill>
              <a:srgbClr val="cfd7e2"/>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ndParaRPr>
          </a:p>
        </p:txBody>
      </p:sp>
      <p:sp>
        <p:nvSpPr>
          <p:cNvPr id="1454" name="Google Shape;1565;p25"/>
          <p:cNvSpPr/>
          <p:nvPr/>
        </p:nvSpPr>
        <p:spPr>
          <a:xfrm>
            <a:off x="6515280" y="1380960"/>
            <a:ext cx="5238000" cy="35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020" spc="-1" strike="noStrike">
                <a:solidFill>
                  <a:srgbClr val="7351c7"/>
                </a:solidFill>
                <a:latin typeface="Verdana"/>
                <a:ea typeface="Verdana"/>
              </a:rPr>
              <a:t>Proposal classification + box code</a:t>
            </a:r>
            <a:endParaRPr b="0" lang="en-US" sz="2020" spc="-1" strike="noStrike">
              <a:solidFill>
                <a:srgbClr val="000000"/>
              </a:solidFill>
              <a:latin typeface="Arial"/>
            </a:endParaRPr>
          </a:p>
        </p:txBody>
      </p:sp>
      <p:sp>
        <p:nvSpPr>
          <p:cNvPr id="1455" name="Google Shape;1566;p25"/>
          <p:cNvSpPr/>
          <p:nvPr/>
        </p:nvSpPr>
        <p:spPr>
          <a:xfrm>
            <a:off x="6515280" y="1924200"/>
            <a:ext cx="5142960" cy="3801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70" spc="-1" strike="noStrike">
                <a:solidFill>
                  <a:srgbClr val="7351c7"/>
                </a:solidFill>
                <a:latin typeface="Verdana"/>
                <a:ea typeface="Verdana"/>
              </a:rPr>
              <a:t>ℓ</a:t>
            </a:r>
            <a:r>
              <a:rPr b="1" lang="en-US" sz="2170" spc="-1" strike="noStrike">
                <a:solidFill>
                  <a:srgbClr val="7351c7"/>
                </a:solidFill>
                <a:latin typeface="Verdana"/>
                <a:ea typeface="Verdana"/>
              </a:rPr>
              <a:t>cls = −αₜ(1 − pₜ)² log pₜ</a:t>
            </a:r>
            <a:endParaRPr b="0" lang="en-US" sz="2170" spc="-1" strike="noStrike">
              <a:solidFill>
                <a:srgbClr val="000000"/>
              </a:solidFill>
              <a:latin typeface="Arial"/>
            </a:endParaRPr>
          </a:p>
        </p:txBody>
      </p:sp>
      <p:sp>
        <p:nvSpPr>
          <p:cNvPr id="1456" name="Google Shape;1567;p25"/>
          <p:cNvSpPr/>
          <p:nvPr/>
        </p:nvSpPr>
        <p:spPr>
          <a:xfrm>
            <a:off x="6515280" y="2400480"/>
            <a:ext cx="5142960" cy="742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pₜ = p for positives, 1 − p otherwise</a:t>
            </a:r>
            <a:endParaRPr b="0" lang="en-US" sz="1650" spc="-1" strike="noStrike">
              <a:solidFill>
                <a:srgbClr val="000000"/>
              </a:solidFill>
              <a:latin typeface="Arial"/>
            </a:endParaRPr>
          </a:p>
          <a:p>
            <a:pPr>
              <a:lnSpc>
                <a:spcPct val="100000"/>
              </a:lnSpc>
              <a:tabLst>
                <a:tab algn="l" pos="0"/>
              </a:tabLst>
            </a:pPr>
            <a:r>
              <a:rPr b="0" lang="en-US" sz="1650" spc="-1" strike="noStrike">
                <a:solidFill>
                  <a:srgbClr val="58677c"/>
                </a:solidFill>
                <a:latin typeface="Verdana"/>
                <a:ea typeface="Verdana"/>
              </a:rPr>
              <a:t>αₜ = 0.25 for positives, 0.75 otherwise</a:t>
            </a:r>
            <a:endParaRPr b="0" lang="en-US" sz="1650" spc="-1" strike="noStrike">
              <a:solidFill>
                <a:srgbClr val="000000"/>
              </a:solidFill>
              <a:latin typeface="Arial"/>
            </a:endParaRPr>
          </a:p>
        </p:txBody>
      </p:sp>
      <p:sp>
        <p:nvSpPr>
          <p:cNvPr id="1457" name="Google Shape;1568;p25"/>
          <p:cNvSpPr/>
          <p:nvPr/>
        </p:nvSpPr>
        <p:spPr>
          <a:xfrm>
            <a:off x="6515280" y="3324240"/>
            <a:ext cx="5142960" cy="428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7351c7"/>
                </a:solidFill>
                <a:latin typeface="Verdana"/>
                <a:ea typeface="Verdana"/>
              </a:rPr>
              <a:t>Lbox = (1/N₊) Σᵢ,ⱼ wⱼ |b′ᵢⱼ − b*ᵢⱼ|</a:t>
            </a:r>
            <a:endParaRPr b="0" lang="en-US" sz="1950" spc="-1" strike="noStrike">
              <a:solidFill>
                <a:srgbClr val="000000"/>
              </a:solidFill>
              <a:latin typeface="Arial"/>
            </a:endParaRPr>
          </a:p>
        </p:txBody>
      </p:sp>
      <p:sp>
        <p:nvSpPr>
          <p:cNvPr id="1458" name="Google Shape;1569;p25"/>
          <p:cNvSpPr/>
          <p:nvPr/>
        </p:nvSpPr>
        <p:spPr>
          <a:xfrm>
            <a:off x="6515280" y="3848040"/>
            <a:ext cx="5142960" cy="789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w = 1 for the first 8 codes, 0.2 for velocity</a:t>
            </a:r>
            <a:endParaRPr b="0" lang="en-US" sz="1580" spc="-1" strike="noStrike">
              <a:solidFill>
                <a:srgbClr val="000000"/>
              </a:solidFill>
              <a:latin typeface="Arial"/>
            </a:endParaRPr>
          </a:p>
          <a:p>
            <a:pPr>
              <a:lnSpc>
                <a:spcPct val="100000"/>
              </a:lnSpc>
              <a:tabLst>
                <a:tab algn="l" pos="0"/>
              </a:tabLst>
            </a:pPr>
            <a:r>
              <a:rPr b="0" lang="en-US" sz="1580" spc="-1" strike="noStrike">
                <a:solidFill>
                  <a:srgbClr val="58677c"/>
                </a:solidFill>
                <a:latin typeface="Verdana"/>
                <a:ea typeface="Verdana"/>
              </a:rPr>
              <a:t>N₊ = max(number of matched proposals, 1)</a:t>
            </a:r>
            <a:endParaRPr b="0" lang="en-US" sz="1580" spc="-1" strike="noStrike">
              <a:solidFill>
                <a:srgbClr val="000000"/>
              </a:solidFill>
              <a:latin typeface="Arial"/>
            </a:endParaRPr>
          </a:p>
          <a:p>
            <a:pPr>
              <a:lnSpc>
                <a:spcPct val="100000"/>
              </a:lnSpc>
              <a:tabLst>
                <a:tab algn="l" pos="0"/>
              </a:tabLst>
            </a:pPr>
            <a:r>
              <a:rPr b="0" lang="en-US" sz="1580" spc="-1" strike="noStrike">
                <a:solidFill>
                  <a:srgbClr val="58677c"/>
                </a:solidFill>
                <a:latin typeface="Verdana"/>
                <a:ea typeface="Verdana"/>
              </a:rPr>
              <a:t>b*: target code. Only matched boxes contribute.</a:t>
            </a:r>
            <a:endParaRPr b="0" lang="en-US" sz="1580" spc="-1" strike="noStrike">
              <a:solidFill>
                <a:srgbClr val="000000"/>
              </a:solidFill>
              <a:latin typeface="Arial"/>
            </a:endParaRPr>
          </a:p>
        </p:txBody>
      </p:sp>
      <p:sp>
        <p:nvSpPr>
          <p:cNvPr id="1459" name="Google Shape;1570;p25"/>
          <p:cNvSpPr/>
          <p:nvPr/>
        </p:nvSpPr>
        <p:spPr>
          <a:xfrm>
            <a:off x="533520" y="468648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60" name="Google Shape;1571;p25"/>
          <p:cNvSpPr/>
          <p:nvPr/>
        </p:nvSpPr>
        <p:spPr>
          <a:xfrm>
            <a:off x="533520" y="4905360"/>
            <a:ext cx="1112436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250" spc="-1" strike="noStrike">
                <a:solidFill>
                  <a:srgbClr val="304c68"/>
                </a:solidFill>
                <a:latin typeface="Verdana"/>
                <a:ea typeface="Verdana"/>
              </a:rPr>
              <a:t>Hungarian assignment:  σ* = argminσ Σⱼ Cσ(j),ⱼ</a:t>
            </a:r>
            <a:endParaRPr b="0" lang="en-US" sz="2250" spc="-1" strike="noStrike">
              <a:solidFill>
                <a:srgbClr val="000000"/>
              </a:solidFill>
              <a:latin typeface="Arial"/>
            </a:endParaRPr>
          </a:p>
        </p:txBody>
      </p:sp>
      <p:sp>
        <p:nvSpPr>
          <p:cNvPr id="1461" name="Google Shape;1572;p25"/>
          <p:cNvSpPr/>
          <p:nvPr/>
        </p:nvSpPr>
        <p:spPr>
          <a:xfrm>
            <a:off x="533520" y="5448240"/>
            <a:ext cx="11124360" cy="408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2020" spc="-1" strike="noStrike">
                <a:solidFill>
                  <a:srgbClr val="304c68"/>
                </a:solidFill>
                <a:latin typeface="Verdana"/>
                <a:ea typeface="Verdana"/>
              </a:rPr>
              <a:t>Cᵢⱼ = 0.15 Cfocal(i,j) + 0.25 ‖ĉᵢ − ĉ*ⱼ‖₁ − 0.25 IoU₃D(i,j)</a:t>
            </a:r>
            <a:endParaRPr b="0" lang="en-US" sz="20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62" name="Google Shape;1578;p26"/>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What mAP and NDS measure</a:t>
            </a:r>
            <a:endParaRPr b="0" lang="en-US" sz="3300" spc="-1" strike="noStrike">
              <a:solidFill>
                <a:srgbClr val="000000"/>
              </a:solidFill>
              <a:latin typeface="Arial"/>
            </a:endParaRPr>
          </a:p>
        </p:txBody>
      </p:sp>
      <p:sp>
        <p:nvSpPr>
          <p:cNvPr id="1463" name="Google Shape;1579;p26"/>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27</a:t>
            </a:r>
            <a:endParaRPr b="0" lang="en-US" sz="1200" spc="-1" strike="noStrike">
              <a:solidFill>
                <a:srgbClr val="000000"/>
              </a:solidFill>
              <a:latin typeface="Arial"/>
            </a:endParaRPr>
          </a:p>
        </p:txBody>
      </p:sp>
      <p:sp>
        <p:nvSpPr>
          <p:cNvPr id="1464" name="Google Shape;1580;p26"/>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sp>
        <p:nvSpPr>
          <p:cNvPr id="1465" name="Google Shape;1581;p26"/>
          <p:cNvSpPr/>
          <p:nvPr/>
        </p:nvSpPr>
        <p:spPr>
          <a:xfrm>
            <a:off x="533520" y="1380960"/>
            <a:ext cx="11124360" cy="35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304c68"/>
                </a:solidFill>
                <a:latin typeface="Verdana"/>
                <a:ea typeface="Verdana"/>
              </a:rPr>
              <a:t>mAP: class detection across distance thresholds</a:t>
            </a:r>
            <a:endParaRPr b="0" lang="en-US" sz="2100" spc="-1" strike="noStrike">
              <a:solidFill>
                <a:srgbClr val="000000"/>
              </a:solidFill>
              <a:latin typeface="Arial"/>
            </a:endParaRPr>
          </a:p>
        </p:txBody>
      </p:sp>
      <p:sp>
        <p:nvSpPr>
          <p:cNvPr id="1466" name="Google Shape;1582;p26"/>
          <p:cNvSpPr/>
          <p:nvPr/>
        </p:nvSpPr>
        <p:spPr>
          <a:xfrm>
            <a:off x="533520" y="1943280"/>
            <a:ext cx="11124360" cy="4658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700" spc="-1" strike="noStrike">
                <a:solidFill>
                  <a:srgbClr val="304c68"/>
                </a:solidFill>
                <a:latin typeface="Verdana"/>
                <a:ea typeface="Verdana"/>
              </a:rPr>
              <a:t>mAP = (1/40) Σc Σd AP(c,d)</a:t>
            </a:r>
            <a:endParaRPr b="0" lang="en-US" sz="2700" spc="-1" strike="noStrike">
              <a:solidFill>
                <a:srgbClr val="000000"/>
              </a:solidFill>
              <a:latin typeface="Arial"/>
            </a:endParaRPr>
          </a:p>
        </p:txBody>
      </p:sp>
      <p:sp>
        <p:nvSpPr>
          <p:cNvPr id="1467" name="Google Shape;1583;p26"/>
          <p:cNvSpPr/>
          <p:nvPr/>
        </p:nvSpPr>
        <p:spPr>
          <a:xfrm>
            <a:off x="533520" y="2562120"/>
            <a:ext cx="11124360" cy="361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58677c"/>
                </a:solidFill>
                <a:latin typeface="Verdana"/>
                <a:ea typeface="Verdana"/>
              </a:rPr>
              <a:t>10 classes.  d ∈ {0.5, 1, 2, 4} m uses ground-plane center distance.</a:t>
            </a:r>
            <a:endParaRPr b="0" lang="en-US" sz="1870" spc="-1" strike="noStrike">
              <a:solidFill>
                <a:srgbClr val="000000"/>
              </a:solidFill>
              <a:latin typeface="Arial"/>
            </a:endParaRPr>
          </a:p>
        </p:txBody>
      </p:sp>
      <p:sp>
        <p:nvSpPr>
          <p:cNvPr id="1468" name="Google Shape;1584;p26"/>
          <p:cNvSpPr/>
          <p:nvPr/>
        </p:nvSpPr>
        <p:spPr>
          <a:xfrm>
            <a:off x="533520" y="3124080"/>
            <a:ext cx="11124360" cy="360"/>
          </a:xfrm>
          <a:custGeom>
            <a:avLst/>
            <a:gdLst>
              <a:gd name="textAreaLeft" fmla="*/ 0 w 11124360"/>
              <a:gd name="textAreaRight" fmla="*/ 11124720 w 11124360"/>
              <a:gd name="textAreaTop" fmla="*/ 0 h 360"/>
              <a:gd name="textAreaBottom" fmla="*/ 720 h 360"/>
            </a:gdLst>
            <a:ahLst/>
            <a:rect l="textAreaLeft" t="textAreaTop" r="textAreaRight" b="textAreaBottom"/>
            <a:pathLst>
              <a:path w="11125200" h="953">
                <a:moveTo>
                  <a:pt x="0" y="0"/>
                </a:moveTo>
                <a:lnTo>
                  <a:pt x="11125200" y="0"/>
                </a:lnTo>
              </a:path>
            </a:pathLst>
          </a:custGeom>
          <a:noFill/>
          <a:ln w="9525">
            <a:solidFill>
              <a:srgbClr val="cfd7e2"/>
            </a:solidFill>
            <a:round/>
          </a:ln>
        </p:spPr>
        <p:style>
          <a:lnRef idx="0"/>
          <a:fillRef idx="0"/>
          <a:effectRef idx="0"/>
          <a:fontRef idx="minor"/>
        </p:style>
        <p:txBody>
          <a:bodyPr lIns="90000" rIns="90000" tIns="0" bIns="0" anchor="t">
            <a:noAutofit/>
          </a:bodyPr>
          <a:p>
            <a:pPr>
              <a:lnSpc>
                <a:spcPct val="100000"/>
              </a:lnSpc>
              <a:tabLst>
                <a:tab algn="l" pos="0"/>
              </a:tabLst>
            </a:pPr>
            <a:endParaRPr b="0" lang="en-US" sz="1400" spc="-1" strike="noStrike">
              <a:solidFill>
                <a:srgbClr val="000000"/>
              </a:solidFill>
              <a:latin typeface="Arial"/>
            </a:endParaRPr>
          </a:p>
        </p:txBody>
      </p:sp>
      <p:sp>
        <p:nvSpPr>
          <p:cNvPr id="1469" name="Google Shape;1585;p26"/>
          <p:cNvSpPr/>
          <p:nvPr/>
        </p:nvSpPr>
        <p:spPr>
          <a:xfrm>
            <a:off x="533520" y="3390840"/>
            <a:ext cx="11124360" cy="351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100" spc="-1" strike="noStrike">
                <a:solidFill>
                  <a:srgbClr val="7351c7"/>
                </a:solidFill>
                <a:latin typeface="Verdana"/>
                <a:ea typeface="Verdana"/>
              </a:rPr>
              <a:t>NDS: detection plus true-positive quality</a:t>
            </a:r>
            <a:endParaRPr b="0" lang="en-US" sz="2100" spc="-1" strike="noStrike">
              <a:solidFill>
                <a:srgbClr val="000000"/>
              </a:solidFill>
              <a:latin typeface="Arial"/>
            </a:endParaRPr>
          </a:p>
        </p:txBody>
      </p:sp>
      <p:sp>
        <p:nvSpPr>
          <p:cNvPr id="1470" name="Google Shape;1586;p26"/>
          <p:cNvSpPr/>
          <p:nvPr/>
        </p:nvSpPr>
        <p:spPr>
          <a:xfrm>
            <a:off x="533520" y="3943440"/>
            <a:ext cx="11124360" cy="494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700" spc="-1" strike="noStrike">
                <a:solidFill>
                  <a:srgbClr val="7351c7"/>
                </a:solidFill>
                <a:latin typeface="Verdana"/>
                <a:ea typeface="Verdana"/>
              </a:rPr>
              <a:t>NDS = [5 mAP + Σe max(0, 1 − e)] / 10</a:t>
            </a:r>
            <a:endParaRPr b="0" lang="en-US" sz="2700" spc="-1" strike="noStrike">
              <a:solidFill>
                <a:srgbClr val="000000"/>
              </a:solidFill>
              <a:latin typeface="Arial"/>
            </a:endParaRPr>
          </a:p>
        </p:txBody>
      </p:sp>
      <p:sp>
        <p:nvSpPr>
          <p:cNvPr id="1471" name="Google Shape;1587;p26"/>
          <p:cNvSpPr/>
          <p:nvPr/>
        </p:nvSpPr>
        <p:spPr>
          <a:xfrm>
            <a:off x="533520" y="4791240"/>
            <a:ext cx="2094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mATE</a:t>
            </a:r>
            <a:endParaRPr b="0" lang="en-US" sz="1950" spc="-1" strike="noStrike">
              <a:solidFill>
                <a:srgbClr val="000000"/>
              </a:solidFill>
              <a:latin typeface="Arial"/>
            </a:endParaRPr>
          </a:p>
        </p:txBody>
      </p:sp>
      <p:sp>
        <p:nvSpPr>
          <p:cNvPr id="1472" name="Google Shape;1588;p26"/>
          <p:cNvSpPr/>
          <p:nvPr/>
        </p:nvSpPr>
        <p:spPr>
          <a:xfrm>
            <a:off x="533520" y="5200560"/>
            <a:ext cx="2094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Center error</a:t>
            </a:r>
            <a:endParaRPr b="0" lang="en-US" sz="1580" spc="-1" strike="noStrike">
              <a:solidFill>
                <a:srgbClr val="000000"/>
              </a:solidFill>
              <a:latin typeface="Arial"/>
            </a:endParaRPr>
          </a:p>
        </p:txBody>
      </p:sp>
      <p:sp>
        <p:nvSpPr>
          <p:cNvPr id="1473" name="Google Shape;1589;p26"/>
          <p:cNvSpPr/>
          <p:nvPr/>
        </p:nvSpPr>
        <p:spPr>
          <a:xfrm>
            <a:off x="533520" y="5553000"/>
            <a:ext cx="209484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metres</a:t>
            </a:r>
            <a:endParaRPr b="0" lang="en-US" sz="1580" spc="-1" strike="noStrike">
              <a:solidFill>
                <a:srgbClr val="000000"/>
              </a:solidFill>
              <a:latin typeface="Arial"/>
            </a:endParaRPr>
          </a:p>
        </p:txBody>
      </p:sp>
      <p:sp>
        <p:nvSpPr>
          <p:cNvPr id="1474" name="Google Shape;1590;p26"/>
          <p:cNvSpPr/>
          <p:nvPr/>
        </p:nvSpPr>
        <p:spPr>
          <a:xfrm>
            <a:off x="2800440" y="4791240"/>
            <a:ext cx="2094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mASE</a:t>
            </a:r>
            <a:endParaRPr b="0" lang="en-US" sz="1950" spc="-1" strike="noStrike">
              <a:solidFill>
                <a:srgbClr val="000000"/>
              </a:solidFill>
              <a:latin typeface="Arial"/>
            </a:endParaRPr>
          </a:p>
        </p:txBody>
      </p:sp>
      <p:sp>
        <p:nvSpPr>
          <p:cNvPr id="1475" name="Google Shape;1591;p26"/>
          <p:cNvSpPr/>
          <p:nvPr/>
        </p:nvSpPr>
        <p:spPr>
          <a:xfrm>
            <a:off x="2800440" y="5200560"/>
            <a:ext cx="2094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Scale error</a:t>
            </a:r>
            <a:endParaRPr b="0" lang="en-US" sz="1580" spc="-1" strike="noStrike">
              <a:solidFill>
                <a:srgbClr val="000000"/>
              </a:solidFill>
              <a:latin typeface="Arial"/>
            </a:endParaRPr>
          </a:p>
        </p:txBody>
      </p:sp>
      <p:sp>
        <p:nvSpPr>
          <p:cNvPr id="1476" name="Google Shape;1592;p26"/>
          <p:cNvSpPr/>
          <p:nvPr/>
        </p:nvSpPr>
        <p:spPr>
          <a:xfrm>
            <a:off x="2800440" y="5553000"/>
            <a:ext cx="209484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1 − IoU</a:t>
            </a:r>
            <a:endParaRPr b="0" lang="en-US" sz="1580" spc="-1" strike="noStrike">
              <a:solidFill>
                <a:srgbClr val="000000"/>
              </a:solidFill>
              <a:latin typeface="Arial"/>
            </a:endParaRPr>
          </a:p>
        </p:txBody>
      </p:sp>
      <p:sp>
        <p:nvSpPr>
          <p:cNvPr id="1477" name="Google Shape;1593;p26"/>
          <p:cNvSpPr/>
          <p:nvPr/>
        </p:nvSpPr>
        <p:spPr>
          <a:xfrm>
            <a:off x="5067360" y="4791240"/>
            <a:ext cx="2094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mAOE</a:t>
            </a:r>
            <a:endParaRPr b="0" lang="en-US" sz="1950" spc="-1" strike="noStrike">
              <a:solidFill>
                <a:srgbClr val="000000"/>
              </a:solidFill>
              <a:latin typeface="Arial"/>
            </a:endParaRPr>
          </a:p>
        </p:txBody>
      </p:sp>
      <p:sp>
        <p:nvSpPr>
          <p:cNvPr id="1478" name="Google Shape;1594;p26"/>
          <p:cNvSpPr/>
          <p:nvPr/>
        </p:nvSpPr>
        <p:spPr>
          <a:xfrm>
            <a:off x="5067360" y="5200560"/>
            <a:ext cx="2094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Yaw error</a:t>
            </a:r>
            <a:endParaRPr b="0" lang="en-US" sz="1580" spc="-1" strike="noStrike">
              <a:solidFill>
                <a:srgbClr val="000000"/>
              </a:solidFill>
              <a:latin typeface="Arial"/>
            </a:endParaRPr>
          </a:p>
        </p:txBody>
      </p:sp>
      <p:sp>
        <p:nvSpPr>
          <p:cNvPr id="1479" name="Google Shape;1595;p26"/>
          <p:cNvSpPr/>
          <p:nvPr/>
        </p:nvSpPr>
        <p:spPr>
          <a:xfrm>
            <a:off x="5067360" y="5553000"/>
            <a:ext cx="209484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radians</a:t>
            </a:r>
            <a:endParaRPr b="0" lang="en-US" sz="1580" spc="-1" strike="noStrike">
              <a:solidFill>
                <a:srgbClr val="000000"/>
              </a:solidFill>
              <a:latin typeface="Arial"/>
            </a:endParaRPr>
          </a:p>
        </p:txBody>
      </p:sp>
      <p:sp>
        <p:nvSpPr>
          <p:cNvPr id="1480" name="Google Shape;1596;p26"/>
          <p:cNvSpPr/>
          <p:nvPr/>
        </p:nvSpPr>
        <p:spPr>
          <a:xfrm>
            <a:off x="7334280" y="4791240"/>
            <a:ext cx="2094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mAVE</a:t>
            </a:r>
            <a:endParaRPr b="0" lang="en-US" sz="1950" spc="-1" strike="noStrike">
              <a:solidFill>
                <a:srgbClr val="000000"/>
              </a:solidFill>
              <a:latin typeface="Arial"/>
            </a:endParaRPr>
          </a:p>
        </p:txBody>
      </p:sp>
      <p:sp>
        <p:nvSpPr>
          <p:cNvPr id="1481" name="Google Shape;1597;p26"/>
          <p:cNvSpPr/>
          <p:nvPr/>
        </p:nvSpPr>
        <p:spPr>
          <a:xfrm>
            <a:off x="7334280" y="5200560"/>
            <a:ext cx="2094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Velocity error</a:t>
            </a:r>
            <a:endParaRPr b="0" lang="en-US" sz="1580" spc="-1" strike="noStrike">
              <a:solidFill>
                <a:srgbClr val="000000"/>
              </a:solidFill>
              <a:latin typeface="Arial"/>
            </a:endParaRPr>
          </a:p>
        </p:txBody>
      </p:sp>
      <p:sp>
        <p:nvSpPr>
          <p:cNvPr id="1482" name="Google Shape;1598;p26"/>
          <p:cNvSpPr/>
          <p:nvPr/>
        </p:nvSpPr>
        <p:spPr>
          <a:xfrm>
            <a:off x="7334280" y="5553000"/>
            <a:ext cx="209484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m/s</a:t>
            </a:r>
            <a:endParaRPr b="0" lang="en-US" sz="1580" spc="-1" strike="noStrike">
              <a:solidFill>
                <a:srgbClr val="000000"/>
              </a:solidFill>
              <a:latin typeface="Arial"/>
            </a:endParaRPr>
          </a:p>
        </p:txBody>
      </p:sp>
      <p:sp>
        <p:nvSpPr>
          <p:cNvPr id="1483" name="Google Shape;1599;p26"/>
          <p:cNvSpPr/>
          <p:nvPr/>
        </p:nvSpPr>
        <p:spPr>
          <a:xfrm>
            <a:off x="9601200" y="4791240"/>
            <a:ext cx="209484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950" spc="-1" strike="noStrike">
                <a:solidFill>
                  <a:srgbClr val="304c68"/>
                </a:solidFill>
                <a:latin typeface="Verdana"/>
                <a:ea typeface="Verdana"/>
              </a:rPr>
              <a:t>mAAE</a:t>
            </a:r>
            <a:endParaRPr b="0" lang="en-US" sz="1950" spc="-1" strike="noStrike">
              <a:solidFill>
                <a:srgbClr val="000000"/>
              </a:solidFill>
              <a:latin typeface="Arial"/>
            </a:endParaRPr>
          </a:p>
        </p:txBody>
      </p:sp>
      <p:sp>
        <p:nvSpPr>
          <p:cNvPr id="1484" name="Google Shape;1600;p26"/>
          <p:cNvSpPr/>
          <p:nvPr/>
        </p:nvSpPr>
        <p:spPr>
          <a:xfrm>
            <a:off x="9601200" y="5200560"/>
            <a:ext cx="2094840" cy="304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16253b"/>
                </a:solidFill>
                <a:latin typeface="Verdana"/>
                <a:ea typeface="Verdana"/>
              </a:rPr>
              <a:t>Attribute error</a:t>
            </a:r>
            <a:endParaRPr b="0" lang="en-US" sz="1580" spc="-1" strike="noStrike">
              <a:solidFill>
                <a:srgbClr val="000000"/>
              </a:solidFill>
              <a:latin typeface="Arial"/>
            </a:endParaRPr>
          </a:p>
        </p:txBody>
      </p:sp>
      <p:sp>
        <p:nvSpPr>
          <p:cNvPr id="1485" name="Google Shape;1601;p26"/>
          <p:cNvSpPr/>
          <p:nvPr/>
        </p:nvSpPr>
        <p:spPr>
          <a:xfrm>
            <a:off x="9601200" y="5553000"/>
            <a:ext cx="2094840" cy="2944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580" spc="-1" strike="noStrike">
                <a:solidFill>
                  <a:srgbClr val="58677c"/>
                </a:solidFill>
                <a:latin typeface="Verdana"/>
                <a:ea typeface="Verdana"/>
              </a:rPr>
              <a:t>1 − accuracy</a:t>
            </a:r>
            <a:endParaRPr b="0" lang="en-US" sz="15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86" name="Google Shape;1607;p28"/>
          <p:cNvSpPr/>
          <p:nvPr/>
        </p:nvSpPr>
        <p:spPr>
          <a:xfrm>
            <a:off x="533520" y="361800"/>
            <a:ext cx="11124360" cy="8755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Tensor shapes through the network</a:t>
            </a:r>
            <a:endParaRPr b="0" lang="en-US" sz="3300" spc="-1" strike="noStrike">
              <a:solidFill>
                <a:srgbClr val="000000"/>
              </a:solidFill>
              <a:latin typeface="Arial"/>
            </a:endParaRPr>
          </a:p>
        </p:txBody>
      </p:sp>
      <p:sp>
        <p:nvSpPr>
          <p:cNvPr id="1487" name="Google Shape;1608;p28"/>
          <p:cNvSpPr/>
          <p:nvPr/>
        </p:nvSpPr>
        <p:spPr>
          <a:xfrm>
            <a:off x="11144160" y="6467400"/>
            <a:ext cx="513720" cy="208800"/>
          </a:xfrm>
          <a:prstGeom prst="rect">
            <a:avLst/>
          </a:prstGeom>
          <a:noFill/>
          <a:ln w="0">
            <a:noFill/>
          </a:ln>
        </p:spPr>
        <p:style>
          <a:lnRef idx="0"/>
          <a:fillRef idx="0"/>
          <a:effectRef idx="0"/>
          <a:fontRef idx="minor"/>
        </p:style>
        <p:txBody>
          <a:bodyPr lIns="0" rIns="0" tIns="0" bIns="0" anchor="t">
            <a:noAutofit/>
          </a:bodyPr>
          <a:p>
            <a:pPr algn="r">
              <a:lnSpc>
                <a:spcPct val="100000"/>
              </a:lnSpc>
              <a:tabLst>
                <a:tab algn="l" pos="0"/>
              </a:tabLst>
            </a:pPr>
            <a:r>
              <a:rPr b="0" lang="en-US" sz="1200" spc="-1" strike="noStrike">
                <a:solidFill>
                  <a:srgbClr val="58677c"/>
                </a:solidFill>
                <a:latin typeface="Verdana"/>
                <a:ea typeface="Verdana"/>
              </a:rPr>
              <a:t>29</a:t>
            </a:r>
            <a:endParaRPr b="0" lang="en-US" sz="1200" spc="-1" strike="noStrike">
              <a:solidFill>
                <a:srgbClr val="000000"/>
              </a:solidFill>
              <a:latin typeface="Arial"/>
            </a:endParaRPr>
          </a:p>
        </p:txBody>
      </p:sp>
      <p:sp>
        <p:nvSpPr>
          <p:cNvPr id="1488" name="Google Shape;1609;p28"/>
          <p:cNvSpPr/>
          <p:nvPr/>
        </p:nvSpPr>
        <p:spPr>
          <a:xfrm>
            <a:off x="533520" y="6477120"/>
            <a:ext cx="3809160" cy="199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130" spc="-1" strike="noStrike">
                <a:solidFill>
                  <a:srgbClr val="58677c"/>
                </a:solidFill>
                <a:latin typeface="Verdana"/>
                <a:ea typeface="Verdana"/>
              </a:rPr>
              <a:t>TECHNICAL BACKUP</a:t>
            </a:r>
            <a:endParaRPr b="0" lang="en-US" sz="1130" spc="-1" strike="noStrike">
              <a:solidFill>
                <a:srgbClr val="000000"/>
              </a:solidFill>
              <a:latin typeface="Arial"/>
            </a:endParaRPr>
          </a:p>
        </p:txBody>
      </p:sp>
      <p:graphicFrame>
        <p:nvGraphicFramePr>
          <p:cNvPr id="1489" name="Google Shape;1610;p28"/>
          <p:cNvGraphicFramePr/>
          <p:nvPr/>
        </p:nvGraphicFramePr>
        <p:xfrm>
          <a:off x="533520" y="1438200"/>
          <a:ext cx="11124360" cy="4694760"/>
        </p:xfrm>
        <a:graphic>
          <a:graphicData uri="http://schemas.openxmlformats.org/drawingml/2006/table">
            <a:tbl>
              <a:tblPr/>
              <a:tblGrid>
                <a:gridCol w="3142800"/>
                <a:gridCol w="4143240"/>
                <a:gridCol w="3838320"/>
              </a:tblGrid>
              <a:tr h="521640">
                <a:tc>
                  <a:txBody>
                    <a:bodyPr anchor="ctr">
                      <a:noAutofit/>
                    </a:bodyPr>
                    <a:p>
                      <a:pPr>
                        <a:lnSpc>
                          <a:spcPct val="100000"/>
                        </a:lnSpc>
                        <a:tabLst>
                          <a:tab algn="l" pos="0"/>
                        </a:tabLst>
                      </a:pPr>
                      <a:r>
                        <a:rPr b="1" lang="en-US" sz="1650" spc="-1" strike="noStrike">
                          <a:solidFill>
                            <a:srgbClr val="ffffff"/>
                          </a:solidFill>
                          <a:latin typeface="Verdana"/>
                          <a:ea typeface="Verdana"/>
                        </a:rPr>
                        <a:t>Stage</a:t>
                      </a:r>
                      <a:endParaRPr b="0" lang="en-US" sz="165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Shape per sample</a:t>
                      </a:r>
                      <a:endParaRPr b="0" lang="en-US" sz="165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nSpc>
                          <a:spcPct val="100000"/>
                        </a:lnSpc>
                        <a:tabLst>
                          <a:tab algn="l" pos="0"/>
                        </a:tabLst>
                      </a:pPr>
                      <a:r>
                        <a:rPr b="1" lang="en-US" sz="1650" spc="-1" strike="noStrike">
                          <a:solidFill>
                            <a:srgbClr val="ffffff"/>
                          </a:solidFill>
                          <a:latin typeface="Verdana"/>
                          <a:ea typeface="Verdana"/>
                        </a:rPr>
                        <a:t>Meaning</a:t>
                      </a:r>
                      <a:endParaRPr b="0" lang="en-US" sz="165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Camera input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3 × 256 × 704</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Six RGB views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Image feature</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256 × 32 × 88</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Selected FPN output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Lifted frustum</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6 × 118 × 32 × 88 × 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Depth-weighted context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Camera / LiDAR BEV</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80 / 256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Same spatial grid</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Fuser output</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256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Weighted fusion + residual</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Shared backbone / head</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512 / 128 × 180 × 180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BEV feature refinement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Object queries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128 × 200</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Global decoder output</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521640">
                <a:tc>
                  <a:txBody>
                    <a:bodyPr anchor="ctr">
                      <a:noAutofit/>
                    </a:bodyPr>
                    <a:p>
                      <a:pPr>
                        <a:lnSpc>
                          <a:spcPct val="100000"/>
                        </a:lnSpc>
                        <a:tabLst>
                          <a:tab algn="l" pos="0"/>
                        </a:tabLst>
                      </a:pPr>
                      <a:r>
                        <a:rPr b="0" lang="en-US" sz="1650" spc="-1" strike="noStrike">
                          <a:solidFill>
                            <a:srgbClr val="16253b"/>
                          </a:solidFill>
                          <a:latin typeface="Verdana"/>
                          <a:ea typeface="Verdana"/>
                        </a:rPr>
                        <a:t>Sampled local patches</a:t>
                      </a:r>
                      <a:endParaRPr b="0" lang="en-US" sz="165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128 × 200 × 25</a:t>
                      </a:r>
                      <a:endParaRPr b="0" lang="en-US" sz="165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df2f7"/>
                    </a:solidFill>
                  </a:tcPr>
                </a:tc>
                <a:tc>
                  <a:txBody>
                    <a:bodyPr anchor="ctr">
                      <a:noAutofit/>
                    </a:bodyPr>
                    <a:p>
                      <a:pPr>
                        <a:lnSpc>
                          <a:spcPct val="100000"/>
                        </a:lnSpc>
                        <a:tabLst>
                          <a:tab algn="l" pos="0"/>
                        </a:tabLst>
                      </a:pPr>
                      <a:r>
                        <a:rPr b="0" lang="en-US" sz="1650" spc="-1" strike="noStrike">
                          <a:solidFill>
                            <a:srgbClr val="16253b"/>
                          </a:solidFill>
                          <a:latin typeface="Verdana"/>
                          <a:ea typeface="Verdana"/>
                        </a:rPr>
                        <a:t>Mean pool over 25 positions</a:t>
                      </a:r>
                      <a:endParaRPr b="0" lang="en-US" sz="1650"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edf2f7"/>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d"/>
        </a:solidFill>
      </p:bgPr>
    </p:bg>
    <p:spTree>
      <p:nvGrpSpPr>
        <p:cNvPr id="1" name=""/>
        <p:cNvGrpSpPr/>
        <p:nvPr/>
      </p:nvGrpSpPr>
      <p:grpSpPr>
        <a:xfrm>
          <a:off x="0" y="0"/>
          <a:ext cx="0" cy="0"/>
          <a:chOff x="0" y="0"/>
          <a:chExt cx="0" cy="0"/>
        </a:xfrm>
      </p:grpSpPr>
      <p:sp>
        <p:nvSpPr>
          <p:cNvPr id="1490" name="Google Shape;1616;p29"/>
          <p:cNvSpPr/>
          <p:nvPr/>
        </p:nvSpPr>
        <p:spPr>
          <a:xfrm>
            <a:off x="533520" y="361800"/>
            <a:ext cx="11124360" cy="685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3300" spc="-1" strike="noStrike">
                <a:solidFill>
                  <a:srgbClr val="16253b"/>
                </a:solidFill>
                <a:latin typeface="Verdana"/>
                <a:ea typeface="Verdana"/>
              </a:rPr>
              <a:t>Evaluation targets</a:t>
            </a:r>
            <a:endParaRPr b="0" lang="en-US" sz="3300" spc="-1" strike="noStrike">
              <a:solidFill>
                <a:srgbClr val="000000"/>
              </a:solidFill>
              <a:latin typeface="Arial"/>
            </a:endParaRPr>
          </a:p>
        </p:txBody>
      </p:sp>
      <p:sp>
        <p:nvSpPr>
          <p:cNvPr id="1491" name="Google Shape;1617;p29"/>
          <p:cNvSpPr/>
          <p:nvPr/>
        </p:nvSpPr>
        <p:spPr>
          <a:xfrm>
            <a:off x="533520" y="1219320"/>
            <a:ext cx="11124360" cy="4183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870" spc="-1" strike="noStrike">
                <a:solidFill>
                  <a:srgbClr val="58677c"/>
                </a:solidFill>
                <a:latin typeface="Verdana"/>
                <a:ea typeface="Verdana"/>
              </a:rPr>
              <a:t>Recorded mini-split scores and hypothetical refinement goals</a:t>
            </a:r>
            <a:endParaRPr b="0" lang="en-US" sz="1870" spc="-1" strike="noStrike">
              <a:solidFill>
                <a:srgbClr val="000000"/>
              </a:solidFill>
              <a:latin typeface="Arial"/>
            </a:endParaRPr>
          </a:p>
        </p:txBody>
      </p:sp>
      <p:graphicFrame>
        <p:nvGraphicFramePr>
          <p:cNvPr id="1492" name="Google Shape;1618;p29"/>
          <p:cNvGraphicFramePr/>
          <p:nvPr/>
        </p:nvGraphicFramePr>
        <p:xfrm>
          <a:off x="2950920" y="1931400"/>
          <a:ext cx="6019200" cy="3452400"/>
        </p:xfrm>
        <a:graphic>
          <a:graphicData uri="http://schemas.openxmlformats.org/drawingml/2006/table">
            <a:tbl>
              <a:tblPr/>
              <a:tblGrid>
                <a:gridCol w="3314520"/>
                <a:gridCol w="1352520"/>
                <a:gridCol w="1352520"/>
              </a:tblGrid>
              <a:tr h="482040">
                <a:tc>
                  <a:txBody>
                    <a:bodyPr anchor="ctr">
                      <a:noAutofit/>
                    </a:bodyPr>
                    <a:p>
                      <a:pPr>
                        <a:lnSpc>
                          <a:spcPct val="100000"/>
                        </a:lnSpc>
                        <a:tabLst>
                          <a:tab algn="l" pos="0"/>
                        </a:tabLst>
                      </a:pPr>
                      <a:r>
                        <a:rPr b="1" lang="en-US" sz="1800" spc="-1" strike="noStrike">
                          <a:solidFill>
                            <a:srgbClr val="ffffff"/>
                          </a:solidFill>
                          <a:latin typeface="Verdana"/>
                          <a:ea typeface="Verdana"/>
                        </a:rPr>
                        <a:t>Variant</a:t>
                      </a:r>
                      <a:endParaRPr b="0" lang="en-US" sz="1800" spc="-1" strike="noStrike">
                        <a:solidFill>
                          <a:srgbClr val="ffffff"/>
                        </a:solidFill>
                        <a:latin typeface="Arial"/>
                      </a:endParaRPr>
                    </a:p>
                  </a:txBody>
                  <a:tcPr anchor="ctr" marL="91440" marR="91440">
                    <a:lnL w="9360">
                      <a:solidFill>
                        <a:srgbClr val="cfd7e2"/>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gn="ctr">
                        <a:lnSpc>
                          <a:spcPct val="100000"/>
                        </a:lnSpc>
                        <a:tabLst>
                          <a:tab algn="l" pos="0"/>
                        </a:tabLst>
                      </a:pPr>
                      <a:r>
                        <a:rPr b="1" lang="en-US" sz="1800" spc="-1" strike="noStrike">
                          <a:solidFill>
                            <a:srgbClr val="ffffff"/>
                          </a:solidFill>
                          <a:latin typeface="Verdana"/>
                          <a:ea typeface="Verdana"/>
                        </a:rPr>
                        <a:t>mAP ↑</a:t>
                      </a:r>
                      <a:endParaRPr b="0" lang="en-US" sz="1800" spc="-1" strike="noStrike">
                        <a:solidFill>
                          <a:srgbClr val="ffffff"/>
                        </a:solidFill>
                        <a:latin typeface="Arial"/>
                      </a:endParaRPr>
                    </a:p>
                  </a:txBody>
                  <a:tcPr anchor="ctr" marL="91440" marR="91440">
                    <a:lnL w="12240">
                      <a:solidFill>
                        <a:srgbClr val="000000"/>
                      </a:solidFill>
                      <a:prstDash val="solid"/>
                    </a:lnL>
                    <a:lnR w="12240">
                      <a:solidFill>
                        <a:srgbClr val="000000"/>
                      </a:solidFill>
                      <a:prstDash val="solid"/>
                    </a:lnR>
                    <a:lnT w="9360">
                      <a:solidFill>
                        <a:srgbClr val="cfd7e2"/>
                      </a:solidFill>
                      <a:prstDash val="solid"/>
                    </a:lnT>
                    <a:lnB w="12240">
                      <a:solidFill>
                        <a:srgbClr val="000000"/>
                      </a:solidFill>
                      <a:prstDash val="solid"/>
                    </a:lnB>
                    <a:solidFill>
                      <a:srgbClr val="16253b"/>
                    </a:solidFill>
                  </a:tcPr>
                </a:tc>
                <a:tc>
                  <a:txBody>
                    <a:bodyPr anchor="ctr">
                      <a:noAutofit/>
                    </a:bodyPr>
                    <a:p>
                      <a:pPr algn="ctr">
                        <a:lnSpc>
                          <a:spcPct val="100000"/>
                        </a:lnSpc>
                        <a:tabLst>
                          <a:tab algn="l" pos="0"/>
                        </a:tabLst>
                      </a:pPr>
                      <a:r>
                        <a:rPr b="1" lang="en-US" sz="1800" spc="-1" strike="noStrike">
                          <a:solidFill>
                            <a:srgbClr val="ffffff"/>
                          </a:solidFill>
                          <a:latin typeface="Verdana"/>
                          <a:ea typeface="Verdana"/>
                        </a:rPr>
                        <a:t>NDS ↑</a:t>
                      </a:r>
                      <a:endParaRPr b="0" lang="en-US" sz="1800" spc="-1" strike="noStrike">
                        <a:solidFill>
                          <a:srgbClr val="ffffff"/>
                        </a:solidFill>
                        <a:latin typeface="Arial"/>
                      </a:endParaRPr>
                    </a:p>
                  </a:txBody>
                  <a:tcPr anchor="ctr" marL="91440" marR="91440">
                    <a:lnL w="12240">
                      <a:solidFill>
                        <a:srgbClr val="000000"/>
                      </a:solidFill>
                      <a:prstDash val="solid"/>
                    </a:lnL>
                    <a:lnR w="9360">
                      <a:solidFill>
                        <a:srgbClr val="cfd7e2"/>
                      </a:solidFill>
                      <a:prstDash val="solid"/>
                    </a:lnR>
                    <a:lnT w="9360">
                      <a:solidFill>
                        <a:srgbClr val="cfd7e2"/>
                      </a:solidFill>
                      <a:prstDash val="solid"/>
                    </a:lnT>
                    <a:lnB w="12240">
                      <a:solidFill>
                        <a:srgbClr val="000000"/>
                      </a:solidFill>
                      <a:prstDash val="solid"/>
                    </a:lnB>
                    <a:solidFill>
                      <a:srgbClr val="16253b"/>
                    </a:solidFill>
                  </a:tcPr>
                </a:tc>
              </a:tr>
              <a:tr h="742320">
                <a:tc>
                  <a:txBody>
                    <a:bodyPr anchor="ctr">
                      <a:noAutofit/>
                    </a:bodyPr>
                    <a:p>
                      <a:pPr>
                        <a:lnSpc>
                          <a:spcPct val="100000"/>
                        </a:lnSpc>
                        <a:tabLst>
                          <a:tab algn="l" pos="0"/>
                        </a:tabLst>
                      </a:pPr>
                      <a:r>
                        <a:rPr b="0" lang="en-US" sz="1800" spc="-1" strike="noStrike">
                          <a:solidFill>
                            <a:srgbClr val="16253b"/>
                          </a:solidFill>
                          <a:latin typeface="Verdana"/>
                          <a:ea typeface="Verdana"/>
                        </a:rPr>
                        <a:t>ConvFuser baseline</a:t>
                      </a:r>
                      <a:endParaRPr b="0" lang="en-US" sz="1800" spc="-1" strike="noStrike">
                        <a:solidFill>
                          <a:srgbClr val="000000"/>
                        </a:solidFill>
                        <a:latin typeface="Arial"/>
                      </a:endParaRPr>
                    </a:p>
                    <a:p>
                      <a:pPr>
                        <a:lnSpc>
                          <a:spcPct val="100000"/>
                        </a:lnSpc>
                        <a:spcBef>
                          <a:spcPts val="3"/>
                        </a:spcBef>
                        <a:tabLst>
                          <a:tab algn="l" pos="0"/>
                        </a:tabLst>
                      </a:pPr>
                      <a:r>
                        <a:rPr b="0" lang="en-US" sz="1800" spc="-1" strike="noStrike">
                          <a:solidFill>
                            <a:srgbClr val="16253b"/>
                          </a:solidFill>
                          <a:latin typeface="Verdana"/>
                          <a:ea typeface="Verdana"/>
                        </a:rPr>
                        <a:t>Recorded mAP / NDS</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25.78%</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25.20%</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ffffff"/>
                    </a:solidFill>
                  </a:tcPr>
                </a:tc>
              </a:tr>
              <a:tr h="742320">
                <a:tc>
                  <a:txBody>
                    <a:bodyPr anchor="ctr">
                      <a:noAutofit/>
                    </a:bodyPr>
                    <a:p>
                      <a:pPr>
                        <a:lnSpc>
                          <a:spcPct val="100000"/>
                        </a:lnSpc>
                        <a:tabLst>
                          <a:tab algn="l" pos="0"/>
                        </a:tabLst>
                      </a:pPr>
                      <a:r>
                        <a:rPr b="0" lang="en-US" sz="1800" spc="-1" strike="noStrike">
                          <a:solidFill>
                            <a:srgbClr val="16253b"/>
                          </a:solidFill>
                          <a:latin typeface="Verdana"/>
                          <a:ea typeface="Verdana"/>
                        </a:rPr>
                        <a:t>Spatial gate</a:t>
                      </a:r>
                      <a:endParaRPr b="0" lang="en-US" sz="1800" spc="-1" strike="noStrike">
                        <a:solidFill>
                          <a:srgbClr val="000000"/>
                        </a:solidFill>
                        <a:latin typeface="Arial"/>
                      </a:endParaRPr>
                    </a:p>
                    <a:p>
                      <a:pPr>
                        <a:lnSpc>
                          <a:spcPct val="100000"/>
                        </a:lnSpc>
                        <a:spcBef>
                          <a:spcPts val="3"/>
                        </a:spcBef>
                        <a:tabLst>
                          <a:tab algn="l" pos="0"/>
                        </a:tabLst>
                      </a:pPr>
                      <a:r>
                        <a:rPr b="0" lang="en-US" sz="1800" spc="-1" strike="noStrike">
                          <a:solidFill>
                            <a:srgbClr val="16253b"/>
                          </a:solidFill>
                          <a:latin typeface="Verdana"/>
                          <a:ea typeface="Verdana"/>
                        </a:rPr>
                        <a:t>Recorded mAP / NDS</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24.92%</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df2f7"/>
                    </a:solidFill>
                  </a:tcPr>
                </a:tc>
                <a:tc>
                  <a:txBody>
                    <a:bodyPr anchor="ctr">
                      <a:noAutofit/>
                    </a:bodyPr>
                    <a:p>
                      <a:pPr algn="ctr">
                        <a:lnSpc>
                          <a:spcPct val="100000"/>
                        </a:lnSpc>
                        <a:tabLst>
                          <a:tab algn="l" pos="0"/>
                        </a:tabLst>
                      </a:pPr>
                      <a:r>
                        <a:rPr b="0" lang="en-US" sz="1729" spc="-1" strike="noStrike">
                          <a:solidFill>
                            <a:srgbClr val="16253b"/>
                          </a:solidFill>
                          <a:latin typeface="Verdana"/>
                          <a:ea typeface="Verdana"/>
                        </a:rPr>
                        <a:t>25.15%</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df2f7"/>
                    </a:solidFill>
                  </a:tcPr>
                </a:tc>
              </a:tr>
              <a:tr h="742320">
                <a:tc>
                  <a:txBody>
                    <a:bodyPr anchor="ctr">
                      <a:noAutofit/>
                    </a:bodyPr>
                    <a:p>
                      <a:pPr>
                        <a:lnSpc>
                          <a:spcPct val="100000"/>
                        </a:lnSpc>
                        <a:tabLst>
                          <a:tab algn="l" pos="0"/>
                        </a:tabLst>
                      </a:pPr>
                      <a:r>
                        <a:rPr b="1" lang="en-US" sz="1800" spc="-1" strike="noStrike">
                          <a:solidFill>
                            <a:srgbClr val="7351c7"/>
                          </a:solidFill>
                          <a:latin typeface="Verdana"/>
                          <a:ea typeface="Verdana"/>
                        </a:rPr>
                        <a:t>Baseline + refinement</a:t>
                      </a:r>
                      <a:endParaRPr b="0" lang="en-US" sz="1800" spc="-1" strike="noStrike">
                        <a:solidFill>
                          <a:srgbClr val="000000"/>
                        </a:solidFill>
                        <a:latin typeface="Arial"/>
                      </a:endParaRPr>
                    </a:p>
                    <a:p>
                      <a:pPr>
                        <a:lnSpc>
                          <a:spcPct val="100000"/>
                        </a:lnSpc>
                        <a:spcBef>
                          <a:spcPts val="3"/>
                        </a:spcBef>
                        <a:tabLst>
                          <a:tab algn="l" pos="0"/>
                        </a:tabLst>
                      </a:pPr>
                      <a:r>
                        <a:rPr b="1" lang="en-US" sz="1800" spc="-1" strike="noStrike">
                          <a:solidFill>
                            <a:srgbClr val="7351c7"/>
                          </a:solidFill>
                          <a:latin typeface="Verdana"/>
                          <a:ea typeface="Verdana"/>
                        </a:rPr>
                        <a:t>Illustrative target</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27.8%</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27.2%</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12240">
                      <a:solidFill>
                        <a:srgbClr val="000000"/>
                      </a:solidFill>
                      <a:prstDash val="solid"/>
                    </a:lnB>
                    <a:solidFill>
                      <a:srgbClr val="eee7fa"/>
                    </a:solidFill>
                  </a:tcPr>
                </a:tc>
              </a:tr>
              <a:tr h="742320">
                <a:tc>
                  <a:txBody>
                    <a:bodyPr anchor="ctr">
                      <a:noAutofit/>
                    </a:bodyPr>
                    <a:p>
                      <a:pPr>
                        <a:lnSpc>
                          <a:spcPct val="100000"/>
                        </a:lnSpc>
                        <a:tabLst>
                          <a:tab algn="l" pos="0"/>
                        </a:tabLst>
                      </a:pPr>
                      <a:r>
                        <a:rPr b="1" lang="en-US" sz="1800" spc="-1" strike="noStrike">
                          <a:solidFill>
                            <a:srgbClr val="7351c7"/>
                          </a:solidFill>
                          <a:latin typeface="Verdana"/>
                          <a:ea typeface="Verdana"/>
                        </a:rPr>
                        <a:t>Gate + refinement</a:t>
                      </a:r>
                      <a:endParaRPr b="0" lang="en-US" sz="1800" spc="-1" strike="noStrike">
                        <a:solidFill>
                          <a:srgbClr val="000000"/>
                        </a:solidFill>
                        <a:latin typeface="Arial"/>
                      </a:endParaRPr>
                    </a:p>
                    <a:p>
                      <a:pPr>
                        <a:lnSpc>
                          <a:spcPct val="100000"/>
                        </a:lnSpc>
                        <a:spcBef>
                          <a:spcPts val="3"/>
                        </a:spcBef>
                        <a:tabLst>
                          <a:tab algn="l" pos="0"/>
                        </a:tabLst>
                      </a:pPr>
                      <a:r>
                        <a:rPr b="1" lang="en-US" sz="1800" spc="-1" strike="noStrike">
                          <a:solidFill>
                            <a:srgbClr val="7351c7"/>
                          </a:solidFill>
                          <a:latin typeface="Verdana"/>
                          <a:ea typeface="Verdana"/>
                        </a:rPr>
                        <a:t>Illustrative target</a:t>
                      </a:r>
                      <a:endParaRPr b="0" lang="en-US" sz="1800" spc="-1" strike="noStrike">
                        <a:solidFill>
                          <a:srgbClr val="000000"/>
                        </a:solidFill>
                        <a:latin typeface="Arial"/>
                      </a:endParaRPr>
                    </a:p>
                  </a:txBody>
                  <a:tcPr anchor="ctr" marL="91440" marR="91440">
                    <a:lnL w="9360">
                      <a:solidFill>
                        <a:srgbClr val="cfd7e2"/>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28.3%</a:t>
                      </a:r>
                      <a:endParaRPr b="0" lang="en-US" sz="1729"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9360">
                      <a:solidFill>
                        <a:srgbClr val="cfd7e2"/>
                      </a:solidFill>
                      <a:prstDash val="solid"/>
                    </a:lnB>
                    <a:solidFill>
                      <a:srgbClr val="eee7fa"/>
                    </a:solidFill>
                  </a:tcPr>
                </a:tc>
                <a:tc>
                  <a:txBody>
                    <a:bodyPr anchor="ctr">
                      <a:noAutofit/>
                    </a:bodyPr>
                    <a:p>
                      <a:pPr algn="ctr">
                        <a:lnSpc>
                          <a:spcPct val="100000"/>
                        </a:lnSpc>
                        <a:tabLst>
                          <a:tab algn="l" pos="0"/>
                        </a:tabLst>
                      </a:pPr>
                      <a:r>
                        <a:rPr b="1" lang="en-US" sz="1729" spc="-1" strike="noStrike">
                          <a:solidFill>
                            <a:srgbClr val="7351c7"/>
                          </a:solidFill>
                          <a:latin typeface="Verdana"/>
                          <a:ea typeface="Verdana"/>
                        </a:rPr>
                        <a:t>≈</a:t>
                      </a:r>
                      <a:r>
                        <a:rPr b="1" lang="en-US" sz="1729" spc="-1" strike="noStrike">
                          <a:solidFill>
                            <a:srgbClr val="7351c7"/>
                          </a:solidFill>
                          <a:latin typeface="Verdana"/>
                          <a:ea typeface="Verdana"/>
                        </a:rPr>
                        <a:t>28.7%</a:t>
                      </a:r>
                      <a:endParaRPr b="0" lang="en-US" sz="1729" spc="-1" strike="noStrike">
                        <a:solidFill>
                          <a:srgbClr val="000000"/>
                        </a:solidFill>
                        <a:latin typeface="Arial"/>
                      </a:endParaRPr>
                    </a:p>
                  </a:txBody>
                  <a:tcPr anchor="ctr" marL="91440" marR="91440">
                    <a:lnL w="12240">
                      <a:solidFill>
                        <a:srgbClr val="000000"/>
                      </a:solidFill>
                      <a:prstDash val="solid"/>
                    </a:lnL>
                    <a:lnR w="9360">
                      <a:solidFill>
                        <a:srgbClr val="cfd7e2"/>
                      </a:solidFill>
                      <a:prstDash val="solid"/>
                    </a:lnR>
                    <a:lnT w="12240">
                      <a:solidFill>
                        <a:srgbClr val="000000"/>
                      </a:solidFill>
                      <a:prstDash val="solid"/>
                    </a:lnT>
                    <a:lnB w="9360">
                      <a:solidFill>
                        <a:srgbClr val="cfd7e2"/>
                      </a:solidFill>
                      <a:prstDash val="solid"/>
                    </a:lnB>
                    <a:solidFill>
                      <a:srgbClr val="eee7fa"/>
                    </a:solidFill>
                  </a:tcPr>
                </a:tc>
              </a:tr>
            </a:tbl>
          </a:graphicData>
        </a:graphic>
      </p:graphicFrame>
      <p:sp>
        <p:nvSpPr>
          <p:cNvPr id="1493" name="Google Shape;1619;p29"/>
          <p:cNvSpPr/>
          <p:nvPr/>
        </p:nvSpPr>
        <p:spPr>
          <a:xfrm>
            <a:off x="533520" y="5581800"/>
            <a:ext cx="1112436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1650" spc="-1" strike="noStrike">
                <a:solidFill>
                  <a:srgbClr val="58677c"/>
                </a:solidFill>
                <a:latin typeface="Verdana"/>
                <a:ea typeface="Verdana"/>
              </a:rPr>
              <a:t>Error reductions are relative to ConvFuser. Baseline localization errors remain to be entered.</a:t>
            </a:r>
            <a:endParaRPr b="0" lang="en-US" sz="1650" spc="-1" strike="noStrike">
              <a:solidFill>
                <a:srgbClr val="000000"/>
              </a:solidFill>
              <a:latin typeface="Arial"/>
            </a:endParaRPr>
          </a:p>
        </p:txBody>
      </p:sp>
      <p:sp>
        <p:nvSpPr>
          <p:cNvPr id="1494" name="Google Shape;1620;p29"/>
          <p:cNvSpPr/>
          <p:nvPr/>
        </p:nvSpPr>
        <p:spPr>
          <a:xfrm>
            <a:off x="533520" y="5962680"/>
            <a:ext cx="11124360" cy="3326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800" spc="-1" strike="noStrike">
                <a:solidFill>
                  <a:srgbClr val="7351c7"/>
                </a:solidFill>
                <a:latin typeface="Verdana"/>
                <a:ea typeface="Verdana"/>
              </a:rPr>
              <a:t>Illustrative targets require evaluation.</a:t>
            </a:r>
            <a:endParaRPr b="0" lang="en-US" sz="1800" spc="-1" strike="noStrike">
              <a:solidFill>
                <a:srgbClr val="000000"/>
              </a:solidFill>
              <a:latin typeface="Arial"/>
            </a:endParaRPr>
          </a:p>
        </p:txBody>
      </p:sp>
      <p:sp>
        <p:nvSpPr>
          <p:cNvPr id="1495" name="Google Shape;1621;p29"/>
          <p:cNvSpPr/>
          <p:nvPr/>
        </p:nvSpPr>
        <p:spPr>
          <a:xfrm>
            <a:off x="533520" y="6438960"/>
            <a:ext cx="11124360" cy="2660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500" spc="-1" strike="noStrike">
                <a:solidFill>
                  <a:srgbClr val="16253b"/>
                </a:solidFill>
                <a:latin typeface="Verdana"/>
                <a:ea typeface="Verdana"/>
              </a:rPr>
              <a:t>Same split, initialization, training budget and seed policy</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2026-10-20T02:28:11Z</dcterms:created>
  <dc:creator>Walnut Exporter</dc:creator>
  <dc:description/>
  <dc:language>en-US</dc:language>
  <cp:lastModifiedBy/>
  <dcterms:modified xsi:type="dcterms:W3CDTF">2026-10-20T13:00:36Z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