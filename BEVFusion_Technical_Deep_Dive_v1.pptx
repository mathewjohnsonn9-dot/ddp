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8" r:id="rId4"/>
    <p:sldMasterId id="2147483709" r:id="rId5"/>
    <p:sldMasterId id="2147483710" r:id="rId6"/>
    <p:sldMasterId id="2147483711" r:id="rId7"/>
    <p:sldMasterId id="2147483712"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Lst>
  <p:sldSz cy="8572500" cx="1524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5E7CD04-70E1-4013-8DFE-BD906A8056AE}">
  <a:tblStyle styleId="{95E7CD04-70E1-4013-8DFE-BD906A8056A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20" Type="http://schemas.openxmlformats.org/officeDocument/2006/relationships/slide" Target="slides/slide11.xml"/><Relationship Id="rId42" Type="http://schemas.openxmlformats.org/officeDocument/2006/relationships/slide" Target="slides/slide33.xml"/><Relationship Id="rId41" Type="http://schemas.openxmlformats.org/officeDocument/2006/relationships/slide" Target="slides/slide32.xml"/><Relationship Id="rId22" Type="http://schemas.openxmlformats.org/officeDocument/2006/relationships/slide" Target="slides/slide13.xml"/><Relationship Id="rId21" Type="http://schemas.openxmlformats.org/officeDocument/2006/relationships/slide" Target="slides/slide12.xml"/><Relationship Id="rId43" Type="http://schemas.openxmlformats.org/officeDocument/2006/relationships/slide" Target="slides/slide34.xml"/><Relationship Id="rId24" Type="http://schemas.openxmlformats.org/officeDocument/2006/relationships/slide" Target="slides/slide15.xml"/><Relationship Id="rId23" Type="http://schemas.openxmlformats.org/officeDocument/2006/relationships/slide" Target="slides/slide14.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notesMaster" Target="notesMasters/notesMaster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0.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2.xml"/><Relationship Id="rId30" Type="http://schemas.openxmlformats.org/officeDocument/2006/relationships/slide" Target="slides/slide21.xml"/><Relationship Id="rId11" Type="http://schemas.openxmlformats.org/officeDocument/2006/relationships/slide" Target="slides/slide2.xml"/><Relationship Id="rId33" Type="http://schemas.openxmlformats.org/officeDocument/2006/relationships/slide" Target="slides/slide24.xml"/><Relationship Id="rId10" Type="http://schemas.openxmlformats.org/officeDocument/2006/relationships/slide" Target="slides/slide1.xml"/><Relationship Id="rId32" Type="http://schemas.openxmlformats.org/officeDocument/2006/relationships/slide" Target="slides/slide23.xml"/><Relationship Id="rId13" Type="http://schemas.openxmlformats.org/officeDocument/2006/relationships/slide" Target="slides/slide4.xml"/><Relationship Id="rId35" Type="http://schemas.openxmlformats.org/officeDocument/2006/relationships/slide" Target="slides/slide26.xml"/><Relationship Id="rId12" Type="http://schemas.openxmlformats.org/officeDocument/2006/relationships/slide" Target="slides/slide3.xml"/><Relationship Id="rId34" Type="http://schemas.openxmlformats.org/officeDocument/2006/relationships/slide" Target="slides/slide25.xml"/><Relationship Id="rId15" Type="http://schemas.openxmlformats.org/officeDocument/2006/relationships/slide" Target="slides/slide6.xml"/><Relationship Id="rId37" Type="http://schemas.openxmlformats.org/officeDocument/2006/relationships/slide" Target="slides/slide28.xml"/><Relationship Id="rId14" Type="http://schemas.openxmlformats.org/officeDocument/2006/relationships/slide" Target="slides/slide5.xml"/><Relationship Id="rId36" Type="http://schemas.openxmlformats.org/officeDocument/2006/relationships/slide" Target="slides/slide27.xml"/><Relationship Id="rId17" Type="http://schemas.openxmlformats.org/officeDocument/2006/relationships/slide" Target="slides/slide8.xml"/><Relationship Id="rId39" Type="http://schemas.openxmlformats.org/officeDocument/2006/relationships/slide" Target="slides/slide30.xml"/><Relationship Id="rId16" Type="http://schemas.openxmlformats.org/officeDocument/2006/relationships/slide" Target="slides/slide7.xml"/><Relationship Id="rId38" Type="http://schemas.openxmlformats.org/officeDocument/2006/relationships/slide" Target="slides/slide29.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0" y="812520"/>
            <a:ext cx="360" cy="3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spcBef>
                <a:spcPts val="0"/>
              </a:spcBef>
              <a:spcAft>
                <a:spcPts val="0"/>
              </a:spcAft>
              <a:buNone/>
            </a:pPr>
            <a:fld id="{00000000-1234-1234-1234-123412341234}" type="slidenum">
              <a:rPr b="0" i="0" lang="en-US" sz="1400" u="none" cap="none" strike="noStrike">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1: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I extended the MMDetection3D BEVFusion implementation with two modules: a spatial camera–LiDAR gate and a proposal-level geometry-refinement head. The first intervention asks whether learned modality weighting helps a detector use the available evidence. The second gives each coarse proposal a local BEV context feature before correcting its box parameters.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This is a research prototype on nuScenes mini. The recorded six-epoch gate experiment underperformed the joint baseline. The refinement branch was implemented and a checkpoint was used for qualitative visualization, but the repository does not preserve its final quantitative log. The contribution I can discuss in depth is the architecture, framework integration, and experimental reasoning. The next decision requires a matched quantitative ablation.</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https://github.com/Ulteraa/research-projects/blob/main/bevfusion-reliable-refinement/README.md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https://github.com/Ulteraa/research-projects/blob/main/bevfusion-reliable-refinement/RESULTS.md</a:t>
            </a:r>
            <a:endParaRPr b="0" sz="2000" strike="noStrike">
              <a:latin typeface="Arial"/>
              <a:ea typeface="Arial"/>
              <a:cs typeface="Arial"/>
              <a:sym typeface="Arial"/>
            </a:endParaRPr>
          </a:p>
        </p:txBody>
      </p:sp>
      <p:sp>
        <p:nvSpPr>
          <p:cNvPr id="267" name="Google Shape;267;p1: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2: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My work changes two specific interfaces. The first replaces ConvFuser at the image-BEV/LiDAR-BEV fusion boundary. The second subclasses the existing TransFusion head and augments its prediction path with local context and residual box corrections.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image backbone, depth-transform implementation, sparse LiDAR encoder, shared BEV backbone, query decoder, target assignment, and nuScenes evaluator come from the upstream framework. Those are dependencies I integrated and need to understand, rather than original contributions of this project. The experiment record contains a small-data negative result for the first extension and an incomplete quantitative record for the combined model.</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personal contribution discussion should use concrete implementation decisions: why the gate is spatial, why the LiDAR bypass remains, why local sampling is differentiable, and why the loss operates on the final encoded box.</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https://github.com/Ulteraa/research-projects/blob/main/bevfusion-reliable-refinement/src/transfusion_head.py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https://github.com/Ulteraa/research-projects/blob/main/bevfusion-reliable-refinement/configs/bevfusion_lidar-cam_reliablefuser_voxel0075_second_secfpn_8xb4-cyclic-20e_nus-3d.py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https://github.com/Ulteraa/research-projects/blob/main/bevfusion-reliable-refinement/configs/bevfusion_lidar-cam_reliablefuser_objectrefine_6e_mini.py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4. https://github.com/open-mmlab/mmdetection3d/blob/v1.4.0/projects/BEVFusion/bevfusion/bevfusion.py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5. https://github.com/Ulteraa/research-projects/blob/main/bevfusion-reliable-refinement/RESULTS.md</a:t>
            </a:r>
            <a:endParaRPr b="0" sz="2000" strike="noStrike">
              <a:latin typeface="Arial"/>
              <a:ea typeface="Arial"/>
              <a:cs typeface="Arial"/>
              <a:sym typeface="Arial"/>
            </a:endParaRPr>
          </a:p>
        </p:txBody>
      </p:sp>
      <p:sp>
        <p:nvSpPr>
          <p:cNvPr id="276" name="Google Shape;276;p2: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3: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camera path takes six views, runs a Swin-Tiny image backbone and a GeneralizedLSSFPN neck, then applies DepthLSSTransform. This produces an 80-channel image BEV. The LiDAR path aggregates the current scan and up to nine previous sweeps, performs hard voxelization with voxel-wise mean features, and uses a sparse 3D encoder to produce a 256-channel BEV.</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LiDAR points are also projected into image coordinates to form a sparse depth signal for the DepthLSSTransform, so the camera lift in this configuration is LiDAR-conditioned. This is a cross-modal dependency before the explicit BEV fusion point.</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custom fuser combines the image BEV and LiDAR BEV tensors into 256 channels. The shared SECOND backbone and SECONDFPN run after this fusion boundary and yield 512 channels for the detection head. A shared head convolution reduces that to 128 channels. TransFusion selects 200 proposals, updates their query features through attention, and predicts coarse boxes. My refinement branch samples local patches from the shared 128-channel head BEV and predicts geometry and velocity residuals.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order matters. Describing SECOND/FPN as a LiDAR-only stage before the fuser would misrepresent this implementation.</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https://github.com/open-mmlab/mmdetection3d/blob/v1.4.0/projects/BEVFusion/configs/bevfusion_lidar-cam_voxel0075_second_secfpn_8xb4-cyclic-20e_nus-3d.py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https://github.com/open-mmlab/mmdetection3d/blob/v1.4.0/projects/BEVFusion/configs/bevfusion_lidar_voxel0075_second_secfpn_8xb4-cyclic-20e_nus-3d.py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https://github.com/open-mmlab/mmdetection3d/blob/v1.4.0/projects/BEVFusion/bevfusion/bevfusion.py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4. https://github.com/Ulteraa/research-projects/blob/main/bevfusion-reliable-refinement/src/transfusion_head.py</a:t>
            </a:r>
            <a:endParaRPr b="0" sz="2000" strike="noStrike">
              <a:latin typeface="Arial"/>
              <a:ea typeface="Arial"/>
              <a:cs typeface="Arial"/>
              <a:sym typeface="Arial"/>
            </a:endParaRPr>
          </a:p>
        </p:txBody>
      </p:sp>
      <p:sp>
        <p:nvSpPr>
          <p:cNvPr id="286" name="Google Shape;286;p3: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4: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4: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I use p superscripts to identify the coordinate frame. R superscript c subscript l maps a LiDAR-frame vector into camera coordinates, and t supplies the translated origin. Intrinsics K then project camera coordinates to the image, followed by division by camera Z. Camera depth means Z along the optical axis in these equations, rather than Euclidean range.</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reverse mapping requires a depth hypothesis d. Multiplying the homogeneous pixel ray by d and applying camera-to-LiDAR extrinsics yields a 3D point in the common frame. Intrinsics and extrinsics alone do not provide the missing depth.</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This project consumes calibration metadata. It does not estimate a new calibration. The depth-transform code reverses the recorded image augmentation, applies camera-to-LiDAR geometry, and then applies the LiDAR augmentation. If I needed to debug alignment, I would first inspect projected LiDAR points over all six images and verify the transform direction and units.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https://github.com/open-mmlab/mmdetection3d/blob/v1.4.0/projects/BEVFusion/bevfusion/depth_lss.py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https://github.com/open-mmlab/mmdetection3d/blob/v1.4.0/projects/BEVFusion/bevfusion/bevfusion.py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https://github.com/open-mmlab/mmdetection3d/blob/v1.4.0/projects/BEVFusion/configs/bevfusion_lidar-cam_voxel0075_second_secfpn_8xb4-cyclic-20e_nus-3d.py</a:t>
            </a:r>
            <a:endParaRPr b="0" sz="2000" strike="noStrike">
              <a:latin typeface="Arial"/>
              <a:ea typeface="Arial"/>
              <a:cs typeface="Arial"/>
              <a:sym typeface="Arial"/>
            </a:endParaRPr>
          </a:p>
        </p:txBody>
      </p:sp>
      <p:sp>
        <p:nvSpPr>
          <p:cNvPr id="341" name="Google Shape;341;p4: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p5: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configured module is DepthLSSTransform, not a purely image-only LSS implementation. It projects the LiDAR points into each camera to form a sparse depth image. A small depth encoder turns that image into 64 feature channels at the image-feature resolution. The depth network consumes those features together with the 256-channel image representation.</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Its output separates into 118 depth logits and 80 context channels. Softmax over depth bins gives a distribution at each feature location. The outer product of depth probability and context creates a frustum feature volume. Calibration maps every depth hypothesis into the LiDAR reference frame, and BEV pooling sums features into cells. A convolutional downsampling stage converts the 360-by-360 image BEV into 180-by-180.</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inherited model loss here is detection supervision. There is no separately configured depth-supervision loss in this path. Sparse LiDAR depth is an input conditioning signal. Because this path uses LiDAR, complete LiDAR failure affects both branches.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https://github.com/open-mmlab/mmdetection3d/blob/v1.4.0/projects/BEVFusion/bevfusion/depth_lss.py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https://github.com/open-mmlab/mmdetection3d/blob/v1.4.0/projects/BEVFusion/configs/bevfusion_lidar-cam_voxel0075_second_secfpn_8xb4-cyclic-20e_nus-3d.py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https://github.com/open-mmlab/mmdetection3d/blob/v1.4.0/projects/BEVFusion/bevfusion/bevfusion.py</a:t>
            </a:r>
            <a:endParaRPr b="0" sz="2000" strike="noStrike">
              <a:latin typeface="Arial"/>
              <a:ea typeface="Arial"/>
              <a:cs typeface="Arial"/>
              <a:sym typeface="Arial"/>
            </a:endParaRPr>
          </a:p>
        </p:txBody>
      </p:sp>
      <p:sp>
        <p:nvSpPr>
          <p:cNvPr id="367" name="Google Shape;367;p5: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6: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loader uses five point features. After multi-sweep loading, the last feature represents the time lag of each sweep. The configuration requests nine historical sweeps in addition to the current scan. Ego-motion alignment is part of loading the sweep data into a reference frame, but moving objects can still leave temporal trails.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Voxelization is hard and the implementation averages the point features within each retained voxel before sparse encoding. The code directly passes these features into the sparse middle encoder. The configured voxel dimensions are 7.5 cm horizontally and 20 cm vertically. The 41 entry in the sparse shape is an implementation shape convention that includes padding, rather than a claim of 41 full physical z bins in an 8 m range.</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After sparse convolution and height-to-channel folding, the LiDAR BEV has 256 channels at 180 by 180. The final center encoding uses stride 8 relative to the original 7.5 cm x-y voxel grid, giving a 60 cm feature step.</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https://github.com/open-mmlab/mmdetection3d/blob/v1.4.0/projects/BEVFusion/configs/bevfusion_lidar_voxel0075_second_secfpn_8xb4-cyclic-20e_nus-3d.py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https://github.com/open-mmlab/mmdetection3d/blob/v1.4.0/projects/BEVFusion/bevfusion/bevfusion.py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https://github.com/open-mmlab/mmdetection3d/blob/v1.4.0/projects/BEVFusion/configs/bevfusion_lidar-cam_voxel0075_second_secfpn_8xb4-cyclic-20e_nus-3d.py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4. https://github.com/open-mmlab/mmdetection3d/blob/v1.4.0/projects/BEVFusion/bevfusion/sparse_encoder.py</a:t>
            </a:r>
            <a:endParaRPr b="0" sz="2000" strike="noStrike">
              <a:latin typeface="Arial"/>
              <a:ea typeface="Arial"/>
              <a:cs typeface="Arial"/>
              <a:sym typeface="Arial"/>
            </a:endParaRPr>
          </a:p>
        </p:txBody>
      </p:sp>
      <p:sp>
        <p:nvSpPr>
          <p:cNvPr id="397" name="Google Shape;397;p6: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7: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 name="Google Shape;406;p7: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baseline concatenates the 80-channel camera BEV with the 256-channel LiDAR BEV and applies a 3-by-3 convolution, BatchNorm, and ReLU. My replacement first uses separate 1-by-1 projections to put both modalities into a 128-channel hidden space.</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gating network receives the projected image features U, projected LiDAR features V, a normalized LiDAR feature-norm proxy O, and a learned image reliability map R. Its sigmoid output G has shape B-by-1-by-180-by-180. The same scalar broadcasts over all 128 channels at a location. The weighted features remain separate until concatenation and the output convolution.</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A learned linear projection of V adds a LiDAR residual after the output block. This biases the architecture toward retaining LiDAR information. It does not prove geometric correctness or robustness to corrupted LiDAR. The final output is nonlinear and includes a residual, so it is not a calibrated convex combination of two sensor estimates.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https://github.com/Ulteraa/research-projects/blob/main/bevfusion-reliable-refinement/src/transfusion_head.py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https://github.com/Ulteraa/research-projects/blob/main/bevfusion-reliable-refinement/configs/bevfusion_lidar-cam_reliablefuser_voxel0075_second_secfpn_8xb4-cyclic-20e_nus-3d.py</a:t>
            </a:r>
            <a:endParaRPr b="0" sz="2000" strike="noStrike">
              <a:latin typeface="Arial"/>
              <a:ea typeface="Arial"/>
              <a:cs typeface="Arial"/>
              <a:sym typeface="Arial"/>
            </a:endParaRPr>
          </a:p>
        </p:txBody>
      </p:sp>
      <p:sp>
        <p:nvSpPr>
          <p:cNvPr id="407" name="Google Shape;407;p7: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8: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 name="Google Shape;440;p8: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occupancy name in the code is shorthand. O is the L2 norm of the learned LiDAR features, normalized by the maximum norm in the same sample, with an epsilon clamp. Because projection, BatchNorm, and ReLU precede it, O is not an explicit count of points in a physical cell.</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Similarly, the sigmoid map R is produced from image features without a dedicated reliability target. Both the map and the gate receive indirect supervision from detection losses. Their values should not be interpreted as measured probabilities that a camera is correct.</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model can exploit useful spatial patterns through these signals, but that is a hypothesis to test. I would compare gate values against point density, depth entropy, range, blur, and actual localization errors under controlled corruption. I would also monitor gate histograms and saturation. A LiDAR residual makes the fusion asymmetric and means setting G near one does not remove LiDAR from the system.</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https://github.com/Ulteraa/research-projects/blob/main/bevfusion-reliable-refinement/src/transfusion_head.py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https://github.com/Ulteraa/research-projects/blob/main/bevfusion-reliable-refinement/RESULTS.md</a:t>
            </a:r>
            <a:endParaRPr b="0" sz="2000" strike="noStrike">
              <a:latin typeface="Arial"/>
              <a:ea typeface="Arial"/>
              <a:cs typeface="Arial"/>
              <a:sym typeface="Arial"/>
            </a:endParaRPr>
          </a:p>
        </p:txBody>
      </p:sp>
      <p:sp>
        <p:nvSpPr>
          <p:cNvPr id="441" name="Google Shape;441;p8: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9: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9" name="Google Shape;459;p9: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shared BEV backbone and neck produce a 512-channel map. The detection head first reduces it to 128 channels. A dense ten-class heatmap identifies object-center candidates. Local-maximum suppression precedes a top-200 selection across class and spatial location. The proposal query combines a gathered BEV feature with an embedding of the selected class.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configured decoder has one layer and eight heads. Its keys and values come from the flattened shared BEV, not from six separate camera feature maps. This is the BEVFusion use of a TransFusion-style detection head. The original TransFusion paper and other implementations may include different image cross-attention stages.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Top-k selection uses detached heatmap probabilities, so the discrete selection is not differentiable. The separate dense heatmap loss trains that branch. Query prediction losses still train the gathered features and attention path. Self-attention models interactions among the selected queries, while cross-attention gathers scene context.</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https://github.com/Ulteraa/research-projects/blob/main/bevfusion-reliable-refinement/src/transfusion_head.py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https://github.com/open-mmlab/mmdetection3d/blob/v1.4.0/projects/BEVFusion/configs/bevfusion_lidar_voxel0075_second_secfpn_8xb4-cyclic-20e_nus-3d.py</a:t>
            </a:r>
            <a:endParaRPr b="0" sz="2000" strike="noStrike">
              <a:latin typeface="Arial"/>
              <a:ea typeface="Arial"/>
              <a:cs typeface="Arial"/>
              <a:sym typeface="Arial"/>
            </a:endParaRPr>
          </a:p>
        </p:txBody>
      </p:sp>
      <p:sp>
        <p:nvSpPr>
          <p:cNvPr id="460" name="Google Shape;460;p9: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10: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p10: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For each decoder query, the coarse center equals its predicted center offset plus the query position. I construct a local grid around that center with integer offsets from minus two to plus two in each axis. The tensor passed to grid_sample has shape B-by-200-by-25-by-2, which produces B-by-128-by-200-by-25 sampled features.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code uses bilinear interpolation, zero padding, and align_corners=True. The normalizing denominators W minus one and H minus one follow that convention. Averaging over the 25 locations produces a single 128-channel local-context vector. A 1-by-1 Conv1d fuses it with the query.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offset lattice spans 2.4 m between its outer sample centers at 0.6 m per step. It is fixed in the BEV coordinate frame, not rotated or scaled with the predicted box. That simplicity limits cost, but may underserve large trucks, trailers, or elongated objects.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https://github.com/Ulteraa/research-projects/blob/main/bevfusion-reliable-refinement/src/transfusion_head.py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https://github.com/open-mmlab/mmdetection3d/blob/v1.4.0/projects/BEVFusion/configs/bevfusion_lidar_voxel0075_second_secfpn_8xb4-cyclic-20e_nus-3d.py</a:t>
            </a:r>
            <a:endParaRPr b="0" sz="2000" strike="noStrike">
              <a:latin typeface="Arial"/>
              <a:ea typeface="Arial"/>
              <a:cs typeface="Arial"/>
              <a:sym typeface="Arial"/>
            </a:endParaRPr>
          </a:p>
        </p:txBody>
      </p:sp>
      <p:sp>
        <p:nvSpPr>
          <p:cNvPr id="493" name="Google Shape;493;p10: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11: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8" name="Google Shape;548;p11: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word residual needs a precise coordinate definition. The inherited box coder represents x-y centers in feature coordinates, physical height in metric coordinates, dimensions as logarithms, yaw through sine and cosine, and velocity as two components. The refinement head predicts residuals for these ten encoded values.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Adding a log-dimension residual produces a multiplicative change after exponentiation. Adding to sine and cosine changes yaw through atan2; it is not equivalent to directly adding a yaw angle. A one-cell center correction corresponds to 0.6 m in this configuration. The inherited coder handles conversion between physical bottom center and the gravity-center height representation.</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Refine_weight multiplies the predicted residual during the forward pass. It is not a weight on a separate refinement loss. The code overwrites the geometry predictions and applies the inherited detection losses to the resulting boxes. The refinement branch leaves the class-score path unchanged.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https://github.com/Ulteraa/research-projects/blob/main/bevfusion-reliable-refinement/src/transfusion_head.py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https://github.com/open-mmlab/mmdetection3d/blob/v1.4.0/projects/BEVFusion/bevfusion/utils.py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https://github.com/open-mmlab/mmdetection3d/blob/v1.4.0/projects/BEVFusion/configs/bevfusion_lidar_voxel0075_second_secfpn_8xb4-cyclic-20e_nus-3d.py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4. https://github.com/Ulteraa/research-projects/blob/main/bevfusion-reliable-refinement/configs/bevfusion_lidar-cam_reliablefuser_objectrefine_6e_mini.py</a:t>
            </a:r>
            <a:endParaRPr b="0" sz="2000" strike="noStrike">
              <a:latin typeface="Arial"/>
              <a:ea typeface="Arial"/>
              <a:cs typeface="Arial"/>
              <a:sym typeface="Arial"/>
            </a:endParaRPr>
          </a:p>
        </p:txBody>
      </p:sp>
      <p:sp>
        <p:nvSpPr>
          <p:cNvPr id="549" name="Google Shape;549;p11: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12: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4" name="Google Shape;564;p12: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inherited objective has three components. Gaussian focal loss supervises the dense center heatmap. Sigmoid focal loss, with alpha 0.25 and gamma 2, supervises proposal classification. A weighted L1 loss supervises encoded boxes and has overall coefficient 0.25. Velocity codes receive an additional factor of 0.2 relative to the other codes.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Before computing proposal losses, the Hungarian assigner matches predicted boxes to ground truth using weighted classification, normalized x-y center distance, and 3D IoU costs. A matching cost determines assignment. It is distinct from a differentiable loss term. This configuration has no separate IoU regression loss.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final refined geometry receives the regression supervision. Both the query route and the local sampling route can receive gradients through the final prediction. In particular, the sampled-grid center is not detached before grid_sample. There is no independent coarse-box loss preserved by this custom refinement step in the configured single decoder layer.</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https://github.com/Ulteraa/research-projects/blob/main/bevfusion-reliable-refinement/src/transfusion_head.py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https://github.com/open-mmlab/mmdetection3d/blob/v1.4.0/projects/BEVFusion/configs/bevfusion_lidar_voxel0075_second_secfpn_8xb4-cyclic-20e_nus-3d.py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https://github.com/open-mmlab/mmdetection3d/blob/v1.4.0/projects/BEVFusion/bevfusion/utils.py</a:t>
            </a:r>
            <a:endParaRPr b="0" sz="2000" strike="noStrike">
              <a:latin typeface="Arial"/>
              <a:ea typeface="Arial"/>
              <a:cs typeface="Arial"/>
              <a:sym typeface="Arial"/>
            </a:endParaRPr>
          </a:p>
        </p:txBody>
      </p:sp>
      <p:sp>
        <p:nvSpPr>
          <p:cNvPr id="565" name="Google Shape;565;p12: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13: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0" name="Google Shape;580;p13: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clean overlays inherit the joint camera–LiDAR configuration from MMDetection3D v1.4.0. Despite the 20e name, that base configuration sets a six-epoch schedule. The refinement overlay also explicitly sets six epochs and a per-GPU batch size of one. It enables find_unused_parameters for the distributed wrapper, reflecting the integration/debugging setup.</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optimizer is AdamW with learning rate 0.0002 and weight decay 0.01, with L2 gradient clipping at norm 35. The config combines a 500-iteration linear warm-up with a six-epoch cosine schedule. A small dataset can make that warm-up a large portion of the run, so effective iteration counts should be audited. The README commands request mixed precision.</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official mini dataset has eight train scenes and two validation scenes. Original annotation-info files, seeds, runtime configuration dumps, checkpoints, and scalar logs are not included. These details prevent a claim of a fully reproducible matched comparison from the archive alone.</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https://github.com/open-mmlab/mmdetection3d/blob/v1.4.0/projects/BEVFusion/configs/bevfusion_lidar-cam_voxel0075_second_secfpn_8xb4-cyclic-20e_nus-3d.py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https://github.com/Ulteraa/research-projects/blob/main/bevfusion-reliable-refinement/configs/bevfusion_lidar-cam_reliablefuser_objectrefine_6e_mini.py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https://github.com/Ulteraa/research-projects/blob/main/bevfusion-reliable-refinement/README.md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4. https://github.com/nutonomy/nuscenes-devkit/blob/master/python-sdk/nuscenes/utils/splits.py</a:t>
            </a:r>
            <a:endParaRPr b="0" sz="2000" strike="noStrike">
              <a:latin typeface="Arial"/>
              <a:ea typeface="Arial"/>
              <a:cs typeface="Arial"/>
              <a:sym typeface="Arial"/>
            </a:endParaRPr>
          </a:p>
        </p:txBody>
      </p:sp>
      <p:sp>
        <p:nvSpPr>
          <p:cNvPr id="581" name="Google Shape;581;p13: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14: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0" name="Google Shape;590;p14: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nuScenes AP matches detections to ground truth by horizontal center distance. It averages AP over thresholds of 0.5, 1, 2, and 4 m and across ten detection classes. This is different from an IoU-threshold definition of AP. The official evaluator also applies its precision/recall conventions and class-dependent range filtering.</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NDS gives half its total possible score to mAP and half to five transformed true-positive error terms. Those terms summarize translation, scale, orientation, velocity, and attribute error. The official code converts each mean error to max of zero and one minus the error before averaging with the weighted mAP.</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To test the geometric motivation of this project, I need the individual error components, particularly mATE, mASE, and mAOE, as well as per-class and distance-sliced results. The archive only preserves mAP and NDS for two variants. Those aggregates alone cannot establish which geometric component improved or degraded.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https://github.com/nutonomy/nuscenes-devkit/blob/master/python-sdk/nuscenes/eval/detection/README.md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https://github.com/nutonomy/nuscenes-devkit/blob/master/python-sdk/nuscenes/eval/detection/data_classes.py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https://github.com/Ulteraa/research-projects/blob/main/bevfusion-reliable-refinement/RESULTS.md</a:t>
            </a:r>
            <a:endParaRPr b="0" sz="2000" strike="noStrike">
              <a:latin typeface="Arial"/>
              <a:ea typeface="Arial"/>
              <a:cs typeface="Arial"/>
              <a:sym typeface="Arial"/>
            </a:endParaRPr>
          </a:p>
        </p:txBody>
      </p:sp>
      <p:sp>
        <p:nvSpPr>
          <p:cNvPr id="591" name="Google Shape;591;p14: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5: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1" name="Google Shape;601;p15: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preserved summary reports mAP 0.2578 and NDS 0.2520 for the joint ConvFuser baseline, versus mAP 0.2392 and NDS 0.2415 for the custom reliability-aware fuser. I display these as percentages consistently. The differences are minus 1.86 percentage points of mAP and minus 1.05 percentage points of NDS.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This is a negative result for that recorded short run. It does not establish that gating is intrinsically worse, because initialization, seeds, training dynamics, and variability are not recoverable from the raw archive. It also provides no evidence of a gain.</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refinement variant has a qualitative checkpoint description but no preserved final metric. Qualitative boxes can diagnose behavior, but cannot substitute for aggregate evaluation or a matched baseline. The technically useful response to this result is a more discriminating ablation with fixed provenance, geometry-specific errors, and runtime measurements.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https://github.com/Ulteraa/research-projects/blob/main/bevfusion-reliable-refinement/RESULTS.md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https://github.com/Ulteraa/research-projects/blob/main/bevfusion-reliable-refinement/README.md</a:t>
            </a:r>
            <a:endParaRPr b="0" sz="2000" strike="noStrike">
              <a:latin typeface="Arial"/>
              <a:ea typeface="Arial"/>
              <a:cs typeface="Arial"/>
              <a:sym typeface="Arial"/>
            </a:endParaRPr>
          </a:p>
        </p:txBody>
      </p:sp>
      <p:sp>
        <p:nvSpPr>
          <p:cNvPr id="602" name="Google Shape;602;p15: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16: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3" name="Google Shape;613;p16: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This native PowerPoint table is a place to enter Fariborz's additional results manually. The first two mAP/NDS cells per row are copied from the repository summary and its supplied screenshots, for the recorded six-epoch mini run. The refinement cells and true-positive error components are intentionally marked [enter]. They must be replaced with numbers from the actual evaluation logs. No numerical improvement is implied by an empty cell.</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Confirm for every run: the dataset split, model checkpoint, epoch and seed, data and preprocessing configuration, and whether evaluation used the same nuScenes devkit and classes. The labels 'ConvFuser + refinement' and 'Gate + refinement' are intended to map the 2×2 ablation; if the user's actual run differs, relabel the row rather than force it into that design.</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If only mAP and NDS are available, fill those and leave the geometry metrics blank. For a geometry-refinement claim, inspect mATE, mASE, mAOE, and distance / class slices if available. An evaluator output is needed to tell whether the correct run improved over an appropriately matched control.</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https://github.com/Ulteraa/research-projects/blob/main/bevfusion-reliable-refinement/RESULTS.md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https://github.com/nutonomy/nuscenes-devkit/blob/master/python-sdk/nuscenes/eval/detection/README.md</a:t>
            </a:r>
            <a:endParaRPr b="0" sz="2000" strike="noStrike">
              <a:latin typeface="Arial"/>
              <a:ea typeface="Arial"/>
              <a:cs typeface="Arial"/>
              <a:sym typeface="Arial"/>
            </a:endParaRPr>
          </a:p>
        </p:txBody>
      </p:sp>
      <p:sp>
        <p:nvSpPr>
          <p:cNvPr id="614" name="Google Shape;614;p16: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17: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5" name="Google Shape;625;p17: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This is a still extracted at approximately ten seconds from the user-supplied cam_front_web_720h.mp4 file. It shows six camera views in a composite layout with 3D box visualizations. The archive contains no metadata linking this video to a particular checkpoint or model variant. Do not call it a before/after refinement result until the run provenance is confirmed.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Use the example to talk about the qualitative evaluation process: inspect 3D cuboid reprojection consistency across views, coverage at long range, localization near occlusion, duplicate predictions, truncation, and low-point-density objects. The still does not by itself establish true positives or a quantitative accuracy gain. Keep the source clip available if interviewers want to see motion over time.</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https://github.com/Ulteraa/research-projects/blob/main/bevfusion-reliable-refinement/README.md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User-supplied cam_front_web_720h.mp4, received October 15, 2026</a:t>
            </a:r>
            <a:endParaRPr b="0" sz="2000" strike="noStrike">
              <a:latin typeface="Arial"/>
              <a:ea typeface="Arial"/>
              <a:cs typeface="Arial"/>
              <a:sym typeface="Arial"/>
            </a:endParaRPr>
          </a:p>
        </p:txBody>
      </p:sp>
      <p:sp>
        <p:nvSpPr>
          <p:cNvPr id="626" name="Google Shape;626;p17: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18: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5" name="Google Shape;635;p18: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negative mini result narrows the next question rather than resolving it. I can verify the mechanism from source, and I can report the archived aggregate result. I cannot infer a causal reason for the decrease from two summary numbers.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Plausible explanations include weak reliability proxies, increased capacity on limited data, sensitivity to normalization at batch size one, or a training/initialization mismatch. These are hypotheses. I would test each with a specific control instead of explaining the result after the fact.</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refinement branch targets a different intervention point: the object representation after coarse proposal generation. It may help a detector use local evidence for center, size, and orientation. Its fixed axis-aligned context and mean pooling also impose limitations. A geometry-only refinement ablation and before/after error slices are needed before deciding whether it deserves further investment.</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https://github.com/Ulteraa/research-projects/blob/main/bevfusion-reliable-refinement/src/transfusion_head.py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https://github.com/Ulteraa/research-projects/blob/main/bevfusion-reliable-refinement/RESULTS.md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https://github.com/Ulteraa/research-projects/blob/main/bevfusion-reliable-refinement/configs/bevfusion_lidar-cam_reliablefuser_objectrefine_6e_mini.py</a:t>
            </a:r>
            <a:endParaRPr b="0" sz="2000" strike="noStrike">
              <a:latin typeface="Arial"/>
              <a:ea typeface="Arial"/>
              <a:cs typeface="Arial"/>
              <a:sym typeface="Arial"/>
            </a:endParaRPr>
          </a:p>
        </p:txBody>
      </p:sp>
      <p:sp>
        <p:nvSpPr>
          <p:cNvPr id="636" name="Google Shape;636;p18: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19: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3" name="Google Shape;653;p19: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This repository is not a deployment record. I would benchmark the complete pipeline on the actual target hardware before reporting throughput. Timing should include preprocessing, data transfer, voxelization, image lifting, shared BEV computation, query decoding, and output conversion. Warm-up and synchronization matter for accurate GPU measurements.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fuser contains 1,112,066 trainable parameters under the shown channel configuration, versus 774,656 in ConvFuser. That is an arithmetic derivation from the layer definitions, including BatchNorm affine parameters and convolution biases where present. It is not a latency estimate.</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Export feasibility depends on supported sparse-convolution, BEV-pooling, attention, and sampling operations. I would first establish PyTorch correctness and numerical parity, then profile bottlenecks, consider fusion or graph simplification, and evaluate FP16 or quantization with geometric-error slices. Any TensorRT experience from Fortna belongs to that production story and should not be presented as a measured result of this research prototype.</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https://github.com/Ulteraa/research-projects/blob/main/bevfusion-reliable-refinement/src/transfusion_head.py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https://github.com/Ulteraa/research-projects/blob/main/bevfusion-reliable-refinement/configs/bevfusion_lidar-cam_reliablefuser_voxel0075_second_secfpn_8xb4-cyclic-20e_nus-3d.py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https://github.com/Ulteraa/research-projects/blob/main/bevfusion-reliable-refinement/README.md</a:t>
            </a:r>
            <a:endParaRPr b="0" sz="2000" strike="noStrike">
              <a:latin typeface="Arial"/>
              <a:ea typeface="Arial"/>
              <a:cs typeface="Arial"/>
              <a:sym typeface="Arial"/>
            </a:endParaRPr>
          </a:p>
        </p:txBody>
      </p:sp>
      <p:sp>
        <p:nvSpPr>
          <p:cNvPr id="654" name="Google Shape;654;p19: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20: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3" name="Google Shape;663;p20: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most useful next experiment is a two-by-two design. The factors are the fusion module and the presence of local box refinement. Comparing ConvFuser with and without refinement isolates the local-head intervention. Comparing the two fusers with the same head isolates the gate. The combined setting then tests interaction rather than confounding both changes.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All variants need the same data split, upstream initialization, optimizer and iteration budget, with multiple seeds. Newly added residual predictors should also be evaluated with zero initialization so a warm-started detector begins with unchanged predictions. That is a proposed control, not a property of the current code.</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I would select models using validation evidence, preserve a held-out evaluation, and inspect per-class and distance-dependent geometry. For the refinement, radius and residual scale are cheap targeted ablations. For the gate, controlled camera blur, LiDAR thinning, calibration perturbation, and missing modalities would test whether the reliability interpretation holds.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https://github.com/Ulteraa/research-projects/blob/main/bevfusion-reliable-refinement/README.md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https://github.com/Ulteraa/research-projects/blob/main/bevfusion-reliable-refinement/RESULTS.md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https://github.com/Ulteraa/research-projects/blob/main/bevfusion-reliable-refinement/src/transfusion_head.py</a:t>
            </a:r>
            <a:endParaRPr b="0" sz="2000" strike="noStrike">
              <a:latin typeface="Arial"/>
              <a:ea typeface="Arial"/>
              <a:cs typeface="Arial"/>
              <a:sym typeface="Arial"/>
            </a:endParaRPr>
          </a:p>
        </p:txBody>
      </p:sp>
      <p:sp>
        <p:nvSpPr>
          <p:cNvPr id="664" name="Google Shape;664;p20: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21: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6" name="Google Shape;676;p21: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This ledger follows the shown config chain and source-level tensor operations. It is useful to state a tensor's semantic dimensions before discussing reshape, gather, concatenation, or sampling.</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camera feature volume explicitly multiplies depth probability by context. The fusion input is the 80-channel image BEV and 256-channel LiDAR BEV. These are projected into equal hidden dimensions before gating. After fusion, the shared neck produces 512 channels, and the head reduces that to 128.</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sampling grid uses its last dimension for normalized x-y coordinates. Its middle dimensions represent proposal and patch-location indexes. grid_sample interprets those as output spatial dimensions and returns B-by-C-by-N-by-25, after which mean over the final dimension yields per-proposal context.</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final class logits and encoded geometry both have ten channels here, but one dimension enumerates classes and the other encodes box attributes. Matching their sizes does not make their semantics interchangeable.</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https://github.com/open-mmlab/mmdetection3d/blob/v1.4.0/projects/BEVFusion/configs/bevfusion_lidar-cam_voxel0075_second_secfpn_8xb4-cyclic-20e_nus-3d.py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https://github.com/open-mmlab/mmdetection3d/blob/v1.4.0/projects/BEVFusion/configs/bevfusion_lidar_voxel0075_second_secfpn_8xb4-cyclic-20e_nus-3d.py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https://github.com/open-mmlab/mmdetection3d/blob/v1.4.0/projects/BEVFusion/bevfusion/bevfusion.py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4. https://github.com/open-mmlab/mmdetection3d/blob/v1.4.0/projects/BEVFusion/bevfusion/depth_lss.py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5. https://github.com/Ulteraa/research-projects/blob/main/bevfusion-reliable-refinement/src/transfusion_head.py</a:t>
            </a:r>
            <a:endParaRPr b="0" sz="2000" strike="noStrike">
              <a:latin typeface="Arial"/>
              <a:ea typeface="Arial"/>
              <a:cs typeface="Arial"/>
              <a:sym typeface="Arial"/>
            </a:endParaRPr>
          </a:p>
        </p:txBody>
      </p:sp>
      <p:sp>
        <p:nvSpPr>
          <p:cNvPr id="677" name="Google Shape;677;p21: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22: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5" name="Google Shape;685;p22: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T(A←B) maps coordinates from frame B to frame A. G denotes the global frame, E the ego frame, C the camera frame and L the LiDAR frame. The time argument on the ego pose identifies the sensor timestamp. Sensor extrinsics connect each sensor to the ego frame. Chaining those transforms correctly aligns a LiDAR measurement and a camera measurement taken at different times.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Multi-sweep accumulation similarly transforms historical LiDAR points into the reference LiDAR frame. A static world point should align under the ego-motion transform, but a moving vehicle or pedestrian can leave a trail because its independent motion remains.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Angular calibration errors grow into larger lateral errors with range. A 0.1-degree rotation error corresponds to roughly 8.7 cm at 50 m using the small-angle approximation. This is a geometric illustration, not an observed calibration statistic from the prototype.</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Useful diagnostics are projected-point overlays, static-background alignment across sweeps, timestamp checks, and range-dependent residuals. A larger network should not be the first response to a deterministic transform error.</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https://github.com/open-mmlab/mmdetection3d/blob/v1.4.0/projects/BEVFusion/configs/bevfusion_lidar-cam_voxel0075_second_secfpn_8xb4-cyclic-20e_nus-3d.py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https://github.com/open-mmlab/mmdetection3d/blob/v1.4.0/projects/BEVFusion/bevfusion/depth_lss.py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https://github.com/nutonomy/nuscenes-devkit/blob/master/docs/schema_nuscenes.md</a:t>
            </a:r>
            <a:endParaRPr b="0" sz="2000" strike="noStrike">
              <a:latin typeface="Arial"/>
              <a:ea typeface="Arial"/>
              <a:cs typeface="Arial"/>
              <a:sym typeface="Arial"/>
            </a:endParaRPr>
          </a:p>
        </p:txBody>
      </p:sp>
      <p:sp>
        <p:nvSpPr>
          <p:cNvPr id="686" name="Google Shape;686;p22: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23: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1" name="Google Shape;701;p23: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Aimg is the homogeneous image augmentation. Maug is the 3-by-3 linear part of the LiDAR augmentation, including its rotation, scale and flips, and taug is its translation. In code, the image post-transform is explicitly undone on the frustum coordinates before depth expansion. Camera intrinsics and the inverse camera-from-LiDAR extrinsics then map the ray hypothesis into 3D. The LiDAR augmentation transforms it into the same augmented BEV frame as the point cloud and boxes.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For a pure image resize, scaling the appropriate intrinsic rows gives an equivalent projection model. For a full augmentation chain, an explicit augmentation matrix is easier to track. The inherited frustum uses linspace over the image dimensions to associate each image-feature location with a pixel coordinate. Upsampling the feature map to the image resolution is not required for geometric lifting.</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An inverse rigid transform uses the rotation transpose and negative rotated translation. Reversing R while leaving t unchanged is a common source of silent misalignment. A synthetic round-trip projection test is an inexpensive way to catch it.</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https://github.com/open-mmlab/mmdetection3d/blob/v1.4.0/projects/BEVFusion/bevfusion/depth_lss.py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https://github.com/open-mmlab/mmdetection3d/blob/v1.4.0/projects/BEVFusion/configs/bevfusion_lidar-cam_voxel0075_second_secfpn_8xb4-cyclic-20e_nus-3d.py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https://github.com/open-mmlab/mmdetection3d/blob/v1.4.0/projects/BEVFusion/bevfusion/bevfusion.py</a:t>
            </a:r>
            <a:endParaRPr b="0" sz="2000" strike="noStrike">
              <a:latin typeface="Arial"/>
              <a:ea typeface="Arial"/>
              <a:cs typeface="Arial"/>
              <a:sym typeface="Arial"/>
            </a:endParaRPr>
          </a:p>
        </p:txBody>
      </p:sp>
      <p:sp>
        <p:nvSpPr>
          <p:cNvPr id="702" name="Google Shape;702;p23: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24: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7" name="Google Shape;717;p24: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box coder converts metric x-y centers into feature coordinates by subtracting the point-cloud origin and dividing by 0.6 m. Separately, the query grid adds a half-cell offset. The refinement sampler normalizes coordinates using W minus one for x and H minus one for y because align_corners is true.</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inherited BEV code contains explicit axis-order conventions, including an axis swap in heatmap-target drawing and a nonstandard-looking meshgrid construction. The refinement branch must be consistent with the actual tensor layout, not with variable names alone.</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Static inspection identifies a validation risk, not a confirmed runtime bug. A square 180-by-180 lattice can hide transposes. Before making a localization-gain claim, I would test an asymmetric synthetic feature map, a known point at a non-diagonal position, and non-square H and W. I would compare encoded centers, sampled peaks, decoded metric centers, and half-cell offsets end to end.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https://github.com/Ulteraa/research-projects/blob/main/bevfusion-reliable-refinement/src/transfusion_head.py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https://github.com/open-mmlab/mmdetection3d/blob/v1.4.0/projects/BEVFusion/bevfusion/utils.py</a:t>
            </a:r>
            <a:endParaRPr b="0" sz="2000" strike="noStrike">
              <a:latin typeface="Arial"/>
              <a:ea typeface="Arial"/>
              <a:cs typeface="Arial"/>
              <a:sym typeface="Arial"/>
            </a:endParaRPr>
          </a:p>
        </p:txBody>
      </p:sp>
      <p:sp>
        <p:nvSpPr>
          <p:cNvPr id="718" name="Google Shape;718;p24: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25: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2" name="Google Shape;732;p25: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Bilinear interpolation weights the four neighboring cells according to the separable triangular kernel shown here. It is differentiable almost everywhere with respect to the input features and the floating-point sample coordinates. Averaging 25 such samples preserves those gradient paths.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In this implementation, the coarse center is used directly to build the grid without a detach. Therefore the final loss can influence the center through both the residual-prediction route and the local-sampling route. Query positions are detached only when passed onward to the next decoder layer, and this config uses one layer.</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Differentiability should not be overstated. The heatmap top-k selection is discrete and uses a detached probability map. Hard voxelization and integer BEV binning also introduce discrete operations. They serve different roles and do not make the whole pipeline differentiable with respect to calibration or raw point positions.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For gradient debugging, I would check finite differences on the sample center away from discontinuities and test border padding separately.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https://github.com/Ulteraa/research-projects/blob/main/bevfusion-reliable-refinement/src/transfusion_head.py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https://github.com/open-mmlab/mmdetection3d/blob/v1.4.0/projects/BEVFusion/bevfusion/depth_lss.py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https://github.com/open-mmlab/mmdetection3d/blob/v1.4.0/projects/BEVFusion/bevfusion/bevfusion.py</a:t>
            </a:r>
            <a:endParaRPr b="0" sz="2000" strike="noStrike">
              <a:latin typeface="Arial"/>
              <a:ea typeface="Arial"/>
              <a:cs typeface="Arial"/>
              <a:sym typeface="Arial"/>
            </a:endParaRPr>
          </a:p>
        </p:txBody>
      </p:sp>
      <p:sp>
        <p:nvSpPr>
          <p:cNvPr id="733" name="Google Shape;733;p25: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26: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8" name="Google Shape;748;p26: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inherited coder contains an explicit bottom-center-to-gravity-center height conversion for targets and the reverse conversion on decoding. This matters when comparing the model's height output to annotations or visualization boxes.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same residual-addition rule does not mean all parameters receive the same physical update. A center residual of 0.5 cells corresponds to 0.3 m, while a log-dimension residual of 0.1 multiplies the size by approximately 1.105 when residual scale is one. A yaw residual updates two circular embedding components and is decoded with atan2.</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sine-cosine pair is not explicitly constrained to unit length by this refinement branch. atan2 still gives an angle, but a near-zero pair can be numerically sensitive. A targeted yaw ablation or normalized rotation representation would be a future experiment.</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I would inspect metric-unit errors after decoding and keep the original encoded-space loss for consistency with the inherited training framework.</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https://github.com/open-mmlab/mmdetection3d/blob/v1.4.0/projects/BEVFusion/bevfusion/utils.py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https://github.com/Ulteraa/research-projects/blob/main/bevfusion-reliable-refinement/src/transfusion_head.py</a:t>
            </a:r>
            <a:endParaRPr b="0" sz="2000" strike="noStrike">
              <a:latin typeface="Arial"/>
              <a:ea typeface="Arial"/>
              <a:cs typeface="Arial"/>
              <a:sym typeface="Arial"/>
            </a:endParaRPr>
          </a:p>
        </p:txBody>
      </p:sp>
      <p:sp>
        <p:nvSpPr>
          <p:cNvPr id="749" name="Google Shape;749;p26: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27: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8" name="Google Shape;758;p27: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Focal loss downweights examples that already have high probability for the correct binary target. In this detector it is applied to proposal class logits with a sigmoid formulation. The dense center heatmap uses Gaussian focal loss with a spatial target construction, which is related but not identical to the scalar expression shown for proposal classification.</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Hungarian algorithm selects a one-to-one correspondence under the configured weighted cost matrix. The center cost normalizes x-y metric centers by the point-cloud extent. The IoU term helps choose assignments. The cost matrix is detached and solved on the CPU.</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After matching, the detector computes classification and regression losses on the selected targets. This code does not backpropagate through the discrete matching solution. Adding an IoU matching cost does not create a separate IoU training loss, and matching weights should not be confused with loss weights.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For debugging I would inspect positive counts, matched IoUs, class imbalance, and each loss term separately before changing the optimizer or increasing the network.</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https://github.com/Ulteraa/research-projects/blob/main/bevfusion-reliable-refinement/src/transfusion_head.py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https://github.com/open-mmlab/mmdetection3d/blob/v1.4.0/projects/BEVFusion/configs/bevfusion_lidar_voxel0075_second_secfpn_8xb4-cyclic-20e_nus-3d.py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https://github.com/open-mmlab/mmdetection3d/blob/v1.4.0/projects/BEVFusion/bevfusion/utils.py</a:t>
            </a:r>
            <a:endParaRPr b="0" sz="2000" strike="noStrike">
              <a:latin typeface="Arial"/>
              <a:ea typeface="Arial"/>
              <a:cs typeface="Arial"/>
              <a:sym typeface="Arial"/>
            </a:endParaRPr>
          </a:p>
        </p:txBody>
      </p:sp>
      <p:sp>
        <p:nvSpPr>
          <p:cNvPr id="759" name="Google Shape;759;p27: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p28: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4" name="Google Shape;774;p28: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These counts come from the module definitions under in_channels 80 and 256, hidden_channels 128, and out_channels 256. Convolution kernels, applicable biases, and BatchNorm affine weights and biases are included. Running BatchNorm statistics are buffers and do not count as trainable parameters.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gate input has 128 image channels, 128 LiDAR channels, and two scalar proxy maps, for 258 channels total. The output block consumes the two weighted 128-channel feature tensors concatenated into 256 channels.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increase is about 337,410 parameters, or 43.56 percent of the baseline fuser's parameter count. That percentage applies only to the fuser, not to the full detector. More parameters are a potential confound when attributing behavior specifically to a reliability mechanism.</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An informative control would match parameter count with an ungated fuser. Profiling the actual kernels is needed to translate this capacity difference into deployment cost.</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https://github.com/Ulteraa/research-projects/blob/main/bevfusion-reliable-refinement/src/transfusion_head.py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https://github.com/Ulteraa/research-projects/blob/main/bevfusion-reliable-refinement/configs/bevfusion_lidar-cam_reliablefuser_voxel0075_second_secfpn_8xb4-cyclic-20e_nus-3d.py</a:t>
            </a:r>
            <a:endParaRPr b="0" sz="2000" strike="noStrike">
              <a:latin typeface="Arial"/>
              <a:ea typeface="Arial"/>
              <a:cs typeface="Arial"/>
              <a:sym typeface="Arial"/>
            </a:endParaRPr>
          </a:p>
        </p:txBody>
      </p:sp>
      <p:sp>
        <p:nvSpPr>
          <p:cNvPr id="775" name="Google Shape;775;p28: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29: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3" name="Google Shape;783;p29: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explicit frustum feature volume in the inherited depth transform contains approximately 159.5 million scalar values for one six-camera sample. Multiplying by four or two bytes gives about 638 MB or 319 MB. These figures describe that logical tensor only. They are not a measurement of peak training or inference memory and omit saved activations, gradients, optimizer state, temporaries, and allocator behavior.</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global BEV decoder has 200 queries and 32,400 key positions, giving 6.48 million query-key entries per head if a dense matrix is materialized. Efficient attention implementations can reduce memory behavior, so this arithmetic should guide a profiler rather than substitute for one.</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local refinement grid has only 5,000 positions, each returning a 128-channel vector. Its sampling work can be modest relative to the global decoder, but actual kernel overhead and batching matter. Sparse-operator overhead and camera lifting can remain dominant even if the refinement parameter count is small.</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https://github.com/open-mmlab/mmdetection3d/blob/v1.4.0/projects/BEVFusion/bevfusion/depth_lss.py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https://github.com/open-mmlab/mmdetection3d/blob/v1.4.0/projects/BEVFusion/configs/bevfusion_lidar-cam_voxel0075_second_secfpn_8xb4-cyclic-20e_nus-3d.py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https://github.com/Ulteraa/research-projects/blob/main/bevfusion-reliable-refinement/src/transfusion_head.py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4. https://github.com/open-mmlab/mmdetection3d/blob/v1.4.0/projects/BEVFusion/configs/bevfusion_lidar_voxel0075_second_secfpn_8xb4-cyclic-20e_nus-3d.py</a:t>
            </a:r>
            <a:endParaRPr b="0" sz="2000" strike="noStrike">
              <a:latin typeface="Arial"/>
              <a:ea typeface="Arial"/>
              <a:cs typeface="Arial"/>
              <a:sym typeface="Arial"/>
            </a:endParaRPr>
          </a:p>
        </p:txBody>
      </p:sp>
      <p:sp>
        <p:nvSpPr>
          <p:cNvPr id="784" name="Google Shape;784;p29: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30: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9" name="Google Shape;799;p30: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refinement branch introduces new parameters into a pretrained detector. Unless residual outputs initialize to zero, the initial combined prediction can differ from the checkpoint before any training. A proposed control is zero initialization of the final residual layers, followed by a short controlled warm-up. The current repository does not implement that explicit zero-output initialization.</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Batch size one does not make every BatchNorm layer invalid, because spatial locations or proposals can still supply statistics, but correlated features and small batches can affect the running estimates. Train/eval behavior should be measured before choosing a remedy.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I would log gate saturation, feature norms, loss components, matched positives, and gradient norms for the new modules. A context-shuffling control tests whether local evidence is responsible for a gain. These diagnostics are useful because an added head can improve capacity without using the intended geometric signal.</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All responses in this slide are proposed follow-up work, rather than archived training findings.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https://github.com/Ulteraa/research-projects/blob/main/bevfusion-reliable-refinement/src/transfusion_head.py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https://github.com/Ulteraa/research-projects/blob/main/bevfusion-reliable-refinement/configs/bevfusion_lidar-cam_reliablefuser_objectrefine_6e_mini.py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https://github.com/Ulteraa/research-projects/blob/main/bevfusion-reliable-refinement/RESULTS.md</a:t>
            </a:r>
            <a:endParaRPr b="0" sz="2000" strike="noStrike">
              <a:latin typeface="Arial"/>
              <a:ea typeface="Arial"/>
              <a:cs typeface="Arial"/>
              <a:sym typeface="Arial"/>
            </a:endParaRPr>
          </a:p>
        </p:txBody>
      </p:sp>
      <p:sp>
        <p:nvSpPr>
          <p:cNvPr id="800" name="Google Shape;800;p30: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31: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8" name="Google Shape;808;p31: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A failure analysis should connect observed errors to a mechanism that can be challenged. If the suspected issue is limited LiDAR support, range and point-count slices matter more than the global average alone. If the suspected issue is camera reliability, controlled corruption and gate behavior provide a more direct test than a feature-map visualization.</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Large trucks and trailers can exceed the fixed local patch's spatial extent. A yaw-aligned or box-scaled sampler would be a plausible extension, but it should be compared with a larger fixed patch to distinguish geometric adaptation from simply adding more context.</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At the boundary, zero padding averages invalid samples into the context. A valid-sample mask is a low-complexity experiment. For moving objects, ego-motion-corrected sweeps can still contain trails; varying the number of sweeps tests whether accumulation helps or harms.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This matrix defines measurements to run. The archived results do not already establish these failure correlations.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https://github.com/Ulteraa/research-projects/blob/main/bevfusion-reliable-refinement/src/transfusion_head.py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https://github.com/open-mmlab/mmdetection3d/blob/v1.4.0/projects/BEVFusion/configs/bevfusion_lidar-cam_voxel0075_second_secfpn_8xb4-cyclic-20e_nus-3d.py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https://github.com/nutonomy/nuscenes-devkit/blob/master/python-sdk/nuscenes/eval/detection/README.md</a:t>
            </a:r>
            <a:endParaRPr b="0" sz="2000" strike="noStrike">
              <a:latin typeface="Arial"/>
              <a:ea typeface="Arial"/>
              <a:cs typeface="Arial"/>
              <a:sym typeface="Arial"/>
            </a:endParaRPr>
          </a:p>
        </p:txBody>
      </p:sp>
      <p:sp>
        <p:nvSpPr>
          <p:cNvPr id="809" name="Google Shape;809;p31: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32: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7" name="Google Shape;817;p32: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original summary is useful for recalling what happened, but it is not sufficient for independent reconstruction. The follow-up report should retain a resolved configuration, data-info hashes, split membership, exact checkpoints, and code versions.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Training budgets should be compared in optimizer steps as well as epochs. A class-balanced dataset wrapper and a very small mini split can make an epoch a poor proxy for the amount of optimization. Checkpoint warm-starts and missing parameter keys should be explicit. The gate-only and refinement variants should use a common pretrained starting point wherever the architecture allows it.</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Model selection needs a fixed validation rule and a held-out evaluation plan. Multiple seeds help quantify sensitivity. Runtime reports should specify the complete timing boundary and precision.</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goal is a report that supports a decision: continue a module because it improves a defined error/cost tradeoff, or stop investing because the effect does not survive the controls.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https://github.com/Ulteraa/research-projects/blob/main/bevfusion-reliable-refinement/README.md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https://github.com/Ulteraa/research-projects/blob/main/bevfusion-reliable-refinement/RESULTS.md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https://github.com/open-mmlab/mmdetection3d/blob/v1.4.0/projects/BEVFusion/configs/bevfusion_lidar-cam_voxel0075_second_secfpn_8xb4-cyclic-20e_nus-3d.py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4. https://github.com/Ulteraa/research-projects/blob/main/bevfusion-reliable-refinement/configs/bevfusion_lidar-cam_reliablefuser_objectrefine_6e_mini.py</a:t>
            </a:r>
            <a:endParaRPr b="0" sz="2000" strike="noStrike">
              <a:latin typeface="Arial"/>
              <a:ea typeface="Arial"/>
              <a:cs typeface="Arial"/>
              <a:sym typeface="Arial"/>
            </a:endParaRPr>
          </a:p>
        </p:txBody>
      </p:sp>
      <p:sp>
        <p:nvSpPr>
          <p:cNvPr id="818" name="Google Shape;818;p32: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33: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6" name="Google Shape;826;p33: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extension integrates through the OpenMMLab registry and config system. The installer copies the modified head and package exports into a compatible MMDetection3D checkout, and the check script verifies that the two custom classes can be discovered. This validates registration, not detection accuracy.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When a gate checkpoint predates the refinement branch, missing refine-prefixed keys are expected. Missing baseline tensors or unexpected shapes require investigation rather than blanket acceptance of all checkpoint warnings. The new head retains the expected prediction dictionaries so inherited loss and decoding paths can operate.</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mini configuration enables unused-parameter discovery for distributed integration. That does not prove that an optimal or fully exercised distributed graph has been achieved. The training trace should establish which paths are unused.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repository excludes the large qualitative video and does not include original predictions. This deck therefore contains implementation schematics, not fabricated example detections. An authentic saved output can be added after it is inspected.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https://github.com/Ulteraa/research-projects/blob/main/bevfusion-reliable-refinement/README.md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https://github.com/Ulteraa/research-projects/blob/main/bevfusion-reliable-refinement/configs/bevfusion_lidar-cam_reliablefuser_objectrefine_6e_mini.py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https://github.com/Ulteraa/research-projects/blob/main/bevfusion-reliable-refinement/src/transfusion_head.py</a:t>
            </a:r>
            <a:endParaRPr b="0" sz="2000" strike="noStrike">
              <a:latin typeface="Arial"/>
              <a:ea typeface="Arial"/>
              <a:cs typeface="Arial"/>
              <a:sym typeface="Arial"/>
            </a:endParaRPr>
          </a:p>
        </p:txBody>
      </p:sp>
      <p:sp>
        <p:nvSpPr>
          <p:cNvPr id="827" name="Google Shape;827;p33: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34:notes"/>
          <p:cNvSpPr/>
          <p:nvPr>
            <p:ph idx="2" type="sldImg"/>
          </p:nvPr>
        </p:nvSpPr>
        <p:spPr>
          <a:xfrm>
            <a:off x="0" y="0"/>
            <a:ext cx="0" cy="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5" name="Google Shape;835;p34:notes"/>
          <p:cNvSpPr txBox="1"/>
          <p:nvPr>
            <p:ph idx="1" type="body"/>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216000" rtl="0" algn="l">
              <a:lnSpc>
                <a:spcPct val="100000"/>
              </a:lnSpc>
              <a:spcBef>
                <a:spcPts val="0"/>
              </a:spcBef>
              <a:spcAft>
                <a:spcPts val="0"/>
              </a:spcAft>
              <a:buNone/>
            </a:pPr>
            <a:r>
              <a:rPr b="0" lang="en-US" sz="2000" strike="noStrike">
                <a:latin typeface="Arial"/>
                <a:ea typeface="Arial"/>
                <a:cs typeface="Arial"/>
                <a:sym typeface="Arial"/>
              </a:rPr>
              <a:t>The custom modules and experiment description are in the linked project. The baseline pipeline was traced against the v1.4.0 MMDetection3D configuration and implementation that the project identifies as its software family. The project preserves upstream attribution to MMDetection3D and the MIT BEVFusion implementation.</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official nuScenes devkit defines dataset splits and detection metrics. It should be used for AP and NDS definitions rather than descriptions adapted from a different detection benchmark.</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Source-level derivations in this deck include tensor shapes, voxel/BEV scales, local patch size, fuser parameter count, and logical activation sizes. These are distinct from runtime measurements. The archived mAP and NDS values come from a recorded summary without raw logs.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The complete source URLs are attached to the relevant slide notes and listed in the companion rehearsal guide. A later revision can incorporate original logs, verified qualitative frames, and the separate Fortna production case study without changing the scope of this research evidence.</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SOURCES</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 https://github.com/Ulteraa/research-projects/blob/main/bevfusion-reliable-refinement/README.md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2. https://github.com/Ulteraa/research-projects/blob/main/bevfusion-reliable-refinement/src/transfusion_head.py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3. https://github.com/Ulteraa/research-projects/blob/main/bevfusion-reliable-refinement/RESULTS.md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4. https://github.com/Ulteraa/research-projects/blob/main/bevfusion-reliable-refinement/configs/bevfusion_lidar-cam_reliablefuser_voxel0075_second_secfpn_8xb4-cyclic-20e_nus-3d.py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5. https://github.com/Ulteraa/research-projects/blob/main/bevfusion-reliable-refinement/configs/bevfusion_lidar-cam_reliablefuser_objectrefine_6e_mini.py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6. https://github.com/open-mmlab/mmdetection3d/blob/v1.4.0/projects/BEVFusion/configs/bevfusion_lidar-cam_voxel0075_second_secfpn_8xb4-cyclic-20e_nus-3d.py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7. https://github.com/open-mmlab/mmdetection3d/blob/v1.4.0/projects/BEVFusion/configs/bevfusion_lidar_voxel0075_second_secfpn_8xb4-cyclic-20e_nus-3d.py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8. https://github.com/open-mmlab/mmdetection3d/blob/v1.4.0/projects/BEVFusion/bevfusion/bevfusion.py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9. https://github.com/open-mmlab/mmdetection3d/blob/v1.4.0/projects/BEVFusion/bevfusion/depth_lss.py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10. https://github.com/open-mmlab/mmdetection3d/blob/v1.4.0/projects/BEVFusion/bevfusion/utils.py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11. https://github.com/nutonomy/nuscenes-devkit/blob/master/python-sdk/nuscenes/eval/detection/README.md</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12. https://github.com/nutonomy/nuscenes-devkit/blob/master/python-sdk/nuscenes/eval/detection/data_classes.py</a:t>
            </a:r>
            <a:endParaRPr b="0" sz="2000" strike="noStrike">
              <a:latin typeface="Arial"/>
              <a:ea typeface="Arial"/>
              <a:cs typeface="Arial"/>
              <a:sym typeface="Arial"/>
            </a:endParaRPr>
          </a:p>
          <a:p>
            <a:pPr indent="0" lvl="0" marL="216000" rtl="0" algn="l">
              <a:lnSpc>
                <a:spcPct val="100000"/>
              </a:lnSpc>
              <a:spcBef>
                <a:spcPts val="0"/>
              </a:spcBef>
              <a:spcAft>
                <a:spcPts val="0"/>
              </a:spcAft>
              <a:buNone/>
            </a:pPr>
            <a:r>
              <a:rPr b="0" lang="en-US" sz="2000" strike="noStrike">
                <a:latin typeface="Arial"/>
                <a:ea typeface="Arial"/>
                <a:cs typeface="Arial"/>
                <a:sym typeface="Arial"/>
              </a:rPr>
              <a:t>13. https://github.com/nutonomy/nuscenes-devkit/blob/master/python-sdk/nuscenes/utils/splits.py</a:t>
            </a:r>
            <a:endParaRPr b="0" sz="2000" strike="noStrike">
              <a:latin typeface="Arial"/>
              <a:ea typeface="Arial"/>
              <a:cs typeface="Arial"/>
              <a:sym typeface="Arial"/>
            </a:endParaRPr>
          </a:p>
        </p:txBody>
      </p:sp>
      <p:sp>
        <p:nvSpPr>
          <p:cNvPr id="836" name="Google Shape;836;p34:notes"/>
          <p:cNvSpPr txBox="1"/>
          <p:nvPr/>
        </p:nvSpPr>
        <p:spPr>
          <a:xfrm>
            <a:off x="0" y="0"/>
            <a:ext cx="360" cy="360"/>
          </a:xfrm>
          <a:prstGeom prst="rect">
            <a:avLst/>
          </a:prstGeom>
          <a:noFill/>
          <a:ln>
            <a:noFill/>
          </a:ln>
        </p:spPr>
        <p:txBody>
          <a:bodyPr anchorCtr="0" anchor="t" bIns="45000" lIns="90000" spcFirstLastPara="1" rIns="90000" wrap="square" tIns="45000">
            <a:noAutofit/>
          </a:bodyPr>
          <a:lstStyle/>
          <a:p>
            <a:pPr indent="0" lvl="0" marL="0" marR="0" rtl="0" algn="l">
              <a:spcBef>
                <a:spcPts val="0"/>
              </a:spcBef>
              <a:spcAft>
                <a:spcPts val="0"/>
              </a:spcAft>
              <a:buNone/>
            </a:pPr>
            <a:r>
              <a:t/>
            </a:r>
            <a:endParaRPr b="0" sz="2400" strike="noStrike">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 name="Shape 12"/>
        <p:cNvGrpSpPr/>
        <p:nvPr/>
      </p:nvGrpSpPr>
      <p:grpSpPr>
        <a:xfrm>
          <a:off x="0" y="0"/>
          <a:ext cx="0" cy="0"/>
          <a:chOff x="0" y="0"/>
          <a:chExt cx="0" cy="0"/>
        </a:xfrm>
      </p:grpSpPr>
      <p:sp>
        <p:nvSpPr>
          <p:cNvPr id="13" name="Google Shape;13;p2"/>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 type="subTitle"/>
          </p:nvPr>
        </p:nvSpPr>
        <p:spPr>
          <a:xfrm>
            <a:off x="761760" y="2005920"/>
            <a:ext cx="13715280" cy="49716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6" name="Shape 16"/>
        <p:cNvGrpSpPr/>
        <p:nvPr/>
      </p:nvGrpSpPr>
      <p:grpSpPr>
        <a:xfrm>
          <a:off x="0" y="0"/>
          <a:ext cx="0" cy="0"/>
          <a:chOff x="0" y="0"/>
          <a:chExt cx="0" cy="0"/>
        </a:xfrm>
      </p:grpSpPr>
      <p:sp>
        <p:nvSpPr>
          <p:cNvPr id="17" name="Google Shape;17;p4"/>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4"/>
          <p:cNvSpPr txBox="1"/>
          <p:nvPr>
            <p:ph idx="1" type="body"/>
          </p:nvPr>
        </p:nvSpPr>
        <p:spPr>
          <a:xfrm>
            <a:off x="761760" y="2005920"/>
            <a:ext cx="1371528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9" name="Shape 19"/>
        <p:cNvGrpSpPr/>
        <p:nvPr/>
      </p:nvGrpSpPr>
      <p:grpSpPr>
        <a:xfrm>
          <a:off x="0" y="0"/>
          <a:ext cx="0" cy="0"/>
          <a:chOff x="0" y="0"/>
          <a:chExt cx="0" cy="0"/>
        </a:xfrm>
      </p:grpSpPr>
      <p:sp>
        <p:nvSpPr>
          <p:cNvPr id="20" name="Google Shape;20;p5"/>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
          <p:cNvSpPr txBox="1"/>
          <p:nvPr>
            <p:ph idx="1" type="body"/>
          </p:nvPr>
        </p:nvSpPr>
        <p:spPr>
          <a:xfrm>
            <a:off x="761760" y="2005920"/>
            <a:ext cx="669276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 name="Google Shape;22;p5"/>
          <p:cNvSpPr txBox="1"/>
          <p:nvPr>
            <p:ph idx="2" type="body"/>
          </p:nvPr>
        </p:nvSpPr>
        <p:spPr>
          <a:xfrm>
            <a:off x="7789680" y="2005920"/>
            <a:ext cx="669276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6"/>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5" name="Shape 25"/>
        <p:cNvGrpSpPr/>
        <p:nvPr/>
      </p:nvGrpSpPr>
      <p:grpSpPr>
        <a:xfrm>
          <a:off x="0" y="0"/>
          <a:ext cx="0" cy="0"/>
          <a:chOff x="0" y="0"/>
          <a:chExt cx="0" cy="0"/>
        </a:xfrm>
      </p:grpSpPr>
      <p:sp>
        <p:nvSpPr>
          <p:cNvPr id="26" name="Google Shape;26;p7"/>
          <p:cNvSpPr txBox="1"/>
          <p:nvPr>
            <p:ph idx="1" type="subTitle"/>
          </p:nvPr>
        </p:nvSpPr>
        <p:spPr>
          <a:xfrm>
            <a:off x="761760" y="342000"/>
            <a:ext cx="13715280" cy="66344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7" name="Shape 27"/>
        <p:cNvGrpSpPr/>
        <p:nvPr/>
      </p:nvGrpSpPr>
      <p:grpSpPr>
        <a:xfrm>
          <a:off x="0" y="0"/>
          <a:ext cx="0" cy="0"/>
          <a:chOff x="0" y="0"/>
          <a:chExt cx="0" cy="0"/>
        </a:xfrm>
      </p:grpSpPr>
      <p:sp>
        <p:nvSpPr>
          <p:cNvPr id="28" name="Google Shape;28;p8"/>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8"/>
          <p:cNvSpPr txBox="1"/>
          <p:nvPr>
            <p:ph idx="1" type="body"/>
          </p:nvPr>
        </p:nvSpPr>
        <p:spPr>
          <a:xfrm>
            <a:off x="76176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0" name="Google Shape;30;p8"/>
          <p:cNvSpPr txBox="1"/>
          <p:nvPr>
            <p:ph idx="2" type="body"/>
          </p:nvPr>
        </p:nvSpPr>
        <p:spPr>
          <a:xfrm>
            <a:off x="7789680" y="2005920"/>
            <a:ext cx="669276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1" name="Google Shape;31;p8"/>
          <p:cNvSpPr txBox="1"/>
          <p:nvPr>
            <p:ph idx="3" type="body"/>
          </p:nvPr>
        </p:nvSpPr>
        <p:spPr>
          <a:xfrm>
            <a:off x="761760" y="460296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2" name="Shape 32"/>
        <p:cNvGrpSpPr/>
        <p:nvPr/>
      </p:nvGrpSpPr>
      <p:grpSpPr>
        <a:xfrm>
          <a:off x="0" y="0"/>
          <a:ext cx="0" cy="0"/>
          <a:chOff x="0" y="0"/>
          <a:chExt cx="0" cy="0"/>
        </a:xfrm>
      </p:grpSpPr>
      <p:sp>
        <p:nvSpPr>
          <p:cNvPr id="33" name="Google Shape;33;p9"/>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9"/>
          <p:cNvSpPr txBox="1"/>
          <p:nvPr>
            <p:ph idx="1" type="body"/>
          </p:nvPr>
        </p:nvSpPr>
        <p:spPr>
          <a:xfrm>
            <a:off x="761760" y="2005920"/>
            <a:ext cx="669276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5" name="Google Shape;35;p9"/>
          <p:cNvSpPr txBox="1"/>
          <p:nvPr>
            <p:ph idx="2" type="body"/>
          </p:nvPr>
        </p:nvSpPr>
        <p:spPr>
          <a:xfrm>
            <a:off x="778968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6" name="Google Shape;36;p9"/>
          <p:cNvSpPr txBox="1"/>
          <p:nvPr>
            <p:ph idx="3" type="body"/>
          </p:nvPr>
        </p:nvSpPr>
        <p:spPr>
          <a:xfrm>
            <a:off x="7789680" y="460296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7" name="Shape 37"/>
        <p:cNvGrpSpPr/>
        <p:nvPr/>
      </p:nvGrpSpPr>
      <p:grpSpPr>
        <a:xfrm>
          <a:off x="0" y="0"/>
          <a:ext cx="0" cy="0"/>
          <a:chOff x="0" y="0"/>
          <a:chExt cx="0" cy="0"/>
        </a:xfrm>
      </p:grpSpPr>
      <p:sp>
        <p:nvSpPr>
          <p:cNvPr id="38" name="Google Shape;38;p10"/>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0"/>
          <p:cNvSpPr txBox="1"/>
          <p:nvPr>
            <p:ph idx="1" type="body"/>
          </p:nvPr>
        </p:nvSpPr>
        <p:spPr>
          <a:xfrm>
            <a:off x="76176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10"/>
          <p:cNvSpPr txBox="1"/>
          <p:nvPr>
            <p:ph idx="2" type="body"/>
          </p:nvPr>
        </p:nvSpPr>
        <p:spPr>
          <a:xfrm>
            <a:off x="778968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10"/>
          <p:cNvSpPr txBox="1"/>
          <p:nvPr>
            <p:ph idx="3" type="body"/>
          </p:nvPr>
        </p:nvSpPr>
        <p:spPr>
          <a:xfrm>
            <a:off x="761760" y="4602960"/>
            <a:ext cx="1371528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2" name="Shape 42"/>
        <p:cNvGrpSpPr/>
        <p:nvPr/>
      </p:nvGrpSpPr>
      <p:grpSpPr>
        <a:xfrm>
          <a:off x="0" y="0"/>
          <a:ext cx="0" cy="0"/>
          <a:chOff x="0" y="0"/>
          <a:chExt cx="0" cy="0"/>
        </a:xfrm>
      </p:grpSpPr>
      <p:sp>
        <p:nvSpPr>
          <p:cNvPr id="43" name="Google Shape;43;p11"/>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1"/>
          <p:cNvSpPr txBox="1"/>
          <p:nvPr>
            <p:ph idx="1" type="body"/>
          </p:nvPr>
        </p:nvSpPr>
        <p:spPr>
          <a:xfrm>
            <a:off x="761760" y="2005920"/>
            <a:ext cx="1371528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 name="Google Shape;45;p11"/>
          <p:cNvSpPr txBox="1"/>
          <p:nvPr>
            <p:ph idx="2" type="body"/>
          </p:nvPr>
        </p:nvSpPr>
        <p:spPr>
          <a:xfrm>
            <a:off x="761760" y="4602960"/>
            <a:ext cx="1371528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6" name="Shape 46"/>
        <p:cNvGrpSpPr/>
        <p:nvPr/>
      </p:nvGrpSpPr>
      <p:grpSpPr>
        <a:xfrm>
          <a:off x="0" y="0"/>
          <a:ext cx="0" cy="0"/>
          <a:chOff x="0" y="0"/>
          <a:chExt cx="0" cy="0"/>
        </a:xfrm>
      </p:grpSpPr>
      <p:sp>
        <p:nvSpPr>
          <p:cNvPr id="47" name="Google Shape;47;p12"/>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2"/>
          <p:cNvSpPr txBox="1"/>
          <p:nvPr>
            <p:ph idx="1" type="body"/>
          </p:nvPr>
        </p:nvSpPr>
        <p:spPr>
          <a:xfrm>
            <a:off x="76176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9" name="Google Shape;49;p12"/>
          <p:cNvSpPr txBox="1"/>
          <p:nvPr>
            <p:ph idx="2" type="body"/>
          </p:nvPr>
        </p:nvSpPr>
        <p:spPr>
          <a:xfrm>
            <a:off x="778968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0" name="Google Shape;50;p12"/>
          <p:cNvSpPr txBox="1"/>
          <p:nvPr>
            <p:ph idx="3" type="body"/>
          </p:nvPr>
        </p:nvSpPr>
        <p:spPr>
          <a:xfrm>
            <a:off x="761760" y="460296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 name="Google Shape;51;p12"/>
          <p:cNvSpPr txBox="1"/>
          <p:nvPr>
            <p:ph idx="4" type="body"/>
          </p:nvPr>
        </p:nvSpPr>
        <p:spPr>
          <a:xfrm>
            <a:off x="7789680" y="460296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2" name="Shape 52"/>
        <p:cNvGrpSpPr/>
        <p:nvPr/>
      </p:nvGrpSpPr>
      <p:grpSpPr>
        <a:xfrm>
          <a:off x="0" y="0"/>
          <a:ext cx="0" cy="0"/>
          <a:chOff x="0" y="0"/>
          <a:chExt cx="0" cy="0"/>
        </a:xfrm>
      </p:grpSpPr>
      <p:sp>
        <p:nvSpPr>
          <p:cNvPr id="53" name="Google Shape;53;p13"/>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 type="body"/>
          </p:nvPr>
        </p:nvSpPr>
        <p:spPr>
          <a:xfrm>
            <a:off x="761760" y="200592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5" name="Google Shape;55;p13"/>
          <p:cNvSpPr txBox="1"/>
          <p:nvPr>
            <p:ph idx="2" type="body"/>
          </p:nvPr>
        </p:nvSpPr>
        <p:spPr>
          <a:xfrm>
            <a:off x="5398920" y="200592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6" name="Google Shape;56;p13"/>
          <p:cNvSpPr txBox="1"/>
          <p:nvPr>
            <p:ph idx="3" type="body"/>
          </p:nvPr>
        </p:nvSpPr>
        <p:spPr>
          <a:xfrm>
            <a:off x="10036440" y="200592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7" name="Google Shape;57;p13"/>
          <p:cNvSpPr txBox="1"/>
          <p:nvPr>
            <p:ph idx="4" type="body"/>
          </p:nvPr>
        </p:nvSpPr>
        <p:spPr>
          <a:xfrm>
            <a:off x="761760" y="460296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13"/>
          <p:cNvSpPr txBox="1"/>
          <p:nvPr>
            <p:ph idx="5" type="body"/>
          </p:nvPr>
        </p:nvSpPr>
        <p:spPr>
          <a:xfrm>
            <a:off x="5398920" y="460296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13"/>
          <p:cNvSpPr txBox="1"/>
          <p:nvPr>
            <p:ph idx="6" type="body"/>
          </p:nvPr>
        </p:nvSpPr>
        <p:spPr>
          <a:xfrm>
            <a:off x="10036440" y="460296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2" name="Shape 62"/>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63" name="Shape 63"/>
        <p:cNvGrpSpPr/>
        <p:nvPr/>
      </p:nvGrpSpPr>
      <p:grpSpPr>
        <a:xfrm>
          <a:off x="0" y="0"/>
          <a:ext cx="0" cy="0"/>
          <a:chOff x="0" y="0"/>
          <a:chExt cx="0" cy="0"/>
        </a:xfrm>
      </p:grpSpPr>
      <p:sp>
        <p:nvSpPr>
          <p:cNvPr id="64" name="Google Shape;64;p16"/>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6"/>
          <p:cNvSpPr txBox="1"/>
          <p:nvPr>
            <p:ph idx="1" type="subTitle"/>
          </p:nvPr>
        </p:nvSpPr>
        <p:spPr>
          <a:xfrm>
            <a:off x="761760" y="2005920"/>
            <a:ext cx="13715280" cy="49716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66" name="Shape 66"/>
        <p:cNvGrpSpPr/>
        <p:nvPr/>
      </p:nvGrpSpPr>
      <p:grpSpPr>
        <a:xfrm>
          <a:off x="0" y="0"/>
          <a:ext cx="0" cy="0"/>
          <a:chOff x="0" y="0"/>
          <a:chExt cx="0" cy="0"/>
        </a:xfrm>
      </p:grpSpPr>
      <p:sp>
        <p:nvSpPr>
          <p:cNvPr id="67" name="Google Shape;67;p17"/>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7"/>
          <p:cNvSpPr txBox="1"/>
          <p:nvPr>
            <p:ph idx="1" type="body"/>
          </p:nvPr>
        </p:nvSpPr>
        <p:spPr>
          <a:xfrm>
            <a:off x="761760" y="2005920"/>
            <a:ext cx="13715280" cy="497160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69" name="Shape 69"/>
        <p:cNvGrpSpPr/>
        <p:nvPr/>
      </p:nvGrpSpPr>
      <p:grpSpPr>
        <a:xfrm>
          <a:off x="0" y="0"/>
          <a:ext cx="0" cy="0"/>
          <a:chOff x="0" y="0"/>
          <a:chExt cx="0" cy="0"/>
        </a:xfrm>
      </p:grpSpPr>
      <p:sp>
        <p:nvSpPr>
          <p:cNvPr id="70" name="Google Shape;70;p18"/>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8"/>
          <p:cNvSpPr txBox="1"/>
          <p:nvPr>
            <p:ph idx="1" type="body"/>
          </p:nvPr>
        </p:nvSpPr>
        <p:spPr>
          <a:xfrm>
            <a:off x="761760" y="2005920"/>
            <a:ext cx="6692760" cy="497160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2" name="Google Shape;72;p18"/>
          <p:cNvSpPr txBox="1"/>
          <p:nvPr>
            <p:ph idx="2" type="body"/>
          </p:nvPr>
        </p:nvSpPr>
        <p:spPr>
          <a:xfrm>
            <a:off x="7789680" y="2005920"/>
            <a:ext cx="6692760" cy="497160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9"/>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75" name="Shape 75"/>
        <p:cNvGrpSpPr/>
        <p:nvPr/>
      </p:nvGrpSpPr>
      <p:grpSpPr>
        <a:xfrm>
          <a:off x="0" y="0"/>
          <a:ext cx="0" cy="0"/>
          <a:chOff x="0" y="0"/>
          <a:chExt cx="0" cy="0"/>
        </a:xfrm>
      </p:grpSpPr>
      <p:sp>
        <p:nvSpPr>
          <p:cNvPr id="76" name="Google Shape;76;p20"/>
          <p:cNvSpPr txBox="1"/>
          <p:nvPr>
            <p:ph idx="1" type="subTitle"/>
          </p:nvPr>
        </p:nvSpPr>
        <p:spPr>
          <a:xfrm>
            <a:off x="761760" y="342000"/>
            <a:ext cx="13715280" cy="66344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77" name="Shape 77"/>
        <p:cNvGrpSpPr/>
        <p:nvPr/>
      </p:nvGrpSpPr>
      <p:grpSpPr>
        <a:xfrm>
          <a:off x="0" y="0"/>
          <a:ext cx="0" cy="0"/>
          <a:chOff x="0" y="0"/>
          <a:chExt cx="0" cy="0"/>
        </a:xfrm>
      </p:grpSpPr>
      <p:sp>
        <p:nvSpPr>
          <p:cNvPr id="78" name="Google Shape;78;p21"/>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 type="body"/>
          </p:nvPr>
        </p:nvSpPr>
        <p:spPr>
          <a:xfrm>
            <a:off x="761760" y="2005920"/>
            <a:ext cx="669276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80" name="Google Shape;80;p21"/>
          <p:cNvSpPr txBox="1"/>
          <p:nvPr>
            <p:ph idx="2" type="body"/>
          </p:nvPr>
        </p:nvSpPr>
        <p:spPr>
          <a:xfrm>
            <a:off x="7789680" y="2005920"/>
            <a:ext cx="6692760" cy="497160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81" name="Google Shape;81;p21"/>
          <p:cNvSpPr txBox="1"/>
          <p:nvPr>
            <p:ph idx="3" type="body"/>
          </p:nvPr>
        </p:nvSpPr>
        <p:spPr>
          <a:xfrm>
            <a:off x="761760" y="4602960"/>
            <a:ext cx="669276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2" name="Shape 82"/>
        <p:cNvGrpSpPr/>
        <p:nvPr/>
      </p:nvGrpSpPr>
      <p:grpSpPr>
        <a:xfrm>
          <a:off x="0" y="0"/>
          <a:ext cx="0" cy="0"/>
          <a:chOff x="0" y="0"/>
          <a:chExt cx="0" cy="0"/>
        </a:xfrm>
      </p:grpSpPr>
      <p:sp>
        <p:nvSpPr>
          <p:cNvPr id="83" name="Google Shape;83;p22"/>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2"/>
          <p:cNvSpPr txBox="1"/>
          <p:nvPr>
            <p:ph idx="1" type="body"/>
          </p:nvPr>
        </p:nvSpPr>
        <p:spPr>
          <a:xfrm>
            <a:off x="761760" y="2005920"/>
            <a:ext cx="6692760" cy="497160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85" name="Google Shape;85;p22"/>
          <p:cNvSpPr txBox="1"/>
          <p:nvPr>
            <p:ph idx="2" type="body"/>
          </p:nvPr>
        </p:nvSpPr>
        <p:spPr>
          <a:xfrm>
            <a:off x="7789680" y="2005920"/>
            <a:ext cx="669276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86" name="Google Shape;86;p22"/>
          <p:cNvSpPr txBox="1"/>
          <p:nvPr>
            <p:ph idx="3" type="body"/>
          </p:nvPr>
        </p:nvSpPr>
        <p:spPr>
          <a:xfrm>
            <a:off x="7789680" y="4602960"/>
            <a:ext cx="669276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87" name="Shape 87"/>
        <p:cNvGrpSpPr/>
        <p:nvPr/>
      </p:nvGrpSpPr>
      <p:grpSpPr>
        <a:xfrm>
          <a:off x="0" y="0"/>
          <a:ext cx="0" cy="0"/>
          <a:chOff x="0" y="0"/>
          <a:chExt cx="0" cy="0"/>
        </a:xfrm>
      </p:grpSpPr>
      <p:sp>
        <p:nvSpPr>
          <p:cNvPr id="88" name="Google Shape;88;p23"/>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3"/>
          <p:cNvSpPr txBox="1"/>
          <p:nvPr>
            <p:ph idx="1" type="body"/>
          </p:nvPr>
        </p:nvSpPr>
        <p:spPr>
          <a:xfrm>
            <a:off x="761760" y="2005920"/>
            <a:ext cx="669276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90" name="Google Shape;90;p23"/>
          <p:cNvSpPr txBox="1"/>
          <p:nvPr>
            <p:ph idx="2" type="body"/>
          </p:nvPr>
        </p:nvSpPr>
        <p:spPr>
          <a:xfrm>
            <a:off x="7789680" y="2005920"/>
            <a:ext cx="669276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91" name="Google Shape;91;p23"/>
          <p:cNvSpPr txBox="1"/>
          <p:nvPr>
            <p:ph idx="3" type="body"/>
          </p:nvPr>
        </p:nvSpPr>
        <p:spPr>
          <a:xfrm>
            <a:off x="761760" y="4602960"/>
            <a:ext cx="1371528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2" name="Shape 92"/>
        <p:cNvGrpSpPr/>
        <p:nvPr/>
      </p:nvGrpSpPr>
      <p:grpSpPr>
        <a:xfrm>
          <a:off x="0" y="0"/>
          <a:ext cx="0" cy="0"/>
          <a:chOff x="0" y="0"/>
          <a:chExt cx="0" cy="0"/>
        </a:xfrm>
      </p:grpSpPr>
      <p:sp>
        <p:nvSpPr>
          <p:cNvPr id="93" name="Google Shape;93;p24"/>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4"/>
          <p:cNvSpPr txBox="1"/>
          <p:nvPr>
            <p:ph idx="1" type="body"/>
          </p:nvPr>
        </p:nvSpPr>
        <p:spPr>
          <a:xfrm>
            <a:off x="761760" y="2005920"/>
            <a:ext cx="1371528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95" name="Google Shape;95;p24"/>
          <p:cNvSpPr txBox="1"/>
          <p:nvPr>
            <p:ph idx="2" type="body"/>
          </p:nvPr>
        </p:nvSpPr>
        <p:spPr>
          <a:xfrm>
            <a:off x="761760" y="4602960"/>
            <a:ext cx="1371528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96" name="Shape 96"/>
        <p:cNvGrpSpPr/>
        <p:nvPr/>
      </p:nvGrpSpPr>
      <p:grpSpPr>
        <a:xfrm>
          <a:off x="0" y="0"/>
          <a:ext cx="0" cy="0"/>
          <a:chOff x="0" y="0"/>
          <a:chExt cx="0" cy="0"/>
        </a:xfrm>
      </p:grpSpPr>
      <p:sp>
        <p:nvSpPr>
          <p:cNvPr id="97" name="Google Shape;97;p25"/>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5"/>
          <p:cNvSpPr txBox="1"/>
          <p:nvPr>
            <p:ph idx="1" type="body"/>
          </p:nvPr>
        </p:nvSpPr>
        <p:spPr>
          <a:xfrm>
            <a:off x="761760" y="2005920"/>
            <a:ext cx="669276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99" name="Google Shape;99;p25"/>
          <p:cNvSpPr txBox="1"/>
          <p:nvPr>
            <p:ph idx="2" type="body"/>
          </p:nvPr>
        </p:nvSpPr>
        <p:spPr>
          <a:xfrm>
            <a:off x="7789680" y="2005920"/>
            <a:ext cx="669276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00" name="Google Shape;100;p25"/>
          <p:cNvSpPr txBox="1"/>
          <p:nvPr>
            <p:ph idx="3" type="body"/>
          </p:nvPr>
        </p:nvSpPr>
        <p:spPr>
          <a:xfrm>
            <a:off x="761760" y="4602960"/>
            <a:ext cx="669276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01" name="Google Shape;101;p25"/>
          <p:cNvSpPr txBox="1"/>
          <p:nvPr>
            <p:ph idx="4" type="body"/>
          </p:nvPr>
        </p:nvSpPr>
        <p:spPr>
          <a:xfrm>
            <a:off x="7789680" y="4602960"/>
            <a:ext cx="669276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2" name="Shape 102"/>
        <p:cNvGrpSpPr/>
        <p:nvPr/>
      </p:nvGrpSpPr>
      <p:grpSpPr>
        <a:xfrm>
          <a:off x="0" y="0"/>
          <a:ext cx="0" cy="0"/>
          <a:chOff x="0" y="0"/>
          <a:chExt cx="0" cy="0"/>
        </a:xfrm>
      </p:grpSpPr>
      <p:sp>
        <p:nvSpPr>
          <p:cNvPr id="103" name="Google Shape;103;p26"/>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6"/>
          <p:cNvSpPr txBox="1"/>
          <p:nvPr>
            <p:ph idx="1" type="body"/>
          </p:nvPr>
        </p:nvSpPr>
        <p:spPr>
          <a:xfrm>
            <a:off x="761760" y="2005920"/>
            <a:ext cx="441612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05" name="Google Shape;105;p26"/>
          <p:cNvSpPr txBox="1"/>
          <p:nvPr>
            <p:ph idx="2" type="body"/>
          </p:nvPr>
        </p:nvSpPr>
        <p:spPr>
          <a:xfrm>
            <a:off x="5398920" y="2005920"/>
            <a:ext cx="441612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06" name="Google Shape;106;p26"/>
          <p:cNvSpPr txBox="1"/>
          <p:nvPr>
            <p:ph idx="3" type="body"/>
          </p:nvPr>
        </p:nvSpPr>
        <p:spPr>
          <a:xfrm>
            <a:off x="10036440" y="2005920"/>
            <a:ext cx="441612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07" name="Google Shape;107;p26"/>
          <p:cNvSpPr txBox="1"/>
          <p:nvPr>
            <p:ph idx="4" type="body"/>
          </p:nvPr>
        </p:nvSpPr>
        <p:spPr>
          <a:xfrm>
            <a:off x="761760" y="4602960"/>
            <a:ext cx="441612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08" name="Google Shape;108;p26"/>
          <p:cNvSpPr txBox="1"/>
          <p:nvPr>
            <p:ph idx="5" type="body"/>
          </p:nvPr>
        </p:nvSpPr>
        <p:spPr>
          <a:xfrm>
            <a:off x="5398920" y="4602960"/>
            <a:ext cx="441612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09" name="Google Shape;109;p26"/>
          <p:cNvSpPr txBox="1"/>
          <p:nvPr>
            <p:ph idx="6" type="body"/>
          </p:nvPr>
        </p:nvSpPr>
        <p:spPr>
          <a:xfrm>
            <a:off x="10036440" y="4602960"/>
            <a:ext cx="4416120" cy="237132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13" name="Shape 113"/>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14" name="Shape 114"/>
        <p:cNvGrpSpPr/>
        <p:nvPr/>
      </p:nvGrpSpPr>
      <p:grpSpPr>
        <a:xfrm>
          <a:off x="0" y="0"/>
          <a:ext cx="0" cy="0"/>
          <a:chOff x="0" y="0"/>
          <a:chExt cx="0" cy="0"/>
        </a:xfrm>
      </p:grpSpPr>
      <p:sp>
        <p:nvSpPr>
          <p:cNvPr id="115" name="Google Shape;115;p29"/>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29"/>
          <p:cNvSpPr txBox="1"/>
          <p:nvPr>
            <p:ph idx="1" type="subTitle"/>
          </p:nvPr>
        </p:nvSpPr>
        <p:spPr>
          <a:xfrm>
            <a:off x="761760" y="2005920"/>
            <a:ext cx="13715280" cy="49716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17" name="Shape 117"/>
        <p:cNvGrpSpPr/>
        <p:nvPr/>
      </p:nvGrpSpPr>
      <p:grpSpPr>
        <a:xfrm>
          <a:off x="0" y="0"/>
          <a:ext cx="0" cy="0"/>
          <a:chOff x="0" y="0"/>
          <a:chExt cx="0" cy="0"/>
        </a:xfrm>
      </p:grpSpPr>
      <p:sp>
        <p:nvSpPr>
          <p:cNvPr id="118" name="Google Shape;118;p30"/>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30"/>
          <p:cNvSpPr txBox="1"/>
          <p:nvPr>
            <p:ph idx="1" type="body"/>
          </p:nvPr>
        </p:nvSpPr>
        <p:spPr>
          <a:xfrm>
            <a:off x="761760" y="2005920"/>
            <a:ext cx="1371528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20" name="Shape 120"/>
        <p:cNvGrpSpPr/>
        <p:nvPr/>
      </p:nvGrpSpPr>
      <p:grpSpPr>
        <a:xfrm>
          <a:off x="0" y="0"/>
          <a:ext cx="0" cy="0"/>
          <a:chOff x="0" y="0"/>
          <a:chExt cx="0" cy="0"/>
        </a:xfrm>
      </p:grpSpPr>
      <p:sp>
        <p:nvSpPr>
          <p:cNvPr id="121" name="Google Shape;121;p31"/>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31"/>
          <p:cNvSpPr txBox="1"/>
          <p:nvPr>
            <p:ph idx="1" type="body"/>
          </p:nvPr>
        </p:nvSpPr>
        <p:spPr>
          <a:xfrm>
            <a:off x="761760" y="2005920"/>
            <a:ext cx="669276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3" name="Google Shape;123;p31"/>
          <p:cNvSpPr txBox="1"/>
          <p:nvPr>
            <p:ph idx="2" type="body"/>
          </p:nvPr>
        </p:nvSpPr>
        <p:spPr>
          <a:xfrm>
            <a:off x="7789680" y="2005920"/>
            <a:ext cx="669276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32"/>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26" name="Shape 126"/>
        <p:cNvGrpSpPr/>
        <p:nvPr/>
      </p:nvGrpSpPr>
      <p:grpSpPr>
        <a:xfrm>
          <a:off x="0" y="0"/>
          <a:ext cx="0" cy="0"/>
          <a:chOff x="0" y="0"/>
          <a:chExt cx="0" cy="0"/>
        </a:xfrm>
      </p:grpSpPr>
      <p:sp>
        <p:nvSpPr>
          <p:cNvPr id="127" name="Google Shape;127;p33"/>
          <p:cNvSpPr txBox="1"/>
          <p:nvPr>
            <p:ph idx="1" type="subTitle"/>
          </p:nvPr>
        </p:nvSpPr>
        <p:spPr>
          <a:xfrm>
            <a:off x="761760" y="342000"/>
            <a:ext cx="13715280" cy="66344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28" name="Shape 128"/>
        <p:cNvGrpSpPr/>
        <p:nvPr/>
      </p:nvGrpSpPr>
      <p:grpSpPr>
        <a:xfrm>
          <a:off x="0" y="0"/>
          <a:ext cx="0" cy="0"/>
          <a:chOff x="0" y="0"/>
          <a:chExt cx="0" cy="0"/>
        </a:xfrm>
      </p:grpSpPr>
      <p:sp>
        <p:nvSpPr>
          <p:cNvPr id="129" name="Google Shape;129;p34"/>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34"/>
          <p:cNvSpPr txBox="1"/>
          <p:nvPr>
            <p:ph idx="1" type="body"/>
          </p:nvPr>
        </p:nvSpPr>
        <p:spPr>
          <a:xfrm>
            <a:off x="76176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1" name="Google Shape;131;p34"/>
          <p:cNvSpPr txBox="1"/>
          <p:nvPr>
            <p:ph idx="2" type="body"/>
          </p:nvPr>
        </p:nvSpPr>
        <p:spPr>
          <a:xfrm>
            <a:off x="7789680" y="2005920"/>
            <a:ext cx="669276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2" name="Google Shape;132;p34"/>
          <p:cNvSpPr txBox="1"/>
          <p:nvPr>
            <p:ph idx="3" type="body"/>
          </p:nvPr>
        </p:nvSpPr>
        <p:spPr>
          <a:xfrm>
            <a:off x="761760" y="460296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33" name="Shape 133"/>
        <p:cNvGrpSpPr/>
        <p:nvPr/>
      </p:nvGrpSpPr>
      <p:grpSpPr>
        <a:xfrm>
          <a:off x="0" y="0"/>
          <a:ext cx="0" cy="0"/>
          <a:chOff x="0" y="0"/>
          <a:chExt cx="0" cy="0"/>
        </a:xfrm>
      </p:grpSpPr>
      <p:sp>
        <p:nvSpPr>
          <p:cNvPr id="134" name="Google Shape;134;p35"/>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5"/>
          <p:cNvSpPr txBox="1"/>
          <p:nvPr>
            <p:ph idx="1" type="body"/>
          </p:nvPr>
        </p:nvSpPr>
        <p:spPr>
          <a:xfrm>
            <a:off x="761760" y="2005920"/>
            <a:ext cx="669276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6" name="Google Shape;136;p35"/>
          <p:cNvSpPr txBox="1"/>
          <p:nvPr>
            <p:ph idx="2" type="body"/>
          </p:nvPr>
        </p:nvSpPr>
        <p:spPr>
          <a:xfrm>
            <a:off x="778968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7" name="Google Shape;137;p35"/>
          <p:cNvSpPr txBox="1"/>
          <p:nvPr>
            <p:ph idx="3" type="body"/>
          </p:nvPr>
        </p:nvSpPr>
        <p:spPr>
          <a:xfrm>
            <a:off x="7789680" y="460296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38" name="Shape 138"/>
        <p:cNvGrpSpPr/>
        <p:nvPr/>
      </p:nvGrpSpPr>
      <p:grpSpPr>
        <a:xfrm>
          <a:off x="0" y="0"/>
          <a:ext cx="0" cy="0"/>
          <a:chOff x="0" y="0"/>
          <a:chExt cx="0" cy="0"/>
        </a:xfrm>
      </p:grpSpPr>
      <p:sp>
        <p:nvSpPr>
          <p:cNvPr id="139" name="Google Shape;139;p36"/>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6"/>
          <p:cNvSpPr txBox="1"/>
          <p:nvPr>
            <p:ph idx="1" type="body"/>
          </p:nvPr>
        </p:nvSpPr>
        <p:spPr>
          <a:xfrm>
            <a:off x="76176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1" name="Google Shape;141;p36"/>
          <p:cNvSpPr txBox="1"/>
          <p:nvPr>
            <p:ph idx="2" type="body"/>
          </p:nvPr>
        </p:nvSpPr>
        <p:spPr>
          <a:xfrm>
            <a:off x="778968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2" name="Google Shape;142;p36"/>
          <p:cNvSpPr txBox="1"/>
          <p:nvPr>
            <p:ph idx="3" type="body"/>
          </p:nvPr>
        </p:nvSpPr>
        <p:spPr>
          <a:xfrm>
            <a:off x="761760" y="4602960"/>
            <a:ext cx="1371528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43" name="Shape 143"/>
        <p:cNvGrpSpPr/>
        <p:nvPr/>
      </p:nvGrpSpPr>
      <p:grpSpPr>
        <a:xfrm>
          <a:off x="0" y="0"/>
          <a:ext cx="0" cy="0"/>
          <a:chOff x="0" y="0"/>
          <a:chExt cx="0" cy="0"/>
        </a:xfrm>
      </p:grpSpPr>
      <p:sp>
        <p:nvSpPr>
          <p:cNvPr id="144" name="Google Shape;144;p37"/>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37"/>
          <p:cNvSpPr txBox="1"/>
          <p:nvPr>
            <p:ph idx="1" type="body"/>
          </p:nvPr>
        </p:nvSpPr>
        <p:spPr>
          <a:xfrm>
            <a:off x="761760" y="2005920"/>
            <a:ext cx="1371528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6" name="Google Shape;146;p37"/>
          <p:cNvSpPr txBox="1"/>
          <p:nvPr>
            <p:ph idx="2" type="body"/>
          </p:nvPr>
        </p:nvSpPr>
        <p:spPr>
          <a:xfrm>
            <a:off x="761760" y="4602960"/>
            <a:ext cx="1371528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47" name="Shape 147"/>
        <p:cNvGrpSpPr/>
        <p:nvPr/>
      </p:nvGrpSpPr>
      <p:grpSpPr>
        <a:xfrm>
          <a:off x="0" y="0"/>
          <a:ext cx="0" cy="0"/>
          <a:chOff x="0" y="0"/>
          <a:chExt cx="0" cy="0"/>
        </a:xfrm>
      </p:grpSpPr>
      <p:sp>
        <p:nvSpPr>
          <p:cNvPr id="148" name="Google Shape;148;p38"/>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38"/>
          <p:cNvSpPr txBox="1"/>
          <p:nvPr>
            <p:ph idx="1" type="body"/>
          </p:nvPr>
        </p:nvSpPr>
        <p:spPr>
          <a:xfrm>
            <a:off x="76176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0" name="Google Shape;150;p38"/>
          <p:cNvSpPr txBox="1"/>
          <p:nvPr>
            <p:ph idx="2" type="body"/>
          </p:nvPr>
        </p:nvSpPr>
        <p:spPr>
          <a:xfrm>
            <a:off x="778968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1" name="Google Shape;151;p38"/>
          <p:cNvSpPr txBox="1"/>
          <p:nvPr>
            <p:ph idx="3" type="body"/>
          </p:nvPr>
        </p:nvSpPr>
        <p:spPr>
          <a:xfrm>
            <a:off x="761760" y="460296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2" name="Google Shape;152;p38"/>
          <p:cNvSpPr txBox="1"/>
          <p:nvPr>
            <p:ph idx="4" type="body"/>
          </p:nvPr>
        </p:nvSpPr>
        <p:spPr>
          <a:xfrm>
            <a:off x="7789680" y="460296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53" name="Shape 153"/>
        <p:cNvGrpSpPr/>
        <p:nvPr/>
      </p:nvGrpSpPr>
      <p:grpSpPr>
        <a:xfrm>
          <a:off x="0" y="0"/>
          <a:ext cx="0" cy="0"/>
          <a:chOff x="0" y="0"/>
          <a:chExt cx="0" cy="0"/>
        </a:xfrm>
      </p:grpSpPr>
      <p:sp>
        <p:nvSpPr>
          <p:cNvPr id="154" name="Google Shape;154;p39"/>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39"/>
          <p:cNvSpPr txBox="1"/>
          <p:nvPr>
            <p:ph idx="1" type="body"/>
          </p:nvPr>
        </p:nvSpPr>
        <p:spPr>
          <a:xfrm>
            <a:off x="761760" y="200592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6" name="Google Shape;156;p39"/>
          <p:cNvSpPr txBox="1"/>
          <p:nvPr>
            <p:ph idx="2" type="body"/>
          </p:nvPr>
        </p:nvSpPr>
        <p:spPr>
          <a:xfrm>
            <a:off x="5398920" y="200592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7" name="Google Shape;157;p39"/>
          <p:cNvSpPr txBox="1"/>
          <p:nvPr>
            <p:ph idx="3" type="body"/>
          </p:nvPr>
        </p:nvSpPr>
        <p:spPr>
          <a:xfrm>
            <a:off x="10036440" y="200592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8" name="Google Shape;158;p39"/>
          <p:cNvSpPr txBox="1"/>
          <p:nvPr>
            <p:ph idx="4" type="body"/>
          </p:nvPr>
        </p:nvSpPr>
        <p:spPr>
          <a:xfrm>
            <a:off x="761760" y="460296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9" name="Google Shape;159;p39"/>
          <p:cNvSpPr txBox="1"/>
          <p:nvPr>
            <p:ph idx="5" type="body"/>
          </p:nvPr>
        </p:nvSpPr>
        <p:spPr>
          <a:xfrm>
            <a:off x="5398920" y="460296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0" name="Google Shape;160;p39"/>
          <p:cNvSpPr txBox="1"/>
          <p:nvPr>
            <p:ph idx="6" type="body"/>
          </p:nvPr>
        </p:nvSpPr>
        <p:spPr>
          <a:xfrm>
            <a:off x="10036440" y="460296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64" name="Shape 164"/>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65" name="Shape 165"/>
        <p:cNvGrpSpPr/>
        <p:nvPr/>
      </p:nvGrpSpPr>
      <p:grpSpPr>
        <a:xfrm>
          <a:off x="0" y="0"/>
          <a:ext cx="0" cy="0"/>
          <a:chOff x="0" y="0"/>
          <a:chExt cx="0" cy="0"/>
        </a:xfrm>
      </p:grpSpPr>
      <p:sp>
        <p:nvSpPr>
          <p:cNvPr id="166" name="Google Shape;166;p42"/>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42"/>
          <p:cNvSpPr txBox="1"/>
          <p:nvPr>
            <p:ph idx="1" type="subTitle"/>
          </p:nvPr>
        </p:nvSpPr>
        <p:spPr>
          <a:xfrm>
            <a:off x="761760" y="2005920"/>
            <a:ext cx="13715280" cy="49716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68" name="Shape 168"/>
        <p:cNvGrpSpPr/>
        <p:nvPr/>
      </p:nvGrpSpPr>
      <p:grpSpPr>
        <a:xfrm>
          <a:off x="0" y="0"/>
          <a:ext cx="0" cy="0"/>
          <a:chOff x="0" y="0"/>
          <a:chExt cx="0" cy="0"/>
        </a:xfrm>
      </p:grpSpPr>
      <p:sp>
        <p:nvSpPr>
          <p:cNvPr id="169" name="Google Shape;169;p43"/>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43"/>
          <p:cNvSpPr txBox="1"/>
          <p:nvPr>
            <p:ph idx="1" type="body"/>
          </p:nvPr>
        </p:nvSpPr>
        <p:spPr>
          <a:xfrm>
            <a:off x="761760" y="2005920"/>
            <a:ext cx="1371528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71" name="Shape 171"/>
        <p:cNvGrpSpPr/>
        <p:nvPr/>
      </p:nvGrpSpPr>
      <p:grpSpPr>
        <a:xfrm>
          <a:off x="0" y="0"/>
          <a:ext cx="0" cy="0"/>
          <a:chOff x="0" y="0"/>
          <a:chExt cx="0" cy="0"/>
        </a:xfrm>
      </p:grpSpPr>
      <p:sp>
        <p:nvSpPr>
          <p:cNvPr id="172" name="Google Shape;172;p44"/>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44"/>
          <p:cNvSpPr txBox="1"/>
          <p:nvPr>
            <p:ph idx="1" type="body"/>
          </p:nvPr>
        </p:nvSpPr>
        <p:spPr>
          <a:xfrm>
            <a:off x="761760" y="2005920"/>
            <a:ext cx="669276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4" name="Google Shape;174;p44"/>
          <p:cNvSpPr txBox="1"/>
          <p:nvPr>
            <p:ph idx="2" type="body"/>
          </p:nvPr>
        </p:nvSpPr>
        <p:spPr>
          <a:xfrm>
            <a:off x="7789680" y="2005920"/>
            <a:ext cx="669276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5" name="Shape 175"/>
        <p:cNvGrpSpPr/>
        <p:nvPr/>
      </p:nvGrpSpPr>
      <p:grpSpPr>
        <a:xfrm>
          <a:off x="0" y="0"/>
          <a:ext cx="0" cy="0"/>
          <a:chOff x="0" y="0"/>
          <a:chExt cx="0" cy="0"/>
        </a:xfrm>
      </p:grpSpPr>
      <p:sp>
        <p:nvSpPr>
          <p:cNvPr id="176" name="Google Shape;176;p45"/>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77" name="Shape 177"/>
        <p:cNvGrpSpPr/>
        <p:nvPr/>
      </p:nvGrpSpPr>
      <p:grpSpPr>
        <a:xfrm>
          <a:off x="0" y="0"/>
          <a:ext cx="0" cy="0"/>
          <a:chOff x="0" y="0"/>
          <a:chExt cx="0" cy="0"/>
        </a:xfrm>
      </p:grpSpPr>
      <p:sp>
        <p:nvSpPr>
          <p:cNvPr id="178" name="Google Shape;178;p46"/>
          <p:cNvSpPr txBox="1"/>
          <p:nvPr>
            <p:ph idx="1" type="subTitle"/>
          </p:nvPr>
        </p:nvSpPr>
        <p:spPr>
          <a:xfrm>
            <a:off x="761760" y="342000"/>
            <a:ext cx="13715280" cy="66344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79" name="Shape 179"/>
        <p:cNvGrpSpPr/>
        <p:nvPr/>
      </p:nvGrpSpPr>
      <p:grpSpPr>
        <a:xfrm>
          <a:off x="0" y="0"/>
          <a:ext cx="0" cy="0"/>
          <a:chOff x="0" y="0"/>
          <a:chExt cx="0" cy="0"/>
        </a:xfrm>
      </p:grpSpPr>
      <p:sp>
        <p:nvSpPr>
          <p:cNvPr id="180" name="Google Shape;180;p47"/>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47"/>
          <p:cNvSpPr txBox="1"/>
          <p:nvPr>
            <p:ph idx="1" type="body"/>
          </p:nvPr>
        </p:nvSpPr>
        <p:spPr>
          <a:xfrm>
            <a:off x="76176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2" name="Google Shape;182;p47"/>
          <p:cNvSpPr txBox="1"/>
          <p:nvPr>
            <p:ph idx="2" type="body"/>
          </p:nvPr>
        </p:nvSpPr>
        <p:spPr>
          <a:xfrm>
            <a:off x="7789680" y="2005920"/>
            <a:ext cx="669276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3" name="Google Shape;183;p47"/>
          <p:cNvSpPr txBox="1"/>
          <p:nvPr>
            <p:ph idx="3" type="body"/>
          </p:nvPr>
        </p:nvSpPr>
        <p:spPr>
          <a:xfrm>
            <a:off x="761760" y="460296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84" name="Shape 184"/>
        <p:cNvGrpSpPr/>
        <p:nvPr/>
      </p:nvGrpSpPr>
      <p:grpSpPr>
        <a:xfrm>
          <a:off x="0" y="0"/>
          <a:ext cx="0" cy="0"/>
          <a:chOff x="0" y="0"/>
          <a:chExt cx="0" cy="0"/>
        </a:xfrm>
      </p:grpSpPr>
      <p:sp>
        <p:nvSpPr>
          <p:cNvPr id="185" name="Google Shape;185;p48"/>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48"/>
          <p:cNvSpPr txBox="1"/>
          <p:nvPr>
            <p:ph idx="1" type="body"/>
          </p:nvPr>
        </p:nvSpPr>
        <p:spPr>
          <a:xfrm>
            <a:off x="761760" y="2005920"/>
            <a:ext cx="669276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7" name="Google Shape;187;p48"/>
          <p:cNvSpPr txBox="1"/>
          <p:nvPr>
            <p:ph idx="2" type="body"/>
          </p:nvPr>
        </p:nvSpPr>
        <p:spPr>
          <a:xfrm>
            <a:off x="778968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8" name="Google Shape;188;p48"/>
          <p:cNvSpPr txBox="1"/>
          <p:nvPr>
            <p:ph idx="3" type="body"/>
          </p:nvPr>
        </p:nvSpPr>
        <p:spPr>
          <a:xfrm>
            <a:off x="7789680" y="460296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89" name="Shape 189"/>
        <p:cNvGrpSpPr/>
        <p:nvPr/>
      </p:nvGrpSpPr>
      <p:grpSpPr>
        <a:xfrm>
          <a:off x="0" y="0"/>
          <a:ext cx="0" cy="0"/>
          <a:chOff x="0" y="0"/>
          <a:chExt cx="0" cy="0"/>
        </a:xfrm>
      </p:grpSpPr>
      <p:sp>
        <p:nvSpPr>
          <p:cNvPr id="190" name="Google Shape;190;p49"/>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49"/>
          <p:cNvSpPr txBox="1"/>
          <p:nvPr>
            <p:ph idx="1" type="body"/>
          </p:nvPr>
        </p:nvSpPr>
        <p:spPr>
          <a:xfrm>
            <a:off x="76176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2" name="Google Shape;192;p49"/>
          <p:cNvSpPr txBox="1"/>
          <p:nvPr>
            <p:ph idx="2" type="body"/>
          </p:nvPr>
        </p:nvSpPr>
        <p:spPr>
          <a:xfrm>
            <a:off x="778968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3" name="Google Shape;193;p49"/>
          <p:cNvSpPr txBox="1"/>
          <p:nvPr>
            <p:ph idx="3" type="body"/>
          </p:nvPr>
        </p:nvSpPr>
        <p:spPr>
          <a:xfrm>
            <a:off x="761760" y="4602960"/>
            <a:ext cx="1371528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94" name="Shape 194"/>
        <p:cNvGrpSpPr/>
        <p:nvPr/>
      </p:nvGrpSpPr>
      <p:grpSpPr>
        <a:xfrm>
          <a:off x="0" y="0"/>
          <a:ext cx="0" cy="0"/>
          <a:chOff x="0" y="0"/>
          <a:chExt cx="0" cy="0"/>
        </a:xfrm>
      </p:grpSpPr>
      <p:sp>
        <p:nvSpPr>
          <p:cNvPr id="195" name="Google Shape;195;p50"/>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6" name="Google Shape;196;p50"/>
          <p:cNvSpPr txBox="1"/>
          <p:nvPr>
            <p:ph idx="1" type="body"/>
          </p:nvPr>
        </p:nvSpPr>
        <p:spPr>
          <a:xfrm>
            <a:off x="761760" y="2005920"/>
            <a:ext cx="1371528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7" name="Google Shape;197;p50"/>
          <p:cNvSpPr txBox="1"/>
          <p:nvPr>
            <p:ph idx="2" type="body"/>
          </p:nvPr>
        </p:nvSpPr>
        <p:spPr>
          <a:xfrm>
            <a:off x="761760" y="4602960"/>
            <a:ext cx="1371528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98" name="Shape 198"/>
        <p:cNvGrpSpPr/>
        <p:nvPr/>
      </p:nvGrpSpPr>
      <p:grpSpPr>
        <a:xfrm>
          <a:off x="0" y="0"/>
          <a:ext cx="0" cy="0"/>
          <a:chOff x="0" y="0"/>
          <a:chExt cx="0" cy="0"/>
        </a:xfrm>
      </p:grpSpPr>
      <p:sp>
        <p:nvSpPr>
          <p:cNvPr id="199" name="Google Shape;199;p51"/>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51"/>
          <p:cNvSpPr txBox="1"/>
          <p:nvPr>
            <p:ph idx="1" type="body"/>
          </p:nvPr>
        </p:nvSpPr>
        <p:spPr>
          <a:xfrm>
            <a:off x="76176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1" name="Google Shape;201;p51"/>
          <p:cNvSpPr txBox="1"/>
          <p:nvPr>
            <p:ph idx="2" type="body"/>
          </p:nvPr>
        </p:nvSpPr>
        <p:spPr>
          <a:xfrm>
            <a:off x="778968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2" name="Google Shape;202;p51"/>
          <p:cNvSpPr txBox="1"/>
          <p:nvPr>
            <p:ph idx="3" type="body"/>
          </p:nvPr>
        </p:nvSpPr>
        <p:spPr>
          <a:xfrm>
            <a:off x="761760" y="460296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3" name="Google Shape;203;p51"/>
          <p:cNvSpPr txBox="1"/>
          <p:nvPr>
            <p:ph idx="4" type="body"/>
          </p:nvPr>
        </p:nvSpPr>
        <p:spPr>
          <a:xfrm>
            <a:off x="7789680" y="460296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04" name="Shape 204"/>
        <p:cNvGrpSpPr/>
        <p:nvPr/>
      </p:nvGrpSpPr>
      <p:grpSpPr>
        <a:xfrm>
          <a:off x="0" y="0"/>
          <a:ext cx="0" cy="0"/>
          <a:chOff x="0" y="0"/>
          <a:chExt cx="0" cy="0"/>
        </a:xfrm>
      </p:grpSpPr>
      <p:sp>
        <p:nvSpPr>
          <p:cNvPr id="205" name="Google Shape;205;p52"/>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52"/>
          <p:cNvSpPr txBox="1"/>
          <p:nvPr>
            <p:ph idx="1" type="body"/>
          </p:nvPr>
        </p:nvSpPr>
        <p:spPr>
          <a:xfrm>
            <a:off x="761760" y="200592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7" name="Google Shape;207;p52"/>
          <p:cNvSpPr txBox="1"/>
          <p:nvPr>
            <p:ph idx="2" type="body"/>
          </p:nvPr>
        </p:nvSpPr>
        <p:spPr>
          <a:xfrm>
            <a:off x="5398920" y="200592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8" name="Google Shape;208;p52"/>
          <p:cNvSpPr txBox="1"/>
          <p:nvPr>
            <p:ph idx="3" type="body"/>
          </p:nvPr>
        </p:nvSpPr>
        <p:spPr>
          <a:xfrm>
            <a:off x="10036440" y="200592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9" name="Google Shape;209;p52"/>
          <p:cNvSpPr txBox="1"/>
          <p:nvPr>
            <p:ph idx="4" type="body"/>
          </p:nvPr>
        </p:nvSpPr>
        <p:spPr>
          <a:xfrm>
            <a:off x="761760" y="460296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0" name="Google Shape;210;p52"/>
          <p:cNvSpPr txBox="1"/>
          <p:nvPr>
            <p:ph idx="5" type="body"/>
          </p:nvPr>
        </p:nvSpPr>
        <p:spPr>
          <a:xfrm>
            <a:off x="5398920" y="460296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1" name="Google Shape;211;p52"/>
          <p:cNvSpPr txBox="1"/>
          <p:nvPr>
            <p:ph idx="6" type="body"/>
          </p:nvPr>
        </p:nvSpPr>
        <p:spPr>
          <a:xfrm>
            <a:off x="10036440" y="460296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16" name="Shape 216"/>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17" name="Shape 217"/>
        <p:cNvGrpSpPr/>
        <p:nvPr/>
      </p:nvGrpSpPr>
      <p:grpSpPr>
        <a:xfrm>
          <a:off x="0" y="0"/>
          <a:ext cx="0" cy="0"/>
          <a:chOff x="0" y="0"/>
          <a:chExt cx="0" cy="0"/>
        </a:xfrm>
      </p:grpSpPr>
      <p:sp>
        <p:nvSpPr>
          <p:cNvPr id="218" name="Google Shape;218;p55"/>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p55"/>
          <p:cNvSpPr txBox="1"/>
          <p:nvPr>
            <p:ph idx="1" type="subTitle"/>
          </p:nvPr>
        </p:nvSpPr>
        <p:spPr>
          <a:xfrm>
            <a:off x="761760" y="2005920"/>
            <a:ext cx="13715280" cy="497160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20" name="Shape 220"/>
        <p:cNvGrpSpPr/>
        <p:nvPr/>
      </p:nvGrpSpPr>
      <p:grpSpPr>
        <a:xfrm>
          <a:off x="0" y="0"/>
          <a:ext cx="0" cy="0"/>
          <a:chOff x="0" y="0"/>
          <a:chExt cx="0" cy="0"/>
        </a:xfrm>
      </p:grpSpPr>
      <p:sp>
        <p:nvSpPr>
          <p:cNvPr id="221" name="Google Shape;221;p56"/>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56"/>
          <p:cNvSpPr txBox="1"/>
          <p:nvPr>
            <p:ph idx="1" type="body"/>
          </p:nvPr>
        </p:nvSpPr>
        <p:spPr>
          <a:xfrm>
            <a:off x="761760" y="2005920"/>
            <a:ext cx="1371528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23" name="Shape 223"/>
        <p:cNvGrpSpPr/>
        <p:nvPr/>
      </p:nvGrpSpPr>
      <p:grpSpPr>
        <a:xfrm>
          <a:off x="0" y="0"/>
          <a:ext cx="0" cy="0"/>
          <a:chOff x="0" y="0"/>
          <a:chExt cx="0" cy="0"/>
        </a:xfrm>
      </p:grpSpPr>
      <p:sp>
        <p:nvSpPr>
          <p:cNvPr id="224" name="Google Shape;224;p57"/>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57"/>
          <p:cNvSpPr txBox="1"/>
          <p:nvPr>
            <p:ph idx="1" type="body"/>
          </p:nvPr>
        </p:nvSpPr>
        <p:spPr>
          <a:xfrm>
            <a:off x="761760" y="2005920"/>
            <a:ext cx="669276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6" name="Google Shape;226;p57"/>
          <p:cNvSpPr txBox="1"/>
          <p:nvPr>
            <p:ph idx="2" type="body"/>
          </p:nvPr>
        </p:nvSpPr>
        <p:spPr>
          <a:xfrm>
            <a:off x="7789680" y="2005920"/>
            <a:ext cx="669276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7" name="Shape 227"/>
        <p:cNvGrpSpPr/>
        <p:nvPr/>
      </p:nvGrpSpPr>
      <p:grpSpPr>
        <a:xfrm>
          <a:off x="0" y="0"/>
          <a:ext cx="0" cy="0"/>
          <a:chOff x="0" y="0"/>
          <a:chExt cx="0" cy="0"/>
        </a:xfrm>
      </p:grpSpPr>
      <p:sp>
        <p:nvSpPr>
          <p:cNvPr id="228" name="Google Shape;228;p58"/>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29" name="Shape 229"/>
        <p:cNvGrpSpPr/>
        <p:nvPr/>
      </p:nvGrpSpPr>
      <p:grpSpPr>
        <a:xfrm>
          <a:off x="0" y="0"/>
          <a:ext cx="0" cy="0"/>
          <a:chOff x="0" y="0"/>
          <a:chExt cx="0" cy="0"/>
        </a:xfrm>
      </p:grpSpPr>
      <p:sp>
        <p:nvSpPr>
          <p:cNvPr id="230" name="Google Shape;230;p59"/>
          <p:cNvSpPr txBox="1"/>
          <p:nvPr>
            <p:ph idx="1" type="subTitle"/>
          </p:nvPr>
        </p:nvSpPr>
        <p:spPr>
          <a:xfrm>
            <a:off x="761760" y="342000"/>
            <a:ext cx="13715280" cy="663444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31" name="Shape 231"/>
        <p:cNvGrpSpPr/>
        <p:nvPr/>
      </p:nvGrpSpPr>
      <p:grpSpPr>
        <a:xfrm>
          <a:off x="0" y="0"/>
          <a:ext cx="0" cy="0"/>
          <a:chOff x="0" y="0"/>
          <a:chExt cx="0" cy="0"/>
        </a:xfrm>
      </p:grpSpPr>
      <p:sp>
        <p:nvSpPr>
          <p:cNvPr id="232" name="Google Shape;232;p60"/>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3" name="Google Shape;233;p60"/>
          <p:cNvSpPr txBox="1"/>
          <p:nvPr>
            <p:ph idx="1" type="body"/>
          </p:nvPr>
        </p:nvSpPr>
        <p:spPr>
          <a:xfrm>
            <a:off x="76176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4" name="Google Shape;234;p60"/>
          <p:cNvSpPr txBox="1"/>
          <p:nvPr>
            <p:ph idx="2" type="body"/>
          </p:nvPr>
        </p:nvSpPr>
        <p:spPr>
          <a:xfrm>
            <a:off x="7789680" y="2005920"/>
            <a:ext cx="669276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5" name="Google Shape;235;p60"/>
          <p:cNvSpPr txBox="1"/>
          <p:nvPr>
            <p:ph idx="3" type="body"/>
          </p:nvPr>
        </p:nvSpPr>
        <p:spPr>
          <a:xfrm>
            <a:off x="761760" y="460296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36" name="Shape 236"/>
        <p:cNvGrpSpPr/>
        <p:nvPr/>
      </p:nvGrpSpPr>
      <p:grpSpPr>
        <a:xfrm>
          <a:off x="0" y="0"/>
          <a:ext cx="0" cy="0"/>
          <a:chOff x="0" y="0"/>
          <a:chExt cx="0" cy="0"/>
        </a:xfrm>
      </p:grpSpPr>
      <p:sp>
        <p:nvSpPr>
          <p:cNvPr id="237" name="Google Shape;237;p61"/>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61"/>
          <p:cNvSpPr txBox="1"/>
          <p:nvPr>
            <p:ph idx="1" type="body"/>
          </p:nvPr>
        </p:nvSpPr>
        <p:spPr>
          <a:xfrm>
            <a:off x="761760" y="2005920"/>
            <a:ext cx="6692760" cy="497160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9" name="Google Shape;239;p61"/>
          <p:cNvSpPr txBox="1"/>
          <p:nvPr>
            <p:ph idx="2" type="body"/>
          </p:nvPr>
        </p:nvSpPr>
        <p:spPr>
          <a:xfrm>
            <a:off x="778968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0" name="Google Shape;240;p61"/>
          <p:cNvSpPr txBox="1"/>
          <p:nvPr>
            <p:ph idx="3" type="body"/>
          </p:nvPr>
        </p:nvSpPr>
        <p:spPr>
          <a:xfrm>
            <a:off x="7789680" y="460296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41" name="Shape 241"/>
        <p:cNvGrpSpPr/>
        <p:nvPr/>
      </p:nvGrpSpPr>
      <p:grpSpPr>
        <a:xfrm>
          <a:off x="0" y="0"/>
          <a:ext cx="0" cy="0"/>
          <a:chOff x="0" y="0"/>
          <a:chExt cx="0" cy="0"/>
        </a:xfrm>
      </p:grpSpPr>
      <p:sp>
        <p:nvSpPr>
          <p:cNvPr id="242" name="Google Shape;242;p62"/>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3" name="Google Shape;243;p62"/>
          <p:cNvSpPr txBox="1"/>
          <p:nvPr>
            <p:ph idx="1" type="body"/>
          </p:nvPr>
        </p:nvSpPr>
        <p:spPr>
          <a:xfrm>
            <a:off x="76176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4" name="Google Shape;244;p62"/>
          <p:cNvSpPr txBox="1"/>
          <p:nvPr>
            <p:ph idx="2" type="body"/>
          </p:nvPr>
        </p:nvSpPr>
        <p:spPr>
          <a:xfrm>
            <a:off x="778968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5" name="Google Shape;245;p62"/>
          <p:cNvSpPr txBox="1"/>
          <p:nvPr>
            <p:ph idx="3" type="body"/>
          </p:nvPr>
        </p:nvSpPr>
        <p:spPr>
          <a:xfrm>
            <a:off x="761760" y="4602960"/>
            <a:ext cx="1371528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46" name="Shape 246"/>
        <p:cNvGrpSpPr/>
        <p:nvPr/>
      </p:nvGrpSpPr>
      <p:grpSpPr>
        <a:xfrm>
          <a:off x="0" y="0"/>
          <a:ext cx="0" cy="0"/>
          <a:chOff x="0" y="0"/>
          <a:chExt cx="0" cy="0"/>
        </a:xfrm>
      </p:grpSpPr>
      <p:sp>
        <p:nvSpPr>
          <p:cNvPr id="247" name="Google Shape;247;p63"/>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63"/>
          <p:cNvSpPr txBox="1"/>
          <p:nvPr>
            <p:ph idx="1" type="body"/>
          </p:nvPr>
        </p:nvSpPr>
        <p:spPr>
          <a:xfrm>
            <a:off x="761760" y="2005920"/>
            <a:ext cx="1371528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49" name="Google Shape;249;p63"/>
          <p:cNvSpPr txBox="1"/>
          <p:nvPr>
            <p:ph idx="2" type="body"/>
          </p:nvPr>
        </p:nvSpPr>
        <p:spPr>
          <a:xfrm>
            <a:off x="761760" y="4602960"/>
            <a:ext cx="1371528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50" name="Shape 250"/>
        <p:cNvGrpSpPr/>
        <p:nvPr/>
      </p:nvGrpSpPr>
      <p:grpSpPr>
        <a:xfrm>
          <a:off x="0" y="0"/>
          <a:ext cx="0" cy="0"/>
          <a:chOff x="0" y="0"/>
          <a:chExt cx="0" cy="0"/>
        </a:xfrm>
      </p:grpSpPr>
      <p:sp>
        <p:nvSpPr>
          <p:cNvPr id="251" name="Google Shape;251;p64"/>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2" name="Google Shape;252;p64"/>
          <p:cNvSpPr txBox="1"/>
          <p:nvPr>
            <p:ph idx="1" type="body"/>
          </p:nvPr>
        </p:nvSpPr>
        <p:spPr>
          <a:xfrm>
            <a:off x="76176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3" name="Google Shape;253;p64"/>
          <p:cNvSpPr txBox="1"/>
          <p:nvPr>
            <p:ph idx="2" type="body"/>
          </p:nvPr>
        </p:nvSpPr>
        <p:spPr>
          <a:xfrm>
            <a:off x="7789680" y="200592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4" name="Google Shape;254;p64"/>
          <p:cNvSpPr txBox="1"/>
          <p:nvPr>
            <p:ph idx="3" type="body"/>
          </p:nvPr>
        </p:nvSpPr>
        <p:spPr>
          <a:xfrm>
            <a:off x="761760" y="460296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5" name="Google Shape;255;p64"/>
          <p:cNvSpPr txBox="1"/>
          <p:nvPr>
            <p:ph idx="4" type="body"/>
          </p:nvPr>
        </p:nvSpPr>
        <p:spPr>
          <a:xfrm>
            <a:off x="7789680" y="4602960"/>
            <a:ext cx="669276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56" name="Shape 256"/>
        <p:cNvGrpSpPr/>
        <p:nvPr/>
      </p:nvGrpSpPr>
      <p:grpSpPr>
        <a:xfrm>
          <a:off x="0" y="0"/>
          <a:ext cx="0" cy="0"/>
          <a:chOff x="0" y="0"/>
          <a:chExt cx="0" cy="0"/>
        </a:xfrm>
      </p:grpSpPr>
      <p:sp>
        <p:nvSpPr>
          <p:cNvPr id="257" name="Google Shape;257;p65"/>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65"/>
          <p:cNvSpPr txBox="1"/>
          <p:nvPr>
            <p:ph idx="1" type="body"/>
          </p:nvPr>
        </p:nvSpPr>
        <p:spPr>
          <a:xfrm>
            <a:off x="761760" y="200592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9" name="Google Shape;259;p65"/>
          <p:cNvSpPr txBox="1"/>
          <p:nvPr>
            <p:ph idx="2" type="body"/>
          </p:nvPr>
        </p:nvSpPr>
        <p:spPr>
          <a:xfrm>
            <a:off x="5398920" y="200592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0" name="Google Shape;260;p65"/>
          <p:cNvSpPr txBox="1"/>
          <p:nvPr>
            <p:ph idx="3" type="body"/>
          </p:nvPr>
        </p:nvSpPr>
        <p:spPr>
          <a:xfrm>
            <a:off x="10036440" y="200592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1" name="Google Shape;261;p65"/>
          <p:cNvSpPr txBox="1"/>
          <p:nvPr>
            <p:ph idx="4" type="body"/>
          </p:nvPr>
        </p:nvSpPr>
        <p:spPr>
          <a:xfrm>
            <a:off x="761760" y="460296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2" name="Google Shape;262;p65"/>
          <p:cNvSpPr txBox="1"/>
          <p:nvPr>
            <p:ph idx="5" type="body"/>
          </p:nvPr>
        </p:nvSpPr>
        <p:spPr>
          <a:xfrm>
            <a:off x="5398920" y="460296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3" name="Google Shape;263;p65"/>
          <p:cNvSpPr txBox="1"/>
          <p:nvPr>
            <p:ph idx="6" type="body"/>
          </p:nvPr>
        </p:nvSpPr>
        <p:spPr>
          <a:xfrm>
            <a:off x="10036440" y="4602960"/>
            <a:ext cx="4416120" cy="23713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theme" Target="../theme/theme1.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theme" Target="../theme/theme2.xml"/><Relationship Id="rId12" Type="http://schemas.openxmlformats.org/officeDocument/2006/relationships/slideLayout" Target="../slideLayouts/slideLayout48.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9.xml"/><Relationship Id="rId10" Type="http://schemas.openxmlformats.org/officeDocument/2006/relationships/slideLayout" Target="../slideLayouts/slideLayout58.xml"/><Relationship Id="rId13" Type="http://schemas.openxmlformats.org/officeDocument/2006/relationships/theme" Target="../theme/theme6.xml"/><Relationship Id="rId12" Type="http://schemas.openxmlformats.org/officeDocument/2006/relationships/slideLayout" Target="../slideLayouts/slideLayout60.xml"/><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9" Type="http://schemas.openxmlformats.org/officeDocument/2006/relationships/slideLayout" Target="../slideLayouts/slideLayout57.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761760" y="342000"/>
            <a:ext cx="13715280" cy="14310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 name="Google Shape;11;p1"/>
          <p:cNvSpPr txBox="1"/>
          <p:nvPr>
            <p:ph idx="1" type="body"/>
          </p:nvPr>
        </p:nvSpPr>
        <p:spPr>
          <a:xfrm>
            <a:off x="761760" y="2005920"/>
            <a:ext cx="13715280" cy="497160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 name="Shape 60"/>
        <p:cNvGrpSpPr/>
        <p:nvPr/>
      </p:nvGrpSpPr>
      <p:grpSpPr>
        <a:xfrm>
          <a:off x="0" y="0"/>
          <a:ext cx="0" cy="0"/>
          <a:chOff x="0" y="0"/>
          <a:chExt cx="0" cy="0"/>
        </a:xfrm>
      </p:grpSpPr>
      <p:sp>
        <p:nvSpPr>
          <p:cNvPr id="61" name="Google Shape;61;p14"/>
          <p:cNvSpPr txBox="1"/>
          <p:nvPr>
            <p:ph type="title"/>
          </p:nvPr>
        </p:nvSpPr>
        <p:spPr>
          <a:xfrm>
            <a:off x="1523880" y="3571920"/>
            <a:ext cx="12191760" cy="142848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sp>
        <p:nvSpPr>
          <p:cNvPr id="111" name="Google Shape;111;p27"/>
          <p:cNvSpPr txBox="1"/>
          <p:nvPr>
            <p:ph type="title"/>
          </p:nvPr>
        </p:nvSpPr>
        <p:spPr>
          <a:xfrm>
            <a:off x="857160" y="666720"/>
            <a:ext cx="13525200" cy="10472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2" name="Google Shape;112;p27"/>
          <p:cNvSpPr txBox="1"/>
          <p:nvPr>
            <p:ph idx="1" type="body"/>
          </p:nvPr>
        </p:nvSpPr>
        <p:spPr>
          <a:xfrm>
            <a:off x="857160" y="2381400"/>
            <a:ext cx="13525200" cy="53337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1" name="Shape 161"/>
        <p:cNvGrpSpPr/>
        <p:nvPr/>
      </p:nvGrpSpPr>
      <p:grpSpPr>
        <a:xfrm>
          <a:off x="0" y="0"/>
          <a:ext cx="0" cy="0"/>
          <a:chOff x="0" y="0"/>
          <a:chExt cx="0" cy="0"/>
        </a:xfrm>
      </p:grpSpPr>
      <p:sp>
        <p:nvSpPr>
          <p:cNvPr id="162" name="Google Shape;162;p40"/>
          <p:cNvSpPr txBox="1"/>
          <p:nvPr>
            <p:ph type="title"/>
          </p:nvPr>
        </p:nvSpPr>
        <p:spPr>
          <a:xfrm>
            <a:off x="857160" y="666720"/>
            <a:ext cx="13525200" cy="10472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63" name="Google Shape;163;p40"/>
          <p:cNvSpPr txBox="1"/>
          <p:nvPr>
            <p:ph idx="1" type="body"/>
          </p:nvPr>
        </p:nvSpPr>
        <p:spPr>
          <a:xfrm>
            <a:off x="857160" y="2381400"/>
            <a:ext cx="6286320" cy="53337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53"/>
          <p:cNvSpPr txBox="1"/>
          <p:nvPr>
            <p:ph type="title"/>
          </p:nvPr>
        </p:nvSpPr>
        <p:spPr>
          <a:xfrm>
            <a:off x="857160" y="666720"/>
            <a:ext cx="13525200" cy="104724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14" name="Google Shape;214;p53"/>
          <p:cNvSpPr txBox="1"/>
          <p:nvPr>
            <p:ph idx="1" type="body"/>
          </p:nvPr>
        </p:nvSpPr>
        <p:spPr>
          <a:xfrm>
            <a:off x="857160" y="2381400"/>
            <a:ext cx="6286320" cy="53337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15" name="Google Shape;215;p53"/>
          <p:cNvSpPr txBox="1"/>
          <p:nvPr>
            <p:ph idx="2" type="body"/>
          </p:nvPr>
        </p:nvSpPr>
        <p:spPr>
          <a:xfrm>
            <a:off x="8096400" y="2381400"/>
            <a:ext cx="6286320" cy="533376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12B3D"/>
        </a:solidFill>
      </p:bgPr>
    </p:bg>
    <p:spTree>
      <p:nvGrpSpPr>
        <p:cNvPr id="268" name="Shape 268"/>
        <p:cNvGrpSpPr/>
        <p:nvPr/>
      </p:nvGrpSpPr>
      <p:grpSpPr>
        <a:xfrm>
          <a:off x="0" y="0"/>
          <a:ext cx="0" cy="0"/>
          <a:chOff x="0" y="0"/>
          <a:chExt cx="0" cy="0"/>
        </a:xfrm>
      </p:grpSpPr>
      <p:sp>
        <p:nvSpPr>
          <p:cNvPr id="269" name="Google Shape;269;p66"/>
          <p:cNvSpPr/>
          <p:nvPr/>
        </p:nvSpPr>
        <p:spPr>
          <a:xfrm>
            <a:off x="857160" y="1857240"/>
            <a:ext cx="13429800" cy="2095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4950" u="none" cap="none" strike="noStrike">
                <a:solidFill>
                  <a:srgbClr val="FFFFFF"/>
                </a:solidFill>
                <a:latin typeface="Verdana"/>
                <a:ea typeface="Verdana"/>
                <a:cs typeface="Verdana"/>
                <a:sym typeface="Verdana"/>
              </a:rPr>
              <a:t>Camera–LiDAR BEV Fusion</a:t>
            </a:r>
            <a:endParaRPr b="0" i="0" sz="495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US" sz="4950" u="none" cap="none" strike="noStrike">
                <a:solidFill>
                  <a:srgbClr val="FFFFFF"/>
                </a:solidFill>
                <a:latin typeface="Verdana"/>
                <a:ea typeface="Verdana"/>
                <a:cs typeface="Verdana"/>
                <a:sym typeface="Verdana"/>
              </a:rPr>
              <a:t>with Local Box Refinement</a:t>
            </a:r>
            <a:endParaRPr b="0" i="0" sz="4950" u="none" cap="none" strike="noStrike">
              <a:latin typeface="Arial"/>
              <a:ea typeface="Arial"/>
              <a:cs typeface="Arial"/>
              <a:sym typeface="Arial"/>
            </a:endParaRPr>
          </a:p>
        </p:txBody>
      </p:sp>
      <p:sp>
        <p:nvSpPr>
          <p:cNvPr id="270" name="Google Shape;270;p66"/>
          <p:cNvSpPr/>
          <p:nvPr/>
        </p:nvSpPr>
        <p:spPr>
          <a:xfrm>
            <a:off x="885960" y="4429080"/>
            <a:ext cx="13144320" cy="952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470" u="none" cap="none" strike="noStrike">
                <a:solidFill>
                  <a:srgbClr val="BFE2E2"/>
                </a:solidFill>
                <a:latin typeface="Verdana"/>
                <a:ea typeface="Verdana"/>
                <a:cs typeface="Verdana"/>
                <a:sym typeface="Verdana"/>
              </a:rPr>
              <a:t>Spatial gating and proposal-level residual correction</a:t>
            </a:r>
            <a:endParaRPr b="0" i="0" sz="2470" u="none" cap="none" strike="noStrike">
              <a:latin typeface="Arial"/>
              <a:ea typeface="Arial"/>
              <a:cs typeface="Arial"/>
              <a:sym typeface="Arial"/>
            </a:endParaRPr>
          </a:p>
        </p:txBody>
      </p:sp>
      <p:sp>
        <p:nvSpPr>
          <p:cNvPr id="271" name="Google Shape;271;p66"/>
          <p:cNvSpPr/>
          <p:nvPr/>
        </p:nvSpPr>
        <p:spPr>
          <a:xfrm>
            <a:off x="895320" y="6429240"/>
            <a:ext cx="12382200" cy="5713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66"/>
          <p:cNvSpPr/>
          <p:nvPr/>
        </p:nvSpPr>
        <p:spPr>
          <a:xfrm>
            <a:off x="895320" y="7162920"/>
            <a:ext cx="12382200" cy="428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729" u="none" cap="none" strike="noStrike">
                <a:solidFill>
                  <a:srgbClr val="C0CCD4"/>
                </a:solidFill>
                <a:latin typeface="Verdana"/>
                <a:ea typeface="Verdana"/>
                <a:cs typeface="Verdana"/>
                <a:sym typeface="Verdana"/>
              </a:rPr>
              <a:t>Research prototype on nuScenes mini</a:t>
            </a:r>
            <a:endParaRPr b="0" i="0" sz="1729" u="none" cap="none" strike="noStrike">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277" name="Shape 277"/>
        <p:cNvGrpSpPr/>
        <p:nvPr/>
      </p:nvGrpSpPr>
      <p:grpSpPr>
        <a:xfrm>
          <a:off x="0" y="0"/>
          <a:ext cx="0" cy="0"/>
          <a:chOff x="0" y="0"/>
          <a:chExt cx="0" cy="0"/>
        </a:xfrm>
      </p:grpSpPr>
      <p:sp>
        <p:nvSpPr>
          <p:cNvPr id="278" name="Google Shape;278;p67"/>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My contributions and the inherited system</a:t>
            </a:r>
            <a:endParaRPr b="0" sz="3450" strike="noStrike">
              <a:latin typeface="Arial"/>
              <a:ea typeface="Arial"/>
              <a:cs typeface="Arial"/>
              <a:sym typeface="Arial"/>
            </a:endParaRPr>
          </a:p>
        </p:txBody>
      </p:sp>
      <p:sp>
        <p:nvSpPr>
          <p:cNvPr id="279" name="Google Shape;279;p67"/>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Research question: can spatial weighting and local context improve 3D localization?</a:t>
            </a:r>
            <a:endParaRPr b="0" sz="1870" strike="noStrike">
              <a:latin typeface="Arial"/>
              <a:ea typeface="Arial"/>
              <a:cs typeface="Arial"/>
              <a:sym typeface="Arial"/>
            </a:endParaRPr>
          </a:p>
        </p:txBody>
      </p:sp>
      <p:sp>
        <p:nvSpPr>
          <p:cNvPr id="280" name="Google Shape;280;p67"/>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02</a:t>
            </a:r>
            <a:endParaRPr b="0" sz="1280" strike="noStrike">
              <a:latin typeface="Arial"/>
              <a:ea typeface="Arial"/>
              <a:cs typeface="Arial"/>
              <a:sym typeface="Arial"/>
            </a:endParaRPr>
          </a:p>
        </p:txBody>
      </p:sp>
      <p:graphicFrame>
        <p:nvGraphicFramePr>
          <p:cNvPr id="281" name="Google Shape;281;p67"/>
          <p:cNvGraphicFramePr/>
          <p:nvPr/>
        </p:nvGraphicFramePr>
        <p:xfrm>
          <a:off x="685800" y="2095560"/>
          <a:ext cx="3000000" cy="3000000"/>
        </p:xfrm>
        <a:graphic>
          <a:graphicData uri="http://schemas.openxmlformats.org/drawingml/2006/table">
            <a:tbl>
              <a:tblPr>
                <a:noFill/>
                <a:tableStyleId>{95E7CD04-70E1-4013-8DFE-BD906A8056AE}</a:tableStyleId>
              </a:tblPr>
              <a:tblGrid>
                <a:gridCol w="3605750"/>
                <a:gridCol w="6517800"/>
                <a:gridCol w="3744350"/>
              </a:tblGrid>
              <a:tr h="942850">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Component</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Project contribution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Evidence</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r>
              <a:tr h="9428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BEVFusion backbone</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Inherited Swin, depth lifting, sparse encoder, SECOND/FPN and TransFusion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MMDetection3D v1.4.0</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9428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Spatial fusion</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Implemented feature projections, reliability proxies, a cell-wise gate and a LiDAR residual</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ReliabilityAwareFuser</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9428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Proposal refinement</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Implemented local BEV sampling, context fusion and encoded box residuals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ObjectRefineTransFusionHead</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9428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Experiment integration</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Registered modules and supplied config overlays and a mini-dataset experiment record</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Configs and RESULTS.md</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r>
            </a:tbl>
          </a:graphicData>
        </a:graphic>
      </p:graphicFrame>
      <p:sp>
        <p:nvSpPr>
          <p:cNvPr id="282" name="Google Shape;282;p67"/>
          <p:cNvSpPr/>
          <p:nvPr/>
        </p:nvSpPr>
        <p:spPr>
          <a:xfrm>
            <a:off x="685800" y="7496280"/>
            <a:ext cx="13867920" cy="552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650" strike="noStrike">
                <a:solidFill>
                  <a:srgbClr val="526574"/>
                </a:solidFill>
                <a:latin typeface="Verdana"/>
                <a:ea typeface="Verdana"/>
                <a:cs typeface="Verdana"/>
                <a:sym typeface="Verdana"/>
              </a:rPr>
              <a:t>The extensions target two explicit interfaces: modality fusion and proposal geometry.</a:t>
            </a:r>
            <a:endParaRPr b="0" sz="1650" strike="noStrike">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287" name="Shape 287"/>
        <p:cNvGrpSpPr/>
        <p:nvPr/>
      </p:nvGrpSpPr>
      <p:grpSpPr>
        <a:xfrm>
          <a:off x="0" y="0"/>
          <a:ext cx="0" cy="0"/>
          <a:chOff x="0" y="0"/>
          <a:chExt cx="0" cy="0"/>
        </a:xfrm>
      </p:grpSpPr>
      <p:cxnSp>
        <p:nvCxnSpPr>
          <p:cNvPr id="288" name="Google Shape;288;p68"/>
          <p:cNvCxnSpPr/>
          <p:nvPr/>
        </p:nvCxnSpPr>
        <p:spPr>
          <a:xfrm flipH="1">
            <a:off x="3352320" y="6881400"/>
            <a:ext cx="743760" cy="360"/>
          </a:xfrm>
          <a:prstGeom prst="straightConnector1">
            <a:avLst/>
          </a:prstGeom>
          <a:noFill/>
          <a:ln cap="flat" cmpd="sng" w="19075">
            <a:solidFill>
              <a:srgbClr val="007F83"/>
            </a:solidFill>
            <a:prstDash val="solid"/>
            <a:round/>
            <a:headEnd len="sm" w="sm" type="none"/>
            <a:tailEnd len="med" w="med" type="triangle"/>
          </a:ln>
        </p:spPr>
      </p:cxnSp>
      <p:cxnSp>
        <p:nvCxnSpPr>
          <p:cNvPr id="289" name="Google Shape;289;p68"/>
          <p:cNvCxnSpPr/>
          <p:nvPr/>
        </p:nvCxnSpPr>
        <p:spPr>
          <a:xfrm flipH="1">
            <a:off x="7048080" y="6881400"/>
            <a:ext cx="715320" cy="360"/>
          </a:xfrm>
          <a:prstGeom prst="straightConnector1">
            <a:avLst/>
          </a:prstGeom>
          <a:noFill/>
          <a:ln cap="flat" cmpd="sng" w="19075">
            <a:solidFill>
              <a:srgbClr val="007F83"/>
            </a:solidFill>
            <a:prstDash val="solid"/>
            <a:round/>
            <a:headEnd len="sm" w="sm" type="none"/>
            <a:tailEnd len="med" w="med" type="triangle"/>
          </a:ln>
        </p:spPr>
      </p:cxnSp>
      <p:cxnSp>
        <p:nvCxnSpPr>
          <p:cNvPr id="290" name="Google Shape;290;p68"/>
          <p:cNvCxnSpPr/>
          <p:nvPr/>
        </p:nvCxnSpPr>
        <p:spPr>
          <a:xfrm flipH="1">
            <a:off x="10620360" y="6881400"/>
            <a:ext cx="714600" cy="360"/>
          </a:xfrm>
          <a:prstGeom prst="straightConnector1">
            <a:avLst/>
          </a:prstGeom>
          <a:noFill/>
          <a:ln cap="flat" cmpd="sng" w="19075">
            <a:solidFill>
              <a:srgbClr val="365C7D"/>
            </a:solidFill>
            <a:prstDash val="solid"/>
            <a:round/>
            <a:headEnd len="sm" w="sm" type="none"/>
            <a:tailEnd len="med" w="med" type="triangle"/>
          </a:ln>
        </p:spPr>
      </p:cxnSp>
      <p:cxnSp>
        <p:nvCxnSpPr>
          <p:cNvPr id="291" name="Google Shape;291;p68"/>
          <p:cNvCxnSpPr/>
          <p:nvPr/>
        </p:nvCxnSpPr>
        <p:spPr>
          <a:xfrm>
            <a:off x="12944160" y="4428720"/>
            <a:ext cx="360" cy="1762920"/>
          </a:xfrm>
          <a:prstGeom prst="straightConnector1">
            <a:avLst/>
          </a:prstGeom>
          <a:noFill/>
          <a:ln cap="flat" cmpd="sng" w="19075">
            <a:solidFill>
              <a:srgbClr val="365C7D"/>
            </a:solidFill>
            <a:prstDash val="solid"/>
            <a:round/>
            <a:headEnd len="sm" w="sm" type="none"/>
            <a:tailEnd len="med" w="med" type="triangle"/>
          </a:ln>
        </p:spPr>
      </p:cxnSp>
      <p:cxnSp>
        <p:nvCxnSpPr>
          <p:cNvPr id="292" name="Google Shape;292;p68"/>
          <p:cNvCxnSpPr/>
          <p:nvPr/>
        </p:nvCxnSpPr>
        <p:spPr>
          <a:xfrm rot="-5400000">
            <a:off x="10525110" y="3833430"/>
            <a:ext cx="905100" cy="714600"/>
          </a:xfrm>
          <a:prstGeom prst="bentConnector3">
            <a:avLst>
              <a:gd fmla="val 50000" name="adj1"/>
            </a:avLst>
          </a:prstGeom>
          <a:noFill/>
          <a:ln cap="flat" cmpd="sng" w="19075">
            <a:solidFill>
              <a:srgbClr val="007F83"/>
            </a:solidFill>
            <a:prstDash val="solid"/>
            <a:round/>
            <a:headEnd len="sm" w="sm" type="none"/>
            <a:tailEnd len="med" w="med" type="triangle"/>
          </a:ln>
        </p:spPr>
      </p:cxnSp>
      <p:cxnSp>
        <p:nvCxnSpPr>
          <p:cNvPr id="293" name="Google Shape;293;p68"/>
          <p:cNvCxnSpPr/>
          <p:nvPr/>
        </p:nvCxnSpPr>
        <p:spPr>
          <a:xfrm>
            <a:off x="10620360" y="2833200"/>
            <a:ext cx="2324100" cy="215400"/>
          </a:xfrm>
          <a:prstGeom prst="bentConnector3">
            <a:avLst>
              <a:gd fmla="val 50000" name="adj1"/>
            </a:avLst>
          </a:prstGeom>
          <a:noFill/>
          <a:ln cap="flat" cmpd="sng" w="19075">
            <a:solidFill>
              <a:srgbClr val="007F83"/>
            </a:solidFill>
            <a:prstDash val="solid"/>
            <a:round/>
            <a:headEnd len="sm" w="sm" type="none"/>
            <a:tailEnd len="med" w="med" type="triangle"/>
          </a:ln>
        </p:spPr>
      </p:cxnSp>
      <p:cxnSp>
        <p:nvCxnSpPr>
          <p:cNvPr id="294" name="Google Shape;294;p68"/>
          <p:cNvCxnSpPr/>
          <p:nvPr/>
        </p:nvCxnSpPr>
        <p:spPr>
          <a:xfrm>
            <a:off x="7048080" y="4642920"/>
            <a:ext cx="715320" cy="360"/>
          </a:xfrm>
          <a:prstGeom prst="straightConnector1">
            <a:avLst/>
          </a:prstGeom>
          <a:noFill/>
          <a:ln cap="flat" cmpd="sng" w="19075">
            <a:solidFill>
              <a:srgbClr val="365C7D"/>
            </a:solidFill>
            <a:prstDash val="solid"/>
            <a:round/>
            <a:headEnd len="sm" w="sm" type="none"/>
            <a:tailEnd len="med" w="med" type="triangle"/>
          </a:ln>
        </p:spPr>
      </p:cxnSp>
      <p:cxnSp>
        <p:nvCxnSpPr>
          <p:cNvPr id="295" name="Google Shape;295;p68"/>
          <p:cNvCxnSpPr/>
          <p:nvPr/>
        </p:nvCxnSpPr>
        <p:spPr>
          <a:xfrm>
            <a:off x="3352320" y="4642920"/>
            <a:ext cx="743760" cy="360"/>
          </a:xfrm>
          <a:prstGeom prst="straightConnector1">
            <a:avLst/>
          </a:prstGeom>
          <a:noFill/>
          <a:ln cap="flat" cmpd="sng" w="19075">
            <a:solidFill>
              <a:srgbClr val="365C7D"/>
            </a:solidFill>
            <a:prstDash val="solid"/>
            <a:round/>
            <a:headEnd len="sm" w="sm" type="none"/>
            <a:tailEnd len="med" w="med" type="triangle"/>
          </a:ln>
        </p:spPr>
      </p:cxnSp>
      <p:cxnSp>
        <p:nvCxnSpPr>
          <p:cNvPr id="296" name="Google Shape;296;p68"/>
          <p:cNvCxnSpPr/>
          <p:nvPr/>
        </p:nvCxnSpPr>
        <p:spPr>
          <a:xfrm>
            <a:off x="7048080" y="2833200"/>
            <a:ext cx="715320" cy="360"/>
          </a:xfrm>
          <a:prstGeom prst="straightConnector1">
            <a:avLst/>
          </a:prstGeom>
          <a:noFill/>
          <a:ln cap="flat" cmpd="sng" w="19075">
            <a:solidFill>
              <a:srgbClr val="365C7D"/>
            </a:solidFill>
            <a:prstDash val="solid"/>
            <a:round/>
            <a:headEnd len="sm" w="sm" type="none"/>
            <a:tailEnd len="med" w="med" type="triangle"/>
          </a:ln>
        </p:spPr>
      </p:cxnSp>
      <p:cxnSp>
        <p:nvCxnSpPr>
          <p:cNvPr id="297" name="Google Shape;297;p68"/>
          <p:cNvCxnSpPr/>
          <p:nvPr/>
        </p:nvCxnSpPr>
        <p:spPr>
          <a:xfrm>
            <a:off x="3352320" y="2833200"/>
            <a:ext cx="743760" cy="360"/>
          </a:xfrm>
          <a:prstGeom prst="straightConnector1">
            <a:avLst/>
          </a:prstGeom>
          <a:noFill/>
          <a:ln cap="flat" cmpd="sng" w="19075">
            <a:solidFill>
              <a:srgbClr val="365C7D"/>
            </a:solidFill>
            <a:prstDash val="solid"/>
            <a:round/>
            <a:headEnd len="sm" w="sm" type="none"/>
            <a:tailEnd len="med" w="med" type="triangle"/>
          </a:ln>
        </p:spPr>
      </p:cxnSp>
      <p:sp>
        <p:nvSpPr>
          <p:cNvPr id="298" name="Google Shape;298;p68"/>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The complete perception pipeline</a:t>
            </a:r>
            <a:endParaRPr b="0" sz="3450" strike="noStrike">
              <a:latin typeface="Arial"/>
              <a:ea typeface="Arial"/>
              <a:cs typeface="Arial"/>
              <a:sym typeface="Arial"/>
            </a:endParaRPr>
          </a:p>
        </p:txBody>
      </p:sp>
      <p:sp>
        <p:nvSpPr>
          <p:cNvPr id="299" name="Google Shape;299;p68"/>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Image and point-cloud encoders meet in a common 180 × 180 BEV lattice</a:t>
            </a:r>
            <a:endParaRPr b="0" sz="1870" strike="noStrike">
              <a:latin typeface="Arial"/>
              <a:ea typeface="Arial"/>
              <a:cs typeface="Arial"/>
              <a:sym typeface="Arial"/>
            </a:endParaRPr>
          </a:p>
        </p:txBody>
      </p:sp>
      <p:sp>
        <p:nvSpPr>
          <p:cNvPr id="300" name="Google Shape;300;p68"/>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03</a:t>
            </a:r>
            <a:endParaRPr b="0" sz="1280" strike="noStrike">
              <a:latin typeface="Arial"/>
              <a:ea typeface="Arial"/>
              <a:cs typeface="Arial"/>
              <a:sym typeface="Arial"/>
            </a:endParaRPr>
          </a:p>
        </p:txBody>
      </p:sp>
      <p:sp>
        <p:nvSpPr>
          <p:cNvPr id="301" name="Google Shape;301;p68"/>
          <p:cNvSpPr/>
          <p:nvPr/>
        </p:nvSpPr>
        <p:spPr>
          <a:xfrm>
            <a:off x="685800" y="2143080"/>
            <a:ext cx="2666520" cy="138060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68"/>
          <p:cNvSpPr/>
          <p:nvPr/>
        </p:nvSpPr>
        <p:spPr>
          <a:xfrm>
            <a:off x="800280" y="2286000"/>
            <a:ext cx="243792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Six camera views</a:t>
            </a:r>
            <a:endParaRPr b="0" sz="1950" strike="noStrike">
              <a:latin typeface="Arial"/>
              <a:ea typeface="Arial"/>
              <a:cs typeface="Arial"/>
              <a:sym typeface="Arial"/>
            </a:endParaRPr>
          </a:p>
        </p:txBody>
      </p:sp>
      <p:sp>
        <p:nvSpPr>
          <p:cNvPr id="303" name="Google Shape;303;p68"/>
          <p:cNvSpPr/>
          <p:nvPr/>
        </p:nvSpPr>
        <p:spPr>
          <a:xfrm>
            <a:off x="809640" y="2629080"/>
            <a:ext cx="241884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B × 6 × 3 × 256 ×</a:t>
            </a:r>
            <a:endParaRPr b="0" sz="1650" strike="noStrike">
              <a:latin typeface="Arial"/>
              <a:ea typeface="Arial"/>
              <a:cs typeface="Arial"/>
              <a:sym typeface="Arial"/>
            </a:endParaRPr>
          </a:p>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704</a:t>
            </a:r>
            <a:endParaRPr b="0" sz="1650" strike="noStrike">
              <a:latin typeface="Arial"/>
              <a:ea typeface="Arial"/>
              <a:cs typeface="Arial"/>
              <a:sym typeface="Arial"/>
            </a:endParaRPr>
          </a:p>
        </p:txBody>
      </p:sp>
      <p:sp>
        <p:nvSpPr>
          <p:cNvPr id="304" name="Google Shape;304;p68"/>
          <p:cNvSpPr/>
          <p:nvPr/>
        </p:nvSpPr>
        <p:spPr>
          <a:xfrm>
            <a:off x="4095720" y="2143080"/>
            <a:ext cx="2952360" cy="138060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68"/>
          <p:cNvSpPr/>
          <p:nvPr/>
        </p:nvSpPr>
        <p:spPr>
          <a:xfrm>
            <a:off x="4210200" y="2286000"/>
            <a:ext cx="272376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Swin-T + FPN</a:t>
            </a:r>
            <a:endParaRPr b="0" sz="1950" strike="noStrike">
              <a:latin typeface="Arial"/>
              <a:ea typeface="Arial"/>
              <a:cs typeface="Arial"/>
              <a:sym typeface="Arial"/>
            </a:endParaRPr>
          </a:p>
        </p:txBody>
      </p:sp>
      <p:sp>
        <p:nvSpPr>
          <p:cNvPr id="306" name="Google Shape;306;p68"/>
          <p:cNvSpPr/>
          <p:nvPr/>
        </p:nvSpPr>
        <p:spPr>
          <a:xfrm>
            <a:off x="4219560" y="2629080"/>
            <a:ext cx="270468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6 × 256 × 32 × 88</a:t>
            </a:r>
            <a:endParaRPr b="0" sz="1650" strike="noStrike">
              <a:latin typeface="Arial"/>
              <a:ea typeface="Arial"/>
              <a:cs typeface="Arial"/>
              <a:sym typeface="Arial"/>
            </a:endParaRPr>
          </a:p>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features</a:t>
            </a:r>
            <a:endParaRPr b="0" sz="1650" strike="noStrike">
              <a:latin typeface="Arial"/>
              <a:ea typeface="Arial"/>
              <a:cs typeface="Arial"/>
              <a:sym typeface="Arial"/>
            </a:endParaRPr>
          </a:p>
        </p:txBody>
      </p:sp>
      <p:sp>
        <p:nvSpPr>
          <p:cNvPr id="307" name="Google Shape;307;p68"/>
          <p:cNvSpPr/>
          <p:nvPr/>
        </p:nvSpPr>
        <p:spPr>
          <a:xfrm>
            <a:off x="7763040" y="2143080"/>
            <a:ext cx="2857320" cy="138060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68"/>
          <p:cNvSpPr/>
          <p:nvPr/>
        </p:nvSpPr>
        <p:spPr>
          <a:xfrm>
            <a:off x="7877160" y="2286000"/>
            <a:ext cx="262872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DepthLSS</a:t>
            </a:r>
            <a:endParaRPr b="0" sz="1950" strike="noStrike">
              <a:latin typeface="Arial"/>
              <a:ea typeface="Arial"/>
              <a:cs typeface="Arial"/>
              <a:sym typeface="Arial"/>
            </a:endParaRPr>
          </a:p>
        </p:txBody>
      </p:sp>
      <p:sp>
        <p:nvSpPr>
          <p:cNvPr id="309" name="Google Shape;309;p68"/>
          <p:cNvSpPr/>
          <p:nvPr/>
        </p:nvSpPr>
        <p:spPr>
          <a:xfrm>
            <a:off x="7886880" y="2629080"/>
            <a:ext cx="260964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80 × 180 × 180 image</a:t>
            </a:r>
            <a:endParaRPr b="0" sz="1650" strike="noStrike">
              <a:latin typeface="Arial"/>
              <a:ea typeface="Arial"/>
              <a:cs typeface="Arial"/>
              <a:sym typeface="Arial"/>
            </a:endParaRPr>
          </a:p>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BEV</a:t>
            </a:r>
            <a:endParaRPr b="0" sz="1650" strike="noStrike">
              <a:latin typeface="Arial"/>
              <a:ea typeface="Arial"/>
              <a:cs typeface="Arial"/>
              <a:sym typeface="Arial"/>
            </a:endParaRPr>
          </a:p>
        </p:txBody>
      </p:sp>
      <p:sp>
        <p:nvSpPr>
          <p:cNvPr id="310" name="Google Shape;310;p68"/>
          <p:cNvSpPr/>
          <p:nvPr/>
        </p:nvSpPr>
        <p:spPr>
          <a:xfrm>
            <a:off x="685800" y="3952800"/>
            <a:ext cx="2666520" cy="138060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68"/>
          <p:cNvSpPr/>
          <p:nvPr/>
        </p:nvSpPr>
        <p:spPr>
          <a:xfrm>
            <a:off x="800280" y="4095720"/>
            <a:ext cx="2437920" cy="628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LiDAR + 9</a:t>
            </a:r>
            <a:endParaRPr b="0" sz="1950" strike="noStrike">
              <a:latin typeface="Arial"/>
              <a:ea typeface="Arial"/>
              <a:cs typeface="Arial"/>
              <a:sym typeface="Arial"/>
            </a:endParaRPr>
          </a:p>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sweeps</a:t>
            </a:r>
            <a:endParaRPr b="0" sz="1950" strike="noStrike">
              <a:latin typeface="Arial"/>
              <a:ea typeface="Arial"/>
              <a:cs typeface="Arial"/>
              <a:sym typeface="Arial"/>
            </a:endParaRPr>
          </a:p>
        </p:txBody>
      </p:sp>
      <p:sp>
        <p:nvSpPr>
          <p:cNvPr id="312" name="Google Shape;312;p68"/>
          <p:cNvSpPr/>
          <p:nvPr/>
        </p:nvSpPr>
        <p:spPr>
          <a:xfrm>
            <a:off x="809640" y="4734000"/>
            <a:ext cx="2418840" cy="5234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5 point features</a:t>
            </a:r>
            <a:endParaRPr b="0" sz="1650" strike="noStrike">
              <a:latin typeface="Arial"/>
              <a:ea typeface="Arial"/>
              <a:cs typeface="Arial"/>
              <a:sym typeface="Arial"/>
            </a:endParaRPr>
          </a:p>
        </p:txBody>
      </p:sp>
      <p:sp>
        <p:nvSpPr>
          <p:cNvPr id="313" name="Google Shape;313;p68"/>
          <p:cNvSpPr/>
          <p:nvPr/>
        </p:nvSpPr>
        <p:spPr>
          <a:xfrm>
            <a:off x="4095720" y="3952800"/>
            <a:ext cx="2952360" cy="138060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68"/>
          <p:cNvSpPr/>
          <p:nvPr/>
        </p:nvSpPr>
        <p:spPr>
          <a:xfrm>
            <a:off x="4210200" y="4095720"/>
            <a:ext cx="272376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Voxel + sparse 3D</a:t>
            </a:r>
            <a:endParaRPr b="0" sz="1950" strike="noStrike">
              <a:latin typeface="Arial"/>
              <a:ea typeface="Arial"/>
              <a:cs typeface="Arial"/>
              <a:sym typeface="Arial"/>
            </a:endParaRPr>
          </a:p>
        </p:txBody>
      </p:sp>
      <p:sp>
        <p:nvSpPr>
          <p:cNvPr id="315" name="Google Shape;315;p68"/>
          <p:cNvSpPr/>
          <p:nvPr/>
        </p:nvSpPr>
        <p:spPr>
          <a:xfrm>
            <a:off x="4219560" y="4438800"/>
            <a:ext cx="270468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Mean features, height</a:t>
            </a:r>
            <a:endParaRPr b="0" sz="1650" strike="noStrike">
              <a:latin typeface="Arial"/>
              <a:ea typeface="Arial"/>
              <a:cs typeface="Arial"/>
              <a:sym typeface="Arial"/>
            </a:endParaRPr>
          </a:p>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folding</a:t>
            </a:r>
            <a:endParaRPr b="0" sz="1650" strike="noStrike">
              <a:latin typeface="Arial"/>
              <a:ea typeface="Arial"/>
              <a:cs typeface="Arial"/>
              <a:sym typeface="Arial"/>
            </a:endParaRPr>
          </a:p>
        </p:txBody>
      </p:sp>
      <p:sp>
        <p:nvSpPr>
          <p:cNvPr id="316" name="Google Shape;316;p68"/>
          <p:cNvSpPr/>
          <p:nvPr/>
        </p:nvSpPr>
        <p:spPr>
          <a:xfrm>
            <a:off x="7763040" y="3952800"/>
            <a:ext cx="2857320" cy="138060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68"/>
          <p:cNvSpPr/>
          <p:nvPr/>
        </p:nvSpPr>
        <p:spPr>
          <a:xfrm>
            <a:off x="7877160" y="4095720"/>
            <a:ext cx="262872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LiDAR BEV</a:t>
            </a:r>
            <a:endParaRPr b="0" sz="1950" strike="noStrike">
              <a:latin typeface="Arial"/>
              <a:ea typeface="Arial"/>
              <a:cs typeface="Arial"/>
              <a:sym typeface="Arial"/>
            </a:endParaRPr>
          </a:p>
        </p:txBody>
      </p:sp>
      <p:sp>
        <p:nvSpPr>
          <p:cNvPr id="318" name="Google Shape;318;p68"/>
          <p:cNvSpPr/>
          <p:nvPr/>
        </p:nvSpPr>
        <p:spPr>
          <a:xfrm>
            <a:off x="7886880" y="4438800"/>
            <a:ext cx="260964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256 × 180 × 180</a:t>
            </a:r>
            <a:endParaRPr b="0" sz="1650" strike="noStrike">
              <a:latin typeface="Arial"/>
              <a:ea typeface="Arial"/>
              <a:cs typeface="Arial"/>
              <a:sym typeface="Arial"/>
            </a:endParaRPr>
          </a:p>
        </p:txBody>
      </p:sp>
      <p:sp>
        <p:nvSpPr>
          <p:cNvPr id="319" name="Google Shape;319;p68"/>
          <p:cNvSpPr/>
          <p:nvPr/>
        </p:nvSpPr>
        <p:spPr>
          <a:xfrm>
            <a:off x="11334600" y="3048120"/>
            <a:ext cx="3219120" cy="1380600"/>
          </a:xfrm>
          <a:prstGeom prst="rect">
            <a:avLst/>
          </a:prstGeom>
          <a:solidFill>
            <a:srgbClr val="E7F4F1"/>
          </a:solidFill>
          <a:ln cap="flat" cmpd="sng" w="13300">
            <a:solidFill>
              <a:srgbClr val="007F8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68"/>
          <p:cNvSpPr/>
          <p:nvPr/>
        </p:nvSpPr>
        <p:spPr>
          <a:xfrm>
            <a:off x="11449080" y="3191040"/>
            <a:ext cx="299052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007F83"/>
                </a:solidFill>
                <a:latin typeface="Verdana"/>
                <a:ea typeface="Verdana"/>
                <a:cs typeface="Verdana"/>
                <a:sym typeface="Verdana"/>
              </a:rPr>
              <a:t>BEV fusion · custom</a:t>
            </a:r>
            <a:endParaRPr b="0" sz="1950" strike="noStrike">
              <a:latin typeface="Arial"/>
              <a:ea typeface="Arial"/>
              <a:cs typeface="Arial"/>
              <a:sym typeface="Arial"/>
            </a:endParaRPr>
          </a:p>
        </p:txBody>
      </p:sp>
      <p:sp>
        <p:nvSpPr>
          <p:cNvPr id="321" name="Google Shape;321;p68"/>
          <p:cNvSpPr/>
          <p:nvPr/>
        </p:nvSpPr>
        <p:spPr>
          <a:xfrm>
            <a:off x="11458440" y="3533760"/>
            <a:ext cx="297144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256-channel fused BEV</a:t>
            </a:r>
            <a:endParaRPr b="0" sz="1650" strike="noStrike">
              <a:latin typeface="Arial"/>
              <a:ea typeface="Arial"/>
              <a:cs typeface="Arial"/>
              <a:sym typeface="Arial"/>
            </a:endParaRPr>
          </a:p>
        </p:txBody>
      </p:sp>
      <p:sp>
        <p:nvSpPr>
          <p:cNvPr id="322" name="Google Shape;322;p68"/>
          <p:cNvSpPr/>
          <p:nvPr/>
        </p:nvSpPr>
        <p:spPr>
          <a:xfrm>
            <a:off x="3714840" y="3524400"/>
            <a:ext cx="7000560" cy="390240"/>
          </a:xfrm>
          <a:prstGeom prst="rect">
            <a:avLst/>
          </a:prstGeom>
          <a:solidFill>
            <a:srgbClr val="FFF4E5"/>
          </a:solidFill>
          <a:ln cap="flat" cmpd="sng" w="9525">
            <a:solidFill>
              <a:srgbClr val="A7651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68"/>
          <p:cNvSpPr/>
          <p:nvPr/>
        </p:nvSpPr>
        <p:spPr>
          <a:xfrm>
            <a:off x="3857760" y="3591000"/>
            <a:ext cx="6714720" cy="2566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500" strike="noStrike">
                <a:solidFill>
                  <a:srgbClr val="A76519"/>
                </a:solidFill>
                <a:latin typeface="Verdana"/>
                <a:ea typeface="Verdana"/>
                <a:cs typeface="Verdana"/>
                <a:sym typeface="Verdana"/>
              </a:rPr>
              <a:t>LiDAR → projected sparse depth → image lifting</a:t>
            </a:r>
            <a:endParaRPr b="0" sz="1500" strike="noStrike">
              <a:latin typeface="Arial"/>
              <a:ea typeface="Arial"/>
              <a:cs typeface="Arial"/>
              <a:sym typeface="Arial"/>
            </a:endParaRPr>
          </a:p>
        </p:txBody>
      </p:sp>
      <p:sp>
        <p:nvSpPr>
          <p:cNvPr id="324" name="Google Shape;324;p68"/>
          <p:cNvSpPr/>
          <p:nvPr/>
        </p:nvSpPr>
        <p:spPr>
          <a:xfrm>
            <a:off x="11334600" y="6191280"/>
            <a:ext cx="3219120" cy="138060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68"/>
          <p:cNvSpPr/>
          <p:nvPr/>
        </p:nvSpPr>
        <p:spPr>
          <a:xfrm>
            <a:off x="11449080" y="6334200"/>
            <a:ext cx="2990520" cy="628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Shared SECOND +</a:t>
            </a:r>
            <a:endParaRPr b="0" sz="1950" strike="noStrike">
              <a:latin typeface="Arial"/>
              <a:ea typeface="Arial"/>
              <a:cs typeface="Arial"/>
              <a:sym typeface="Arial"/>
            </a:endParaRPr>
          </a:p>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FPN</a:t>
            </a:r>
            <a:endParaRPr b="0" sz="1950" strike="noStrike">
              <a:latin typeface="Arial"/>
              <a:ea typeface="Arial"/>
              <a:cs typeface="Arial"/>
              <a:sym typeface="Arial"/>
            </a:endParaRPr>
          </a:p>
        </p:txBody>
      </p:sp>
      <p:sp>
        <p:nvSpPr>
          <p:cNvPr id="326" name="Google Shape;326;p68"/>
          <p:cNvSpPr/>
          <p:nvPr/>
        </p:nvSpPr>
        <p:spPr>
          <a:xfrm>
            <a:off x="11458440" y="6972480"/>
            <a:ext cx="2971440" cy="5234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512 × 180 × 180</a:t>
            </a:r>
            <a:endParaRPr b="0" sz="1650" strike="noStrike">
              <a:latin typeface="Arial"/>
              <a:ea typeface="Arial"/>
              <a:cs typeface="Arial"/>
              <a:sym typeface="Arial"/>
            </a:endParaRPr>
          </a:p>
        </p:txBody>
      </p:sp>
      <p:sp>
        <p:nvSpPr>
          <p:cNvPr id="327" name="Google Shape;327;p68"/>
          <p:cNvSpPr/>
          <p:nvPr/>
        </p:nvSpPr>
        <p:spPr>
          <a:xfrm>
            <a:off x="7763040" y="6191280"/>
            <a:ext cx="2857320" cy="138060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68"/>
          <p:cNvSpPr/>
          <p:nvPr/>
        </p:nvSpPr>
        <p:spPr>
          <a:xfrm>
            <a:off x="7877160" y="6334200"/>
            <a:ext cx="2628720" cy="628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TransFusion</a:t>
            </a:r>
            <a:endParaRPr b="0" sz="1950" strike="noStrike">
              <a:latin typeface="Arial"/>
              <a:ea typeface="Arial"/>
              <a:cs typeface="Arial"/>
              <a:sym typeface="Arial"/>
            </a:endParaRPr>
          </a:p>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decoder</a:t>
            </a:r>
            <a:endParaRPr b="0" sz="1950" strike="noStrike">
              <a:latin typeface="Arial"/>
              <a:ea typeface="Arial"/>
              <a:cs typeface="Arial"/>
              <a:sym typeface="Arial"/>
            </a:endParaRPr>
          </a:p>
        </p:txBody>
      </p:sp>
      <p:sp>
        <p:nvSpPr>
          <p:cNvPr id="329" name="Google Shape;329;p68"/>
          <p:cNvSpPr/>
          <p:nvPr/>
        </p:nvSpPr>
        <p:spPr>
          <a:xfrm>
            <a:off x="7886880" y="6972480"/>
            <a:ext cx="2609640" cy="5234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200 object queries</a:t>
            </a:r>
            <a:endParaRPr b="0" sz="1650" strike="noStrike">
              <a:latin typeface="Arial"/>
              <a:ea typeface="Arial"/>
              <a:cs typeface="Arial"/>
              <a:sym typeface="Arial"/>
            </a:endParaRPr>
          </a:p>
        </p:txBody>
      </p:sp>
      <p:sp>
        <p:nvSpPr>
          <p:cNvPr id="330" name="Google Shape;330;p68"/>
          <p:cNvSpPr/>
          <p:nvPr/>
        </p:nvSpPr>
        <p:spPr>
          <a:xfrm>
            <a:off x="4095720" y="6191280"/>
            <a:ext cx="2952360" cy="1380600"/>
          </a:xfrm>
          <a:prstGeom prst="rect">
            <a:avLst/>
          </a:prstGeom>
          <a:solidFill>
            <a:srgbClr val="E7F4F1"/>
          </a:solidFill>
          <a:ln cap="flat" cmpd="sng" w="13300">
            <a:solidFill>
              <a:srgbClr val="007F8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68"/>
          <p:cNvSpPr/>
          <p:nvPr/>
        </p:nvSpPr>
        <p:spPr>
          <a:xfrm>
            <a:off x="4210200" y="6334200"/>
            <a:ext cx="272376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007F83"/>
                </a:solidFill>
                <a:latin typeface="Verdana"/>
                <a:ea typeface="Verdana"/>
                <a:cs typeface="Verdana"/>
                <a:sym typeface="Verdana"/>
              </a:rPr>
              <a:t>Local refinement</a:t>
            </a:r>
            <a:endParaRPr b="0" sz="1950" strike="noStrike">
              <a:latin typeface="Arial"/>
              <a:ea typeface="Arial"/>
              <a:cs typeface="Arial"/>
              <a:sym typeface="Arial"/>
            </a:endParaRPr>
          </a:p>
        </p:txBody>
      </p:sp>
      <p:sp>
        <p:nvSpPr>
          <p:cNvPr id="332" name="Google Shape;332;p68"/>
          <p:cNvSpPr/>
          <p:nvPr/>
        </p:nvSpPr>
        <p:spPr>
          <a:xfrm>
            <a:off x="4219560" y="6676920"/>
            <a:ext cx="270468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5 × 5 patches and box</a:t>
            </a:r>
            <a:endParaRPr b="0" sz="1650" strike="noStrike">
              <a:latin typeface="Arial"/>
              <a:ea typeface="Arial"/>
              <a:cs typeface="Arial"/>
              <a:sym typeface="Arial"/>
            </a:endParaRPr>
          </a:p>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residuals</a:t>
            </a:r>
            <a:endParaRPr b="0" sz="1650" strike="noStrike">
              <a:latin typeface="Arial"/>
              <a:ea typeface="Arial"/>
              <a:cs typeface="Arial"/>
              <a:sym typeface="Arial"/>
            </a:endParaRPr>
          </a:p>
        </p:txBody>
      </p:sp>
      <p:sp>
        <p:nvSpPr>
          <p:cNvPr id="333" name="Google Shape;333;p68"/>
          <p:cNvSpPr/>
          <p:nvPr/>
        </p:nvSpPr>
        <p:spPr>
          <a:xfrm>
            <a:off x="685800" y="6191280"/>
            <a:ext cx="2666520" cy="138060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68"/>
          <p:cNvSpPr/>
          <p:nvPr/>
        </p:nvSpPr>
        <p:spPr>
          <a:xfrm>
            <a:off x="800280" y="6334200"/>
            <a:ext cx="243792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3D detections</a:t>
            </a:r>
            <a:endParaRPr b="0" sz="1950" strike="noStrike">
              <a:latin typeface="Arial"/>
              <a:ea typeface="Arial"/>
              <a:cs typeface="Arial"/>
              <a:sym typeface="Arial"/>
            </a:endParaRPr>
          </a:p>
        </p:txBody>
      </p:sp>
      <p:sp>
        <p:nvSpPr>
          <p:cNvPr id="335" name="Google Shape;335;p68"/>
          <p:cNvSpPr/>
          <p:nvPr/>
        </p:nvSpPr>
        <p:spPr>
          <a:xfrm>
            <a:off x="809640" y="6676920"/>
            <a:ext cx="241884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Boxes, classes and</a:t>
            </a:r>
            <a:endParaRPr b="0" sz="1650" strike="noStrike">
              <a:latin typeface="Arial"/>
              <a:ea typeface="Arial"/>
              <a:cs typeface="Arial"/>
              <a:sym typeface="Arial"/>
            </a:endParaRPr>
          </a:p>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scores</a:t>
            </a:r>
            <a:endParaRPr b="0" sz="1650" strike="noStrike">
              <a:latin typeface="Arial"/>
              <a:ea typeface="Arial"/>
              <a:cs typeface="Arial"/>
              <a:sym typeface="Arial"/>
            </a:endParaRPr>
          </a:p>
        </p:txBody>
      </p:sp>
      <p:sp>
        <p:nvSpPr>
          <p:cNvPr id="336" name="Google Shape;336;p68"/>
          <p:cNvSpPr/>
          <p:nvPr/>
        </p:nvSpPr>
        <p:spPr>
          <a:xfrm>
            <a:off x="685800" y="7763040"/>
            <a:ext cx="3047760" cy="285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80" strike="noStrike">
                <a:solidFill>
                  <a:srgbClr val="365C7D"/>
                </a:solidFill>
                <a:latin typeface="Verdana"/>
                <a:ea typeface="Verdana"/>
                <a:cs typeface="Verdana"/>
                <a:sym typeface="Verdana"/>
              </a:rPr>
              <a:t>Upstream modules</a:t>
            </a:r>
            <a:endParaRPr b="0" sz="1580" strike="noStrike">
              <a:latin typeface="Arial"/>
              <a:ea typeface="Arial"/>
              <a:cs typeface="Arial"/>
              <a:sym typeface="Arial"/>
            </a:endParaRPr>
          </a:p>
        </p:txBody>
      </p:sp>
      <p:sp>
        <p:nvSpPr>
          <p:cNvPr id="337" name="Google Shape;337;p68"/>
          <p:cNvSpPr/>
          <p:nvPr/>
        </p:nvSpPr>
        <p:spPr>
          <a:xfrm>
            <a:off x="4095720" y="7763040"/>
            <a:ext cx="3047760" cy="285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80" strike="noStrike">
                <a:solidFill>
                  <a:srgbClr val="007F83"/>
                </a:solidFill>
                <a:latin typeface="Verdana"/>
                <a:ea typeface="Verdana"/>
                <a:cs typeface="Verdana"/>
                <a:sym typeface="Verdana"/>
              </a:rPr>
              <a:t>Custom modules</a:t>
            </a:r>
            <a:endParaRPr b="0" sz="1580" strike="noStrike">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342" name="Shape 342"/>
        <p:cNvGrpSpPr/>
        <p:nvPr/>
      </p:nvGrpSpPr>
      <p:grpSpPr>
        <a:xfrm>
          <a:off x="0" y="0"/>
          <a:ext cx="0" cy="0"/>
          <a:chOff x="0" y="0"/>
          <a:chExt cx="0" cy="0"/>
        </a:xfrm>
      </p:grpSpPr>
      <p:cxnSp>
        <p:nvCxnSpPr>
          <p:cNvPr id="343" name="Google Shape;343;p69"/>
          <p:cNvCxnSpPr/>
          <p:nvPr/>
        </p:nvCxnSpPr>
        <p:spPr>
          <a:xfrm>
            <a:off x="12382560" y="5190480"/>
            <a:ext cx="360" cy="334440"/>
          </a:xfrm>
          <a:prstGeom prst="straightConnector1">
            <a:avLst/>
          </a:prstGeom>
          <a:noFill/>
          <a:ln cap="flat" cmpd="sng" w="19075">
            <a:solidFill>
              <a:srgbClr val="365C7D"/>
            </a:solidFill>
            <a:prstDash val="solid"/>
            <a:round/>
            <a:headEnd len="sm" w="sm" type="none"/>
            <a:tailEnd len="med" w="med" type="triangle"/>
          </a:ln>
        </p:spPr>
      </p:cxnSp>
      <p:cxnSp>
        <p:nvCxnSpPr>
          <p:cNvPr id="344" name="Google Shape;344;p69"/>
          <p:cNvCxnSpPr/>
          <p:nvPr/>
        </p:nvCxnSpPr>
        <p:spPr>
          <a:xfrm>
            <a:off x="12382560" y="3476160"/>
            <a:ext cx="360" cy="334080"/>
          </a:xfrm>
          <a:prstGeom prst="straightConnector1">
            <a:avLst/>
          </a:prstGeom>
          <a:noFill/>
          <a:ln cap="flat" cmpd="sng" w="19075">
            <a:solidFill>
              <a:srgbClr val="365C7D"/>
            </a:solidFill>
            <a:prstDash val="solid"/>
            <a:round/>
            <a:headEnd len="sm" w="sm" type="none"/>
            <a:tailEnd len="med" w="med" type="triangle"/>
          </a:ln>
        </p:spPr>
      </p:cxnSp>
      <p:sp>
        <p:nvSpPr>
          <p:cNvPr id="345" name="Google Shape;345;p69"/>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Calibration and 3D-to-image projection</a:t>
            </a:r>
            <a:endParaRPr b="0" sz="3450" strike="noStrike">
              <a:latin typeface="Arial"/>
              <a:ea typeface="Arial"/>
              <a:cs typeface="Arial"/>
              <a:sym typeface="Arial"/>
            </a:endParaRPr>
          </a:p>
        </p:txBody>
      </p:sp>
      <p:sp>
        <p:nvSpPr>
          <p:cNvPr id="346" name="Google Shape;346;p69"/>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A transform notation that makes the source and destination frames explicit</a:t>
            </a:r>
            <a:endParaRPr b="0" sz="1870" strike="noStrike">
              <a:latin typeface="Arial"/>
              <a:ea typeface="Arial"/>
              <a:cs typeface="Arial"/>
              <a:sym typeface="Arial"/>
            </a:endParaRPr>
          </a:p>
        </p:txBody>
      </p:sp>
      <p:sp>
        <p:nvSpPr>
          <p:cNvPr id="347" name="Google Shape;347;p69"/>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04</a:t>
            </a:r>
            <a:endParaRPr b="0" sz="1280" strike="noStrike">
              <a:latin typeface="Arial"/>
              <a:ea typeface="Arial"/>
              <a:cs typeface="Arial"/>
              <a:sym typeface="Arial"/>
            </a:endParaRPr>
          </a:p>
        </p:txBody>
      </p:sp>
      <p:sp>
        <p:nvSpPr>
          <p:cNvPr id="348" name="Google Shape;348;p69"/>
          <p:cNvSpPr/>
          <p:nvPr/>
        </p:nvSpPr>
        <p:spPr>
          <a:xfrm>
            <a:off x="762120" y="2143080"/>
            <a:ext cx="85723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700" strike="noStrike">
                <a:solidFill>
                  <a:srgbClr val="142B3E"/>
                </a:solidFill>
                <a:latin typeface="Verdana"/>
                <a:ea typeface="Verdana"/>
                <a:cs typeface="Verdana"/>
                <a:sym typeface="Verdana"/>
              </a:rPr>
              <a:t>pᶜ = Rᶜₗ pˡ + tᶜₗ</a:t>
            </a:r>
            <a:endParaRPr b="0" sz="2700" strike="noStrike">
              <a:latin typeface="Arial"/>
              <a:ea typeface="Arial"/>
              <a:cs typeface="Arial"/>
              <a:sym typeface="Arial"/>
            </a:endParaRPr>
          </a:p>
        </p:txBody>
      </p:sp>
      <p:sp>
        <p:nvSpPr>
          <p:cNvPr id="349" name="Google Shape;349;p69"/>
          <p:cNvSpPr/>
          <p:nvPr/>
        </p:nvSpPr>
        <p:spPr>
          <a:xfrm>
            <a:off x="762120" y="2905200"/>
            <a:ext cx="85723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700" strike="noStrike">
                <a:solidFill>
                  <a:srgbClr val="142B3E"/>
                </a:solidFill>
                <a:latin typeface="Verdana"/>
                <a:ea typeface="Verdana"/>
                <a:cs typeface="Verdana"/>
                <a:sym typeface="Verdana"/>
              </a:rPr>
              <a:t>u = fₓ Xᶜ / Zᶜ + cₓ</a:t>
            </a:r>
            <a:endParaRPr b="0" sz="2700" strike="noStrike">
              <a:latin typeface="Arial"/>
              <a:ea typeface="Arial"/>
              <a:cs typeface="Arial"/>
              <a:sym typeface="Arial"/>
            </a:endParaRPr>
          </a:p>
        </p:txBody>
      </p:sp>
      <p:sp>
        <p:nvSpPr>
          <p:cNvPr id="350" name="Google Shape;350;p69"/>
          <p:cNvSpPr/>
          <p:nvPr/>
        </p:nvSpPr>
        <p:spPr>
          <a:xfrm>
            <a:off x="762120" y="3666960"/>
            <a:ext cx="85723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700" strike="noStrike">
                <a:solidFill>
                  <a:srgbClr val="142B3E"/>
                </a:solidFill>
                <a:latin typeface="Verdana"/>
                <a:ea typeface="Verdana"/>
                <a:cs typeface="Verdana"/>
                <a:sym typeface="Verdana"/>
              </a:rPr>
              <a:t>v = fᵧ Yᶜ / Zᶜ + cᵧ</a:t>
            </a:r>
            <a:endParaRPr b="0" sz="2700" strike="noStrike">
              <a:latin typeface="Arial"/>
              <a:ea typeface="Arial"/>
              <a:cs typeface="Arial"/>
              <a:sym typeface="Arial"/>
            </a:endParaRPr>
          </a:p>
        </p:txBody>
      </p:sp>
      <p:sp>
        <p:nvSpPr>
          <p:cNvPr id="351" name="Google Shape;351;p69"/>
          <p:cNvSpPr/>
          <p:nvPr/>
        </p:nvSpPr>
        <p:spPr>
          <a:xfrm>
            <a:off x="762120" y="4714920"/>
            <a:ext cx="8381520" cy="313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K maps camera coordinates to image coordinates.</a:t>
            </a:r>
            <a:endParaRPr b="0" sz="1870" strike="noStrike">
              <a:latin typeface="Arial"/>
              <a:ea typeface="Arial"/>
              <a:cs typeface="Arial"/>
              <a:sym typeface="Arial"/>
            </a:endParaRPr>
          </a:p>
        </p:txBody>
      </p:sp>
      <p:sp>
        <p:nvSpPr>
          <p:cNvPr id="352" name="Google Shape;352;p69"/>
          <p:cNvSpPr/>
          <p:nvPr/>
        </p:nvSpPr>
        <p:spPr>
          <a:xfrm>
            <a:off x="762120" y="5200560"/>
            <a:ext cx="8381520" cy="313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R and t map between LiDAR and camera frames.</a:t>
            </a:r>
            <a:endParaRPr b="0" sz="1870" strike="noStrike">
              <a:latin typeface="Arial"/>
              <a:ea typeface="Arial"/>
              <a:cs typeface="Arial"/>
              <a:sym typeface="Arial"/>
            </a:endParaRPr>
          </a:p>
        </p:txBody>
      </p:sp>
      <p:sp>
        <p:nvSpPr>
          <p:cNvPr id="353" name="Google Shape;353;p69"/>
          <p:cNvSpPr/>
          <p:nvPr/>
        </p:nvSpPr>
        <p:spPr>
          <a:xfrm>
            <a:off x="762120" y="5686560"/>
            <a:ext cx="8381520" cy="313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A pixel identifies a ray. Depth selects a point on that ray.</a:t>
            </a:r>
            <a:endParaRPr b="0" sz="1870" strike="noStrike">
              <a:latin typeface="Arial"/>
              <a:ea typeface="Arial"/>
              <a:cs typeface="Arial"/>
              <a:sym typeface="Arial"/>
            </a:endParaRPr>
          </a:p>
        </p:txBody>
      </p:sp>
      <p:sp>
        <p:nvSpPr>
          <p:cNvPr id="354" name="Google Shape;354;p69"/>
          <p:cNvSpPr/>
          <p:nvPr/>
        </p:nvSpPr>
        <p:spPr>
          <a:xfrm>
            <a:off x="10382400" y="2095560"/>
            <a:ext cx="4000320" cy="138060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69"/>
          <p:cNvSpPr/>
          <p:nvPr/>
        </p:nvSpPr>
        <p:spPr>
          <a:xfrm>
            <a:off x="10496520" y="2238480"/>
            <a:ext cx="377172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LiDAR frame</a:t>
            </a:r>
            <a:endParaRPr b="0" sz="1950" strike="noStrike">
              <a:latin typeface="Arial"/>
              <a:ea typeface="Arial"/>
              <a:cs typeface="Arial"/>
              <a:sym typeface="Arial"/>
            </a:endParaRPr>
          </a:p>
        </p:txBody>
      </p:sp>
      <p:sp>
        <p:nvSpPr>
          <p:cNvPr id="356" name="Google Shape;356;p69"/>
          <p:cNvSpPr/>
          <p:nvPr/>
        </p:nvSpPr>
        <p:spPr>
          <a:xfrm>
            <a:off x="10506240" y="2581200"/>
            <a:ext cx="375264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Metric 3D point pˡ</a:t>
            </a:r>
            <a:endParaRPr b="0" sz="1650" strike="noStrike">
              <a:latin typeface="Arial"/>
              <a:ea typeface="Arial"/>
              <a:cs typeface="Arial"/>
              <a:sym typeface="Arial"/>
            </a:endParaRPr>
          </a:p>
        </p:txBody>
      </p:sp>
      <p:sp>
        <p:nvSpPr>
          <p:cNvPr id="357" name="Google Shape;357;p69"/>
          <p:cNvSpPr/>
          <p:nvPr/>
        </p:nvSpPr>
        <p:spPr>
          <a:xfrm>
            <a:off x="10382400" y="3809880"/>
            <a:ext cx="4000320" cy="138060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69"/>
          <p:cNvSpPr/>
          <p:nvPr/>
        </p:nvSpPr>
        <p:spPr>
          <a:xfrm>
            <a:off x="10496520" y="3952800"/>
            <a:ext cx="377172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Camera frame</a:t>
            </a:r>
            <a:endParaRPr b="0" sz="1950" strike="noStrike">
              <a:latin typeface="Arial"/>
              <a:ea typeface="Arial"/>
              <a:cs typeface="Arial"/>
              <a:sym typeface="Arial"/>
            </a:endParaRPr>
          </a:p>
        </p:txBody>
      </p:sp>
      <p:sp>
        <p:nvSpPr>
          <p:cNvPr id="359" name="Google Shape;359;p69"/>
          <p:cNvSpPr/>
          <p:nvPr/>
        </p:nvSpPr>
        <p:spPr>
          <a:xfrm>
            <a:off x="10506240" y="4295880"/>
            <a:ext cx="375264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R, t then camera Z</a:t>
            </a:r>
            <a:endParaRPr b="0" sz="1650" strike="noStrike">
              <a:latin typeface="Arial"/>
              <a:ea typeface="Arial"/>
              <a:cs typeface="Arial"/>
              <a:sym typeface="Arial"/>
            </a:endParaRPr>
          </a:p>
        </p:txBody>
      </p:sp>
      <p:sp>
        <p:nvSpPr>
          <p:cNvPr id="360" name="Google Shape;360;p69"/>
          <p:cNvSpPr/>
          <p:nvPr/>
        </p:nvSpPr>
        <p:spPr>
          <a:xfrm>
            <a:off x="10382400" y="5524560"/>
            <a:ext cx="4000320" cy="138060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69"/>
          <p:cNvSpPr/>
          <p:nvPr/>
        </p:nvSpPr>
        <p:spPr>
          <a:xfrm>
            <a:off x="10496520" y="5667480"/>
            <a:ext cx="377172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Image coordinates</a:t>
            </a:r>
            <a:endParaRPr b="0" sz="1950" strike="noStrike">
              <a:latin typeface="Arial"/>
              <a:ea typeface="Arial"/>
              <a:cs typeface="Arial"/>
              <a:sym typeface="Arial"/>
            </a:endParaRPr>
          </a:p>
        </p:txBody>
      </p:sp>
      <p:sp>
        <p:nvSpPr>
          <p:cNvPr id="362" name="Google Shape;362;p69"/>
          <p:cNvSpPr/>
          <p:nvPr/>
        </p:nvSpPr>
        <p:spPr>
          <a:xfrm>
            <a:off x="10506240" y="6010200"/>
            <a:ext cx="375264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K and perspective division</a:t>
            </a:r>
            <a:endParaRPr b="0" sz="1650" strike="noStrike">
              <a:latin typeface="Arial"/>
              <a:ea typeface="Arial"/>
              <a:cs typeface="Arial"/>
              <a:sym typeface="Arial"/>
            </a:endParaRPr>
          </a:p>
        </p:txBody>
      </p:sp>
      <p:sp>
        <p:nvSpPr>
          <p:cNvPr id="363" name="Google Shape;363;p69"/>
          <p:cNvSpPr/>
          <p:nvPr/>
        </p:nvSpPr>
        <p:spPr>
          <a:xfrm>
            <a:off x="762120" y="7029360"/>
            <a:ext cx="1381104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320" strike="noStrike">
                <a:solidFill>
                  <a:srgbClr val="142B3E"/>
                </a:solidFill>
                <a:latin typeface="Verdana"/>
                <a:ea typeface="Verdana"/>
                <a:cs typeface="Verdana"/>
                <a:sym typeface="Verdana"/>
              </a:rPr>
              <a:t>pˡ(d) = Rᶜₗᵀ (d K⁻¹ [u, v, 1]ᵀ − tᶜₗ)</a:t>
            </a:r>
            <a:endParaRPr b="0" sz="2320" strike="noStrike">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368" name="Shape 368"/>
        <p:cNvGrpSpPr/>
        <p:nvPr/>
      </p:nvGrpSpPr>
      <p:grpSpPr>
        <a:xfrm>
          <a:off x="0" y="0"/>
          <a:ext cx="0" cy="0"/>
          <a:chOff x="0" y="0"/>
          <a:chExt cx="0" cy="0"/>
        </a:xfrm>
      </p:grpSpPr>
      <p:cxnSp>
        <p:nvCxnSpPr>
          <p:cNvPr id="369" name="Google Shape;369;p70"/>
          <p:cNvCxnSpPr/>
          <p:nvPr/>
        </p:nvCxnSpPr>
        <p:spPr>
          <a:xfrm>
            <a:off x="11239200" y="3762360"/>
            <a:ext cx="905400" cy="360"/>
          </a:xfrm>
          <a:prstGeom prst="straightConnector1">
            <a:avLst/>
          </a:prstGeom>
          <a:noFill/>
          <a:ln cap="flat" cmpd="sng" w="19075">
            <a:solidFill>
              <a:srgbClr val="365C7D"/>
            </a:solidFill>
            <a:prstDash val="solid"/>
            <a:round/>
            <a:headEnd len="sm" w="sm" type="none"/>
            <a:tailEnd len="med" w="med" type="triangle"/>
          </a:ln>
        </p:spPr>
      </p:cxnSp>
      <p:cxnSp>
        <p:nvCxnSpPr>
          <p:cNvPr id="370" name="Google Shape;370;p70"/>
          <p:cNvCxnSpPr/>
          <p:nvPr/>
        </p:nvCxnSpPr>
        <p:spPr>
          <a:xfrm>
            <a:off x="7428960" y="3762360"/>
            <a:ext cx="905760" cy="360"/>
          </a:xfrm>
          <a:prstGeom prst="straightConnector1">
            <a:avLst/>
          </a:prstGeom>
          <a:noFill/>
          <a:ln cap="flat" cmpd="sng" w="19075">
            <a:solidFill>
              <a:srgbClr val="365C7D"/>
            </a:solidFill>
            <a:prstDash val="solid"/>
            <a:round/>
            <a:headEnd len="sm" w="sm" type="none"/>
            <a:tailEnd len="med" w="med" type="triangle"/>
          </a:ln>
        </p:spPr>
      </p:cxnSp>
      <p:cxnSp>
        <p:nvCxnSpPr>
          <p:cNvPr id="371" name="Google Shape;371;p70"/>
          <p:cNvCxnSpPr/>
          <p:nvPr/>
        </p:nvCxnSpPr>
        <p:spPr>
          <a:xfrm flipH="1" rot="10800000">
            <a:off x="3543120" y="4476660"/>
            <a:ext cx="2386200" cy="214500"/>
          </a:xfrm>
          <a:prstGeom prst="bentConnector3">
            <a:avLst>
              <a:gd fmla="val 50000" name="adj1"/>
            </a:avLst>
          </a:prstGeom>
          <a:noFill/>
          <a:ln cap="flat" cmpd="sng" w="19075">
            <a:solidFill>
              <a:srgbClr val="365C7D"/>
            </a:solidFill>
            <a:prstDash val="solid"/>
            <a:round/>
            <a:headEnd len="sm" w="sm" type="none"/>
            <a:tailEnd len="med" w="med" type="triangle"/>
          </a:ln>
        </p:spPr>
      </p:cxnSp>
      <p:cxnSp>
        <p:nvCxnSpPr>
          <p:cNvPr id="372" name="Google Shape;372;p70"/>
          <p:cNvCxnSpPr/>
          <p:nvPr/>
        </p:nvCxnSpPr>
        <p:spPr>
          <a:xfrm>
            <a:off x="3543120" y="2928600"/>
            <a:ext cx="2386200" cy="120000"/>
          </a:xfrm>
          <a:prstGeom prst="bentConnector3">
            <a:avLst>
              <a:gd fmla="val 50000" name="adj1"/>
            </a:avLst>
          </a:prstGeom>
          <a:noFill/>
          <a:ln cap="flat" cmpd="sng" w="19075">
            <a:solidFill>
              <a:srgbClr val="365C7D"/>
            </a:solidFill>
            <a:prstDash val="solid"/>
            <a:round/>
            <a:headEnd len="sm" w="sm" type="none"/>
            <a:tailEnd len="med" w="med" type="triangle"/>
          </a:ln>
        </p:spPr>
      </p:cxnSp>
      <p:sp>
        <p:nvSpPr>
          <p:cNvPr id="373" name="Google Shape;373;p70"/>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Camera features lifted with LiDAR-conditioned depth</a:t>
            </a:r>
            <a:endParaRPr b="0" sz="3450" strike="noStrike">
              <a:latin typeface="Arial"/>
              <a:ea typeface="Arial"/>
              <a:cs typeface="Arial"/>
              <a:sym typeface="Arial"/>
            </a:endParaRPr>
          </a:p>
        </p:txBody>
      </p:sp>
      <p:sp>
        <p:nvSpPr>
          <p:cNvPr id="374" name="Google Shape;374;p70"/>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DepthLSSTransform conditions a learned depth distribution on sparse projected LiDAR</a:t>
            </a:r>
            <a:endParaRPr b="0" sz="1870" strike="noStrike">
              <a:latin typeface="Arial"/>
              <a:ea typeface="Arial"/>
              <a:cs typeface="Arial"/>
              <a:sym typeface="Arial"/>
            </a:endParaRPr>
          </a:p>
        </p:txBody>
      </p:sp>
      <p:sp>
        <p:nvSpPr>
          <p:cNvPr id="375" name="Google Shape;375;p70"/>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05</a:t>
            </a:r>
            <a:endParaRPr b="0" sz="1280" strike="noStrike">
              <a:latin typeface="Arial"/>
              <a:ea typeface="Arial"/>
              <a:cs typeface="Arial"/>
              <a:sym typeface="Arial"/>
            </a:endParaRPr>
          </a:p>
        </p:txBody>
      </p:sp>
      <p:sp>
        <p:nvSpPr>
          <p:cNvPr id="376" name="Google Shape;376;p70"/>
          <p:cNvSpPr/>
          <p:nvPr/>
        </p:nvSpPr>
        <p:spPr>
          <a:xfrm>
            <a:off x="685800" y="2238480"/>
            <a:ext cx="2857320" cy="138060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70"/>
          <p:cNvSpPr/>
          <p:nvPr/>
        </p:nvSpPr>
        <p:spPr>
          <a:xfrm>
            <a:off x="800280" y="2381400"/>
            <a:ext cx="262872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Image features</a:t>
            </a:r>
            <a:endParaRPr b="0" sz="1950" strike="noStrike">
              <a:latin typeface="Arial"/>
              <a:ea typeface="Arial"/>
              <a:cs typeface="Arial"/>
              <a:sym typeface="Arial"/>
            </a:endParaRPr>
          </a:p>
        </p:txBody>
      </p:sp>
      <p:sp>
        <p:nvSpPr>
          <p:cNvPr id="378" name="Google Shape;378;p70"/>
          <p:cNvSpPr/>
          <p:nvPr/>
        </p:nvSpPr>
        <p:spPr>
          <a:xfrm>
            <a:off x="809640" y="2724120"/>
            <a:ext cx="260964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256 × 32 × 88</a:t>
            </a:r>
            <a:endParaRPr b="0" sz="1650" strike="noStrike">
              <a:latin typeface="Arial"/>
              <a:ea typeface="Arial"/>
              <a:cs typeface="Arial"/>
              <a:sym typeface="Arial"/>
            </a:endParaRPr>
          </a:p>
        </p:txBody>
      </p:sp>
      <p:sp>
        <p:nvSpPr>
          <p:cNvPr id="379" name="Google Shape;379;p70"/>
          <p:cNvSpPr/>
          <p:nvPr/>
        </p:nvSpPr>
        <p:spPr>
          <a:xfrm>
            <a:off x="685800" y="4000680"/>
            <a:ext cx="2857320" cy="138060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70"/>
          <p:cNvSpPr/>
          <p:nvPr/>
        </p:nvSpPr>
        <p:spPr>
          <a:xfrm>
            <a:off x="800280" y="4143240"/>
            <a:ext cx="262872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Projected LiDAR</a:t>
            </a:r>
            <a:endParaRPr b="0" sz="1950" strike="noStrike">
              <a:latin typeface="Arial"/>
              <a:ea typeface="Arial"/>
              <a:cs typeface="Arial"/>
              <a:sym typeface="Arial"/>
            </a:endParaRPr>
          </a:p>
        </p:txBody>
      </p:sp>
      <p:sp>
        <p:nvSpPr>
          <p:cNvPr id="381" name="Google Shape;381;p70"/>
          <p:cNvSpPr/>
          <p:nvPr/>
        </p:nvSpPr>
        <p:spPr>
          <a:xfrm>
            <a:off x="809640" y="4486320"/>
            <a:ext cx="260964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Sparse depth encoded</a:t>
            </a:r>
            <a:endParaRPr b="0" sz="1650" strike="noStrike">
              <a:latin typeface="Arial"/>
              <a:ea typeface="Arial"/>
              <a:cs typeface="Arial"/>
              <a:sym typeface="Arial"/>
            </a:endParaRPr>
          </a:p>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to 64 channels</a:t>
            </a:r>
            <a:endParaRPr b="0" sz="1650" strike="noStrike">
              <a:latin typeface="Arial"/>
              <a:ea typeface="Arial"/>
              <a:cs typeface="Arial"/>
              <a:sym typeface="Arial"/>
            </a:endParaRPr>
          </a:p>
        </p:txBody>
      </p:sp>
      <p:sp>
        <p:nvSpPr>
          <p:cNvPr id="382" name="Google Shape;382;p70"/>
          <p:cNvSpPr/>
          <p:nvPr/>
        </p:nvSpPr>
        <p:spPr>
          <a:xfrm>
            <a:off x="4429080" y="3048120"/>
            <a:ext cx="2999880" cy="142848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70"/>
          <p:cNvSpPr/>
          <p:nvPr/>
        </p:nvSpPr>
        <p:spPr>
          <a:xfrm>
            <a:off x="4543560" y="3191040"/>
            <a:ext cx="277128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Depth network</a:t>
            </a:r>
            <a:endParaRPr b="0" sz="1950" strike="noStrike">
              <a:latin typeface="Arial"/>
              <a:ea typeface="Arial"/>
              <a:cs typeface="Arial"/>
              <a:sym typeface="Arial"/>
            </a:endParaRPr>
          </a:p>
        </p:txBody>
      </p:sp>
      <p:sp>
        <p:nvSpPr>
          <p:cNvPr id="384" name="Google Shape;384;p70"/>
          <p:cNvSpPr/>
          <p:nvPr/>
        </p:nvSpPr>
        <p:spPr>
          <a:xfrm>
            <a:off x="4552920" y="3533760"/>
            <a:ext cx="2752200" cy="8665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118 depth logits + 80</a:t>
            </a:r>
            <a:endParaRPr b="0" sz="1650" strike="noStrike">
              <a:latin typeface="Arial"/>
              <a:ea typeface="Arial"/>
              <a:cs typeface="Arial"/>
              <a:sym typeface="Arial"/>
            </a:endParaRPr>
          </a:p>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context channels</a:t>
            </a:r>
            <a:endParaRPr b="0" sz="1650" strike="noStrike">
              <a:latin typeface="Arial"/>
              <a:ea typeface="Arial"/>
              <a:cs typeface="Arial"/>
              <a:sym typeface="Arial"/>
            </a:endParaRPr>
          </a:p>
        </p:txBody>
      </p:sp>
      <p:sp>
        <p:nvSpPr>
          <p:cNvPr id="385" name="Google Shape;385;p70"/>
          <p:cNvSpPr/>
          <p:nvPr/>
        </p:nvSpPr>
        <p:spPr>
          <a:xfrm>
            <a:off x="8334360" y="3048120"/>
            <a:ext cx="2904840" cy="142848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70"/>
          <p:cNvSpPr/>
          <p:nvPr/>
        </p:nvSpPr>
        <p:spPr>
          <a:xfrm>
            <a:off x="8448840" y="3191040"/>
            <a:ext cx="2676240" cy="628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Depth-weighted</a:t>
            </a:r>
            <a:endParaRPr b="0" sz="1950" strike="noStrike">
              <a:latin typeface="Arial"/>
              <a:ea typeface="Arial"/>
              <a:cs typeface="Arial"/>
              <a:sym typeface="Arial"/>
            </a:endParaRPr>
          </a:p>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lift</a:t>
            </a:r>
            <a:endParaRPr b="0" sz="1950" strike="noStrike">
              <a:latin typeface="Arial"/>
              <a:ea typeface="Arial"/>
              <a:cs typeface="Arial"/>
              <a:sym typeface="Arial"/>
            </a:endParaRPr>
          </a:p>
        </p:txBody>
      </p:sp>
      <p:sp>
        <p:nvSpPr>
          <p:cNvPr id="387" name="Google Shape;387;p70"/>
          <p:cNvSpPr/>
          <p:nvPr/>
        </p:nvSpPr>
        <p:spPr>
          <a:xfrm>
            <a:off x="8458200" y="3828960"/>
            <a:ext cx="2657160" cy="571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Probability × context</a:t>
            </a:r>
            <a:endParaRPr b="0" sz="1650" strike="noStrike">
              <a:latin typeface="Arial"/>
              <a:ea typeface="Arial"/>
              <a:cs typeface="Arial"/>
              <a:sym typeface="Arial"/>
            </a:endParaRPr>
          </a:p>
        </p:txBody>
      </p:sp>
      <p:sp>
        <p:nvSpPr>
          <p:cNvPr id="388" name="Google Shape;388;p70"/>
          <p:cNvSpPr/>
          <p:nvPr/>
        </p:nvSpPr>
        <p:spPr>
          <a:xfrm>
            <a:off x="12144240" y="3048120"/>
            <a:ext cx="2409480" cy="142848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70"/>
          <p:cNvSpPr/>
          <p:nvPr/>
        </p:nvSpPr>
        <p:spPr>
          <a:xfrm>
            <a:off x="12258720" y="3191040"/>
            <a:ext cx="218088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BEV pooling</a:t>
            </a:r>
            <a:endParaRPr b="0" sz="1950" strike="noStrike">
              <a:latin typeface="Arial"/>
              <a:ea typeface="Arial"/>
              <a:cs typeface="Arial"/>
              <a:sym typeface="Arial"/>
            </a:endParaRPr>
          </a:p>
        </p:txBody>
      </p:sp>
      <p:sp>
        <p:nvSpPr>
          <p:cNvPr id="390" name="Google Shape;390;p70"/>
          <p:cNvSpPr/>
          <p:nvPr/>
        </p:nvSpPr>
        <p:spPr>
          <a:xfrm>
            <a:off x="12268080" y="3533760"/>
            <a:ext cx="2161800" cy="8665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0.3 m grid, then 2×</a:t>
            </a:r>
            <a:endParaRPr b="0" sz="1650" strike="noStrike">
              <a:latin typeface="Arial"/>
              <a:ea typeface="Arial"/>
              <a:cs typeface="Arial"/>
              <a:sym typeface="Arial"/>
            </a:endParaRPr>
          </a:p>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downsample</a:t>
            </a:r>
            <a:endParaRPr b="0" sz="1650" strike="noStrike">
              <a:latin typeface="Arial"/>
              <a:ea typeface="Arial"/>
              <a:cs typeface="Arial"/>
              <a:sym typeface="Arial"/>
            </a:endParaRPr>
          </a:p>
        </p:txBody>
      </p:sp>
      <p:sp>
        <p:nvSpPr>
          <p:cNvPr id="391" name="Google Shape;391;p70"/>
          <p:cNvSpPr/>
          <p:nvPr/>
        </p:nvSpPr>
        <p:spPr>
          <a:xfrm>
            <a:off x="685800" y="566748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320" strike="noStrike">
                <a:solidFill>
                  <a:srgbClr val="142B3E"/>
                </a:solidFill>
                <a:latin typeface="Verdana"/>
                <a:ea typeface="Verdana"/>
                <a:cs typeface="Verdana"/>
                <a:sym typeface="Verdana"/>
              </a:rPr>
              <a:t>pₖ(u,v) = softmaxₖ(a(u,v))</a:t>
            </a:r>
            <a:endParaRPr b="0" sz="2320" strike="noStrike">
              <a:latin typeface="Arial"/>
              <a:ea typeface="Arial"/>
              <a:cs typeface="Arial"/>
              <a:sym typeface="Arial"/>
            </a:endParaRPr>
          </a:p>
        </p:txBody>
      </p:sp>
      <p:sp>
        <p:nvSpPr>
          <p:cNvPr id="392" name="Google Shape;392;p70"/>
          <p:cNvSpPr/>
          <p:nvPr/>
        </p:nvSpPr>
        <p:spPr>
          <a:xfrm>
            <a:off x="685800" y="635328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320" strike="noStrike">
                <a:solidFill>
                  <a:srgbClr val="142B3E"/>
                </a:solidFill>
                <a:latin typeface="Verdana"/>
                <a:ea typeface="Verdana"/>
                <a:cs typeface="Verdana"/>
                <a:sym typeface="Verdana"/>
              </a:rPr>
              <a:t>V(u,v,k,:) = pₖ(u,v) · f(u,v,:)</a:t>
            </a:r>
            <a:endParaRPr b="0" sz="2320" strike="noStrike">
              <a:latin typeface="Arial"/>
              <a:ea typeface="Arial"/>
              <a:cs typeface="Arial"/>
              <a:sym typeface="Arial"/>
            </a:endParaRPr>
          </a:p>
        </p:txBody>
      </p:sp>
      <p:sp>
        <p:nvSpPr>
          <p:cNvPr id="393" name="Google Shape;393;p70"/>
          <p:cNvSpPr/>
          <p:nvPr/>
        </p:nvSpPr>
        <p:spPr>
          <a:xfrm>
            <a:off x="685800" y="703908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320" strike="noStrike">
                <a:solidFill>
                  <a:srgbClr val="142B3E"/>
                </a:solidFill>
                <a:latin typeface="Verdana"/>
                <a:ea typeface="Verdana"/>
                <a:cs typeface="Verdana"/>
                <a:sym typeface="Verdana"/>
              </a:rPr>
              <a:t>Fᵢ(cell) = Σ V(u,v,k,:) over samples mapped to that cell</a:t>
            </a:r>
            <a:endParaRPr b="0" sz="2320" strike="noStrike">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398" name="Shape 398"/>
        <p:cNvGrpSpPr/>
        <p:nvPr/>
      </p:nvGrpSpPr>
      <p:grpSpPr>
        <a:xfrm>
          <a:off x="0" y="0"/>
          <a:ext cx="0" cy="0"/>
          <a:chOff x="0" y="0"/>
          <a:chExt cx="0" cy="0"/>
        </a:xfrm>
      </p:grpSpPr>
      <p:sp>
        <p:nvSpPr>
          <p:cNvPr id="399" name="Google Shape;399;p71"/>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Point clouds and BEV resolution</a:t>
            </a:r>
            <a:endParaRPr b="0" sz="3450" strike="noStrike">
              <a:latin typeface="Arial"/>
              <a:ea typeface="Arial"/>
              <a:cs typeface="Arial"/>
              <a:sym typeface="Arial"/>
            </a:endParaRPr>
          </a:p>
        </p:txBody>
      </p:sp>
      <p:sp>
        <p:nvSpPr>
          <p:cNvPr id="400" name="Google Shape;400;p71"/>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Fine 3D voxels become a coarser feature lattice through sparse convolution</a:t>
            </a:r>
            <a:endParaRPr b="0" sz="1870" strike="noStrike">
              <a:latin typeface="Arial"/>
              <a:ea typeface="Arial"/>
              <a:cs typeface="Arial"/>
              <a:sym typeface="Arial"/>
            </a:endParaRPr>
          </a:p>
        </p:txBody>
      </p:sp>
      <p:sp>
        <p:nvSpPr>
          <p:cNvPr id="401" name="Google Shape;401;p71"/>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06</a:t>
            </a:r>
            <a:endParaRPr b="0" sz="1280" strike="noStrike">
              <a:latin typeface="Arial"/>
              <a:ea typeface="Arial"/>
              <a:cs typeface="Arial"/>
              <a:sym typeface="Arial"/>
            </a:endParaRPr>
          </a:p>
        </p:txBody>
      </p:sp>
      <p:graphicFrame>
        <p:nvGraphicFramePr>
          <p:cNvPr id="402" name="Google Shape;402;p71"/>
          <p:cNvGraphicFramePr/>
          <p:nvPr/>
        </p:nvGraphicFramePr>
        <p:xfrm>
          <a:off x="685800" y="2095560"/>
          <a:ext cx="3000000" cy="3000000"/>
        </p:xfrm>
        <a:graphic>
          <a:graphicData uri="http://schemas.openxmlformats.org/drawingml/2006/table">
            <a:tbl>
              <a:tblPr>
                <a:noFill/>
                <a:tableStyleId>{95E7CD04-70E1-4013-8DFE-BD906A8056AE}</a:tableStyleId>
              </a:tblPr>
              <a:tblGrid>
                <a:gridCol w="3882950"/>
                <a:gridCol w="4714925"/>
                <a:gridCol w="5269675"/>
              </a:tblGrid>
              <a:tr h="785525">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Stage</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Configuration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Meaning</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Sensor input</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Current scan + 9 sweeps; 5 features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XYZ, intensity and sweep time</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Spatial extent</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x,y ∈ [−54, 54) m; z ∈ [−5, 3) m</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108 m × 108 m horizontal coverage</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Hard voxelization</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0.075 × 0.075 × 0.2 m</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Mean feature per occupied voxel; at most 10 points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Sparse encoder</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Configured sparse shape [1440, 1440, 41]</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Sparse 3D features, then height folded into channels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Detection lattice</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Stride 8 in x and y</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0.6 m per cell; 180 × 180 cells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r>
            </a:tbl>
          </a:graphicData>
        </a:graphic>
      </p:graphicFrame>
      <p:sp>
        <p:nvSpPr>
          <p:cNvPr id="403" name="Google Shape;403;p71"/>
          <p:cNvSpPr/>
          <p:nvPr/>
        </p:nvSpPr>
        <p:spPr>
          <a:xfrm>
            <a:off x="685800" y="723888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00" strike="noStrike">
                <a:solidFill>
                  <a:srgbClr val="142B3E"/>
                </a:solidFill>
                <a:latin typeface="Verdana"/>
                <a:ea typeface="Verdana"/>
                <a:cs typeface="Verdana"/>
                <a:sym typeface="Verdana"/>
              </a:rPr>
              <a:t>ΔBEV = 8 × 0.075 m = 0.6 m</a:t>
            </a:r>
            <a:endParaRPr b="0" sz="2400" strike="noStrike">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408" name="Shape 408"/>
        <p:cNvGrpSpPr/>
        <p:nvPr/>
      </p:nvGrpSpPr>
      <p:grpSpPr>
        <a:xfrm>
          <a:off x="0" y="0"/>
          <a:ext cx="0" cy="0"/>
          <a:chOff x="0" y="0"/>
          <a:chExt cx="0" cy="0"/>
        </a:xfrm>
      </p:grpSpPr>
      <p:cxnSp>
        <p:nvCxnSpPr>
          <p:cNvPr id="409" name="Google Shape;409;p72"/>
          <p:cNvCxnSpPr/>
          <p:nvPr/>
        </p:nvCxnSpPr>
        <p:spPr>
          <a:xfrm>
            <a:off x="10477080" y="3785760"/>
            <a:ext cx="953280" cy="360"/>
          </a:xfrm>
          <a:prstGeom prst="straightConnector1">
            <a:avLst/>
          </a:prstGeom>
          <a:noFill/>
          <a:ln cap="flat" cmpd="sng" w="19075">
            <a:solidFill>
              <a:srgbClr val="007F83"/>
            </a:solidFill>
            <a:prstDash val="solid"/>
            <a:round/>
            <a:headEnd len="sm" w="sm" type="none"/>
            <a:tailEnd len="med" w="med" type="triangle"/>
          </a:ln>
        </p:spPr>
      </p:cxnSp>
      <p:cxnSp>
        <p:nvCxnSpPr>
          <p:cNvPr id="410" name="Google Shape;410;p72"/>
          <p:cNvCxnSpPr/>
          <p:nvPr/>
        </p:nvCxnSpPr>
        <p:spPr>
          <a:xfrm flipH="1" rot="10800000">
            <a:off x="6476760" y="4476180"/>
            <a:ext cx="2500500" cy="262500"/>
          </a:xfrm>
          <a:prstGeom prst="bentConnector3">
            <a:avLst>
              <a:gd fmla="val 50000" name="adj1"/>
            </a:avLst>
          </a:prstGeom>
          <a:noFill/>
          <a:ln cap="flat" cmpd="sng" w="19075">
            <a:solidFill>
              <a:srgbClr val="007F83"/>
            </a:solidFill>
            <a:prstDash val="solid"/>
            <a:round/>
            <a:headEnd len="sm" w="sm" type="none"/>
            <a:tailEnd len="med" w="med" type="triangle"/>
          </a:ln>
        </p:spPr>
      </p:cxnSp>
      <p:cxnSp>
        <p:nvCxnSpPr>
          <p:cNvPr id="411" name="Google Shape;411;p72"/>
          <p:cNvCxnSpPr/>
          <p:nvPr/>
        </p:nvCxnSpPr>
        <p:spPr>
          <a:xfrm>
            <a:off x="6476760" y="2880720"/>
            <a:ext cx="2500500" cy="215400"/>
          </a:xfrm>
          <a:prstGeom prst="bentConnector3">
            <a:avLst>
              <a:gd fmla="val 50000" name="adj1"/>
            </a:avLst>
          </a:prstGeom>
          <a:noFill/>
          <a:ln cap="flat" cmpd="sng" w="19075">
            <a:solidFill>
              <a:srgbClr val="007F83"/>
            </a:solidFill>
            <a:prstDash val="solid"/>
            <a:round/>
            <a:headEnd len="sm" w="sm" type="none"/>
            <a:tailEnd len="med" w="med" type="triangle"/>
          </a:ln>
        </p:spPr>
      </p:cxnSp>
      <p:cxnSp>
        <p:nvCxnSpPr>
          <p:cNvPr id="412" name="Google Shape;412;p72"/>
          <p:cNvCxnSpPr/>
          <p:nvPr/>
        </p:nvCxnSpPr>
        <p:spPr>
          <a:xfrm>
            <a:off x="3066840" y="4738320"/>
            <a:ext cx="791280" cy="360"/>
          </a:xfrm>
          <a:prstGeom prst="straightConnector1">
            <a:avLst/>
          </a:prstGeom>
          <a:noFill/>
          <a:ln cap="flat" cmpd="sng" w="19075">
            <a:solidFill>
              <a:srgbClr val="365C7D"/>
            </a:solidFill>
            <a:prstDash val="solid"/>
            <a:round/>
            <a:headEnd len="sm" w="sm" type="none"/>
            <a:tailEnd len="med" w="med" type="triangle"/>
          </a:ln>
        </p:spPr>
      </p:cxnSp>
      <p:cxnSp>
        <p:nvCxnSpPr>
          <p:cNvPr id="413" name="Google Shape;413;p72"/>
          <p:cNvCxnSpPr/>
          <p:nvPr/>
        </p:nvCxnSpPr>
        <p:spPr>
          <a:xfrm>
            <a:off x="3066840" y="2880720"/>
            <a:ext cx="791280" cy="360"/>
          </a:xfrm>
          <a:prstGeom prst="straightConnector1">
            <a:avLst/>
          </a:prstGeom>
          <a:noFill/>
          <a:ln cap="flat" cmpd="sng" w="19075">
            <a:solidFill>
              <a:srgbClr val="365C7D"/>
            </a:solidFill>
            <a:prstDash val="solid"/>
            <a:round/>
            <a:headEnd len="sm" w="sm" type="none"/>
            <a:tailEnd len="med" w="med" type="triangle"/>
          </a:ln>
        </p:spPr>
      </p:cxnSp>
      <p:sp>
        <p:nvSpPr>
          <p:cNvPr id="414" name="Google Shape;414;p72"/>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My spatial fusion module</a:t>
            </a:r>
            <a:endParaRPr b="0" sz="3450" strike="noStrike">
              <a:latin typeface="Arial"/>
              <a:ea typeface="Arial"/>
              <a:cs typeface="Arial"/>
              <a:sym typeface="Arial"/>
            </a:endParaRPr>
          </a:p>
        </p:txBody>
      </p:sp>
      <p:sp>
        <p:nvSpPr>
          <p:cNvPr id="415" name="Google Shape;415;p72"/>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A learned gate modulates each modality while a LiDAR residual remains available</a:t>
            </a:r>
            <a:endParaRPr b="0" sz="1870" strike="noStrike">
              <a:latin typeface="Arial"/>
              <a:ea typeface="Arial"/>
              <a:cs typeface="Arial"/>
              <a:sym typeface="Arial"/>
            </a:endParaRPr>
          </a:p>
        </p:txBody>
      </p:sp>
      <p:sp>
        <p:nvSpPr>
          <p:cNvPr id="416" name="Google Shape;416;p72"/>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07</a:t>
            </a:r>
            <a:endParaRPr b="0" sz="1280" strike="noStrike">
              <a:latin typeface="Arial"/>
              <a:ea typeface="Arial"/>
              <a:cs typeface="Arial"/>
              <a:sym typeface="Arial"/>
            </a:endParaRPr>
          </a:p>
        </p:txBody>
      </p:sp>
      <p:sp>
        <p:nvSpPr>
          <p:cNvPr id="417" name="Google Shape;417;p72"/>
          <p:cNvSpPr/>
          <p:nvPr/>
        </p:nvSpPr>
        <p:spPr>
          <a:xfrm>
            <a:off x="685800" y="2190600"/>
            <a:ext cx="2381040" cy="138060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72"/>
          <p:cNvSpPr/>
          <p:nvPr/>
        </p:nvSpPr>
        <p:spPr>
          <a:xfrm>
            <a:off x="800280" y="2333520"/>
            <a:ext cx="215244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Image BEV</a:t>
            </a:r>
            <a:endParaRPr b="0" sz="1950" strike="noStrike">
              <a:latin typeface="Arial"/>
              <a:ea typeface="Arial"/>
              <a:cs typeface="Arial"/>
              <a:sym typeface="Arial"/>
            </a:endParaRPr>
          </a:p>
        </p:txBody>
      </p:sp>
      <p:sp>
        <p:nvSpPr>
          <p:cNvPr id="419" name="Google Shape;419;p72"/>
          <p:cNvSpPr/>
          <p:nvPr/>
        </p:nvSpPr>
        <p:spPr>
          <a:xfrm>
            <a:off x="809640" y="2676600"/>
            <a:ext cx="213336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80 channels</a:t>
            </a:r>
            <a:endParaRPr b="0" sz="1650" strike="noStrike">
              <a:latin typeface="Arial"/>
              <a:ea typeface="Arial"/>
              <a:cs typeface="Arial"/>
              <a:sym typeface="Arial"/>
            </a:endParaRPr>
          </a:p>
        </p:txBody>
      </p:sp>
      <p:sp>
        <p:nvSpPr>
          <p:cNvPr id="420" name="Google Shape;420;p72"/>
          <p:cNvSpPr/>
          <p:nvPr/>
        </p:nvSpPr>
        <p:spPr>
          <a:xfrm>
            <a:off x="685800" y="4048200"/>
            <a:ext cx="2381040" cy="138060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72"/>
          <p:cNvSpPr/>
          <p:nvPr/>
        </p:nvSpPr>
        <p:spPr>
          <a:xfrm>
            <a:off x="800280" y="4191120"/>
            <a:ext cx="215244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LiDAR BEV</a:t>
            </a:r>
            <a:endParaRPr b="0" sz="1950" strike="noStrike">
              <a:latin typeface="Arial"/>
              <a:ea typeface="Arial"/>
              <a:cs typeface="Arial"/>
              <a:sym typeface="Arial"/>
            </a:endParaRPr>
          </a:p>
        </p:txBody>
      </p:sp>
      <p:sp>
        <p:nvSpPr>
          <p:cNvPr id="422" name="Google Shape;422;p72"/>
          <p:cNvSpPr/>
          <p:nvPr/>
        </p:nvSpPr>
        <p:spPr>
          <a:xfrm>
            <a:off x="809640" y="4533840"/>
            <a:ext cx="213336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256 channels</a:t>
            </a:r>
            <a:endParaRPr b="0" sz="1650" strike="noStrike">
              <a:latin typeface="Arial"/>
              <a:ea typeface="Arial"/>
              <a:cs typeface="Arial"/>
              <a:sym typeface="Arial"/>
            </a:endParaRPr>
          </a:p>
        </p:txBody>
      </p:sp>
      <p:sp>
        <p:nvSpPr>
          <p:cNvPr id="423" name="Google Shape;423;p72"/>
          <p:cNvSpPr/>
          <p:nvPr/>
        </p:nvSpPr>
        <p:spPr>
          <a:xfrm>
            <a:off x="3857760" y="2190600"/>
            <a:ext cx="2619000" cy="1380600"/>
          </a:xfrm>
          <a:prstGeom prst="rect">
            <a:avLst/>
          </a:prstGeom>
          <a:solidFill>
            <a:srgbClr val="E7F4F1"/>
          </a:solidFill>
          <a:ln cap="flat" cmpd="sng" w="13300">
            <a:solidFill>
              <a:srgbClr val="007F8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72"/>
          <p:cNvSpPr/>
          <p:nvPr/>
        </p:nvSpPr>
        <p:spPr>
          <a:xfrm>
            <a:off x="3971880" y="2333520"/>
            <a:ext cx="239040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007F83"/>
                </a:solidFill>
                <a:latin typeface="Verdana"/>
                <a:ea typeface="Verdana"/>
                <a:cs typeface="Verdana"/>
                <a:sym typeface="Verdana"/>
              </a:rPr>
              <a:t>Projection φᵢ</a:t>
            </a:r>
            <a:endParaRPr b="0" sz="1950" strike="noStrike">
              <a:latin typeface="Arial"/>
              <a:ea typeface="Arial"/>
              <a:cs typeface="Arial"/>
              <a:sym typeface="Arial"/>
            </a:endParaRPr>
          </a:p>
        </p:txBody>
      </p:sp>
      <p:sp>
        <p:nvSpPr>
          <p:cNvPr id="425" name="Google Shape;425;p72"/>
          <p:cNvSpPr/>
          <p:nvPr/>
        </p:nvSpPr>
        <p:spPr>
          <a:xfrm>
            <a:off x="3981600" y="2676600"/>
            <a:ext cx="237132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128 channels</a:t>
            </a:r>
            <a:endParaRPr b="0" sz="1650" strike="noStrike">
              <a:latin typeface="Arial"/>
              <a:ea typeface="Arial"/>
              <a:cs typeface="Arial"/>
              <a:sym typeface="Arial"/>
            </a:endParaRPr>
          </a:p>
        </p:txBody>
      </p:sp>
      <p:sp>
        <p:nvSpPr>
          <p:cNvPr id="426" name="Google Shape;426;p72"/>
          <p:cNvSpPr/>
          <p:nvPr/>
        </p:nvSpPr>
        <p:spPr>
          <a:xfrm>
            <a:off x="3857760" y="4048200"/>
            <a:ext cx="2619000" cy="1380600"/>
          </a:xfrm>
          <a:prstGeom prst="rect">
            <a:avLst/>
          </a:prstGeom>
          <a:solidFill>
            <a:srgbClr val="E7F4F1"/>
          </a:solidFill>
          <a:ln cap="flat" cmpd="sng" w="13300">
            <a:solidFill>
              <a:srgbClr val="007F8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72"/>
          <p:cNvSpPr/>
          <p:nvPr/>
        </p:nvSpPr>
        <p:spPr>
          <a:xfrm>
            <a:off x="3971880" y="4191120"/>
            <a:ext cx="239040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007F83"/>
                </a:solidFill>
                <a:latin typeface="Verdana"/>
                <a:ea typeface="Verdana"/>
                <a:cs typeface="Verdana"/>
                <a:sym typeface="Verdana"/>
              </a:rPr>
              <a:t>Projection φₗ</a:t>
            </a:r>
            <a:endParaRPr b="0" sz="1950" strike="noStrike">
              <a:latin typeface="Arial"/>
              <a:ea typeface="Arial"/>
              <a:cs typeface="Arial"/>
              <a:sym typeface="Arial"/>
            </a:endParaRPr>
          </a:p>
        </p:txBody>
      </p:sp>
      <p:sp>
        <p:nvSpPr>
          <p:cNvPr id="428" name="Google Shape;428;p72"/>
          <p:cNvSpPr/>
          <p:nvPr/>
        </p:nvSpPr>
        <p:spPr>
          <a:xfrm>
            <a:off x="3981600" y="4533840"/>
            <a:ext cx="237132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128 channels</a:t>
            </a:r>
            <a:endParaRPr b="0" sz="1650" strike="noStrike">
              <a:latin typeface="Arial"/>
              <a:ea typeface="Arial"/>
              <a:cs typeface="Arial"/>
              <a:sym typeface="Arial"/>
            </a:endParaRPr>
          </a:p>
        </p:txBody>
      </p:sp>
      <p:sp>
        <p:nvSpPr>
          <p:cNvPr id="429" name="Google Shape;429;p72"/>
          <p:cNvSpPr/>
          <p:nvPr/>
        </p:nvSpPr>
        <p:spPr>
          <a:xfrm>
            <a:off x="7477200" y="3095640"/>
            <a:ext cx="2999880" cy="1380600"/>
          </a:xfrm>
          <a:prstGeom prst="rect">
            <a:avLst/>
          </a:prstGeom>
          <a:solidFill>
            <a:srgbClr val="E7F4F1"/>
          </a:solidFill>
          <a:ln cap="flat" cmpd="sng" w="13300">
            <a:solidFill>
              <a:srgbClr val="007F8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72"/>
          <p:cNvSpPr/>
          <p:nvPr/>
        </p:nvSpPr>
        <p:spPr>
          <a:xfrm>
            <a:off x="7591320" y="3238560"/>
            <a:ext cx="277128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007F83"/>
                </a:solidFill>
                <a:latin typeface="Verdana"/>
                <a:ea typeface="Verdana"/>
                <a:cs typeface="Verdana"/>
                <a:sym typeface="Verdana"/>
              </a:rPr>
              <a:t>Gate inputs</a:t>
            </a:r>
            <a:endParaRPr b="0" sz="1950" strike="noStrike">
              <a:latin typeface="Arial"/>
              <a:ea typeface="Arial"/>
              <a:cs typeface="Arial"/>
              <a:sym typeface="Arial"/>
            </a:endParaRPr>
          </a:p>
        </p:txBody>
      </p:sp>
      <p:sp>
        <p:nvSpPr>
          <p:cNvPr id="431" name="Google Shape;431;p72"/>
          <p:cNvSpPr/>
          <p:nvPr/>
        </p:nvSpPr>
        <p:spPr>
          <a:xfrm>
            <a:off x="7601040" y="3581280"/>
            <a:ext cx="275220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[U, V, O, R], 258 channels</a:t>
            </a:r>
            <a:endParaRPr b="0" sz="1650" strike="noStrike">
              <a:latin typeface="Arial"/>
              <a:ea typeface="Arial"/>
              <a:cs typeface="Arial"/>
              <a:sym typeface="Arial"/>
            </a:endParaRPr>
          </a:p>
        </p:txBody>
      </p:sp>
      <p:sp>
        <p:nvSpPr>
          <p:cNvPr id="432" name="Google Shape;432;p72"/>
          <p:cNvSpPr/>
          <p:nvPr/>
        </p:nvSpPr>
        <p:spPr>
          <a:xfrm>
            <a:off x="11430000" y="3095640"/>
            <a:ext cx="3123720" cy="1380600"/>
          </a:xfrm>
          <a:prstGeom prst="rect">
            <a:avLst/>
          </a:prstGeom>
          <a:solidFill>
            <a:srgbClr val="E7F4F1"/>
          </a:solidFill>
          <a:ln cap="flat" cmpd="sng" w="13300">
            <a:solidFill>
              <a:srgbClr val="007F8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72"/>
          <p:cNvSpPr/>
          <p:nvPr/>
        </p:nvSpPr>
        <p:spPr>
          <a:xfrm>
            <a:off x="11544480" y="3238560"/>
            <a:ext cx="289512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007F83"/>
                </a:solidFill>
                <a:latin typeface="Verdana"/>
                <a:ea typeface="Verdana"/>
                <a:cs typeface="Verdana"/>
                <a:sym typeface="Verdana"/>
              </a:rPr>
              <a:t>Weighted fusion</a:t>
            </a:r>
            <a:endParaRPr b="0" sz="1950" strike="noStrike">
              <a:latin typeface="Arial"/>
              <a:ea typeface="Arial"/>
              <a:cs typeface="Arial"/>
              <a:sym typeface="Arial"/>
            </a:endParaRPr>
          </a:p>
        </p:txBody>
      </p:sp>
      <p:sp>
        <p:nvSpPr>
          <p:cNvPr id="434" name="Google Shape;434;p72"/>
          <p:cNvSpPr/>
          <p:nvPr/>
        </p:nvSpPr>
        <p:spPr>
          <a:xfrm>
            <a:off x="11553840" y="3581280"/>
            <a:ext cx="2876040" cy="8186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Concatenation, ψ and WᵣV</a:t>
            </a:r>
            <a:endParaRPr b="0" sz="1650" strike="noStrike">
              <a:latin typeface="Arial"/>
              <a:ea typeface="Arial"/>
              <a:cs typeface="Arial"/>
              <a:sym typeface="Arial"/>
            </a:endParaRPr>
          </a:p>
        </p:txBody>
      </p:sp>
      <p:sp>
        <p:nvSpPr>
          <p:cNvPr id="435" name="Google Shape;435;p72"/>
          <p:cNvSpPr/>
          <p:nvPr/>
        </p:nvSpPr>
        <p:spPr>
          <a:xfrm>
            <a:off x="685800" y="569592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320" strike="noStrike">
                <a:solidFill>
                  <a:srgbClr val="142B3E"/>
                </a:solidFill>
                <a:latin typeface="Verdana"/>
                <a:ea typeface="Verdana"/>
                <a:cs typeface="Verdana"/>
                <a:sym typeface="Verdana"/>
              </a:rPr>
              <a:t>U = φᵢ(Fᵢ),     V = φₗ(Fₗ)</a:t>
            </a:r>
            <a:endParaRPr b="0" sz="2320" strike="noStrike">
              <a:latin typeface="Arial"/>
              <a:ea typeface="Arial"/>
              <a:cs typeface="Arial"/>
              <a:sym typeface="Arial"/>
            </a:endParaRPr>
          </a:p>
        </p:txBody>
      </p:sp>
      <p:sp>
        <p:nvSpPr>
          <p:cNvPr id="436" name="Google Shape;436;p72"/>
          <p:cNvSpPr/>
          <p:nvPr/>
        </p:nvSpPr>
        <p:spPr>
          <a:xfrm>
            <a:off x="685800" y="636264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320" strike="noStrike">
                <a:solidFill>
                  <a:srgbClr val="142B3E"/>
                </a:solidFill>
                <a:latin typeface="Verdana"/>
                <a:ea typeface="Verdana"/>
                <a:cs typeface="Verdana"/>
                <a:sym typeface="Verdana"/>
              </a:rPr>
              <a:t>G = σ(g([U, V, O, R]))</a:t>
            </a:r>
            <a:endParaRPr b="0" sz="2320" strike="noStrike">
              <a:latin typeface="Arial"/>
              <a:ea typeface="Arial"/>
              <a:cs typeface="Arial"/>
              <a:sym typeface="Arial"/>
            </a:endParaRPr>
          </a:p>
        </p:txBody>
      </p:sp>
      <p:sp>
        <p:nvSpPr>
          <p:cNvPr id="437" name="Google Shape;437;p72"/>
          <p:cNvSpPr/>
          <p:nvPr/>
        </p:nvSpPr>
        <p:spPr>
          <a:xfrm>
            <a:off x="685800" y="702936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320" strike="noStrike">
                <a:solidFill>
                  <a:srgbClr val="142B3E"/>
                </a:solidFill>
                <a:latin typeface="Verdana"/>
                <a:ea typeface="Verdana"/>
                <a:cs typeface="Verdana"/>
                <a:sym typeface="Verdana"/>
              </a:rPr>
              <a:t>F = ψ([G ⊙ U, (1 − G) ⊙ V]) + WᵣV</a:t>
            </a:r>
            <a:endParaRPr b="0" sz="2320" strike="noStrike">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442" name="Shape 442"/>
        <p:cNvGrpSpPr/>
        <p:nvPr/>
      </p:nvGrpSpPr>
      <p:grpSpPr>
        <a:xfrm>
          <a:off x="0" y="0"/>
          <a:ext cx="0" cy="0"/>
          <a:chOff x="0" y="0"/>
          <a:chExt cx="0" cy="0"/>
        </a:xfrm>
      </p:grpSpPr>
      <p:sp>
        <p:nvSpPr>
          <p:cNvPr id="443" name="Google Shape;443;p73"/>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Reliability signals and their limits</a:t>
            </a:r>
            <a:endParaRPr b="0" sz="3450" strike="noStrike">
              <a:latin typeface="Arial"/>
              <a:ea typeface="Arial"/>
              <a:cs typeface="Arial"/>
              <a:sym typeface="Arial"/>
            </a:endParaRPr>
          </a:p>
        </p:txBody>
      </p:sp>
      <p:sp>
        <p:nvSpPr>
          <p:cNvPr id="444" name="Google Shape;444;p73"/>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The current signals are feature-derived proxies learned through detection</a:t>
            </a:r>
            <a:endParaRPr b="0" sz="1870" strike="noStrike">
              <a:latin typeface="Arial"/>
              <a:ea typeface="Arial"/>
              <a:cs typeface="Arial"/>
              <a:sym typeface="Arial"/>
            </a:endParaRPr>
          </a:p>
        </p:txBody>
      </p:sp>
      <p:sp>
        <p:nvSpPr>
          <p:cNvPr id="445" name="Google Shape;445;p73"/>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08</a:t>
            </a:r>
            <a:endParaRPr b="0" sz="1280" strike="noStrike">
              <a:latin typeface="Arial"/>
              <a:ea typeface="Arial"/>
              <a:cs typeface="Arial"/>
              <a:sym typeface="Arial"/>
            </a:endParaRPr>
          </a:p>
        </p:txBody>
      </p:sp>
      <p:sp>
        <p:nvSpPr>
          <p:cNvPr id="446" name="Google Shape;446;p73"/>
          <p:cNvSpPr/>
          <p:nvPr/>
        </p:nvSpPr>
        <p:spPr>
          <a:xfrm>
            <a:off x="685800" y="200016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250" strike="noStrike">
                <a:solidFill>
                  <a:srgbClr val="142B3E"/>
                </a:solidFill>
                <a:latin typeface="Verdana"/>
                <a:ea typeface="Verdana"/>
                <a:cs typeface="Verdana"/>
                <a:sym typeface="Verdana"/>
              </a:rPr>
              <a:t>O(b,h,w) = ‖V(b,:,h,w)‖₂ / max(maxₕ,w ‖V‖₂, ε)</a:t>
            </a:r>
            <a:endParaRPr b="0" sz="2250" strike="noStrike">
              <a:latin typeface="Arial"/>
              <a:ea typeface="Arial"/>
              <a:cs typeface="Arial"/>
              <a:sym typeface="Arial"/>
            </a:endParaRPr>
          </a:p>
        </p:txBody>
      </p:sp>
      <p:sp>
        <p:nvSpPr>
          <p:cNvPr id="447" name="Google Shape;447;p73"/>
          <p:cNvSpPr/>
          <p:nvPr/>
        </p:nvSpPr>
        <p:spPr>
          <a:xfrm>
            <a:off x="685800" y="270504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250" strike="noStrike">
                <a:solidFill>
                  <a:srgbClr val="142B3E"/>
                </a:solidFill>
                <a:latin typeface="Verdana"/>
                <a:ea typeface="Verdana"/>
                <a:cs typeface="Verdana"/>
                <a:sym typeface="Verdana"/>
              </a:rPr>
              <a:t>R = σ(h(U))</a:t>
            </a:r>
            <a:endParaRPr b="0" sz="2250" strike="noStrike">
              <a:latin typeface="Arial"/>
              <a:ea typeface="Arial"/>
              <a:cs typeface="Arial"/>
              <a:sym typeface="Arial"/>
            </a:endParaRPr>
          </a:p>
        </p:txBody>
      </p:sp>
      <p:sp>
        <p:nvSpPr>
          <p:cNvPr id="448" name="Google Shape;448;p73"/>
          <p:cNvSpPr/>
          <p:nvPr/>
        </p:nvSpPr>
        <p:spPr>
          <a:xfrm>
            <a:off x="685800" y="340992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250" strike="noStrike">
                <a:solidFill>
                  <a:srgbClr val="142B3E"/>
                </a:solidFill>
                <a:latin typeface="Verdana"/>
                <a:ea typeface="Verdana"/>
                <a:cs typeface="Verdana"/>
                <a:sym typeface="Verdana"/>
              </a:rPr>
              <a:t>G ∈ (0,1)ᴮˣ¹ˣᴴˣᵂ</a:t>
            </a:r>
            <a:endParaRPr b="0" sz="2250" strike="noStrike">
              <a:latin typeface="Arial"/>
              <a:ea typeface="Arial"/>
              <a:cs typeface="Arial"/>
              <a:sym typeface="Arial"/>
            </a:endParaRPr>
          </a:p>
        </p:txBody>
      </p:sp>
      <p:sp>
        <p:nvSpPr>
          <p:cNvPr id="449" name="Google Shape;449;p73"/>
          <p:cNvSpPr/>
          <p:nvPr/>
        </p:nvSpPr>
        <p:spPr>
          <a:xfrm>
            <a:off x="685800" y="4619520"/>
            <a:ext cx="6476760" cy="47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strike="noStrike">
                <a:solidFill>
                  <a:srgbClr val="142B3E"/>
                </a:solidFill>
                <a:latin typeface="Verdana"/>
                <a:ea typeface="Verdana"/>
                <a:cs typeface="Verdana"/>
                <a:sym typeface="Verdana"/>
              </a:rPr>
              <a:t>What the code supplies</a:t>
            </a:r>
            <a:endParaRPr b="0" sz="2170" strike="noStrike">
              <a:latin typeface="Arial"/>
              <a:ea typeface="Arial"/>
              <a:cs typeface="Arial"/>
              <a:sym typeface="Arial"/>
            </a:endParaRPr>
          </a:p>
        </p:txBody>
      </p:sp>
      <p:sp>
        <p:nvSpPr>
          <p:cNvPr id="450" name="Google Shape;450;p73"/>
          <p:cNvSpPr/>
          <p:nvPr/>
        </p:nvSpPr>
        <p:spPr>
          <a:xfrm>
            <a:off x="8096400" y="4619520"/>
            <a:ext cx="6457680" cy="47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170" strike="noStrike">
                <a:solidFill>
                  <a:srgbClr val="142B3E"/>
                </a:solidFill>
                <a:latin typeface="Verdana"/>
                <a:ea typeface="Verdana"/>
                <a:cs typeface="Verdana"/>
                <a:sym typeface="Verdana"/>
              </a:rPr>
              <a:t>What requires an experiment</a:t>
            </a:r>
            <a:endParaRPr b="0" sz="2170" strike="noStrike">
              <a:latin typeface="Arial"/>
              <a:ea typeface="Arial"/>
              <a:cs typeface="Arial"/>
              <a:sym typeface="Arial"/>
            </a:endParaRPr>
          </a:p>
        </p:txBody>
      </p:sp>
      <p:sp>
        <p:nvSpPr>
          <p:cNvPr id="451" name="Google Shape;451;p73"/>
          <p:cNvSpPr/>
          <p:nvPr/>
        </p:nvSpPr>
        <p:spPr>
          <a:xfrm>
            <a:off x="685800" y="5381640"/>
            <a:ext cx="6381360" cy="325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950" strike="noStrike">
                <a:solidFill>
                  <a:srgbClr val="526574"/>
                </a:solidFill>
                <a:latin typeface="Verdana"/>
                <a:ea typeface="Verdana"/>
                <a:cs typeface="Verdana"/>
                <a:sym typeface="Verdana"/>
              </a:rPr>
              <a:t>Feature-norm map normalized per sample</a:t>
            </a:r>
            <a:endParaRPr b="0" sz="1950" strike="noStrike">
              <a:latin typeface="Arial"/>
              <a:ea typeface="Arial"/>
              <a:cs typeface="Arial"/>
              <a:sym typeface="Arial"/>
            </a:endParaRPr>
          </a:p>
        </p:txBody>
      </p:sp>
      <p:sp>
        <p:nvSpPr>
          <p:cNvPr id="452" name="Google Shape;452;p73"/>
          <p:cNvSpPr/>
          <p:nvPr/>
        </p:nvSpPr>
        <p:spPr>
          <a:xfrm>
            <a:off x="685800" y="5945400"/>
            <a:ext cx="6381360" cy="325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950" strike="noStrike">
                <a:solidFill>
                  <a:srgbClr val="526574"/>
                </a:solidFill>
                <a:latin typeface="Verdana"/>
                <a:ea typeface="Verdana"/>
                <a:cs typeface="Verdana"/>
                <a:sym typeface="Verdana"/>
              </a:rPr>
              <a:t>Learned image-reliability feature</a:t>
            </a:r>
            <a:endParaRPr b="0" sz="1950" strike="noStrike">
              <a:latin typeface="Arial"/>
              <a:ea typeface="Arial"/>
              <a:cs typeface="Arial"/>
              <a:sym typeface="Arial"/>
            </a:endParaRPr>
          </a:p>
        </p:txBody>
      </p:sp>
      <p:sp>
        <p:nvSpPr>
          <p:cNvPr id="453" name="Google Shape;453;p73"/>
          <p:cNvSpPr/>
          <p:nvPr/>
        </p:nvSpPr>
        <p:spPr>
          <a:xfrm>
            <a:off x="685800" y="6509520"/>
            <a:ext cx="6381360" cy="325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950" strike="noStrike">
                <a:solidFill>
                  <a:srgbClr val="526574"/>
                </a:solidFill>
                <a:latin typeface="Verdana"/>
                <a:ea typeface="Verdana"/>
                <a:cs typeface="Verdana"/>
                <a:sym typeface="Verdana"/>
              </a:rPr>
              <a:t>A spatial modality gate and a LiDAR bypass</a:t>
            </a:r>
            <a:endParaRPr b="0" sz="1950" strike="noStrike">
              <a:latin typeface="Arial"/>
              <a:ea typeface="Arial"/>
              <a:cs typeface="Arial"/>
              <a:sym typeface="Arial"/>
            </a:endParaRPr>
          </a:p>
        </p:txBody>
      </p:sp>
      <p:sp>
        <p:nvSpPr>
          <p:cNvPr id="454" name="Google Shape;454;p73"/>
          <p:cNvSpPr/>
          <p:nvPr/>
        </p:nvSpPr>
        <p:spPr>
          <a:xfrm>
            <a:off x="8096400" y="5381640"/>
            <a:ext cx="6190920" cy="622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950" strike="noStrike">
                <a:solidFill>
                  <a:srgbClr val="526574"/>
                </a:solidFill>
                <a:latin typeface="Verdana"/>
                <a:ea typeface="Verdana"/>
                <a:cs typeface="Verdana"/>
                <a:sym typeface="Verdana"/>
              </a:rPr>
              <a:t>Agreement with raw point density or depth</a:t>
            </a:r>
            <a:endParaRPr b="0" sz="1950" strike="noStrike">
              <a:latin typeface="Arial"/>
              <a:ea typeface="Arial"/>
              <a:cs typeface="Arial"/>
              <a:sym typeface="Arial"/>
            </a:endParaRPr>
          </a:p>
          <a:p>
            <a:pPr indent="0" lvl="0" marL="0" marR="0" rtl="0" algn="l">
              <a:lnSpc>
                <a:spcPct val="100000"/>
              </a:lnSpc>
              <a:spcBef>
                <a:spcPts val="0"/>
              </a:spcBef>
              <a:spcAft>
                <a:spcPts val="0"/>
              </a:spcAft>
              <a:buNone/>
            </a:pPr>
            <a:r>
              <a:rPr b="0" lang="en-US" sz="1950" strike="noStrike">
                <a:solidFill>
                  <a:srgbClr val="526574"/>
                </a:solidFill>
                <a:latin typeface="Verdana"/>
                <a:ea typeface="Verdana"/>
                <a:cs typeface="Verdana"/>
                <a:sym typeface="Verdana"/>
              </a:rPr>
              <a:t>uncertainty</a:t>
            </a:r>
            <a:endParaRPr b="0" sz="1950" strike="noStrike">
              <a:latin typeface="Arial"/>
              <a:ea typeface="Arial"/>
              <a:cs typeface="Arial"/>
              <a:sym typeface="Arial"/>
            </a:endParaRPr>
          </a:p>
        </p:txBody>
      </p:sp>
      <p:sp>
        <p:nvSpPr>
          <p:cNvPr id="455" name="Google Shape;455;p73"/>
          <p:cNvSpPr/>
          <p:nvPr/>
        </p:nvSpPr>
        <p:spPr>
          <a:xfrm>
            <a:off x="8096400" y="6242760"/>
            <a:ext cx="6190920" cy="325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950" strike="noStrike">
                <a:solidFill>
                  <a:srgbClr val="526574"/>
                </a:solidFill>
                <a:latin typeface="Verdana"/>
                <a:ea typeface="Verdana"/>
                <a:cs typeface="Verdana"/>
                <a:sym typeface="Verdana"/>
              </a:rPr>
              <a:t>Gate calibration under sensor corruption</a:t>
            </a:r>
            <a:endParaRPr b="0" sz="1950" strike="noStrike">
              <a:latin typeface="Arial"/>
              <a:ea typeface="Arial"/>
              <a:cs typeface="Arial"/>
              <a:sym typeface="Arial"/>
            </a:endParaRPr>
          </a:p>
        </p:txBody>
      </p:sp>
      <p:sp>
        <p:nvSpPr>
          <p:cNvPr id="456" name="Google Shape;456;p73"/>
          <p:cNvSpPr/>
          <p:nvPr/>
        </p:nvSpPr>
        <p:spPr>
          <a:xfrm>
            <a:off x="8096400" y="6806520"/>
            <a:ext cx="6190920" cy="325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950" strike="noStrike">
                <a:solidFill>
                  <a:srgbClr val="526574"/>
                </a:solidFill>
                <a:latin typeface="Verdana"/>
                <a:ea typeface="Verdana"/>
                <a:cs typeface="Verdana"/>
                <a:sym typeface="Verdana"/>
              </a:rPr>
              <a:t>Whether weights track localization error</a:t>
            </a:r>
            <a:endParaRPr b="0" sz="1950" strike="noStrike">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461" name="Shape 461"/>
        <p:cNvGrpSpPr/>
        <p:nvPr/>
      </p:nvGrpSpPr>
      <p:grpSpPr>
        <a:xfrm>
          <a:off x="0" y="0"/>
          <a:ext cx="0" cy="0"/>
          <a:chOff x="0" y="0"/>
          <a:chExt cx="0" cy="0"/>
        </a:xfrm>
      </p:grpSpPr>
      <p:cxnSp>
        <p:nvCxnSpPr>
          <p:cNvPr id="462" name="Google Shape;462;p74"/>
          <p:cNvCxnSpPr/>
          <p:nvPr/>
        </p:nvCxnSpPr>
        <p:spPr>
          <a:xfrm>
            <a:off x="11677320" y="2952720"/>
            <a:ext cx="515160" cy="360"/>
          </a:xfrm>
          <a:prstGeom prst="straightConnector1">
            <a:avLst/>
          </a:prstGeom>
          <a:noFill/>
          <a:ln cap="flat" cmpd="sng" w="19075">
            <a:solidFill>
              <a:srgbClr val="365C7D"/>
            </a:solidFill>
            <a:prstDash val="solid"/>
            <a:round/>
            <a:headEnd len="sm" w="sm" type="none"/>
            <a:tailEnd len="med" w="med" type="triangle"/>
          </a:ln>
        </p:spPr>
      </p:cxnSp>
      <p:cxnSp>
        <p:nvCxnSpPr>
          <p:cNvPr id="463" name="Google Shape;463;p74"/>
          <p:cNvCxnSpPr/>
          <p:nvPr/>
        </p:nvCxnSpPr>
        <p:spPr>
          <a:xfrm>
            <a:off x="8800920" y="2952720"/>
            <a:ext cx="514800" cy="360"/>
          </a:xfrm>
          <a:prstGeom prst="straightConnector1">
            <a:avLst/>
          </a:prstGeom>
          <a:noFill/>
          <a:ln cap="flat" cmpd="sng" w="19075">
            <a:solidFill>
              <a:srgbClr val="365C7D"/>
            </a:solidFill>
            <a:prstDash val="solid"/>
            <a:round/>
            <a:headEnd len="sm" w="sm" type="none"/>
            <a:tailEnd len="med" w="med" type="triangle"/>
          </a:ln>
        </p:spPr>
      </p:cxnSp>
      <p:cxnSp>
        <p:nvCxnSpPr>
          <p:cNvPr id="464" name="Google Shape;464;p74"/>
          <p:cNvCxnSpPr/>
          <p:nvPr/>
        </p:nvCxnSpPr>
        <p:spPr>
          <a:xfrm>
            <a:off x="5924160" y="2952720"/>
            <a:ext cx="515160" cy="360"/>
          </a:xfrm>
          <a:prstGeom prst="straightConnector1">
            <a:avLst/>
          </a:prstGeom>
          <a:noFill/>
          <a:ln cap="flat" cmpd="sng" w="19075">
            <a:solidFill>
              <a:srgbClr val="365C7D"/>
            </a:solidFill>
            <a:prstDash val="solid"/>
            <a:round/>
            <a:headEnd len="sm" w="sm" type="none"/>
            <a:tailEnd len="med" w="med" type="triangle"/>
          </a:ln>
        </p:spPr>
      </p:cxnSp>
      <p:cxnSp>
        <p:nvCxnSpPr>
          <p:cNvPr id="465" name="Google Shape;465;p74"/>
          <p:cNvCxnSpPr/>
          <p:nvPr/>
        </p:nvCxnSpPr>
        <p:spPr>
          <a:xfrm>
            <a:off x="3047760" y="2952720"/>
            <a:ext cx="514800" cy="360"/>
          </a:xfrm>
          <a:prstGeom prst="straightConnector1">
            <a:avLst/>
          </a:prstGeom>
          <a:noFill/>
          <a:ln cap="flat" cmpd="sng" w="19075">
            <a:solidFill>
              <a:srgbClr val="365C7D"/>
            </a:solidFill>
            <a:prstDash val="solid"/>
            <a:round/>
            <a:headEnd len="sm" w="sm" type="none"/>
            <a:tailEnd len="med" w="med" type="triangle"/>
          </a:ln>
        </p:spPr>
      </p:cxnSp>
      <p:sp>
        <p:nvSpPr>
          <p:cNvPr id="466" name="Google Shape;466;p74"/>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TransFusion query initialization and attention</a:t>
            </a:r>
            <a:endParaRPr b="0" sz="3450" strike="noStrike">
              <a:latin typeface="Arial"/>
              <a:ea typeface="Arial"/>
              <a:cs typeface="Arial"/>
              <a:sym typeface="Arial"/>
            </a:endParaRPr>
          </a:p>
        </p:txBody>
      </p:sp>
      <p:sp>
        <p:nvSpPr>
          <p:cNvPr id="467" name="Google Shape;467;p74"/>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Heatmap peaks initialize 200 object queries over the shared BEV</a:t>
            </a:r>
            <a:endParaRPr b="0" sz="1870" strike="noStrike">
              <a:latin typeface="Arial"/>
              <a:ea typeface="Arial"/>
              <a:cs typeface="Arial"/>
              <a:sym typeface="Arial"/>
            </a:endParaRPr>
          </a:p>
        </p:txBody>
      </p:sp>
      <p:sp>
        <p:nvSpPr>
          <p:cNvPr id="468" name="Google Shape;468;p74"/>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09</a:t>
            </a:r>
            <a:endParaRPr b="0" sz="1280" strike="noStrike">
              <a:latin typeface="Arial"/>
              <a:ea typeface="Arial"/>
              <a:cs typeface="Arial"/>
              <a:sym typeface="Arial"/>
            </a:endParaRPr>
          </a:p>
        </p:txBody>
      </p:sp>
      <p:sp>
        <p:nvSpPr>
          <p:cNvPr id="469" name="Google Shape;469;p74"/>
          <p:cNvSpPr/>
          <p:nvPr/>
        </p:nvSpPr>
        <p:spPr>
          <a:xfrm>
            <a:off x="685800" y="2238480"/>
            <a:ext cx="2361960" cy="142848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74"/>
          <p:cNvSpPr/>
          <p:nvPr/>
        </p:nvSpPr>
        <p:spPr>
          <a:xfrm>
            <a:off x="800280" y="2381400"/>
            <a:ext cx="2133360" cy="628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Shared head</a:t>
            </a:r>
            <a:endParaRPr b="0" sz="1950" strike="noStrike">
              <a:latin typeface="Arial"/>
              <a:ea typeface="Arial"/>
              <a:cs typeface="Arial"/>
              <a:sym typeface="Arial"/>
            </a:endParaRPr>
          </a:p>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BEV</a:t>
            </a:r>
            <a:endParaRPr b="0" sz="1950" strike="noStrike">
              <a:latin typeface="Arial"/>
              <a:ea typeface="Arial"/>
              <a:cs typeface="Arial"/>
              <a:sym typeface="Arial"/>
            </a:endParaRPr>
          </a:p>
        </p:txBody>
      </p:sp>
      <p:sp>
        <p:nvSpPr>
          <p:cNvPr id="471" name="Google Shape;471;p74"/>
          <p:cNvSpPr/>
          <p:nvPr/>
        </p:nvSpPr>
        <p:spPr>
          <a:xfrm>
            <a:off x="809640" y="3019320"/>
            <a:ext cx="2114280" cy="571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128 × 180 × 180</a:t>
            </a:r>
            <a:endParaRPr b="0" sz="1650" strike="noStrike">
              <a:latin typeface="Arial"/>
              <a:ea typeface="Arial"/>
              <a:cs typeface="Arial"/>
              <a:sym typeface="Arial"/>
            </a:endParaRPr>
          </a:p>
        </p:txBody>
      </p:sp>
      <p:sp>
        <p:nvSpPr>
          <p:cNvPr id="472" name="Google Shape;472;p74"/>
          <p:cNvSpPr/>
          <p:nvPr/>
        </p:nvSpPr>
        <p:spPr>
          <a:xfrm>
            <a:off x="3562200" y="2238480"/>
            <a:ext cx="2361960" cy="142848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74"/>
          <p:cNvSpPr/>
          <p:nvPr/>
        </p:nvSpPr>
        <p:spPr>
          <a:xfrm>
            <a:off x="3676680" y="2381400"/>
            <a:ext cx="2133360" cy="628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Dense</a:t>
            </a:r>
            <a:endParaRPr b="0" sz="1950" strike="noStrike">
              <a:latin typeface="Arial"/>
              <a:ea typeface="Arial"/>
              <a:cs typeface="Arial"/>
              <a:sym typeface="Arial"/>
            </a:endParaRPr>
          </a:p>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heatmap</a:t>
            </a:r>
            <a:endParaRPr b="0" sz="1950" strike="noStrike">
              <a:latin typeface="Arial"/>
              <a:ea typeface="Arial"/>
              <a:cs typeface="Arial"/>
              <a:sym typeface="Arial"/>
            </a:endParaRPr>
          </a:p>
        </p:txBody>
      </p:sp>
      <p:sp>
        <p:nvSpPr>
          <p:cNvPr id="474" name="Google Shape;474;p74"/>
          <p:cNvSpPr/>
          <p:nvPr/>
        </p:nvSpPr>
        <p:spPr>
          <a:xfrm>
            <a:off x="3686040" y="3019320"/>
            <a:ext cx="2114280" cy="571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10 classes</a:t>
            </a:r>
            <a:endParaRPr b="0" sz="1650" strike="noStrike">
              <a:latin typeface="Arial"/>
              <a:ea typeface="Arial"/>
              <a:cs typeface="Arial"/>
              <a:sym typeface="Arial"/>
            </a:endParaRPr>
          </a:p>
        </p:txBody>
      </p:sp>
      <p:sp>
        <p:nvSpPr>
          <p:cNvPr id="475" name="Google Shape;475;p74"/>
          <p:cNvSpPr/>
          <p:nvPr/>
        </p:nvSpPr>
        <p:spPr>
          <a:xfrm>
            <a:off x="6438960" y="2238480"/>
            <a:ext cx="2361960" cy="142848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74"/>
          <p:cNvSpPr/>
          <p:nvPr/>
        </p:nvSpPr>
        <p:spPr>
          <a:xfrm>
            <a:off x="6553080" y="2381400"/>
            <a:ext cx="213336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Peak selection</a:t>
            </a:r>
            <a:endParaRPr b="0" sz="1950" strike="noStrike">
              <a:latin typeface="Arial"/>
              <a:ea typeface="Arial"/>
              <a:cs typeface="Arial"/>
              <a:sym typeface="Arial"/>
            </a:endParaRPr>
          </a:p>
        </p:txBody>
      </p:sp>
      <p:sp>
        <p:nvSpPr>
          <p:cNvPr id="477" name="Google Shape;477;p74"/>
          <p:cNvSpPr/>
          <p:nvPr/>
        </p:nvSpPr>
        <p:spPr>
          <a:xfrm>
            <a:off x="6562800" y="2724120"/>
            <a:ext cx="2114280" cy="8665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200 queries + class</a:t>
            </a:r>
            <a:endParaRPr b="0" sz="1650" strike="noStrike">
              <a:latin typeface="Arial"/>
              <a:ea typeface="Arial"/>
              <a:cs typeface="Arial"/>
              <a:sym typeface="Arial"/>
            </a:endParaRPr>
          </a:p>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embedding</a:t>
            </a:r>
            <a:endParaRPr b="0" sz="1650" strike="noStrike">
              <a:latin typeface="Arial"/>
              <a:ea typeface="Arial"/>
              <a:cs typeface="Arial"/>
              <a:sym typeface="Arial"/>
            </a:endParaRPr>
          </a:p>
        </p:txBody>
      </p:sp>
      <p:sp>
        <p:nvSpPr>
          <p:cNvPr id="478" name="Google Shape;478;p74"/>
          <p:cNvSpPr/>
          <p:nvPr/>
        </p:nvSpPr>
        <p:spPr>
          <a:xfrm>
            <a:off x="9315360" y="2238480"/>
            <a:ext cx="2361960" cy="142848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74"/>
          <p:cNvSpPr/>
          <p:nvPr/>
        </p:nvSpPr>
        <p:spPr>
          <a:xfrm>
            <a:off x="9429840" y="2381400"/>
            <a:ext cx="213336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Decoder</a:t>
            </a:r>
            <a:endParaRPr b="0" sz="1950" strike="noStrike">
              <a:latin typeface="Arial"/>
              <a:ea typeface="Arial"/>
              <a:cs typeface="Arial"/>
              <a:sym typeface="Arial"/>
            </a:endParaRPr>
          </a:p>
        </p:txBody>
      </p:sp>
      <p:sp>
        <p:nvSpPr>
          <p:cNvPr id="480" name="Google Shape;480;p74"/>
          <p:cNvSpPr/>
          <p:nvPr/>
        </p:nvSpPr>
        <p:spPr>
          <a:xfrm>
            <a:off x="9439200" y="2724120"/>
            <a:ext cx="2114280" cy="8665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8 heads, BEV keys /</a:t>
            </a:r>
            <a:endParaRPr b="0" sz="1650" strike="noStrike">
              <a:latin typeface="Arial"/>
              <a:ea typeface="Arial"/>
              <a:cs typeface="Arial"/>
              <a:sym typeface="Arial"/>
            </a:endParaRPr>
          </a:p>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values</a:t>
            </a:r>
            <a:endParaRPr b="0" sz="1650" strike="noStrike">
              <a:latin typeface="Arial"/>
              <a:ea typeface="Arial"/>
              <a:cs typeface="Arial"/>
              <a:sym typeface="Arial"/>
            </a:endParaRPr>
          </a:p>
        </p:txBody>
      </p:sp>
      <p:sp>
        <p:nvSpPr>
          <p:cNvPr id="481" name="Google Shape;481;p74"/>
          <p:cNvSpPr/>
          <p:nvPr/>
        </p:nvSpPr>
        <p:spPr>
          <a:xfrm>
            <a:off x="12192120" y="2238480"/>
            <a:ext cx="2361960" cy="1428480"/>
          </a:xfrm>
          <a:prstGeom prst="rect">
            <a:avLst/>
          </a:prstGeom>
          <a:solidFill>
            <a:srgbClr val="EDF2F5"/>
          </a:solidFill>
          <a:ln cap="flat" cmpd="sng" w="13300">
            <a:solidFill>
              <a:srgbClr val="365C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74"/>
          <p:cNvSpPr/>
          <p:nvPr/>
        </p:nvSpPr>
        <p:spPr>
          <a:xfrm>
            <a:off x="12306240" y="2381400"/>
            <a:ext cx="2133360" cy="33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1950" strike="noStrike">
                <a:solidFill>
                  <a:srgbClr val="365C7D"/>
                </a:solidFill>
                <a:latin typeface="Verdana"/>
                <a:ea typeface="Verdana"/>
                <a:cs typeface="Verdana"/>
                <a:sym typeface="Verdana"/>
              </a:rPr>
              <a:t>Coarse boxes</a:t>
            </a:r>
            <a:endParaRPr b="0" sz="1950" strike="noStrike">
              <a:latin typeface="Arial"/>
              <a:ea typeface="Arial"/>
              <a:cs typeface="Arial"/>
              <a:sym typeface="Arial"/>
            </a:endParaRPr>
          </a:p>
        </p:txBody>
      </p:sp>
      <p:sp>
        <p:nvSpPr>
          <p:cNvPr id="483" name="Google Shape;483;p74"/>
          <p:cNvSpPr/>
          <p:nvPr/>
        </p:nvSpPr>
        <p:spPr>
          <a:xfrm>
            <a:off x="12315960" y="2724120"/>
            <a:ext cx="2114280" cy="8665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10 encoded</a:t>
            </a:r>
            <a:endParaRPr b="0" sz="1650" strike="noStrike">
              <a:latin typeface="Arial"/>
              <a:ea typeface="Arial"/>
              <a:cs typeface="Arial"/>
              <a:sym typeface="Arial"/>
            </a:endParaRPr>
          </a:p>
          <a:p>
            <a:pPr indent="0" lvl="0" marL="0" marR="0" rtl="0" algn="ctr">
              <a:lnSpc>
                <a:spcPct val="100000"/>
              </a:lnSpc>
              <a:spcBef>
                <a:spcPts val="0"/>
              </a:spcBef>
              <a:spcAft>
                <a:spcPts val="0"/>
              </a:spcAft>
              <a:buNone/>
            </a:pPr>
            <a:r>
              <a:rPr b="0" lang="en-US" sz="1650" strike="noStrike">
                <a:solidFill>
                  <a:srgbClr val="526574"/>
                </a:solidFill>
                <a:latin typeface="Verdana"/>
                <a:ea typeface="Verdana"/>
                <a:cs typeface="Verdana"/>
                <a:sym typeface="Verdana"/>
              </a:rPr>
              <a:t>geometry values</a:t>
            </a:r>
            <a:endParaRPr b="0" sz="1650" strike="noStrike">
              <a:latin typeface="Arial"/>
              <a:ea typeface="Arial"/>
              <a:cs typeface="Arial"/>
              <a:sym typeface="Arial"/>
            </a:endParaRPr>
          </a:p>
        </p:txBody>
      </p:sp>
      <p:sp>
        <p:nvSpPr>
          <p:cNvPr id="484" name="Google Shape;484;p74"/>
          <p:cNvSpPr/>
          <p:nvPr/>
        </p:nvSpPr>
        <p:spPr>
          <a:xfrm>
            <a:off x="685800" y="433404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620" strike="noStrike">
                <a:solidFill>
                  <a:srgbClr val="142B3E"/>
                </a:solidFill>
                <a:latin typeface="Verdana"/>
                <a:ea typeface="Verdana"/>
                <a:cs typeface="Verdana"/>
                <a:sym typeface="Verdana"/>
              </a:rPr>
              <a:t>Attn(Q,K,V) = softmax(QKᵀ / √dₖ) V</a:t>
            </a:r>
            <a:endParaRPr b="0" sz="2620" strike="noStrike">
              <a:latin typeface="Arial"/>
              <a:ea typeface="Arial"/>
              <a:cs typeface="Arial"/>
              <a:sym typeface="Arial"/>
            </a:endParaRPr>
          </a:p>
        </p:txBody>
      </p:sp>
      <p:sp>
        <p:nvSpPr>
          <p:cNvPr id="485" name="Google Shape;485;p74"/>
          <p:cNvSpPr/>
          <p:nvPr/>
        </p:nvSpPr>
        <p:spPr>
          <a:xfrm>
            <a:off x="685800" y="542916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10-class dense heatmap with local-maximum suppression</a:t>
            </a:r>
            <a:endParaRPr b="0" sz="2020" strike="noStrike">
              <a:latin typeface="Arial"/>
              <a:ea typeface="Arial"/>
              <a:cs typeface="Arial"/>
              <a:sym typeface="Arial"/>
            </a:endParaRPr>
          </a:p>
        </p:txBody>
      </p:sp>
      <p:sp>
        <p:nvSpPr>
          <p:cNvPr id="486" name="Google Shape;486;p74"/>
          <p:cNvSpPr/>
          <p:nvPr/>
        </p:nvSpPr>
        <p:spPr>
          <a:xfrm>
            <a:off x="685800" y="588060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Top 200 peaks select BEV features and class embeddings</a:t>
            </a:r>
            <a:endParaRPr b="0" sz="2020" strike="noStrike">
              <a:latin typeface="Arial"/>
              <a:ea typeface="Arial"/>
              <a:cs typeface="Arial"/>
              <a:sym typeface="Arial"/>
            </a:endParaRPr>
          </a:p>
        </p:txBody>
      </p:sp>
      <p:sp>
        <p:nvSpPr>
          <p:cNvPr id="487" name="Google Shape;487;p74"/>
          <p:cNvSpPr/>
          <p:nvPr/>
        </p:nvSpPr>
        <p:spPr>
          <a:xfrm>
            <a:off x="685800" y="633240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One decoder layer with 8 attention heads</a:t>
            </a:r>
            <a:endParaRPr b="0" sz="2020" strike="noStrike">
              <a:latin typeface="Arial"/>
              <a:ea typeface="Arial"/>
              <a:cs typeface="Arial"/>
              <a:sym typeface="Arial"/>
            </a:endParaRPr>
          </a:p>
        </p:txBody>
      </p:sp>
      <p:sp>
        <p:nvSpPr>
          <p:cNvPr id="488" name="Google Shape;488;p74"/>
          <p:cNvSpPr/>
          <p:nvPr/>
        </p:nvSpPr>
        <p:spPr>
          <a:xfrm>
            <a:off x="685800" y="678384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200 queries attend to 32,400 BEV positions</a:t>
            </a:r>
            <a:endParaRPr b="0" sz="2020" strike="noStrike">
              <a:latin typeface="Arial"/>
              <a:ea typeface="Arial"/>
              <a:cs typeface="Arial"/>
              <a:sym typeface="Arial"/>
            </a:endParaRPr>
          </a:p>
        </p:txBody>
      </p:sp>
      <p:sp>
        <p:nvSpPr>
          <p:cNvPr id="489" name="Google Shape;489;p74"/>
          <p:cNvSpPr/>
          <p:nvPr/>
        </p:nvSpPr>
        <p:spPr>
          <a:xfrm>
            <a:off x="685800" y="723528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Separate heads predict class scores and encoded boxes</a:t>
            </a:r>
            <a:endParaRPr b="0" sz="2020" strike="noStrike">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494" name="Shape 494"/>
        <p:cNvGrpSpPr/>
        <p:nvPr/>
      </p:nvGrpSpPr>
      <p:grpSpPr>
        <a:xfrm>
          <a:off x="0" y="0"/>
          <a:ext cx="0" cy="0"/>
          <a:chOff x="0" y="0"/>
          <a:chExt cx="0" cy="0"/>
        </a:xfrm>
      </p:grpSpPr>
      <p:sp>
        <p:nvSpPr>
          <p:cNvPr id="495" name="Google Shape;495;p75"/>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My local proposal-refinement branch</a:t>
            </a:r>
            <a:endParaRPr b="0" sz="3450" strike="noStrike">
              <a:latin typeface="Arial"/>
              <a:ea typeface="Arial"/>
              <a:cs typeface="Arial"/>
              <a:sym typeface="Arial"/>
            </a:endParaRPr>
          </a:p>
        </p:txBody>
      </p:sp>
      <p:sp>
        <p:nvSpPr>
          <p:cNvPr id="496" name="Google Shape;496;p75"/>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A 5 × 5 neighborhood adds local context to each coarse proposal</a:t>
            </a:r>
            <a:endParaRPr b="0" sz="1870" strike="noStrike">
              <a:latin typeface="Arial"/>
              <a:ea typeface="Arial"/>
              <a:cs typeface="Arial"/>
              <a:sym typeface="Arial"/>
            </a:endParaRPr>
          </a:p>
        </p:txBody>
      </p:sp>
      <p:sp>
        <p:nvSpPr>
          <p:cNvPr id="497" name="Google Shape;497;p75"/>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10</a:t>
            </a:r>
            <a:endParaRPr b="0" sz="1280" strike="noStrike">
              <a:latin typeface="Arial"/>
              <a:ea typeface="Arial"/>
              <a:cs typeface="Arial"/>
              <a:sym typeface="Arial"/>
            </a:endParaRPr>
          </a:p>
        </p:txBody>
      </p:sp>
      <p:sp>
        <p:nvSpPr>
          <p:cNvPr id="498" name="Google Shape;498;p75"/>
          <p:cNvSpPr/>
          <p:nvPr/>
        </p:nvSpPr>
        <p:spPr>
          <a:xfrm>
            <a:off x="1095480" y="261936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75"/>
          <p:cNvSpPr/>
          <p:nvPr/>
        </p:nvSpPr>
        <p:spPr>
          <a:xfrm>
            <a:off x="1714680" y="261936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75"/>
          <p:cNvSpPr/>
          <p:nvPr/>
        </p:nvSpPr>
        <p:spPr>
          <a:xfrm>
            <a:off x="2333520" y="261936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75"/>
          <p:cNvSpPr/>
          <p:nvPr/>
        </p:nvSpPr>
        <p:spPr>
          <a:xfrm>
            <a:off x="2952720" y="261936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75"/>
          <p:cNvSpPr/>
          <p:nvPr/>
        </p:nvSpPr>
        <p:spPr>
          <a:xfrm>
            <a:off x="3571920" y="261936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75"/>
          <p:cNvSpPr/>
          <p:nvPr/>
        </p:nvSpPr>
        <p:spPr>
          <a:xfrm>
            <a:off x="1095480" y="323856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75"/>
          <p:cNvSpPr/>
          <p:nvPr/>
        </p:nvSpPr>
        <p:spPr>
          <a:xfrm>
            <a:off x="1714680" y="323856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75"/>
          <p:cNvSpPr/>
          <p:nvPr/>
        </p:nvSpPr>
        <p:spPr>
          <a:xfrm>
            <a:off x="2333520" y="323856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75"/>
          <p:cNvSpPr/>
          <p:nvPr/>
        </p:nvSpPr>
        <p:spPr>
          <a:xfrm>
            <a:off x="2952720" y="323856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75"/>
          <p:cNvSpPr/>
          <p:nvPr/>
        </p:nvSpPr>
        <p:spPr>
          <a:xfrm>
            <a:off x="3571920" y="323856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75"/>
          <p:cNvSpPr/>
          <p:nvPr/>
        </p:nvSpPr>
        <p:spPr>
          <a:xfrm>
            <a:off x="1095480" y="385776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75"/>
          <p:cNvSpPr/>
          <p:nvPr/>
        </p:nvSpPr>
        <p:spPr>
          <a:xfrm>
            <a:off x="1714680" y="385776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75"/>
          <p:cNvSpPr/>
          <p:nvPr/>
        </p:nvSpPr>
        <p:spPr>
          <a:xfrm>
            <a:off x="2333520" y="3857760"/>
            <a:ext cx="618840" cy="618840"/>
          </a:xfrm>
          <a:prstGeom prst="rect">
            <a:avLst/>
          </a:prstGeom>
          <a:solidFill>
            <a:srgbClr val="007F83"/>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75"/>
          <p:cNvSpPr/>
          <p:nvPr/>
        </p:nvSpPr>
        <p:spPr>
          <a:xfrm>
            <a:off x="2952720" y="385776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75"/>
          <p:cNvSpPr/>
          <p:nvPr/>
        </p:nvSpPr>
        <p:spPr>
          <a:xfrm>
            <a:off x="3571920" y="385776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75"/>
          <p:cNvSpPr/>
          <p:nvPr/>
        </p:nvSpPr>
        <p:spPr>
          <a:xfrm>
            <a:off x="1095480" y="447660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75"/>
          <p:cNvSpPr/>
          <p:nvPr/>
        </p:nvSpPr>
        <p:spPr>
          <a:xfrm>
            <a:off x="1714680" y="447660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75"/>
          <p:cNvSpPr/>
          <p:nvPr/>
        </p:nvSpPr>
        <p:spPr>
          <a:xfrm>
            <a:off x="2333520" y="447660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75"/>
          <p:cNvSpPr/>
          <p:nvPr/>
        </p:nvSpPr>
        <p:spPr>
          <a:xfrm>
            <a:off x="2952720" y="447660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75"/>
          <p:cNvSpPr/>
          <p:nvPr/>
        </p:nvSpPr>
        <p:spPr>
          <a:xfrm>
            <a:off x="3571920" y="447660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75"/>
          <p:cNvSpPr/>
          <p:nvPr/>
        </p:nvSpPr>
        <p:spPr>
          <a:xfrm>
            <a:off x="1095480" y="509580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75"/>
          <p:cNvSpPr/>
          <p:nvPr/>
        </p:nvSpPr>
        <p:spPr>
          <a:xfrm>
            <a:off x="1714680" y="509580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75"/>
          <p:cNvSpPr/>
          <p:nvPr/>
        </p:nvSpPr>
        <p:spPr>
          <a:xfrm>
            <a:off x="2333520" y="509580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75"/>
          <p:cNvSpPr/>
          <p:nvPr/>
        </p:nvSpPr>
        <p:spPr>
          <a:xfrm>
            <a:off x="2952720" y="509580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75"/>
          <p:cNvSpPr/>
          <p:nvPr/>
        </p:nvSpPr>
        <p:spPr>
          <a:xfrm>
            <a:off x="3571920" y="5095800"/>
            <a:ext cx="618840" cy="618840"/>
          </a:xfrm>
          <a:prstGeom prst="rect">
            <a:avLst/>
          </a:prstGeom>
          <a:solidFill>
            <a:srgbClr val="E9EFF1"/>
          </a:solidFill>
          <a:ln cap="flat" cmpd="sng" w="284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75"/>
          <p:cNvSpPr/>
          <p:nvPr/>
        </p:nvSpPr>
        <p:spPr>
          <a:xfrm>
            <a:off x="2333520" y="4000680"/>
            <a:ext cx="618840" cy="3805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lang="en-US" sz="2250" strike="noStrike">
                <a:solidFill>
                  <a:srgbClr val="FFFFFF"/>
                </a:solidFill>
                <a:latin typeface="Verdana"/>
                <a:ea typeface="Verdana"/>
                <a:cs typeface="Verdana"/>
                <a:sym typeface="Verdana"/>
              </a:rPr>
              <a:t>c</a:t>
            </a:r>
            <a:endParaRPr b="0" sz="2250" strike="noStrike">
              <a:latin typeface="Arial"/>
              <a:ea typeface="Arial"/>
              <a:cs typeface="Arial"/>
              <a:sym typeface="Arial"/>
            </a:endParaRPr>
          </a:p>
        </p:txBody>
      </p:sp>
      <p:sp>
        <p:nvSpPr>
          <p:cNvPr id="524" name="Google Shape;524;p75"/>
          <p:cNvSpPr/>
          <p:nvPr/>
        </p:nvSpPr>
        <p:spPr>
          <a:xfrm>
            <a:off x="1095480" y="2219400"/>
            <a:ext cx="618840" cy="285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729" strike="noStrike">
                <a:solidFill>
                  <a:srgbClr val="526574"/>
                </a:solidFill>
                <a:latin typeface="Verdana"/>
                <a:ea typeface="Verdana"/>
                <a:cs typeface="Verdana"/>
                <a:sym typeface="Verdana"/>
              </a:rPr>
              <a:t>-2</a:t>
            </a:r>
            <a:endParaRPr b="0" sz="1729" strike="noStrike">
              <a:latin typeface="Arial"/>
              <a:ea typeface="Arial"/>
              <a:cs typeface="Arial"/>
              <a:sym typeface="Arial"/>
            </a:endParaRPr>
          </a:p>
        </p:txBody>
      </p:sp>
      <p:sp>
        <p:nvSpPr>
          <p:cNvPr id="525" name="Google Shape;525;p75"/>
          <p:cNvSpPr/>
          <p:nvPr/>
        </p:nvSpPr>
        <p:spPr>
          <a:xfrm>
            <a:off x="666720" y="2790720"/>
            <a:ext cx="304560" cy="28548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729" strike="noStrike">
                <a:solidFill>
                  <a:srgbClr val="526574"/>
                </a:solidFill>
                <a:latin typeface="Verdana"/>
                <a:ea typeface="Verdana"/>
                <a:cs typeface="Verdana"/>
                <a:sym typeface="Verdana"/>
              </a:rPr>
              <a:t>-2</a:t>
            </a:r>
            <a:endParaRPr b="0" sz="1729" strike="noStrike">
              <a:latin typeface="Arial"/>
              <a:ea typeface="Arial"/>
              <a:cs typeface="Arial"/>
              <a:sym typeface="Arial"/>
            </a:endParaRPr>
          </a:p>
        </p:txBody>
      </p:sp>
      <p:sp>
        <p:nvSpPr>
          <p:cNvPr id="526" name="Google Shape;526;p75"/>
          <p:cNvSpPr/>
          <p:nvPr/>
        </p:nvSpPr>
        <p:spPr>
          <a:xfrm>
            <a:off x="1714680" y="2219400"/>
            <a:ext cx="618840" cy="285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729" strike="noStrike">
                <a:solidFill>
                  <a:srgbClr val="526574"/>
                </a:solidFill>
                <a:latin typeface="Verdana"/>
                <a:ea typeface="Verdana"/>
                <a:cs typeface="Verdana"/>
                <a:sym typeface="Verdana"/>
              </a:rPr>
              <a:t>-1</a:t>
            </a:r>
            <a:endParaRPr b="0" sz="1729" strike="noStrike">
              <a:latin typeface="Arial"/>
              <a:ea typeface="Arial"/>
              <a:cs typeface="Arial"/>
              <a:sym typeface="Arial"/>
            </a:endParaRPr>
          </a:p>
        </p:txBody>
      </p:sp>
      <p:sp>
        <p:nvSpPr>
          <p:cNvPr id="527" name="Google Shape;527;p75"/>
          <p:cNvSpPr/>
          <p:nvPr/>
        </p:nvSpPr>
        <p:spPr>
          <a:xfrm>
            <a:off x="666720" y="3409920"/>
            <a:ext cx="304560" cy="28548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729" strike="noStrike">
                <a:solidFill>
                  <a:srgbClr val="526574"/>
                </a:solidFill>
                <a:latin typeface="Verdana"/>
                <a:ea typeface="Verdana"/>
                <a:cs typeface="Verdana"/>
                <a:sym typeface="Verdana"/>
              </a:rPr>
              <a:t>-1</a:t>
            </a:r>
            <a:endParaRPr b="0" sz="1729" strike="noStrike">
              <a:latin typeface="Arial"/>
              <a:ea typeface="Arial"/>
              <a:cs typeface="Arial"/>
              <a:sym typeface="Arial"/>
            </a:endParaRPr>
          </a:p>
        </p:txBody>
      </p:sp>
      <p:sp>
        <p:nvSpPr>
          <p:cNvPr id="528" name="Google Shape;528;p75"/>
          <p:cNvSpPr/>
          <p:nvPr/>
        </p:nvSpPr>
        <p:spPr>
          <a:xfrm>
            <a:off x="2333520" y="2219400"/>
            <a:ext cx="618840" cy="285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729" strike="noStrike">
                <a:solidFill>
                  <a:srgbClr val="526574"/>
                </a:solidFill>
                <a:latin typeface="Verdana"/>
                <a:ea typeface="Verdana"/>
                <a:cs typeface="Verdana"/>
                <a:sym typeface="Verdana"/>
              </a:rPr>
              <a:t>0</a:t>
            </a:r>
            <a:endParaRPr b="0" sz="1729" strike="noStrike">
              <a:latin typeface="Arial"/>
              <a:ea typeface="Arial"/>
              <a:cs typeface="Arial"/>
              <a:sym typeface="Arial"/>
            </a:endParaRPr>
          </a:p>
        </p:txBody>
      </p:sp>
      <p:sp>
        <p:nvSpPr>
          <p:cNvPr id="529" name="Google Shape;529;p75"/>
          <p:cNvSpPr/>
          <p:nvPr/>
        </p:nvSpPr>
        <p:spPr>
          <a:xfrm>
            <a:off x="666720" y="4029120"/>
            <a:ext cx="304560" cy="28548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729" strike="noStrike">
                <a:solidFill>
                  <a:srgbClr val="526574"/>
                </a:solidFill>
                <a:latin typeface="Verdana"/>
                <a:ea typeface="Verdana"/>
                <a:cs typeface="Verdana"/>
                <a:sym typeface="Verdana"/>
              </a:rPr>
              <a:t>0</a:t>
            </a:r>
            <a:endParaRPr b="0" sz="1729" strike="noStrike">
              <a:latin typeface="Arial"/>
              <a:ea typeface="Arial"/>
              <a:cs typeface="Arial"/>
              <a:sym typeface="Arial"/>
            </a:endParaRPr>
          </a:p>
        </p:txBody>
      </p:sp>
      <p:sp>
        <p:nvSpPr>
          <p:cNvPr id="530" name="Google Shape;530;p75"/>
          <p:cNvSpPr/>
          <p:nvPr/>
        </p:nvSpPr>
        <p:spPr>
          <a:xfrm>
            <a:off x="2952720" y="2219400"/>
            <a:ext cx="618840" cy="285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729" strike="noStrike">
                <a:solidFill>
                  <a:srgbClr val="526574"/>
                </a:solidFill>
                <a:latin typeface="Verdana"/>
                <a:ea typeface="Verdana"/>
                <a:cs typeface="Verdana"/>
                <a:sym typeface="Verdana"/>
              </a:rPr>
              <a:t>1</a:t>
            </a:r>
            <a:endParaRPr b="0" sz="1729" strike="noStrike">
              <a:latin typeface="Arial"/>
              <a:ea typeface="Arial"/>
              <a:cs typeface="Arial"/>
              <a:sym typeface="Arial"/>
            </a:endParaRPr>
          </a:p>
        </p:txBody>
      </p:sp>
      <p:sp>
        <p:nvSpPr>
          <p:cNvPr id="531" name="Google Shape;531;p75"/>
          <p:cNvSpPr/>
          <p:nvPr/>
        </p:nvSpPr>
        <p:spPr>
          <a:xfrm>
            <a:off x="666720" y="4648320"/>
            <a:ext cx="304560" cy="28548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729" strike="noStrike">
                <a:solidFill>
                  <a:srgbClr val="526574"/>
                </a:solidFill>
                <a:latin typeface="Verdana"/>
                <a:ea typeface="Verdana"/>
                <a:cs typeface="Verdana"/>
                <a:sym typeface="Verdana"/>
              </a:rPr>
              <a:t>1</a:t>
            </a:r>
            <a:endParaRPr b="0" sz="1729" strike="noStrike">
              <a:latin typeface="Arial"/>
              <a:ea typeface="Arial"/>
              <a:cs typeface="Arial"/>
              <a:sym typeface="Arial"/>
            </a:endParaRPr>
          </a:p>
        </p:txBody>
      </p:sp>
      <p:sp>
        <p:nvSpPr>
          <p:cNvPr id="532" name="Google Shape;532;p75"/>
          <p:cNvSpPr/>
          <p:nvPr/>
        </p:nvSpPr>
        <p:spPr>
          <a:xfrm>
            <a:off x="3571920" y="2219400"/>
            <a:ext cx="618840" cy="285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lang="en-US" sz="1729" strike="noStrike">
                <a:solidFill>
                  <a:srgbClr val="526574"/>
                </a:solidFill>
                <a:latin typeface="Verdana"/>
                <a:ea typeface="Verdana"/>
                <a:cs typeface="Verdana"/>
                <a:sym typeface="Verdana"/>
              </a:rPr>
              <a:t>2</a:t>
            </a:r>
            <a:endParaRPr b="0" sz="1729" strike="noStrike">
              <a:latin typeface="Arial"/>
              <a:ea typeface="Arial"/>
              <a:cs typeface="Arial"/>
              <a:sym typeface="Arial"/>
            </a:endParaRPr>
          </a:p>
        </p:txBody>
      </p:sp>
      <p:sp>
        <p:nvSpPr>
          <p:cNvPr id="533" name="Google Shape;533;p75"/>
          <p:cNvSpPr/>
          <p:nvPr/>
        </p:nvSpPr>
        <p:spPr>
          <a:xfrm>
            <a:off x="666720" y="5267160"/>
            <a:ext cx="304560" cy="28548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729" strike="noStrike">
                <a:solidFill>
                  <a:srgbClr val="526574"/>
                </a:solidFill>
                <a:latin typeface="Verdana"/>
                <a:ea typeface="Verdana"/>
                <a:cs typeface="Verdana"/>
                <a:sym typeface="Verdana"/>
              </a:rPr>
              <a:t>2</a:t>
            </a:r>
            <a:endParaRPr b="0" sz="1729" strike="noStrike">
              <a:latin typeface="Arial"/>
              <a:ea typeface="Arial"/>
              <a:cs typeface="Arial"/>
              <a:sym typeface="Arial"/>
            </a:endParaRPr>
          </a:p>
        </p:txBody>
      </p:sp>
      <p:sp>
        <p:nvSpPr>
          <p:cNvPr id="534" name="Google Shape;534;p75"/>
          <p:cNvSpPr/>
          <p:nvPr/>
        </p:nvSpPr>
        <p:spPr>
          <a:xfrm>
            <a:off x="4286160" y="2219400"/>
            <a:ext cx="523440" cy="33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00" strike="noStrike">
                <a:solidFill>
                  <a:srgbClr val="526574"/>
                </a:solidFill>
                <a:latin typeface="Verdana"/>
                <a:ea typeface="Verdana"/>
                <a:cs typeface="Verdana"/>
                <a:sym typeface="Verdana"/>
              </a:rPr>
              <a:t>δₓ</a:t>
            </a:r>
            <a:endParaRPr b="0" sz="1800" strike="noStrike">
              <a:latin typeface="Arial"/>
              <a:ea typeface="Arial"/>
              <a:cs typeface="Arial"/>
              <a:sym typeface="Arial"/>
            </a:endParaRPr>
          </a:p>
        </p:txBody>
      </p:sp>
      <p:sp>
        <p:nvSpPr>
          <p:cNvPr id="535" name="Google Shape;535;p75"/>
          <p:cNvSpPr/>
          <p:nvPr/>
        </p:nvSpPr>
        <p:spPr>
          <a:xfrm>
            <a:off x="600120" y="5810400"/>
            <a:ext cx="523440" cy="33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00" strike="noStrike">
                <a:solidFill>
                  <a:srgbClr val="526574"/>
                </a:solidFill>
                <a:latin typeface="Verdana"/>
                <a:ea typeface="Verdana"/>
                <a:cs typeface="Verdana"/>
                <a:sym typeface="Verdana"/>
              </a:rPr>
              <a:t>δᵧ</a:t>
            </a:r>
            <a:endParaRPr b="0" sz="1800" strike="noStrike">
              <a:latin typeface="Arial"/>
              <a:ea typeface="Arial"/>
              <a:cs typeface="Arial"/>
              <a:sym typeface="Arial"/>
            </a:endParaRPr>
          </a:p>
        </p:txBody>
      </p:sp>
      <p:sp>
        <p:nvSpPr>
          <p:cNvPr id="536" name="Google Shape;536;p75"/>
          <p:cNvSpPr/>
          <p:nvPr/>
        </p:nvSpPr>
        <p:spPr>
          <a:xfrm>
            <a:off x="1047600" y="6286680"/>
            <a:ext cx="4000320" cy="380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950" strike="noStrike">
                <a:solidFill>
                  <a:srgbClr val="007F83"/>
                </a:solidFill>
                <a:latin typeface="Verdana"/>
                <a:ea typeface="Verdana"/>
                <a:cs typeface="Verdana"/>
                <a:sym typeface="Verdana"/>
              </a:rPr>
              <a:t>Sampling schematic</a:t>
            </a:r>
            <a:endParaRPr b="0" sz="1950" strike="noStrike">
              <a:latin typeface="Arial"/>
              <a:ea typeface="Arial"/>
              <a:cs typeface="Arial"/>
              <a:sym typeface="Arial"/>
            </a:endParaRPr>
          </a:p>
        </p:txBody>
      </p:sp>
      <p:sp>
        <p:nvSpPr>
          <p:cNvPr id="537" name="Google Shape;537;p75"/>
          <p:cNvSpPr/>
          <p:nvPr/>
        </p:nvSpPr>
        <p:spPr>
          <a:xfrm>
            <a:off x="1047600" y="6800760"/>
            <a:ext cx="4190760" cy="713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00" strike="noStrike">
                <a:solidFill>
                  <a:srgbClr val="526574"/>
                </a:solidFill>
                <a:latin typeface="Verdana"/>
                <a:ea typeface="Verdana"/>
                <a:cs typeface="Verdana"/>
                <a:sym typeface="Verdana"/>
              </a:rPr>
              <a:t>25 sample centers at 0.6 m spacing</a:t>
            </a:r>
            <a:endParaRPr b="0" sz="1800" strike="noStrike">
              <a:latin typeface="Arial"/>
              <a:ea typeface="Arial"/>
              <a:cs typeface="Arial"/>
              <a:sym typeface="Arial"/>
            </a:endParaRPr>
          </a:p>
        </p:txBody>
      </p:sp>
      <p:sp>
        <p:nvSpPr>
          <p:cNvPr id="538" name="Google Shape;538;p75"/>
          <p:cNvSpPr/>
          <p:nvPr/>
        </p:nvSpPr>
        <p:spPr>
          <a:xfrm>
            <a:off x="6095880" y="2190600"/>
            <a:ext cx="842940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250" strike="noStrike">
                <a:solidFill>
                  <a:srgbClr val="142B3E"/>
                </a:solidFill>
                <a:latin typeface="Verdana"/>
                <a:ea typeface="Verdana"/>
                <a:cs typeface="Verdana"/>
                <a:sym typeface="Verdana"/>
              </a:rPr>
              <a:t>gₓ = 2(cₓ + δₓ)/(W − 1) − 1</a:t>
            </a:r>
            <a:endParaRPr b="0" sz="2250" strike="noStrike">
              <a:latin typeface="Arial"/>
              <a:ea typeface="Arial"/>
              <a:cs typeface="Arial"/>
              <a:sym typeface="Arial"/>
            </a:endParaRPr>
          </a:p>
        </p:txBody>
      </p:sp>
      <p:sp>
        <p:nvSpPr>
          <p:cNvPr id="539" name="Google Shape;539;p75"/>
          <p:cNvSpPr/>
          <p:nvPr/>
        </p:nvSpPr>
        <p:spPr>
          <a:xfrm>
            <a:off x="6095880" y="3000240"/>
            <a:ext cx="842940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250" strike="noStrike">
                <a:solidFill>
                  <a:srgbClr val="142B3E"/>
                </a:solidFill>
                <a:latin typeface="Verdana"/>
                <a:ea typeface="Verdana"/>
                <a:cs typeface="Verdana"/>
                <a:sym typeface="Verdana"/>
              </a:rPr>
              <a:t>gᵧ = 2(cᵧ + δᵧ)/(H − 1) − 1</a:t>
            </a:r>
            <a:endParaRPr b="0" sz="2250" strike="noStrike">
              <a:latin typeface="Arial"/>
              <a:ea typeface="Arial"/>
              <a:cs typeface="Arial"/>
              <a:sym typeface="Arial"/>
            </a:endParaRPr>
          </a:p>
        </p:txBody>
      </p:sp>
      <p:sp>
        <p:nvSpPr>
          <p:cNvPr id="540" name="Google Shape;540;p75"/>
          <p:cNvSpPr/>
          <p:nvPr/>
        </p:nvSpPr>
        <p:spPr>
          <a:xfrm>
            <a:off x="6095880" y="3809880"/>
            <a:ext cx="842940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250" strike="noStrike">
                <a:solidFill>
                  <a:srgbClr val="142B3E"/>
                </a:solidFill>
                <a:latin typeface="Verdana"/>
                <a:ea typeface="Verdana"/>
                <a:cs typeface="Verdana"/>
                <a:sym typeface="Verdana"/>
              </a:rPr>
              <a:t>q̄ⱼ = (1/25) Σδ bilinear(Fₕ, g(cⱼ + δ))</a:t>
            </a:r>
            <a:endParaRPr b="0" sz="2250" strike="noStrike">
              <a:latin typeface="Arial"/>
              <a:ea typeface="Arial"/>
              <a:cs typeface="Arial"/>
              <a:sym typeface="Arial"/>
            </a:endParaRPr>
          </a:p>
        </p:txBody>
      </p:sp>
      <p:sp>
        <p:nvSpPr>
          <p:cNvPr id="541" name="Google Shape;541;p75"/>
          <p:cNvSpPr/>
          <p:nvPr/>
        </p:nvSpPr>
        <p:spPr>
          <a:xfrm>
            <a:off x="6095880" y="4619520"/>
            <a:ext cx="842940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250" strike="noStrike">
                <a:solidFill>
                  <a:srgbClr val="142B3E"/>
                </a:solidFill>
                <a:latin typeface="Verdana"/>
                <a:ea typeface="Verdana"/>
                <a:cs typeface="Verdana"/>
                <a:sym typeface="Verdana"/>
              </a:rPr>
              <a:t>rⱼ = Conv1d([qⱼ, q̄ⱼ])</a:t>
            </a:r>
            <a:endParaRPr b="0" sz="2250" strike="noStrike">
              <a:latin typeface="Arial"/>
              <a:ea typeface="Arial"/>
              <a:cs typeface="Arial"/>
              <a:sym typeface="Arial"/>
            </a:endParaRPr>
          </a:p>
        </p:txBody>
      </p:sp>
      <p:sp>
        <p:nvSpPr>
          <p:cNvPr id="542" name="Google Shape;542;p75"/>
          <p:cNvSpPr/>
          <p:nvPr/>
        </p:nvSpPr>
        <p:spPr>
          <a:xfrm>
            <a:off x="6095880" y="5619600"/>
            <a:ext cx="8096040" cy="30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00" strike="noStrike">
                <a:solidFill>
                  <a:srgbClr val="526574"/>
                </a:solidFill>
                <a:latin typeface="Verdana"/>
                <a:ea typeface="Verdana"/>
                <a:cs typeface="Verdana"/>
                <a:sym typeface="Verdana"/>
              </a:rPr>
              <a:t>patch_radius = 2 gives 25 sampling locations.</a:t>
            </a:r>
            <a:endParaRPr b="0" sz="1800" strike="noStrike">
              <a:latin typeface="Arial"/>
              <a:ea typeface="Arial"/>
              <a:cs typeface="Arial"/>
              <a:sym typeface="Arial"/>
            </a:endParaRPr>
          </a:p>
        </p:txBody>
      </p:sp>
      <p:sp>
        <p:nvSpPr>
          <p:cNvPr id="543" name="Google Shape;543;p75"/>
          <p:cNvSpPr/>
          <p:nvPr/>
        </p:nvSpPr>
        <p:spPr>
          <a:xfrm>
            <a:off x="6095880" y="6036840"/>
            <a:ext cx="8096040" cy="30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00" strike="noStrike">
                <a:solidFill>
                  <a:srgbClr val="526574"/>
                </a:solidFill>
                <a:latin typeface="Verdana"/>
                <a:ea typeface="Verdana"/>
                <a:cs typeface="Verdana"/>
                <a:sym typeface="Verdana"/>
              </a:rPr>
              <a:t>grid_sample uses bilinear sampling and align_corners=True.</a:t>
            </a:r>
            <a:endParaRPr b="0" sz="1800" strike="noStrike">
              <a:latin typeface="Arial"/>
              <a:ea typeface="Arial"/>
              <a:cs typeface="Arial"/>
              <a:sym typeface="Arial"/>
            </a:endParaRPr>
          </a:p>
        </p:txBody>
      </p:sp>
      <p:sp>
        <p:nvSpPr>
          <p:cNvPr id="544" name="Google Shape;544;p75"/>
          <p:cNvSpPr/>
          <p:nvPr/>
        </p:nvSpPr>
        <p:spPr>
          <a:xfrm>
            <a:off x="6095880" y="6454080"/>
            <a:ext cx="8096040" cy="30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00" strike="noStrike">
                <a:solidFill>
                  <a:srgbClr val="526574"/>
                </a:solidFill>
                <a:latin typeface="Verdana"/>
                <a:ea typeface="Verdana"/>
                <a:cs typeface="Verdana"/>
                <a:sym typeface="Verdana"/>
              </a:rPr>
              <a:t>Patch context and query features both have 128 channels.</a:t>
            </a:r>
            <a:endParaRPr b="0" sz="1800" strike="noStrike">
              <a:latin typeface="Arial"/>
              <a:ea typeface="Arial"/>
              <a:cs typeface="Arial"/>
              <a:sym typeface="Arial"/>
            </a:endParaRPr>
          </a:p>
        </p:txBody>
      </p:sp>
      <p:sp>
        <p:nvSpPr>
          <p:cNvPr id="545" name="Google Shape;545;p75"/>
          <p:cNvSpPr/>
          <p:nvPr/>
        </p:nvSpPr>
        <p:spPr>
          <a:xfrm>
            <a:off x="6095880" y="6871320"/>
            <a:ext cx="8096040" cy="302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00" strike="noStrike">
                <a:solidFill>
                  <a:srgbClr val="526574"/>
                </a:solidFill>
                <a:latin typeface="Verdana"/>
                <a:ea typeface="Verdana"/>
                <a:cs typeface="Verdana"/>
                <a:sym typeface="Verdana"/>
              </a:rPr>
              <a:t>The patch uses a fixed BEV grid, without yaw alignment.</a:t>
            </a:r>
            <a:endParaRPr b="0" sz="1800" strike="noStrike">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550" name="Shape 550"/>
        <p:cNvGrpSpPr/>
        <p:nvPr/>
      </p:nvGrpSpPr>
      <p:grpSpPr>
        <a:xfrm>
          <a:off x="0" y="0"/>
          <a:ext cx="0" cy="0"/>
          <a:chOff x="0" y="0"/>
          <a:chExt cx="0" cy="0"/>
        </a:xfrm>
      </p:grpSpPr>
      <p:sp>
        <p:nvSpPr>
          <p:cNvPr id="551" name="Google Shape;551;p76"/>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Residuals in the encoded box space</a:t>
            </a:r>
            <a:endParaRPr b="0" sz="3450" strike="noStrike">
              <a:latin typeface="Arial"/>
              <a:ea typeface="Arial"/>
              <a:cs typeface="Arial"/>
              <a:sym typeface="Arial"/>
            </a:endParaRPr>
          </a:p>
        </p:txBody>
      </p:sp>
      <p:sp>
        <p:nvSpPr>
          <p:cNvPr id="552" name="Google Shape;552;p76"/>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The refinement branch changes geometry and velocity after coarse prediction</a:t>
            </a:r>
            <a:endParaRPr b="0" sz="1870" strike="noStrike">
              <a:latin typeface="Arial"/>
              <a:ea typeface="Arial"/>
              <a:cs typeface="Arial"/>
              <a:sym typeface="Arial"/>
            </a:endParaRPr>
          </a:p>
        </p:txBody>
      </p:sp>
      <p:sp>
        <p:nvSpPr>
          <p:cNvPr id="553" name="Google Shape;553;p76"/>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11</a:t>
            </a:r>
            <a:endParaRPr b="0" sz="1280" strike="noStrike">
              <a:latin typeface="Arial"/>
              <a:ea typeface="Arial"/>
              <a:cs typeface="Arial"/>
              <a:sym typeface="Arial"/>
            </a:endParaRPr>
          </a:p>
        </p:txBody>
      </p:sp>
      <p:sp>
        <p:nvSpPr>
          <p:cNvPr id="554" name="Google Shape;554;p76"/>
          <p:cNvSpPr/>
          <p:nvPr/>
        </p:nvSpPr>
        <p:spPr>
          <a:xfrm>
            <a:off x="685800" y="214308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70" strike="noStrike">
                <a:solidFill>
                  <a:srgbClr val="142B3E"/>
                </a:solidFill>
                <a:latin typeface="Verdana"/>
                <a:ea typeface="Verdana"/>
                <a:cs typeface="Verdana"/>
                <a:sym typeface="Verdana"/>
              </a:rPr>
              <a:t>b = [cₓ, cᵧ, z, log dₓ, log dᵧ, log d_z, sin θ, cos θ, vₓ, vᵧ]</a:t>
            </a:r>
            <a:endParaRPr b="0" sz="2170" strike="noStrike">
              <a:latin typeface="Arial"/>
              <a:ea typeface="Arial"/>
              <a:cs typeface="Arial"/>
              <a:sym typeface="Arial"/>
            </a:endParaRPr>
          </a:p>
        </p:txBody>
      </p:sp>
      <p:sp>
        <p:nvSpPr>
          <p:cNvPr id="555" name="Google Shape;555;p76"/>
          <p:cNvSpPr/>
          <p:nvPr/>
        </p:nvSpPr>
        <p:spPr>
          <a:xfrm>
            <a:off x="685800" y="319104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3000" strike="noStrike">
                <a:solidFill>
                  <a:srgbClr val="007F83"/>
                </a:solidFill>
                <a:latin typeface="Verdana"/>
                <a:ea typeface="Verdana"/>
                <a:cs typeface="Verdana"/>
                <a:sym typeface="Verdana"/>
              </a:rPr>
              <a:t>b′ = b + α Δb</a:t>
            </a:r>
            <a:endParaRPr b="0" sz="3000" strike="noStrike">
              <a:latin typeface="Arial"/>
              <a:ea typeface="Arial"/>
              <a:cs typeface="Arial"/>
              <a:sym typeface="Arial"/>
            </a:endParaRPr>
          </a:p>
        </p:txBody>
      </p:sp>
      <p:sp>
        <p:nvSpPr>
          <p:cNvPr id="556" name="Google Shape;556;p76"/>
          <p:cNvSpPr/>
          <p:nvPr/>
        </p:nvSpPr>
        <p:spPr>
          <a:xfrm>
            <a:off x="685800" y="423864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550" strike="noStrike">
                <a:solidFill>
                  <a:srgbClr val="142B3E"/>
                </a:solidFill>
                <a:latin typeface="Verdana"/>
                <a:ea typeface="Verdana"/>
                <a:cs typeface="Verdana"/>
                <a:sym typeface="Verdana"/>
              </a:rPr>
              <a:t>x = 0.6 cₓ − 54,     y = 0.6 cᵧ − 54</a:t>
            </a:r>
            <a:endParaRPr b="0" sz="2550" strike="noStrike">
              <a:latin typeface="Arial"/>
              <a:ea typeface="Arial"/>
              <a:cs typeface="Arial"/>
              <a:sym typeface="Arial"/>
            </a:endParaRPr>
          </a:p>
        </p:txBody>
      </p:sp>
      <p:sp>
        <p:nvSpPr>
          <p:cNvPr id="557" name="Google Shape;557;p76"/>
          <p:cNvSpPr/>
          <p:nvPr/>
        </p:nvSpPr>
        <p:spPr>
          <a:xfrm>
            <a:off x="685800" y="509580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550" strike="noStrike">
                <a:solidFill>
                  <a:srgbClr val="142B3E"/>
                </a:solidFill>
                <a:latin typeface="Verdana"/>
                <a:ea typeface="Verdana"/>
                <a:cs typeface="Verdana"/>
                <a:sym typeface="Verdana"/>
              </a:rPr>
              <a:t>d′ = d · exp(α Δlog d),     θ′ = atan2(s′, c′)</a:t>
            </a:r>
            <a:endParaRPr b="0" sz="2550" strike="noStrike">
              <a:latin typeface="Arial"/>
              <a:ea typeface="Arial"/>
              <a:cs typeface="Arial"/>
              <a:sym typeface="Arial"/>
            </a:endParaRPr>
          </a:p>
        </p:txBody>
      </p:sp>
      <p:sp>
        <p:nvSpPr>
          <p:cNvPr id="558" name="Google Shape;558;p76"/>
          <p:cNvSpPr/>
          <p:nvPr/>
        </p:nvSpPr>
        <p:spPr>
          <a:xfrm>
            <a:off x="685800" y="623880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α is refine_weight, configured to 1.0.</a:t>
            </a:r>
            <a:endParaRPr b="0" sz="2020" strike="noStrike">
              <a:latin typeface="Arial"/>
              <a:ea typeface="Arial"/>
              <a:cs typeface="Arial"/>
              <a:sym typeface="Arial"/>
            </a:endParaRPr>
          </a:p>
        </p:txBody>
      </p:sp>
      <p:sp>
        <p:nvSpPr>
          <p:cNvPr id="559" name="Google Shape;559;p76"/>
          <p:cNvSpPr/>
          <p:nvPr/>
        </p:nvSpPr>
        <p:spPr>
          <a:xfrm>
            <a:off x="685800" y="666180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Center residuals use feature coordinates.</a:t>
            </a:r>
            <a:endParaRPr b="0" sz="2020" strike="noStrike">
              <a:latin typeface="Arial"/>
              <a:ea typeface="Arial"/>
              <a:cs typeface="Arial"/>
              <a:sym typeface="Arial"/>
            </a:endParaRPr>
          </a:p>
        </p:txBody>
      </p:sp>
      <p:sp>
        <p:nvSpPr>
          <p:cNvPr id="560" name="Google Shape;560;p76"/>
          <p:cNvSpPr/>
          <p:nvPr/>
        </p:nvSpPr>
        <p:spPr>
          <a:xfrm>
            <a:off x="685800" y="708480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Dimension residuals operate on log sizes.</a:t>
            </a:r>
            <a:endParaRPr b="0" sz="2020" strike="noStrike">
              <a:latin typeface="Arial"/>
              <a:ea typeface="Arial"/>
              <a:cs typeface="Arial"/>
              <a:sym typeface="Arial"/>
            </a:endParaRPr>
          </a:p>
        </p:txBody>
      </p:sp>
      <p:sp>
        <p:nvSpPr>
          <p:cNvPr id="561" name="Google Shape;561;p76"/>
          <p:cNvSpPr/>
          <p:nvPr/>
        </p:nvSpPr>
        <p:spPr>
          <a:xfrm>
            <a:off x="685800" y="750744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The refinement branch has no separate classification residual.</a:t>
            </a:r>
            <a:endParaRPr b="0" sz="2020" strike="noStrike">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566" name="Shape 566"/>
        <p:cNvGrpSpPr/>
        <p:nvPr/>
      </p:nvGrpSpPr>
      <p:grpSpPr>
        <a:xfrm>
          <a:off x="0" y="0"/>
          <a:ext cx="0" cy="0"/>
          <a:chOff x="0" y="0"/>
          <a:chExt cx="0" cy="0"/>
        </a:xfrm>
      </p:grpSpPr>
      <p:sp>
        <p:nvSpPr>
          <p:cNvPr id="567" name="Google Shape;567;p77"/>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Training objective and gradient flow</a:t>
            </a:r>
            <a:endParaRPr b="0" sz="3450" strike="noStrike">
              <a:latin typeface="Arial"/>
              <a:ea typeface="Arial"/>
              <a:cs typeface="Arial"/>
              <a:sym typeface="Arial"/>
            </a:endParaRPr>
          </a:p>
        </p:txBody>
      </p:sp>
      <p:sp>
        <p:nvSpPr>
          <p:cNvPr id="568" name="Google Shape;568;p77"/>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The new modules train through the inherited detection objective</a:t>
            </a:r>
            <a:endParaRPr b="0" sz="1870" strike="noStrike">
              <a:latin typeface="Arial"/>
              <a:ea typeface="Arial"/>
              <a:cs typeface="Arial"/>
              <a:sym typeface="Arial"/>
            </a:endParaRPr>
          </a:p>
        </p:txBody>
      </p:sp>
      <p:sp>
        <p:nvSpPr>
          <p:cNvPr id="569" name="Google Shape;569;p77"/>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12</a:t>
            </a:r>
            <a:endParaRPr b="0" sz="1280" strike="noStrike">
              <a:latin typeface="Arial"/>
              <a:ea typeface="Arial"/>
              <a:cs typeface="Arial"/>
              <a:sym typeface="Arial"/>
            </a:endParaRPr>
          </a:p>
        </p:txBody>
      </p:sp>
      <p:sp>
        <p:nvSpPr>
          <p:cNvPr id="570" name="Google Shape;570;p77"/>
          <p:cNvSpPr/>
          <p:nvPr/>
        </p:nvSpPr>
        <p:spPr>
          <a:xfrm>
            <a:off x="685800" y="214308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L = Lₕ + Lₛ + 0.25 Lᵣ</a:t>
            </a:r>
            <a:endParaRPr b="0" sz="2470" strike="noStrike">
              <a:latin typeface="Arial"/>
              <a:ea typeface="Arial"/>
              <a:cs typeface="Arial"/>
              <a:sym typeface="Arial"/>
            </a:endParaRPr>
          </a:p>
        </p:txBody>
      </p:sp>
      <p:sp>
        <p:nvSpPr>
          <p:cNvPr id="571" name="Google Shape;571;p77"/>
          <p:cNvSpPr/>
          <p:nvPr/>
        </p:nvSpPr>
        <p:spPr>
          <a:xfrm>
            <a:off x="685800" y="289548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Lᵣ = (1/N₊) Σⱼ,ₖ wₖ |bⱼₖ − b*ⱼₖ|</a:t>
            </a:r>
            <a:endParaRPr b="0" sz="2470" strike="noStrike">
              <a:latin typeface="Arial"/>
              <a:ea typeface="Arial"/>
              <a:cs typeface="Arial"/>
              <a:sym typeface="Arial"/>
            </a:endParaRPr>
          </a:p>
        </p:txBody>
      </p:sp>
      <p:sp>
        <p:nvSpPr>
          <p:cNvPr id="572" name="Google Shape;572;p77"/>
          <p:cNvSpPr/>
          <p:nvPr/>
        </p:nvSpPr>
        <p:spPr>
          <a:xfrm>
            <a:off x="685800" y="364824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w = [1,1,1,1,1,1,1,1,0.2,0.2]</a:t>
            </a:r>
            <a:endParaRPr b="0" sz="2470" strike="noStrike">
              <a:latin typeface="Arial"/>
              <a:ea typeface="Arial"/>
              <a:cs typeface="Arial"/>
              <a:sym typeface="Arial"/>
            </a:endParaRPr>
          </a:p>
        </p:txBody>
      </p:sp>
      <p:sp>
        <p:nvSpPr>
          <p:cNvPr id="573" name="Google Shape;573;p77"/>
          <p:cNvSpPr/>
          <p:nvPr/>
        </p:nvSpPr>
        <p:spPr>
          <a:xfrm>
            <a:off x="685800" y="440064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C = 0.15 Cₛ + 0.25 Cₓᵧ + 0.25 Cᵢₒᵤ</a:t>
            </a:r>
            <a:endParaRPr b="0" sz="2470" strike="noStrike">
              <a:latin typeface="Arial"/>
              <a:ea typeface="Arial"/>
              <a:cs typeface="Arial"/>
              <a:sym typeface="Arial"/>
            </a:endParaRPr>
          </a:p>
        </p:txBody>
      </p:sp>
      <p:sp>
        <p:nvSpPr>
          <p:cNvPr id="574" name="Google Shape;574;p77"/>
          <p:cNvSpPr/>
          <p:nvPr/>
        </p:nvSpPr>
        <p:spPr>
          <a:xfrm>
            <a:off x="685800" y="552456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Lₕ: Gaussian focal loss for the dense center heatmap.</a:t>
            </a:r>
            <a:endParaRPr b="0" sz="2020" strike="noStrike">
              <a:latin typeface="Arial"/>
              <a:ea typeface="Arial"/>
              <a:cs typeface="Arial"/>
              <a:sym typeface="Arial"/>
            </a:endParaRPr>
          </a:p>
        </p:txBody>
      </p:sp>
      <p:sp>
        <p:nvSpPr>
          <p:cNvPr id="575" name="Google Shape;575;p77"/>
          <p:cNvSpPr/>
          <p:nvPr/>
        </p:nvSpPr>
        <p:spPr>
          <a:xfrm>
            <a:off x="685800" y="599508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Lₛ: sigmoid focal loss for proposal classification.</a:t>
            </a:r>
            <a:endParaRPr b="0" sz="2020" strike="noStrike">
              <a:latin typeface="Arial"/>
              <a:ea typeface="Arial"/>
              <a:cs typeface="Arial"/>
              <a:sym typeface="Arial"/>
            </a:endParaRPr>
          </a:p>
        </p:txBody>
      </p:sp>
      <p:sp>
        <p:nvSpPr>
          <p:cNvPr id="576" name="Google Shape;576;p77"/>
          <p:cNvSpPr/>
          <p:nvPr/>
        </p:nvSpPr>
        <p:spPr>
          <a:xfrm>
            <a:off x="685800" y="646560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Lᵣ: weighted L1 on the final encoded box.</a:t>
            </a:r>
            <a:endParaRPr b="0" sz="2020" strike="noStrike">
              <a:latin typeface="Arial"/>
              <a:ea typeface="Arial"/>
              <a:cs typeface="Arial"/>
              <a:sym typeface="Arial"/>
            </a:endParaRPr>
          </a:p>
        </p:txBody>
      </p:sp>
      <p:sp>
        <p:nvSpPr>
          <p:cNvPr id="577" name="Google Shape;577;p77"/>
          <p:cNvSpPr/>
          <p:nvPr/>
        </p:nvSpPr>
        <p:spPr>
          <a:xfrm>
            <a:off x="685800" y="693612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Hungarian assignment uses IoU as a matching cost.</a:t>
            </a:r>
            <a:endParaRPr b="0" sz="2020" strike="noStrike">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582" name="Shape 582"/>
        <p:cNvGrpSpPr/>
        <p:nvPr/>
      </p:nvGrpSpPr>
      <p:grpSpPr>
        <a:xfrm>
          <a:off x="0" y="0"/>
          <a:ext cx="0" cy="0"/>
          <a:chOff x="0" y="0"/>
          <a:chExt cx="0" cy="0"/>
        </a:xfrm>
      </p:grpSpPr>
      <p:sp>
        <p:nvSpPr>
          <p:cNvPr id="583" name="Google Shape;583;p78"/>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The configured training experiment</a:t>
            </a:r>
            <a:endParaRPr b="0" sz="3450" strike="noStrike">
              <a:latin typeface="Arial"/>
              <a:ea typeface="Arial"/>
              <a:cs typeface="Arial"/>
              <a:sym typeface="Arial"/>
            </a:endParaRPr>
          </a:p>
        </p:txBody>
      </p:sp>
      <p:sp>
        <p:nvSpPr>
          <p:cNvPr id="584" name="Google Shape;584;p78"/>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A short development budget on the mini split</a:t>
            </a:r>
            <a:endParaRPr b="0" sz="1870" strike="noStrike">
              <a:latin typeface="Arial"/>
              <a:ea typeface="Arial"/>
              <a:cs typeface="Arial"/>
              <a:sym typeface="Arial"/>
            </a:endParaRPr>
          </a:p>
        </p:txBody>
      </p:sp>
      <p:sp>
        <p:nvSpPr>
          <p:cNvPr id="585" name="Google Shape;585;p78"/>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13</a:t>
            </a:r>
            <a:endParaRPr b="0" sz="1280" strike="noStrike">
              <a:latin typeface="Arial"/>
              <a:ea typeface="Arial"/>
              <a:cs typeface="Arial"/>
              <a:sym typeface="Arial"/>
            </a:endParaRPr>
          </a:p>
        </p:txBody>
      </p:sp>
      <p:graphicFrame>
        <p:nvGraphicFramePr>
          <p:cNvPr id="586" name="Google Shape;586;p78"/>
          <p:cNvGraphicFramePr/>
          <p:nvPr/>
        </p:nvGraphicFramePr>
        <p:xfrm>
          <a:off x="685800" y="2095560"/>
          <a:ext cx="3000000" cy="3000000"/>
        </p:xfrm>
        <a:graphic>
          <a:graphicData uri="http://schemas.openxmlformats.org/drawingml/2006/table">
            <a:tbl>
              <a:tblPr>
                <a:noFill/>
                <a:tableStyleId>{95E7CD04-70E1-4013-8DFE-BD906A8056AE}</a:tableStyleId>
              </a:tblPr>
              <a:tblGrid>
                <a:gridCol w="3744350"/>
                <a:gridCol w="5131075"/>
                <a:gridCol w="4992475"/>
              </a:tblGrid>
              <a:tr h="734750">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Setting</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Configured value</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Technical consideration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Data</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nuScenes mini, official 8/2 scene split</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Rapid integration and small-data checks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Duration</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6 epochs, validation each epoch</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The effective config overrides the 20e filename</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Batch and optimizer</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1 per GPU, AdamW, LR 2 × 10⁻⁴, WD 0.01</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Optimization and normalization sensitivity</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Schedule</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500-iteration warm-up plus six-epoch cosine LR</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Warm-up length relative to total updates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Numerical settings</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AMP requested by CLI, gradient norm cap 35</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Heatmap computation explicitly runs in FP32</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Initialization</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Swin pretraining; optional fuser checkpoint warm-start</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New refinement weights initialize separately</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r>
            </a:tbl>
          </a:graphicData>
        </a:graphic>
      </p:graphicFrame>
      <p:sp>
        <p:nvSpPr>
          <p:cNvPr id="587" name="Google Shape;587;p78"/>
          <p:cNvSpPr/>
          <p:nvPr/>
        </p:nvSpPr>
        <p:spPr>
          <a:xfrm>
            <a:off x="685800" y="7496280"/>
            <a:ext cx="13867920" cy="552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650" strike="noStrike">
                <a:solidFill>
                  <a:srgbClr val="526574"/>
                </a:solidFill>
                <a:latin typeface="Verdana"/>
                <a:ea typeface="Verdana"/>
                <a:cs typeface="Verdana"/>
                <a:sym typeface="Verdana"/>
              </a:rPr>
              <a:t>Values follow the supplied config chain. The original resolved run configurations are not archived.</a:t>
            </a:r>
            <a:endParaRPr b="0" sz="1650" strike="noStrike">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592" name="Shape 592"/>
        <p:cNvGrpSpPr/>
        <p:nvPr/>
      </p:nvGrpSpPr>
      <p:grpSpPr>
        <a:xfrm>
          <a:off x="0" y="0"/>
          <a:ext cx="0" cy="0"/>
          <a:chOff x="0" y="0"/>
          <a:chExt cx="0" cy="0"/>
        </a:xfrm>
      </p:grpSpPr>
      <p:sp>
        <p:nvSpPr>
          <p:cNvPr id="593" name="Google Shape;593;p79"/>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nuScenes evaluation</a:t>
            </a:r>
            <a:endParaRPr b="0" sz="3450" strike="noStrike">
              <a:latin typeface="Arial"/>
              <a:ea typeface="Arial"/>
              <a:cs typeface="Arial"/>
              <a:sym typeface="Arial"/>
            </a:endParaRPr>
          </a:p>
        </p:txBody>
      </p:sp>
      <p:sp>
        <p:nvSpPr>
          <p:cNvPr id="594" name="Google Shape;594;p79"/>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Center-distance AP and true-positive errors answer different questions</a:t>
            </a:r>
            <a:endParaRPr b="0" sz="1870" strike="noStrike">
              <a:latin typeface="Arial"/>
              <a:ea typeface="Arial"/>
              <a:cs typeface="Arial"/>
              <a:sym typeface="Arial"/>
            </a:endParaRPr>
          </a:p>
        </p:txBody>
      </p:sp>
      <p:sp>
        <p:nvSpPr>
          <p:cNvPr id="595" name="Google Shape;595;p79"/>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14</a:t>
            </a:r>
            <a:endParaRPr b="0" sz="1280" strike="noStrike">
              <a:latin typeface="Arial"/>
              <a:ea typeface="Arial"/>
              <a:cs typeface="Arial"/>
              <a:sym typeface="Arial"/>
            </a:endParaRPr>
          </a:p>
        </p:txBody>
      </p:sp>
      <p:sp>
        <p:nvSpPr>
          <p:cNvPr id="596" name="Google Shape;596;p79"/>
          <p:cNvSpPr/>
          <p:nvPr/>
        </p:nvSpPr>
        <p:spPr>
          <a:xfrm>
            <a:off x="685800" y="204804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mAP = mean over 10 classes and d ∈ {0.5, 1, 2, 4} m</a:t>
            </a:r>
            <a:endParaRPr b="0" sz="2470" strike="noStrike">
              <a:latin typeface="Arial"/>
              <a:ea typeface="Arial"/>
              <a:cs typeface="Arial"/>
              <a:sym typeface="Arial"/>
            </a:endParaRPr>
          </a:p>
        </p:txBody>
      </p:sp>
      <p:sp>
        <p:nvSpPr>
          <p:cNvPr id="597" name="Google Shape;597;p79"/>
          <p:cNvSpPr/>
          <p:nvPr/>
        </p:nvSpPr>
        <p:spPr>
          <a:xfrm>
            <a:off x="685800" y="285768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NDS = [5 mAP + Σₑ max(0, 1 − mTPₑ)] / 10</a:t>
            </a:r>
            <a:endParaRPr b="0" sz="2470" strike="noStrike">
              <a:latin typeface="Arial"/>
              <a:ea typeface="Arial"/>
              <a:cs typeface="Arial"/>
              <a:sym typeface="Arial"/>
            </a:endParaRPr>
          </a:p>
        </p:txBody>
      </p:sp>
      <p:graphicFrame>
        <p:nvGraphicFramePr>
          <p:cNvPr id="598" name="Google Shape;598;p79"/>
          <p:cNvGraphicFramePr/>
          <p:nvPr/>
        </p:nvGraphicFramePr>
        <p:xfrm>
          <a:off x="685800" y="4048200"/>
          <a:ext cx="3000000" cy="3000000"/>
        </p:xfrm>
        <a:graphic>
          <a:graphicData uri="http://schemas.openxmlformats.org/drawingml/2006/table">
            <a:tbl>
              <a:tblPr>
                <a:noFill/>
                <a:tableStyleId>{95E7CD04-70E1-4013-8DFE-BD906A8056AE}</a:tableStyleId>
              </a:tblPr>
              <a:tblGrid>
                <a:gridCol w="2773450"/>
                <a:gridCol w="6933950"/>
                <a:gridCol w="4160525"/>
              </a:tblGrid>
              <a:tr h="579250">
                <a:tc>
                  <a:txBody>
                    <a:bodyPr/>
                    <a:lstStyle/>
                    <a:p>
                      <a:pPr indent="0" lvl="0" marL="0" marR="0" rtl="0" algn="l">
                        <a:lnSpc>
                          <a:spcPct val="100000"/>
                        </a:lnSpc>
                        <a:spcBef>
                          <a:spcPts val="0"/>
                        </a:spcBef>
                        <a:spcAft>
                          <a:spcPts val="0"/>
                        </a:spcAft>
                        <a:buNone/>
                      </a:pPr>
                      <a:r>
                        <a:rPr b="1" lang="en-US" sz="1870" u="none" cap="none" strike="noStrike">
                          <a:solidFill>
                            <a:srgbClr val="FFFFFF"/>
                          </a:solidFill>
                          <a:latin typeface="Verdana"/>
                          <a:ea typeface="Verdana"/>
                          <a:cs typeface="Verdana"/>
                          <a:sym typeface="Verdana"/>
                        </a:rPr>
                        <a:t>Metric</a:t>
                      </a:r>
                      <a:endParaRPr b="0" sz="187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70" u="none" cap="none" strike="noStrike">
                          <a:solidFill>
                            <a:srgbClr val="FFFFFF"/>
                          </a:solidFill>
                          <a:latin typeface="Verdana"/>
                          <a:ea typeface="Verdana"/>
                          <a:cs typeface="Verdana"/>
                          <a:sym typeface="Verdana"/>
                        </a:rPr>
                        <a:t>Measures</a:t>
                      </a:r>
                      <a:endParaRPr b="0" sz="187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70" u="none" cap="none" strike="noStrike">
                          <a:solidFill>
                            <a:srgbClr val="FFFFFF"/>
                          </a:solidFill>
                          <a:latin typeface="Verdana"/>
                          <a:ea typeface="Verdana"/>
                          <a:cs typeface="Verdana"/>
                          <a:sym typeface="Verdana"/>
                        </a:rPr>
                        <a:t>Unit / direction</a:t>
                      </a:r>
                      <a:endParaRPr b="0" sz="187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r>
              <a:tr h="579250">
                <a:tc>
                  <a:txBody>
                    <a:bodyPr/>
                    <a:lstStyle/>
                    <a:p>
                      <a:pPr indent="0" lvl="0" marL="0" marR="0" rtl="0" algn="l">
                        <a:lnSpc>
                          <a:spcPct val="100000"/>
                        </a:lnSpc>
                        <a:spcBef>
                          <a:spcPts val="0"/>
                        </a:spcBef>
                        <a:spcAft>
                          <a:spcPts val="0"/>
                        </a:spcAft>
                        <a:buNone/>
                      </a:pPr>
                      <a:r>
                        <a:rPr b="0" lang="en-US" sz="1870" u="none" cap="none" strike="noStrike">
                          <a:solidFill>
                            <a:srgbClr val="142B3E"/>
                          </a:solidFill>
                          <a:latin typeface="Verdana"/>
                          <a:ea typeface="Verdana"/>
                          <a:cs typeface="Verdana"/>
                          <a:sym typeface="Verdana"/>
                        </a:rPr>
                        <a:t>mATE</a:t>
                      </a:r>
                      <a:endParaRPr b="0" sz="187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70" u="none" cap="none" strike="noStrike">
                          <a:solidFill>
                            <a:srgbClr val="142B3E"/>
                          </a:solidFill>
                          <a:latin typeface="Verdana"/>
                          <a:ea typeface="Verdana"/>
                          <a:cs typeface="Verdana"/>
                          <a:sym typeface="Verdana"/>
                        </a:rPr>
                        <a:t>Translation error</a:t>
                      </a:r>
                      <a:endParaRPr b="0" sz="187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70" u="none" cap="none" strike="noStrike">
                          <a:solidFill>
                            <a:srgbClr val="142B3E"/>
                          </a:solidFill>
                          <a:latin typeface="Verdana"/>
                          <a:ea typeface="Verdana"/>
                          <a:cs typeface="Verdana"/>
                          <a:sym typeface="Verdana"/>
                        </a:rPr>
                        <a:t>meters, lower</a:t>
                      </a:r>
                      <a:endParaRPr b="0" sz="187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579250">
                <a:tc>
                  <a:txBody>
                    <a:bodyPr/>
                    <a:lstStyle/>
                    <a:p>
                      <a:pPr indent="0" lvl="0" marL="0" marR="0" rtl="0" algn="l">
                        <a:lnSpc>
                          <a:spcPct val="100000"/>
                        </a:lnSpc>
                        <a:spcBef>
                          <a:spcPts val="0"/>
                        </a:spcBef>
                        <a:spcAft>
                          <a:spcPts val="0"/>
                        </a:spcAft>
                        <a:buNone/>
                      </a:pPr>
                      <a:r>
                        <a:rPr b="0" lang="en-US" sz="1870" u="none" cap="none" strike="noStrike">
                          <a:solidFill>
                            <a:srgbClr val="142B3E"/>
                          </a:solidFill>
                          <a:latin typeface="Verdana"/>
                          <a:ea typeface="Verdana"/>
                          <a:cs typeface="Verdana"/>
                          <a:sym typeface="Verdana"/>
                        </a:rPr>
                        <a:t>mASE</a:t>
                      </a:r>
                      <a:endParaRPr b="0" sz="187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70" u="none" cap="none" strike="noStrike">
                          <a:solidFill>
                            <a:srgbClr val="142B3E"/>
                          </a:solidFill>
                          <a:latin typeface="Verdana"/>
                          <a:ea typeface="Verdana"/>
                          <a:cs typeface="Verdana"/>
                          <a:sym typeface="Verdana"/>
                        </a:rPr>
                        <a:t>Scale error after center/yaw alignment</a:t>
                      </a:r>
                      <a:endParaRPr b="0" sz="187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70" u="none" cap="none" strike="noStrike">
                          <a:solidFill>
                            <a:srgbClr val="142B3E"/>
                          </a:solidFill>
                          <a:latin typeface="Verdana"/>
                          <a:ea typeface="Verdana"/>
                          <a:cs typeface="Verdana"/>
                          <a:sym typeface="Verdana"/>
                        </a:rPr>
                        <a:t>1 − IoU, lower</a:t>
                      </a:r>
                      <a:endParaRPr b="0" sz="187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579250">
                <a:tc>
                  <a:txBody>
                    <a:bodyPr/>
                    <a:lstStyle/>
                    <a:p>
                      <a:pPr indent="0" lvl="0" marL="0" marR="0" rtl="0" algn="l">
                        <a:lnSpc>
                          <a:spcPct val="100000"/>
                        </a:lnSpc>
                        <a:spcBef>
                          <a:spcPts val="0"/>
                        </a:spcBef>
                        <a:spcAft>
                          <a:spcPts val="0"/>
                        </a:spcAft>
                        <a:buNone/>
                      </a:pPr>
                      <a:r>
                        <a:rPr b="0" lang="en-US" sz="1870" u="none" cap="none" strike="noStrike">
                          <a:solidFill>
                            <a:srgbClr val="142B3E"/>
                          </a:solidFill>
                          <a:latin typeface="Verdana"/>
                          <a:ea typeface="Verdana"/>
                          <a:cs typeface="Verdana"/>
                          <a:sym typeface="Verdana"/>
                        </a:rPr>
                        <a:t>mAOE</a:t>
                      </a:r>
                      <a:endParaRPr b="0" sz="187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70" u="none" cap="none" strike="noStrike">
                          <a:solidFill>
                            <a:srgbClr val="142B3E"/>
                          </a:solidFill>
                          <a:latin typeface="Verdana"/>
                          <a:ea typeface="Verdana"/>
                          <a:cs typeface="Verdana"/>
                          <a:sym typeface="Verdana"/>
                        </a:rPr>
                        <a:t>Orientation error</a:t>
                      </a:r>
                      <a:endParaRPr b="0" sz="187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70" u="none" cap="none" strike="noStrike">
                          <a:solidFill>
                            <a:srgbClr val="142B3E"/>
                          </a:solidFill>
                          <a:latin typeface="Verdana"/>
                          <a:ea typeface="Verdana"/>
                          <a:cs typeface="Verdana"/>
                          <a:sym typeface="Verdana"/>
                        </a:rPr>
                        <a:t>radians, lower</a:t>
                      </a:r>
                      <a:endParaRPr b="0" sz="187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579250">
                <a:tc>
                  <a:txBody>
                    <a:bodyPr/>
                    <a:lstStyle/>
                    <a:p>
                      <a:pPr indent="0" lvl="0" marL="0" marR="0" rtl="0" algn="l">
                        <a:lnSpc>
                          <a:spcPct val="100000"/>
                        </a:lnSpc>
                        <a:spcBef>
                          <a:spcPts val="0"/>
                        </a:spcBef>
                        <a:spcAft>
                          <a:spcPts val="0"/>
                        </a:spcAft>
                        <a:buNone/>
                      </a:pPr>
                      <a:r>
                        <a:rPr b="0" lang="en-US" sz="1870" u="none" cap="none" strike="noStrike">
                          <a:solidFill>
                            <a:srgbClr val="142B3E"/>
                          </a:solidFill>
                          <a:latin typeface="Verdana"/>
                          <a:ea typeface="Verdana"/>
                          <a:cs typeface="Verdana"/>
                          <a:sym typeface="Verdana"/>
                        </a:rPr>
                        <a:t>mAVE</a:t>
                      </a:r>
                      <a:endParaRPr b="0" sz="187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70" u="none" cap="none" strike="noStrike">
                          <a:solidFill>
                            <a:srgbClr val="142B3E"/>
                          </a:solidFill>
                          <a:latin typeface="Verdana"/>
                          <a:ea typeface="Verdana"/>
                          <a:cs typeface="Verdana"/>
                          <a:sym typeface="Verdana"/>
                        </a:rPr>
                        <a:t>Velocity error</a:t>
                      </a:r>
                      <a:endParaRPr b="0" sz="187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70" u="none" cap="none" strike="noStrike">
                          <a:solidFill>
                            <a:srgbClr val="142B3E"/>
                          </a:solidFill>
                          <a:latin typeface="Verdana"/>
                          <a:ea typeface="Verdana"/>
                          <a:cs typeface="Verdana"/>
                          <a:sym typeface="Verdana"/>
                        </a:rPr>
                        <a:t>m/s, lower</a:t>
                      </a:r>
                      <a:endParaRPr b="0" sz="187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579250">
                <a:tc>
                  <a:txBody>
                    <a:bodyPr/>
                    <a:lstStyle/>
                    <a:p>
                      <a:pPr indent="0" lvl="0" marL="0" marR="0" rtl="0" algn="l">
                        <a:lnSpc>
                          <a:spcPct val="100000"/>
                        </a:lnSpc>
                        <a:spcBef>
                          <a:spcPts val="0"/>
                        </a:spcBef>
                        <a:spcAft>
                          <a:spcPts val="0"/>
                        </a:spcAft>
                        <a:buNone/>
                      </a:pPr>
                      <a:r>
                        <a:rPr b="0" lang="en-US" sz="1870" u="none" cap="none" strike="noStrike">
                          <a:solidFill>
                            <a:srgbClr val="142B3E"/>
                          </a:solidFill>
                          <a:latin typeface="Verdana"/>
                          <a:ea typeface="Verdana"/>
                          <a:cs typeface="Verdana"/>
                          <a:sym typeface="Verdana"/>
                        </a:rPr>
                        <a:t>mAAE</a:t>
                      </a:r>
                      <a:endParaRPr b="0" sz="187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70" u="none" cap="none" strike="noStrike">
                          <a:solidFill>
                            <a:srgbClr val="142B3E"/>
                          </a:solidFill>
                          <a:latin typeface="Verdana"/>
                          <a:ea typeface="Verdana"/>
                          <a:cs typeface="Verdana"/>
                          <a:sym typeface="Verdana"/>
                        </a:rPr>
                        <a:t>Attribute classification error</a:t>
                      </a:r>
                      <a:endParaRPr b="0" sz="187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70" u="none" cap="none" strike="noStrike">
                          <a:solidFill>
                            <a:srgbClr val="142B3E"/>
                          </a:solidFill>
                          <a:latin typeface="Verdana"/>
                          <a:ea typeface="Verdana"/>
                          <a:cs typeface="Verdana"/>
                          <a:sym typeface="Verdana"/>
                        </a:rPr>
                        <a:t>1 − accuracy, lower</a:t>
                      </a:r>
                      <a:endParaRPr b="0" sz="187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603" name="Shape 603"/>
        <p:cNvGrpSpPr/>
        <p:nvPr/>
      </p:nvGrpSpPr>
      <p:grpSpPr>
        <a:xfrm>
          <a:off x="0" y="0"/>
          <a:ext cx="0" cy="0"/>
          <a:chOff x="0" y="0"/>
          <a:chExt cx="0" cy="0"/>
        </a:xfrm>
      </p:grpSpPr>
      <p:sp>
        <p:nvSpPr>
          <p:cNvPr id="604" name="Google Shape;604;p80"/>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Recorded six-epoch ablation</a:t>
            </a:r>
            <a:endParaRPr b="0" sz="3450" strike="noStrike">
              <a:latin typeface="Arial"/>
              <a:ea typeface="Arial"/>
              <a:cs typeface="Arial"/>
              <a:sym typeface="Arial"/>
            </a:endParaRPr>
          </a:p>
        </p:txBody>
      </p:sp>
      <p:sp>
        <p:nvSpPr>
          <p:cNvPr id="605" name="Google Shape;605;p80"/>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The spatial-gating run underperformed the joint baseline</a:t>
            </a:r>
            <a:endParaRPr b="0" sz="1870" strike="noStrike">
              <a:latin typeface="Arial"/>
              <a:ea typeface="Arial"/>
              <a:cs typeface="Arial"/>
              <a:sym typeface="Arial"/>
            </a:endParaRPr>
          </a:p>
        </p:txBody>
      </p:sp>
      <p:sp>
        <p:nvSpPr>
          <p:cNvPr id="606" name="Google Shape;606;p80"/>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15</a:t>
            </a:r>
            <a:endParaRPr b="0" sz="1280" strike="noStrike">
              <a:latin typeface="Arial"/>
              <a:ea typeface="Arial"/>
              <a:cs typeface="Arial"/>
              <a:sym typeface="Arial"/>
            </a:endParaRPr>
          </a:p>
        </p:txBody>
      </p:sp>
      <p:pic>
        <p:nvPicPr>
          <p:cNvPr id="607" name="Google Shape;607;p80"/>
          <p:cNvPicPr preferRelativeResize="0"/>
          <p:nvPr/>
        </p:nvPicPr>
        <p:blipFill rotWithShape="1">
          <a:blip r:embed="rId3">
            <a:alphaModFix/>
          </a:blip>
          <a:srcRect b="0" l="0" r="0" t="0"/>
          <a:stretch/>
        </p:blipFill>
        <p:spPr>
          <a:xfrm>
            <a:off x="685800" y="2143080"/>
            <a:ext cx="8476920" cy="4619160"/>
          </a:xfrm>
          <a:prstGeom prst="rect">
            <a:avLst/>
          </a:prstGeom>
          <a:noFill/>
          <a:ln>
            <a:noFill/>
          </a:ln>
        </p:spPr>
      </p:pic>
      <p:graphicFrame>
        <p:nvGraphicFramePr>
          <p:cNvPr id="608" name="Google Shape;608;p80"/>
          <p:cNvGraphicFramePr/>
          <p:nvPr/>
        </p:nvGraphicFramePr>
        <p:xfrm>
          <a:off x="9524880" y="2238480"/>
          <a:ext cx="3000000" cy="3000000"/>
        </p:xfrm>
        <a:graphic>
          <a:graphicData uri="http://schemas.openxmlformats.org/drawingml/2006/table">
            <a:tbl>
              <a:tblPr>
                <a:noFill/>
                <a:tableStyleId>{95E7CD04-70E1-4013-8DFE-BD906A8056AE}</a:tableStyleId>
              </a:tblPr>
              <a:tblGrid>
                <a:gridCol w="2615050"/>
                <a:gridCol w="1206725"/>
                <a:gridCol w="1206725"/>
              </a:tblGrid>
              <a:tr h="773650">
                <a:tc>
                  <a:txBody>
                    <a:bodyPr/>
                    <a:lstStyle/>
                    <a:p>
                      <a:pPr indent="0" lvl="0" marL="0" marR="0" rtl="0" algn="l">
                        <a:lnSpc>
                          <a:spcPct val="100000"/>
                        </a:lnSpc>
                        <a:spcBef>
                          <a:spcPts val="0"/>
                        </a:spcBef>
                        <a:spcAft>
                          <a:spcPts val="0"/>
                        </a:spcAft>
                        <a:buNone/>
                      </a:pPr>
                      <a:r>
                        <a:rPr b="1" lang="en-US" sz="1729" u="none" cap="none" strike="noStrike">
                          <a:solidFill>
                            <a:srgbClr val="FFFFFF"/>
                          </a:solidFill>
                          <a:latin typeface="Verdana"/>
                          <a:ea typeface="Verdana"/>
                          <a:cs typeface="Verdana"/>
                          <a:sym typeface="Verdana"/>
                        </a:rPr>
                        <a:t>Variant</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729" u="none" cap="none" strike="noStrike">
                          <a:solidFill>
                            <a:srgbClr val="FFFFFF"/>
                          </a:solidFill>
                          <a:latin typeface="Verdana"/>
                          <a:ea typeface="Verdana"/>
                          <a:cs typeface="Verdana"/>
                          <a:sym typeface="Verdana"/>
                        </a:rPr>
                        <a:t>mAP</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729" u="none" cap="none" strike="noStrike">
                          <a:solidFill>
                            <a:srgbClr val="FFFFFF"/>
                          </a:solidFill>
                          <a:latin typeface="Verdana"/>
                          <a:ea typeface="Verdana"/>
                          <a:cs typeface="Verdana"/>
                          <a:sym typeface="Verdana"/>
                        </a:rPr>
                        <a:t>NDS</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r>
              <a:tr h="773650">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ConvFuser baseline</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25.78%</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25.20%</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73650">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ReliabilityAwareFuser</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23.92%</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24.15%</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773650">
                <a:tc>
                  <a:txBody>
                    <a:bodyPr/>
                    <a:lstStyle/>
                    <a:p>
                      <a:pPr indent="0" lvl="0" marL="0" marR="0" rtl="0" algn="l">
                        <a:lnSpc>
                          <a:spcPct val="100000"/>
                        </a:lnSpc>
                        <a:spcBef>
                          <a:spcPts val="0"/>
                        </a:spcBef>
                        <a:spcAft>
                          <a:spcPts val="0"/>
                        </a:spcAft>
                        <a:buNone/>
                      </a:pPr>
                      <a:r>
                        <a:rPr b="1" lang="en-US" sz="1729" u="none" cap="none" strike="noStrike">
                          <a:solidFill>
                            <a:srgbClr val="142B3E"/>
                          </a:solidFill>
                          <a:latin typeface="Verdana"/>
                          <a:ea typeface="Verdana"/>
                          <a:cs typeface="Verdana"/>
                          <a:sym typeface="Verdana"/>
                        </a:rPr>
                        <a:t>Difference (pp)</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1" lang="en-US" sz="1729" u="none" cap="none" strike="noStrike">
                          <a:solidFill>
                            <a:srgbClr val="142B3E"/>
                          </a:solidFill>
                          <a:latin typeface="Verdana"/>
                          <a:ea typeface="Verdana"/>
                          <a:cs typeface="Verdana"/>
                          <a:sym typeface="Verdana"/>
                        </a:rPr>
                        <a:t>−1.86</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1" lang="en-US" sz="1729" u="none" cap="none" strike="noStrike">
                          <a:solidFill>
                            <a:srgbClr val="142B3E"/>
                          </a:solidFill>
                          <a:latin typeface="Verdana"/>
                          <a:ea typeface="Verdana"/>
                          <a:cs typeface="Verdana"/>
                          <a:sym typeface="Verdana"/>
                        </a:rPr>
                        <a:t>−1.05</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r>
            </a:tbl>
          </a:graphicData>
        </a:graphic>
      </p:graphicFrame>
      <p:sp>
        <p:nvSpPr>
          <p:cNvPr id="609" name="Google Shape;609;p80"/>
          <p:cNvSpPr/>
          <p:nvPr/>
        </p:nvSpPr>
        <p:spPr>
          <a:xfrm>
            <a:off x="9524880" y="5857920"/>
            <a:ext cx="4952520" cy="1428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Refinement: checkpoint 4 is described as</a:t>
            </a:r>
            <a:endParaRPr b="0" sz="1870" strike="noStrike">
              <a:latin typeface="Arial"/>
              <a:ea typeface="Arial"/>
              <a:cs typeface="Arial"/>
              <a:sym typeface="Arial"/>
            </a:endParaRPr>
          </a:p>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visualized. Final mAP and NDS are not</a:t>
            </a:r>
            <a:endParaRPr b="0" sz="1870" strike="noStrike">
              <a:latin typeface="Arial"/>
              <a:ea typeface="Arial"/>
              <a:cs typeface="Arial"/>
              <a:sym typeface="Arial"/>
            </a:endParaRPr>
          </a:p>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archived.</a:t>
            </a:r>
            <a:endParaRPr b="0" sz="1870" strike="noStrike">
              <a:latin typeface="Arial"/>
              <a:ea typeface="Arial"/>
              <a:cs typeface="Arial"/>
              <a:sym typeface="Arial"/>
            </a:endParaRPr>
          </a:p>
        </p:txBody>
      </p:sp>
      <p:sp>
        <p:nvSpPr>
          <p:cNvPr id="610" name="Google Shape;610;p80"/>
          <p:cNvSpPr/>
          <p:nvPr/>
        </p:nvSpPr>
        <p:spPr>
          <a:xfrm>
            <a:off x="685800" y="7381800"/>
            <a:ext cx="13867920" cy="571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80" strike="noStrike">
                <a:solidFill>
                  <a:srgbClr val="526574"/>
                </a:solidFill>
                <a:latin typeface="Verdana"/>
                <a:ea typeface="Verdana"/>
                <a:cs typeface="Verdana"/>
                <a:sym typeface="Verdana"/>
              </a:rPr>
              <a:t>nuScenes mini. Recorded summary only. Raw logs and variance estimates are unavailable.</a:t>
            </a:r>
            <a:endParaRPr b="0" sz="1580" strike="noStrike">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615" name="Shape 615"/>
        <p:cNvGrpSpPr/>
        <p:nvPr/>
      </p:nvGrpSpPr>
      <p:grpSpPr>
        <a:xfrm>
          <a:off x="0" y="0"/>
          <a:ext cx="0" cy="0"/>
          <a:chOff x="0" y="0"/>
          <a:chExt cx="0" cy="0"/>
        </a:xfrm>
      </p:grpSpPr>
      <p:sp>
        <p:nvSpPr>
          <p:cNvPr id="616" name="Google Shape;616;p81"/>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Complete quantitative results — editable table</a:t>
            </a:r>
            <a:endParaRPr b="0" sz="3450" strike="noStrike">
              <a:latin typeface="Arial"/>
              <a:ea typeface="Arial"/>
              <a:cs typeface="Arial"/>
              <a:sym typeface="Arial"/>
            </a:endParaRPr>
          </a:p>
        </p:txBody>
      </p:sp>
      <p:sp>
        <p:nvSpPr>
          <p:cNvPr id="617" name="Google Shape;617;p81"/>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Enter the additional run metrics from your own evaluation logs before presenting</a:t>
            </a:r>
            <a:endParaRPr b="0" sz="1870" strike="noStrike">
              <a:latin typeface="Arial"/>
              <a:ea typeface="Arial"/>
              <a:cs typeface="Arial"/>
              <a:sym typeface="Arial"/>
            </a:endParaRPr>
          </a:p>
        </p:txBody>
      </p:sp>
      <p:sp>
        <p:nvSpPr>
          <p:cNvPr id="618" name="Google Shape;618;p81"/>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16</a:t>
            </a:r>
            <a:endParaRPr b="0" sz="1280" strike="noStrike">
              <a:latin typeface="Arial"/>
              <a:ea typeface="Arial"/>
              <a:cs typeface="Arial"/>
              <a:sym typeface="Arial"/>
            </a:endParaRPr>
          </a:p>
        </p:txBody>
      </p:sp>
      <p:graphicFrame>
        <p:nvGraphicFramePr>
          <p:cNvPr id="619" name="Google Shape;619;p81"/>
          <p:cNvGraphicFramePr/>
          <p:nvPr/>
        </p:nvGraphicFramePr>
        <p:xfrm>
          <a:off x="685800" y="2238480"/>
          <a:ext cx="3000000" cy="3000000"/>
        </p:xfrm>
        <a:graphic>
          <a:graphicData uri="http://schemas.openxmlformats.org/drawingml/2006/table">
            <a:tbl>
              <a:tblPr>
                <a:noFill/>
                <a:tableStyleId>{95E7CD04-70E1-4013-8DFE-BD906A8056AE}</a:tableStyleId>
              </a:tblPr>
              <a:tblGrid>
                <a:gridCol w="4437725"/>
                <a:gridCol w="1872000"/>
                <a:gridCol w="1872000"/>
                <a:gridCol w="1872000"/>
                <a:gridCol w="1872000"/>
                <a:gridCol w="1941475"/>
              </a:tblGrid>
              <a:tr h="933125">
                <a:tc>
                  <a:txBody>
                    <a:bodyPr/>
                    <a:lstStyle/>
                    <a:p>
                      <a:pPr indent="0" lvl="0" marL="0" marR="0" rtl="0" algn="l">
                        <a:lnSpc>
                          <a:spcPct val="100000"/>
                        </a:lnSpc>
                        <a:spcBef>
                          <a:spcPts val="0"/>
                        </a:spcBef>
                        <a:spcAft>
                          <a:spcPts val="0"/>
                        </a:spcAft>
                        <a:buNone/>
                      </a:pPr>
                      <a:r>
                        <a:rPr b="1" lang="en-US" sz="1729" u="none" cap="none" strike="noStrike">
                          <a:solidFill>
                            <a:srgbClr val="FFFFFF"/>
                          </a:solidFill>
                          <a:latin typeface="Verdana"/>
                          <a:ea typeface="Verdana"/>
                          <a:cs typeface="Verdana"/>
                          <a:sym typeface="Verdana"/>
                        </a:rPr>
                        <a:t>Model variant</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729" u="none" cap="none" strike="noStrike">
                          <a:solidFill>
                            <a:srgbClr val="FFFFFF"/>
                          </a:solidFill>
                          <a:latin typeface="Verdana"/>
                          <a:ea typeface="Verdana"/>
                          <a:cs typeface="Verdana"/>
                          <a:sym typeface="Verdana"/>
                        </a:rPr>
                        <a:t>mAP ↑</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729" u="none" cap="none" strike="noStrike">
                          <a:solidFill>
                            <a:srgbClr val="FFFFFF"/>
                          </a:solidFill>
                          <a:latin typeface="Verdana"/>
                          <a:ea typeface="Verdana"/>
                          <a:cs typeface="Verdana"/>
                          <a:sym typeface="Verdana"/>
                        </a:rPr>
                        <a:t>NDS ↑</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729" u="none" cap="none" strike="noStrike">
                          <a:solidFill>
                            <a:srgbClr val="FFFFFF"/>
                          </a:solidFill>
                          <a:latin typeface="Verdana"/>
                          <a:ea typeface="Verdana"/>
                          <a:cs typeface="Verdana"/>
                          <a:sym typeface="Verdana"/>
                        </a:rPr>
                        <a:t>mATE ↓</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729" u="none" cap="none" strike="noStrike">
                          <a:solidFill>
                            <a:srgbClr val="FFFFFF"/>
                          </a:solidFill>
                          <a:latin typeface="Verdana"/>
                          <a:ea typeface="Verdana"/>
                          <a:cs typeface="Verdana"/>
                          <a:sym typeface="Verdana"/>
                        </a:rPr>
                        <a:t>mASE ↓</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729" u="none" cap="none" strike="noStrike">
                          <a:solidFill>
                            <a:srgbClr val="FFFFFF"/>
                          </a:solidFill>
                          <a:latin typeface="Verdana"/>
                          <a:ea typeface="Verdana"/>
                          <a:cs typeface="Verdana"/>
                          <a:sym typeface="Verdana"/>
                        </a:rPr>
                        <a:t>mAOE ↓</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r>
              <a:tr h="933125">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ConvFuser baseline</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25.78%</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25.20%</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[enter]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[enter]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[enter]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933125">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ReliabilityAwareFuser</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23.92%</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24.15%</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[enter]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[enter]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[enter]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933125">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ConvFuser + refinement</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[enter]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[enter]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[enter]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[enter]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[enter]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933125">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Gate + refinement</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[enter]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[enter]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[enter]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[enter]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[enter]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r>
            </a:tbl>
          </a:graphicData>
        </a:graphic>
      </p:graphicFrame>
      <p:sp>
        <p:nvSpPr>
          <p:cNvPr id="620" name="Google Shape;620;p81"/>
          <p:cNvSpPr/>
          <p:nvPr/>
        </p:nvSpPr>
        <p:spPr>
          <a:xfrm>
            <a:off x="685800" y="7143840"/>
            <a:ext cx="5143320" cy="323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729" strike="noStrike">
                <a:solidFill>
                  <a:srgbClr val="365C7D"/>
                </a:solidFill>
                <a:latin typeface="Verdana"/>
                <a:ea typeface="Verdana"/>
                <a:cs typeface="Verdana"/>
                <a:sym typeface="Verdana"/>
              </a:rPr>
              <a:t>Archived mini-run values</a:t>
            </a:r>
            <a:endParaRPr b="0" sz="1729" strike="noStrike">
              <a:latin typeface="Arial"/>
              <a:ea typeface="Arial"/>
              <a:cs typeface="Arial"/>
              <a:sym typeface="Arial"/>
            </a:endParaRPr>
          </a:p>
        </p:txBody>
      </p:sp>
      <p:sp>
        <p:nvSpPr>
          <p:cNvPr id="621" name="Google Shape;621;p81"/>
          <p:cNvSpPr/>
          <p:nvPr/>
        </p:nvSpPr>
        <p:spPr>
          <a:xfrm>
            <a:off x="6334200" y="7143840"/>
            <a:ext cx="8191080" cy="323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729" strike="noStrike">
                <a:solidFill>
                  <a:srgbClr val="007F83"/>
                </a:solidFill>
                <a:latin typeface="Verdana"/>
                <a:ea typeface="Verdana"/>
                <a:cs typeface="Verdana"/>
                <a:sym typeface="Verdana"/>
              </a:rPr>
              <a:t>Cells marked [enter] require verified run outputs</a:t>
            </a:r>
            <a:endParaRPr b="0" sz="1729" strike="noStrike">
              <a:latin typeface="Arial"/>
              <a:ea typeface="Arial"/>
              <a:cs typeface="Arial"/>
              <a:sym typeface="Arial"/>
            </a:endParaRPr>
          </a:p>
        </p:txBody>
      </p:sp>
      <p:sp>
        <p:nvSpPr>
          <p:cNvPr id="622" name="Google Shape;622;p81"/>
          <p:cNvSpPr/>
          <p:nvPr/>
        </p:nvSpPr>
        <p:spPr>
          <a:xfrm>
            <a:off x="685800" y="7677000"/>
            <a:ext cx="13867920" cy="39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580" strike="noStrike">
                <a:solidFill>
                  <a:srgbClr val="526574"/>
                </a:solidFill>
                <a:latin typeface="Verdana"/>
                <a:ea typeface="Verdana"/>
                <a:cs typeface="Verdana"/>
                <a:sym typeface="Verdana"/>
              </a:rPr>
              <a:t>Keep the same split and evaluation settings; add run ID, epoch, seed and checkpoint in speaker notes.</a:t>
            </a:r>
            <a:endParaRPr b="0" sz="1580" strike="noStrike">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627" name="Shape 627"/>
        <p:cNvGrpSpPr/>
        <p:nvPr/>
      </p:nvGrpSpPr>
      <p:grpSpPr>
        <a:xfrm>
          <a:off x="0" y="0"/>
          <a:ext cx="0" cy="0"/>
          <a:chOff x="0" y="0"/>
          <a:chExt cx="0" cy="0"/>
        </a:xfrm>
      </p:grpSpPr>
      <p:sp>
        <p:nvSpPr>
          <p:cNvPr id="628" name="Google Shape;628;p82"/>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Qualitative 3D detection output</a:t>
            </a:r>
            <a:endParaRPr b="0" sz="3450" strike="noStrike">
              <a:latin typeface="Arial"/>
              <a:ea typeface="Arial"/>
              <a:cs typeface="Arial"/>
              <a:sym typeface="Arial"/>
            </a:endParaRPr>
          </a:p>
        </p:txBody>
      </p:sp>
      <p:sp>
        <p:nvSpPr>
          <p:cNvPr id="629" name="Google Shape;629;p82"/>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A frame from the supplied multi-view visualization; numerical evaluation remains separate</a:t>
            </a:r>
            <a:endParaRPr b="0" sz="1870" strike="noStrike">
              <a:latin typeface="Arial"/>
              <a:ea typeface="Arial"/>
              <a:cs typeface="Arial"/>
              <a:sym typeface="Arial"/>
            </a:endParaRPr>
          </a:p>
        </p:txBody>
      </p:sp>
      <p:sp>
        <p:nvSpPr>
          <p:cNvPr id="630" name="Google Shape;630;p82"/>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17</a:t>
            </a:r>
            <a:endParaRPr b="0" sz="1280" strike="noStrike">
              <a:latin typeface="Arial"/>
              <a:ea typeface="Arial"/>
              <a:cs typeface="Arial"/>
              <a:sym typeface="Arial"/>
            </a:endParaRPr>
          </a:p>
        </p:txBody>
      </p:sp>
      <p:pic>
        <p:nvPicPr>
          <p:cNvPr id="631" name="Google Shape;631;p82"/>
          <p:cNvPicPr preferRelativeResize="0"/>
          <p:nvPr/>
        </p:nvPicPr>
        <p:blipFill rotWithShape="1">
          <a:blip r:embed="rId3">
            <a:alphaModFix/>
          </a:blip>
          <a:srcRect b="0" l="0" r="0" t="0"/>
          <a:stretch/>
        </p:blipFill>
        <p:spPr>
          <a:xfrm>
            <a:off x="685800" y="2114640"/>
            <a:ext cx="13867920" cy="5200200"/>
          </a:xfrm>
          <a:prstGeom prst="rect">
            <a:avLst/>
          </a:prstGeom>
          <a:noFill/>
          <a:ln>
            <a:noFill/>
          </a:ln>
        </p:spPr>
      </p:pic>
      <p:sp>
        <p:nvSpPr>
          <p:cNvPr id="632" name="Google Shape;632;p82"/>
          <p:cNvSpPr/>
          <p:nvPr/>
        </p:nvSpPr>
        <p:spPr>
          <a:xfrm>
            <a:off x="685800" y="7543800"/>
            <a:ext cx="13867920" cy="399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650" strike="noStrike">
                <a:solidFill>
                  <a:srgbClr val="526574"/>
                </a:solidFill>
                <a:latin typeface="Verdana"/>
                <a:ea typeface="Verdana"/>
                <a:cs typeface="Verdana"/>
                <a:sym typeface="Verdana"/>
              </a:rPr>
              <a:t>Example at approximately 10 s in the supplied 27 s clip • checkpoint and run variant to annotate</a:t>
            </a:r>
            <a:endParaRPr b="0" sz="1650" strike="noStrike">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637" name="Shape 637"/>
        <p:cNvGrpSpPr/>
        <p:nvPr/>
      </p:nvGrpSpPr>
      <p:grpSpPr>
        <a:xfrm>
          <a:off x="0" y="0"/>
          <a:ext cx="0" cy="0"/>
          <a:chOff x="0" y="0"/>
          <a:chExt cx="0" cy="0"/>
        </a:xfrm>
      </p:grpSpPr>
      <p:sp>
        <p:nvSpPr>
          <p:cNvPr id="638" name="Google Shape;638;p83"/>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Failure-analysis hypotheses</a:t>
            </a:r>
            <a:endParaRPr b="0" sz="3450" strike="noStrike">
              <a:latin typeface="Arial"/>
              <a:ea typeface="Arial"/>
              <a:cs typeface="Arial"/>
              <a:sym typeface="Arial"/>
            </a:endParaRPr>
          </a:p>
        </p:txBody>
      </p:sp>
      <p:sp>
        <p:nvSpPr>
          <p:cNvPr id="639" name="Google Shape;639;p83"/>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Each explanation requires a control that can distinguish its mechanism</a:t>
            </a:r>
            <a:endParaRPr b="0" sz="1870" strike="noStrike">
              <a:latin typeface="Arial"/>
              <a:ea typeface="Arial"/>
              <a:cs typeface="Arial"/>
              <a:sym typeface="Arial"/>
            </a:endParaRPr>
          </a:p>
        </p:txBody>
      </p:sp>
      <p:sp>
        <p:nvSpPr>
          <p:cNvPr id="640" name="Google Shape;640;p83"/>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18</a:t>
            </a:r>
            <a:endParaRPr b="0" sz="1280" strike="noStrike">
              <a:latin typeface="Arial"/>
              <a:ea typeface="Arial"/>
              <a:cs typeface="Arial"/>
              <a:sym typeface="Arial"/>
            </a:endParaRPr>
          </a:p>
        </p:txBody>
      </p:sp>
      <p:sp>
        <p:nvSpPr>
          <p:cNvPr id="641" name="Google Shape;641;p83"/>
          <p:cNvSpPr/>
          <p:nvPr/>
        </p:nvSpPr>
        <p:spPr>
          <a:xfrm>
            <a:off x="685800" y="2333520"/>
            <a:ext cx="6476760" cy="47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320" strike="noStrike">
                <a:solidFill>
                  <a:srgbClr val="142B3E"/>
                </a:solidFill>
                <a:latin typeface="Verdana"/>
                <a:ea typeface="Verdana"/>
                <a:cs typeface="Verdana"/>
                <a:sym typeface="Verdana"/>
              </a:rPr>
              <a:t>Potential mechanism</a:t>
            </a:r>
            <a:endParaRPr b="0" sz="2320" strike="noStrike">
              <a:latin typeface="Arial"/>
              <a:ea typeface="Arial"/>
              <a:cs typeface="Arial"/>
              <a:sym typeface="Arial"/>
            </a:endParaRPr>
          </a:p>
        </p:txBody>
      </p:sp>
      <p:sp>
        <p:nvSpPr>
          <p:cNvPr id="642" name="Google Shape;642;p83"/>
          <p:cNvSpPr/>
          <p:nvPr/>
        </p:nvSpPr>
        <p:spPr>
          <a:xfrm>
            <a:off x="8096400" y="2333520"/>
            <a:ext cx="6457680" cy="475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320" strike="noStrike">
                <a:solidFill>
                  <a:srgbClr val="142B3E"/>
                </a:solidFill>
                <a:latin typeface="Verdana"/>
                <a:ea typeface="Verdana"/>
                <a:cs typeface="Verdana"/>
                <a:sym typeface="Verdana"/>
              </a:rPr>
              <a:t>Discriminating experiment</a:t>
            </a:r>
            <a:endParaRPr b="0" sz="2320" strike="noStrike">
              <a:latin typeface="Arial"/>
              <a:ea typeface="Arial"/>
              <a:cs typeface="Arial"/>
              <a:sym typeface="Arial"/>
            </a:endParaRPr>
          </a:p>
        </p:txBody>
      </p:sp>
      <p:cxnSp>
        <p:nvCxnSpPr>
          <p:cNvPr id="643" name="Google Shape;643;p83"/>
          <p:cNvCxnSpPr/>
          <p:nvPr/>
        </p:nvCxnSpPr>
        <p:spPr>
          <a:xfrm>
            <a:off x="7591320" y="2333520"/>
            <a:ext cx="360" cy="4905360"/>
          </a:xfrm>
          <a:prstGeom prst="straightConnector1">
            <a:avLst/>
          </a:prstGeom>
          <a:noFill/>
          <a:ln cap="flat" cmpd="sng" w="9525">
            <a:solidFill>
              <a:srgbClr val="CBD6DC"/>
            </a:solidFill>
            <a:prstDash val="solid"/>
            <a:round/>
            <a:headEnd len="sm" w="sm" type="none"/>
            <a:tailEnd len="sm" w="sm" type="none"/>
          </a:ln>
        </p:spPr>
      </p:cxnSp>
      <p:sp>
        <p:nvSpPr>
          <p:cNvPr id="644" name="Google Shape;644;p83"/>
          <p:cNvSpPr/>
          <p:nvPr/>
        </p:nvSpPr>
        <p:spPr>
          <a:xfrm>
            <a:off x="685800" y="3095640"/>
            <a:ext cx="6286320" cy="69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70" strike="noStrike">
                <a:solidFill>
                  <a:srgbClr val="526574"/>
                </a:solidFill>
                <a:latin typeface="Verdana"/>
                <a:ea typeface="Verdana"/>
                <a:cs typeface="Verdana"/>
                <a:sym typeface="Verdana"/>
              </a:rPr>
              <a:t>Feature energy may weakly reflect physical</a:t>
            </a:r>
            <a:endParaRPr b="0" sz="2170" strike="noStrike">
              <a:latin typeface="Arial"/>
              <a:ea typeface="Arial"/>
              <a:cs typeface="Arial"/>
              <a:sym typeface="Arial"/>
            </a:endParaRPr>
          </a:p>
          <a:p>
            <a:pPr indent="0" lvl="0" marL="0" marR="0" rtl="0" algn="l">
              <a:lnSpc>
                <a:spcPct val="100000"/>
              </a:lnSpc>
              <a:spcBef>
                <a:spcPts val="0"/>
              </a:spcBef>
              <a:spcAft>
                <a:spcPts val="0"/>
              </a:spcAft>
              <a:buNone/>
            </a:pPr>
            <a:r>
              <a:rPr b="0" lang="en-US" sz="2170" strike="noStrike">
                <a:solidFill>
                  <a:srgbClr val="526574"/>
                </a:solidFill>
                <a:latin typeface="Verdana"/>
                <a:ea typeface="Verdana"/>
                <a:cs typeface="Verdana"/>
                <a:sym typeface="Verdana"/>
              </a:rPr>
              <a:t>sensor support.</a:t>
            </a:r>
            <a:endParaRPr b="0" sz="2170" strike="noStrike">
              <a:latin typeface="Arial"/>
              <a:ea typeface="Arial"/>
              <a:cs typeface="Arial"/>
              <a:sym typeface="Arial"/>
            </a:endParaRPr>
          </a:p>
        </p:txBody>
      </p:sp>
      <p:sp>
        <p:nvSpPr>
          <p:cNvPr id="645" name="Google Shape;645;p83"/>
          <p:cNvSpPr/>
          <p:nvPr/>
        </p:nvSpPr>
        <p:spPr>
          <a:xfrm>
            <a:off x="685800" y="4092120"/>
            <a:ext cx="6286320" cy="69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70" strike="noStrike">
                <a:solidFill>
                  <a:srgbClr val="526574"/>
                </a:solidFill>
                <a:latin typeface="Verdana"/>
                <a:ea typeface="Verdana"/>
                <a:cs typeface="Verdana"/>
                <a:sym typeface="Verdana"/>
              </a:rPr>
              <a:t>Added capacity may exceed the small-data</a:t>
            </a:r>
            <a:endParaRPr b="0" sz="2170" strike="noStrike">
              <a:latin typeface="Arial"/>
              <a:ea typeface="Arial"/>
              <a:cs typeface="Arial"/>
              <a:sym typeface="Arial"/>
            </a:endParaRPr>
          </a:p>
          <a:p>
            <a:pPr indent="0" lvl="0" marL="0" marR="0" rtl="0" algn="l">
              <a:lnSpc>
                <a:spcPct val="100000"/>
              </a:lnSpc>
              <a:spcBef>
                <a:spcPts val="0"/>
              </a:spcBef>
              <a:spcAft>
                <a:spcPts val="0"/>
              </a:spcAft>
              <a:buNone/>
            </a:pPr>
            <a:r>
              <a:rPr b="0" lang="en-US" sz="2170" strike="noStrike">
                <a:solidFill>
                  <a:srgbClr val="526574"/>
                </a:solidFill>
                <a:latin typeface="Verdana"/>
                <a:ea typeface="Verdana"/>
                <a:cs typeface="Verdana"/>
                <a:sym typeface="Verdana"/>
              </a:rPr>
              <a:t>training budget.</a:t>
            </a:r>
            <a:endParaRPr b="0" sz="2170" strike="noStrike">
              <a:latin typeface="Arial"/>
              <a:ea typeface="Arial"/>
              <a:cs typeface="Arial"/>
              <a:sym typeface="Arial"/>
            </a:endParaRPr>
          </a:p>
        </p:txBody>
      </p:sp>
      <p:sp>
        <p:nvSpPr>
          <p:cNvPr id="646" name="Google Shape;646;p83"/>
          <p:cNvSpPr/>
          <p:nvPr/>
        </p:nvSpPr>
        <p:spPr>
          <a:xfrm>
            <a:off x="685800" y="5088240"/>
            <a:ext cx="6286320" cy="69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70" strike="noStrike">
                <a:solidFill>
                  <a:srgbClr val="526574"/>
                </a:solidFill>
                <a:latin typeface="Verdana"/>
                <a:ea typeface="Verdana"/>
                <a:cs typeface="Verdana"/>
                <a:sym typeface="Verdana"/>
              </a:rPr>
              <a:t>Fixed local patches may underserve long or</a:t>
            </a:r>
            <a:endParaRPr b="0" sz="2170" strike="noStrike">
              <a:latin typeface="Arial"/>
              <a:ea typeface="Arial"/>
              <a:cs typeface="Arial"/>
              <a:sym typeface="Arial"/>
            </a:endParaRPr>
          </a:p>
          <a:p>
            <a:pPr indent="0" lvl="0" marL="0" marR="0" rtl="0" algn="l">
              <a:lnSpc>
                <a:spcPct val="100000"/>
              </a:lnSpc>
              <a:spcBef>
                <a:spcPts val="0"/>
              </a:spcBef>
              <a:spcAft>
                <a:spcPts val="0"/>
              </a:spcAft>
              <a:buNone/>
            </a:pPr>
            <a:r>
              <a:rPr b="0" lang="en-US" sz="2170" strike="noStrike">
                <a:solidFill>
                  <a:srgbClr val="526574"/>
                </a:solidFill>
                <a:latin typeface="Verdana"/>
                <a:ea typeface="Verdana"/>
                <a:cs typeface="Verdana"/>
                <a:sym typeface="Verdana"/>
              </a:rPr>
              <a:t>rotated objects.</a:t>
            </a:r>
            <a:endParaRPr b="0" sz="2170" strike="noStrike">
              <a:latin typeface="Arial"/>
              <a:ea typeface="Arial"/>
              <a:cs typeface="Arial"/>
              <a:sym typeface="Arial"/>
            </a:endParaRPr>
          </a:p>
        </p:txBody>
      </p:sp>
      <p:sp>
        <p:nvSpPr>
          <p:cNvPr id="647" name="Google Shape;647;p83"/>
          <p:cNvSpPr/>
          <p:nvPr/>
        </p:nvSpPr>
        <p:spPr>
          <a:xfrm>
            <a:off x="8096400" y="3095640"/>
            <a:ext cx="6190920" cy="69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70" strike="noStrike">
                <a:solidFill>
                  <a:srgbClr val="526574"/>
                </a:solidFill>
                <a:latin typeface="Verdana"/>
                <a:ea typeface="Verdana"/>
                <a:cs typeface="Verdana"/>
                <a:sym typeface="Verdana"/>
              </a:rPr>
              <a:t>Compare with point density and depth</a:t>
            </a:r>
            <a:endParaRPr b="0" sz="2170" strike="noStrike">
              <a:latin typeface="Arial"/>
              <a:ea typeface="Arial"/>
              <a:cs typeface="Arial"/>
              <a:sym typeface="Arial"/>
            </a:endParaRPr>
          </a:p>
          <a:p>
            <a:pPr indent="0" lvl="0" marL="0" marR="0" rtl="0" algn="l">
              <a:lnSpc>
                <a:spcPct val="100000"/>
              </a:lnSpc>
              <a:spcBef>
                <a:spcPts val="0"/>
              </a:spcBef>
              <a:spcAft>
                <a:spcPts val="0"/>
              </a:spcAft>
              <a:buNone/>
            </a:pPr>
            <a:r>
              <a:rPr b="0" lang="en-US" sz="2170" strike="noStrike">
                <a:solidFill>
                  <a:srgbClr val="526574"/>
                </a:solidFill>
                <a:latin typeface="Verdana"/>
                <a:ea typeface="Verdana"/>
                <a:cs typeface="Verdana"/>
                <a:sym typeface="Verdana"/>
              </a:rPr>
              <a:t>entropy under corruption.</a:t>
            </a:r>
            <a:endParaRPr b="0" sz="2170" strike="noStrike">
              <a:latin typeface="Arial"/>
              <a:ea typeface="Arial"/>
              <a:cs typeface="Arial"/>
              <a:sym typeface="Arial"/>
            </a:endParaRPr>
          </a:p>
        </p:txBody>
      </p:sp>
      <p:sp>
        <p:nvSpPr>
          <p:cNvPr id="648" name="Google Shape;648;p83"/>
          <p:cNvSpPr/>
          <p:nvPr/>
        </p:nvSpPr>
        <p:spPr>
          <a:xfrm>
            <a:off x="8096400" y="4092120"/>
            <a:ext cx="6190920" cy="69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70" strike="noStrike">
                <a:solidFill>
                  <a:srgbClr val="526574"/>
                </a:solidFill>
                <a:latin typeface="Verdana"/>
                <a:ea typeface="Verdana"/>
                <a:cs typeface="Verdana"/>
                <a:sym typeface="Verdana"/>
              </a:rPr>
              <a:t>Match capacity, initialization and optimizer</a:t>
            </a:r>
            <a:endParaRPr b="0" sz="2170" strike="noStrike">
              <a:latin typeface="Arial"/>
              <a:ea typeface="Arial"/>
              <a:cs typeface="Arial"/>
              <a:sym typeface="Arial"/>
            </a:endParaRPr>
          </a:p>
          <a:p>
            <a:pPr indent="0" lvl="0" marL="0" marR="0" rtl="0" algn="l">
              <a:lnSpc>
                <a:spcPct val="100000"/>
              </a:lnSpc>
              <a:spcBef>
                <a:spcPts val="0"/>
              </a:spcBef>
              <a:spcAft>
                <a:spcPts val="0"/>
              </a:spcAft>
              <a:buNone/>
            </a:pPr>
            <a:r>
              <a:rPr b="0" lang="en-US" sz="2170" strike="noStrike">
                <a:solidFill>
                  <a:srgbClr val="526574"/>
                </a:solidFill>
                <a:latin typeface="Verdana"/>
                <a:ea typeface="Verdana"/>
                <a:cs typeface="Verdana"/>
                <a:sym typeface="Verdana"/>
              </a:rPr>
              <a:t>updates across seeds.</a:t>
            </a:r>
            <a:endParaRPr b="0" sz="2170" strike="noStrike">
              <a:latin typeface="Arial"/>
              <a:ea typeface="Arial"/>
              <a:cs typeface="Arial"/>
              <a:sym typeface="Arial"/>
            </a:endParaRPr>
          </a:p>
        </p:txBody>
      </p:sp>
      <p:sp>
        <p:nvSpPr>
          <p:cNvPr id="649" name="Google Shape;649;p83"/>
          <p:cNvSpPr/>
          <p:nvPr/>
        </p:nvSpPr>
        <p:spPr>
          <a:xfrm>
            <a:off x="8096400" y="5088240"/>
            <a:ext cx="6190920" cy="69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70" strike="noStrike">
                <a:solidFill>
                  <a:srgbClr val="526574"/>
                </a:solidFill>
                <a:latin typeface="Verdana"/>
                <a:ea typeface="Verdana"/>
                <a:cs typeface="Verdana"/>
                <a:sym typeface="Verdana"/>
              </a:rPr>
              <a:t>Compare adaptive patches with larger</a:t>
            </a:r>
            <a:endParaRPr b="0" sz="2170" strike="noStrike">
              <a:latin typeface="Arial"/>
              <a:ea typeface="Arial"/>
              <a:cs typeface="Arial"/>
              <a:sym typeface="Arial"/>
            </a:endParaRPr>
          </a:p>
          <a:p>
            <a:pPr indent="0" lvl="0" marL="0" marR="0" rtl="0" algn="l">
              <a:lnSpc>
                <a:spcPct val="100000"/>
              </a:lnSpc>
              <a:spcBef>
                <a:spcPts val="0"/>
              </a:spcBef>
              <a:spcAft>
                <a:spcPts val="0"/>
              </a:spcAft>
              <a:buNone/>
            </a:pPr>
            <a:r>
              <a:rPr b="0" lang="en-US" sz="2170" strike="noStrike">
                <a:solidFill>
                  <a:srgbClr val="526574"/>
                </a:solidFill>
                <a:latin typeface="Verdana"/>
                <a:ea typeface="Verdana"/>
                <a:cs typeface="Verdana"/>
                <a:sym typeface="Verdana"/>
              </a:rPr>
              <a:t>fixed-patch controls.</a:t>
            </a:r>
            <a:endParaRPr b="0" sz="2170" strike="noStrike">
              <a:latin typeface="Arial"/>
              <a:ea typeface="Arial"/>
              <a:cs typeface="Arial"/>
              <a:sym typeface="Arial"/>
            </a:endParaRPr>
          </a:p>
        </p:txBody>
      </p:sp>
      <p:sp>
        <p:nvSpPr>
          <p:cNvPr id="650" name="Google Shape;650;p83"/>
          <p:cNvSpPr/>
          <p:nvPr/>
        </p:nvSpPr>
        <p:spPr>
          <a:xfrm>
            <a:off x="685800" y="7620120"/>
            <a:ext cx="13867920" cy="428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870" strike="noStrike">
                <a:solidFill>
                  <a:srgbClr val="007F83"/>
                </a:solidFill>
                <a:latin typeface="Verdana"/>
                <a:ea typeface="Verdana"/>
                <a:cs typeface="Verdana"/>
                <a:sym typeface="Verdana"/>
              </a:rPr>
              <a:t>Judge gating by corruption response and refinement by per-object geometric errors.</a:t>
            </a:r>
            <a:endParaRPr b="0" sz="1870" strike="noStrike">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655" name="Shape 655"/>
        <p:cNvGrpSpPr/>
        <p:nvPr/>
      </p:nvGrpSpPr>
      <p:grpSpPr>
        <a:xfrm>
          <a:off x="0" y="0"/>
          <a:ext cx="0" cy="0"/>
          <a:chOff x="0" y="0"/>
          <a:chExt cx="0" cy="0"/>
        </a:xfrm>
      </p:grpSpPr>
      <p:sp>
        <p:nvSpPr>
          <p:cNvPr id="656" name="Google Shape;656;p84"/>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Deployment and optimization work to validate</a:t>
            </a:r>
            <a:endParaRPr b="0" sz="3450" strike="noStrike">
              <a:latin typeface="Arial"/>
              <a:ea typeface="Arial"/>
              <a:cs typeface="Arial"/>
              <a:sym typeface="Arial"/>
            </a:endParaRPr>
          </a:p>
        </p:txBody>
      </p:sp>
      <p:sp>
        <p:nvSpPr>
          <p:cNvPr id="657" name="Google Shape;657;p84"/>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A production path requires measured cost and numerical parity</a:t>
            </a:r>
            <a:endParaRPr b="0" sz="1870" strike="noStrike">
              <a:latin typeface="Arial"/>
              <a:ea typeface="Arial"/>
              <a:cs typeface="Arial"/>
              <a:sym typeface="Arial"/>
            </a:endParaRPr>
          </a:p>
        </p:txBody>
      </p:sp>
      <p:sp>
        <p:nvSpPr>
          <p:cNvPr id="658" name="Google Shape;658;p84"/>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19</a:t>
            </a:r>
            <a:endParaRPr b="0" sz="1280" strike="noStrike">
              <a:latin typeface="Arial"/>
              <a:ea typeface="Arial"/>
              <a:cs typeface="Arial"/>
              <a:sym typeface="Arial"/>
            </a:endParaRPr>
          </a:p>
        </p:txBody>
      </p:sp>
      <p:graphicFrame>
        <p:nvGraphicFramePr>
          <p:cNvPr id="659" name="Google Shape;659;p84"/>
          <p:cNvGraphicFramePr/>
          <p:nvPr/>
        </p:nvGraphicFramePr>
        <p:xfrm>
          <a:off x="685800" y="2095560"/>
          <a:ext cx="3000000" cy="3000000"/>
        </p:xfrm>
        <a:graphic>
          <a:graphicData uri="http://schemas.openxmlformats.org/drawingml/2006/table">
            <a:tbl>
              <a:tblPr>
                <a:noFill/>
                <a:tableStyleId>{95E7CD04-70E1-4013-8DFE-BD906A8056AE}</a:tableStyleId>
              </a:tblPr>
              <a:tblGrid>
                <a:gridCol w="3328200"/>
                <a:gridCol w="5408650"/>
                <a:gridCol w="5131075"/>
              </a:tblGrid>
              <a:tr h="785525">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Area</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Implementation fact</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Next measurement</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Latency</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No archived deployment benchmark</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End-to-end batch-1 p50/p95 with data movement</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Fusion cost</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1.112 M parameters vs 0.775 M in ConvFuser</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Kernel time and peak memory at target precision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Local sampling</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200 × 25 locations with bilinear interpolation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grid_sample and refinement-head timing</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Export</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Custom framework modules and compiled operations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Operator support and PyTorch/exported-model parity</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Numerical behavior</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FP32 heatmap path and AMP training command</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Compare decoded center/yaw/velocity errors by precision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r>
            </a:tbl>
          </a:graphicData>
        </a:graphic>
      </p:graphicFrame>
      <p:sp>
        <p:nvSpPr>
          <p:cNvPr id="660" name="Google Shape;660;p84"/>
          <p:cNvSpPr/>
          <p:nvPr/>
        </p:nvSpPr>
        <p:spPr>
          <a:xfrm>
            <a:off x="685800" y="7496280"/>
            <a:ext cx="13867920" cy="552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650" strike="noStrike">
                <a:solidFill>
                  <a:srgbClr val="526574"/>
                </a:solidFill>
                <a:latin typeface="Verdana"/>
                <a:ea typeface="Verdana"/>
                <a:cs typeface="Verdana"/>
                <a:sym typeface="Verdana"/>
              </a:rPr>
              <a:t>Parameter counts are derived from source. FPS, TensorRT speedup and production readiness are unmeasured.</a:t>
            </a:r>
            <a:endParaRPr b="0" sz="1650" strike="noStrike">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665" name="Shape 665"/>
        <p:cNvGrpSpPr/>
        <p:nvPr/>
      </p:nvGrpSpPr>
      <p:grpSpPr>
        <a:xfrm>
          <a:off x="0" y="0"/>
          <a:ext cx="0" cy="0"/>
          <a:chOff x="0" y="0"/>
          <a:chExt cx="0" cy="0"/>
        </a:xfrm>
      </p:grpSpPr>
      <p:sp>
        <p:nvSpPr>
          <p:cNvPr id="666" name="Google Shape;666;p85"/>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The next quantitative decision</a:t>
            </a:r>
            <a:endParaRPr b="0" sz="3450" strike="noStrike">
              <a:latin typeface="Arial"/>
              <a:ea typeface="Arial"/>
              <a:cs typeface="Arial"/>
              <a:sym typeface="Arial"/>
            </a:endParaRPr>
          </a:p>
        </p:txBody>
      </p:sp>
      <p:sp>
        <p:nvSpPr>
          <p:cNvPr id="667" name="Google Shape;667;p85"/>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A matched 2 × 2 ablation isolates fusion and refinement</a:t>
            </a:r>
            <a:endParaRPr b="0" sz="1870" strike="noStrike">
              <a:latin typeface="Arial"/>
              <a:ea typeface="Arial"/>
              <a:cs typeface="Arial"/>
              <a:sym typeface="Arial"/>
            </a:endParaRPr>
          </a:p>
        </p:txBody>
      </p:sp>
      <p:sp>
        <p:nvSpPr>
          <p:cNvPr id="668" name="Google Shape;668;p85"/>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20</a:t>
            </a:r>
            <a:endParaRPr b="0" sz="1280" strike="noStrike">
              <a:latin typeface="Arial"/>
              <a:ea typeface="Arial"/>
              <a:cs typeface="Arial"/>
              <a:sym typeface="Arial"/>
            </a:endParaRPr>
          </a:p>
        </p:txBody>
      </p:sp>
      <p:graphicFrame>
        <p:nvGraphicFramePr>
          <p:cNvPr id="669" name="Google Shape;669;p85"/>
          <p:cNvGraphicFramePr/>
          <p:nvPr/>
        </p:nvGraphicFramePr>
        <p:xfrm>
          <a:off x="685800" y="2238480"/>
          <a:ext cx="3000000" cy="3000000"/>
        </p:xfrm>
        <a:graphic>
          <a:graphicData uri="http://schemas.openxmlformats.org/drawingml/2006/table">
            <a:tbl>
              <a:tblPr>
                <a:noFill/>
                <a:tableStyleId>{95E7CD04-70E1-4013-8DFE-BD906A8056AE}</a:tableStyleId>
              </a:tblPr>
              <a:tblGrid>
                <a:gridCol w="4714925"/>
                <a:gridCol w="4576325"/>
                <a:gridCol w="4576325"/>
              </a:tblGrid>
              <a:tr h="809275">
                <a:tc>
                  <a:txBody>
                    <a:bodyPr/>
                    <a:lstStyle/>
                    <a:p>
                      <a:pPr indent="0" lvl="0" marL="0" marR="0" rtl="0" algn="l">
                        <a:lnSpc>
                          <a:spcPct val="100000"/>
                        </a:lnSpc>
                        <a:spcBef>
                          <a:spcPts val="0"/>
                        </a:spcBef>
                        <a:spcAft>
                          <a:spcPts val="0"/>
                        </a:spcAft>
                        <a:buNone/>
                      </a:pPr>
                      <a:r>
                        <a:rPr b="1" lang="en-US" sz="2100" u="none" cap="none" strike="noStrike">
                          <a:solidFill>
                            <a:srgbClr val="FFFFFF"/>
                          </a:solidFill>
                          <a:latin typeface="Verdana"/>
                          <a:ea typeface="Verdana"/>
                          <a:cs typeface="Verdana"/>
                          <a:sym typeface="Verdana"/>
                        </a:rPr>
                        <a:t>Fusion</a:t>
                      </a:r>
                      <a:endParaRPr b="0" sz="21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2100" u="none" cap="none" strike="noStrike">
                          <a:solidFill>
                            <a:srgbClr val="FFFFFF"/>
                          </a:solidFill>
                          <a:latin typeface="Verdana"/>
                          <a:ea typeface="Verdana"/>
                          <a:cs typeface="Verdana"/>
                          <a:sym typeface="Verdana"/>
                        </a:rPr>
                        <a:t>Refinement off</a:t>
                      </a:r>
                      <a:endParaRPr b="0" sz="21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2100" u="none" cap="none" strike="noStrike">
                          <a:solidFill>
                            <a:srgbClr val="FFFFFF"/>
                          </a:solidFill>
                          <a:latin typeface="Verdana"/>
                          <a:ea typeface="Verdana"/>
                          <a:cs typeface="Verdana"/>
                          <a:sym typeface="Verdana"/>
                        </a:rPr>
                        <a:t>Refinement on</a:t>
                      </a:r>
                      <a:endParaRPr b="0" sz="21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r>
              <a:tr h="809275">
                <a:tc>
                  <a:txBody>
                    <a:bodyPr/>
                    <a:lstStyle/>
                    <a:p>
                      <a:pPr indent="0" lvl="0" marL="0" marR="0" rtl="0" algn="l">
                        <a:lnSpc>
                          <a:spcPct val="100000"/>
                        </a:lnSpc>
                        <a:spcBef>
                          <a:spcPts val="0"/>
                        </a:spcBef>
                        <a:spcAft>
                          <a:spcPts val="0"/>
                        </a:spcAft>
                        <a:buNone/>
                      </a:pPr>
                      <a:r>
                        <a:rPr b="0" lang="en-US" sz="2100" u="none" cap="none" strike="noStrike">
                          <a:solidFill>
                            <a:srgbClr val="142B3E"/>
                          </a:solidFill>
                          <a:latin typeface="Verdana"/>
                          <a:ea typeface="Verdana"/>
                          <a:cs typeface="Verdana"/>
                          <a:sym typeface="Verdana"/>
                        </a:rPr>
                        <a:t>ConvFuser</a:t>
                      </a:r>
                      <a:endParaRPr b="0" sz="21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2100" u="none" cap="none" strike="noStrike">
                          <a:solidFill>
                            <a:srgbClr val="142B3E"/>
                          </a:solidFill>
                          <a:latin typeface="Verdana"/>
                          <a:ea typeface="Verdana"/>
                          <a:cs typeface="Verdana"/>
                          <a:sym typeface="Verdana"/>
                        </a:rPr>
                        <a:t>Baseline</a:t>
                      </a:r>
                      <a:endParaRPr b="0" sz="21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2100" u="none" cap="none" strike="noStrike">
                          <a:solidFill>
                            <a:srgbClr val="142B3E"/>
                          </a:solidFill>
                          <a:latin typeface="Verdana"/>
                          <a:ea typeface="Verdana"/>
                          <a:cs typeface="Verdana"/>
                          <a:sym typeface="Verdana"/>
                        </a:rPr>
                        <a:t>Local-refinement effect</a:t>
                      </a:r>
                      <a:endParaRPr b="0" sz="21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809275">
                <a:tc>
                  <a:txBody>
                    <a:bodyPr/>
                    <a:lstStyle/>
                    <a:p>
                      <a:pPr indent="0" lvl="0" marL="0" marR="0" rtl="0" algn="l">
                        <a:lnSpc>
                          <a:spcPct val="100000"/>
                        </a:lnSpc>
                        <a:spcBef>
                          <a:spcPts val="0"/>
                        </a:spcBef>
                        <a:spcAft>
                          <a:spcPts val="0"/>
                        </a:spcAft>
                        <a:buNone/>
                      </a:pPr>
                      <a:r>
                        <a:rPr b="0" lang="en-US" sz="2100" u="none" cap="none" strike="noStrike">
                          <a:solidFill>
                            <a:srgbClr val="142B3E"/>
                          </a:solidFill>
                          <a:latin typeface="Verdana"/>
                          <a:ea typeface="Verdana"/>
                          <a:cs typeface="Verdana"/>
                          <a:sym typeface="Verdana"/>
                        </a:rPr>
                        <a:t>ReliabilityAwareFuser</a:t>
                      </a:r>
                      <a:endParaRPr b="0" sz="21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2100" u="none" cap="none" strike="noStrike">
                          <a:solidFill>
                            <a:srgbClr val="142B3E"/>
                          </a:solidFill>
                          <a:latin typeface="Verdana"/>
                          <a:ea typeface="Verdana"/>
                          <a:cs typeface="Verdana"/>
                          <a:sym typeface="Verdana"/>
                        </a:rPr>
                        <a:t>Gate effect</a:t>
                      </a:r>
                      <a:endParaRPr b="0" sz="21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2100" u="none" cap="none" strike="noStrike">
                          <a:solidFill>
                            <a:srgbClr val="142B3E"/>
                          </a:solidFill>
                          <a:latin typeface="Verdana"/>
                          <a:ea typeface="Verdana"/>
                          <a:cs typeface="Verdana"/>
                          <a:sym typeface="Verdana"/>
                        </a:rPr>
                        <a:t>Combined effect / interaction</a:t>
                      </a:r>
                      <a:endParaRPr b="0" sz="21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r>
            </a:tbl>
          </a:graphicData>
        </a:graphic>
      </p:graphicFrame>
      <p:sp>
        <p:nvSpPr>
          <p:cNvPr id="670" name="Google Shape;670;p85"/>
          <p:cNvSpPr/>
          <p:nvPr/>
        </p:nvSpPr>
        <p:spPr>
          <a:xfrm>
            <a:off x="685800" y="5381640"/>
            <a:ext cx="13867920" cy="348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strike="noStrike">
                <a:solidFill>
                  <a:srgbClr val="526574"/>
                </a:solidFill>
                <a:latin typeface="Verdana"/>
                <a:ea typeface="Verdana"/>
                <a:cs typeface="Verdana"/>
                <a:sym typeface="Verdana"/>
              </a:rPr>
              <a:t>Match data, pretrained weights, training budget and evaluation.</a:t>
            </a:r>
            <a:endParaRPr b="0" sz="2100" strike="noStrike">
              <a:latin typeface="Arial"/>
              <a:ea typeface="Arial"/>
              <a:cs typeface="Arial"/>
              <a:sym typeface="Arial"/>
            </a:endParaRPr>
          </a:p>
        </p:txBody>
      </p:sp>
      <p:sp>
        <p:nvSpPr>
          <p:cNvPr id="671" name="Google Shape;671;p85"/>
          <p:cNvSpPr/>
          <p:nvPr/>
        </p:nvSpPr>
        <p:spPr>
          <a:xfrm>
            <a:off x="685800" y="5892120"/>
            <a:ext cx="13867920" cy="348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strike="noStrike">
                <a:solidFill>
                  <a:srgbClr val="526574"/>
                </a:solidFill>
                <a:latin typeface="Verdana"/>
                <a:ea typeface="Verdana"/>
                <a:cs typeface="Verdana"/>
                <a:sym typeface="Verdana"/>
              </a:rPr>
              <a:t>Run multiple seeds and archive configs, predictions and logs.</a:t>
            </a:r>
            <a:endParaRPr b="0" sz="2100" strike="noStrike">
              <a:latin typeface="Arial"/>
              <a:ea typeface="Arial"/>
              <a:cs typeface="Arial"/>
              <a:sym typeface="Arial"/>
            </a:endParaRPr>
          </a:p>
        </p:txBody>
      </p:sp>
      <p:sp>
        <p:nvSpPr>
          <p:cNvPr id="672" name="Google Shape;672;p85"/>
          <p:cNvSpPr/>
          <p:nvPr/>
        </p:nvSpPr>
        <p:spPr>
          <a:xfrm>
            <a:off x="685800" y="6402600"/>
            <a:ext cx="13867920" cy="348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strike="noStrike">
                <a:solidFill>
                  <a:srgbClr val="526574"/>
                </a:solidFill>
                <a:latin typeface="Verdana"/>
                <a:ea typeface="Verdana"/>
                <a:cs typeface="Verdana"/>
                <a:sym typeface="Verdana"/>
              </a:rPr>
              <a:t>Sweep radius {1,2,3} and residual scale {0.25,0.5,1.0}.</a:t>
            </a:r>
            <a:endParaRPr b="0" sz="2100" strike="noStrike">
              <a:latin typeface="Arial"/>
              <a:ea typeface="Arial"/>
              <a:cs typeface="Arial"/>
              <a:sym typeface="Arial"/>
            </a:endParaRPr>
          </a:p>
        </p:txBody>
      </p:sp>
      <p:sp>
        <p:nvSpPr>
          <p:cNvPr id="673" name="Google Shape;673;p85"/>
          <p:cNvSpPr/>
          <p:nvPr/>
        </p:nvSpPr>
        <p:spPr>
          <a:xfrm>
            <a:off x="685800" y="6913080"/>
            <a:ext cx="13867920" cy="348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100" strike="noStrike">
                <a:solidFill>
                  <a:srgbClr val="526574"/>
                </a:solidFill>
                <a:latin typeface="Verdana"/>
                <a:ea typeface="Verdana"/>
                <a:cs typeface="Verdana"/>
                <a:sym typeface="Verdana"/>
              </a:rPr>
              <a:t>Report geometric errors, range slices, corruption response and latency.</a:t>
            </a:r>
            <a:endParaRPr b="0" sz="2100" strike="noStrike">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678" name="Shape 678"/>
        <p:cNvGrpSpPr/>
        <p:nvPr/>
      </p:nvGrpSpPr>
      <p:grpSpPr>
        <a:xfrm>
          <a:off x="0" y="0"/>
          <a:ext cx="0" cy="0"/>
          <a:chOff x="0" y="0"/>
          <a:chExt cx="0" cy="0"/>
        </a:xfrm>
      </p:grpSpPr>
      <p:sp>
        <p:nvSpPr>
          <p:cNvPr id="679" name="Google Shape;679;p86"/>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Appendix: tensor shapes</a:t>
            </a:r>
            <a:endParaRPr b="0" sz="3450" strike="noStrike">
              <a:latin typeface="Arial"/>
              <a:ea typeface="Arial"/>
              <a:cs typeface="Arial"/>
              <a:sym typeface="Arial"/>
            </a:endParaRPr>
          </a:p>
        </p:txBody>
      </p:sp>
      <p:sp>
        <p:nvSpPr>
          <p:cNvPr id="680" name="Google Shape;680;p86"/>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B is batch size, N is the number of proposals, and H = W = 180</a:t>
            </a:r>
            <a:endParaRPr b="0" sz="1870" strike="noStrike">
              <a:latin typeface="Arial"/>
              <a:ea typeface="Arial"/>
              <a:cs typeface="Arial"/>
              <a:sym typeface="Arial"/>
            </a:endParaRPr>
          </a:p>
        </p:txBody>
      </p:sp>
      <p:sp>
        <p:nvSpPr>
          <p:cNvPr id="681" name="Google Shape;681;p86"/>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21</a:t>
            </a:r>
            <a:endParaRPr b="0" sz="1280" strike="noStrike">
              <a:latin typeface="Arial"/>
              <a:ea typeface="Arial"/>
              <a:cs typeface="Arial"/>
              <a:sym typeface="Arial"/>
            </a:endParaRPr>
          </a:p>
        </p:txBody>
      </p:sp>
      <p:graphicFrame>
        <p:nvGraphicFramePr>
          <p:cNvPr id="682" name="Google Shape;682;p86"/>
          <p:cNvGraphicFramePr/>
          <p:nvPr/>
        </p:nvGraphicFramePr>
        <p:xfrm>
          <a:off x="685800" y="1847880"/>
          <a:ext cx="3000000" cy="3000000"/>
        </p:xfrm>
        <a:graphic>
          <a:graphicData uri="http://schemas.openxmlformats.org/drawingml/2006/table">
            <a:tbl>
              <a:tblPr>
                <a:noFill/>
                <a:tableStyleId>{95E7CD04-70E1-4013-8DFE-BD906A8056AE}</a:tableStyleId>
              </a:tblPr>
              <a:tblGrid>
                <a:gridCol w="3882950"/>
                <a:gridCol w="5963400"/>
                <a:gridCol w="4021550"/>
              </a:tblGrid>
              <a:tr h="554050">
                <a:tc>
                  <a:txBody>
                    <a:bodyPr/>
                    <a:lstStyle/>
                    <a:p>
                      <a:pPr indent="0" lvl="0" marL="0" marR="0" rtl="0" algn="l">
                        <a:lnSpc>
                          <a:spcPct val="100000"/>
                        </a:lnSpc>
                        <a:spcBef>
                          <a:spcPts val="0"/>
                        </a:spcBef>
                        <a:spcAft>
                          <a:spcPts val="0"/>
                        </a:spcAft>
                        <a:buNone/>
                      </a:pPr>
                      <a:r>
                        <a:rPr b="1" lang="en-US" sz="1729" u="none" cap="none" strike="noStrike">
                          <a:solidFill>
                            <a:srgbClr val="FFFFFF"/>
                          </a:solidFill>
                          <a:latin typeface="Verdana"/>
                          <a:ea typeface="Verdana"/>
                          <a:cs typeface="Verdana"/>
                          <a:sym typeface="Verdana"/>
                        </a:rPr>
                        <a:t>Tensor</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729" u="none" cap="none" strike="noStrike">
                          <a:solidFill>
                            <a:srgbClr val="FFFFFF"/>
                          </a:solidFill>
                          <a:latin typeface="Verdana"/>
                          <a:ea typeface="Verdana"/>
                          <a:cs typeface="Verdana"/>
                          <a:sym typeface="Verdana"/>
                        </a:rPr>
                        <a:t>Shape</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729" u="none" cap="none" strike="noStrike">
                          <a:solidFill>
                            <a:srgbClr val="FFFFFF"/>
                          </a:solidFill>
                          <a:latin typeface="Verdana"/>
                          <a:ea typeface="Verdana"/>
                          <a:cs typeface="Verdana"/>
                          <a:sym typeface="Verdana"/>
                        </a:rPr>
                        <a:t>Boundary</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r>
              <a:tr h="554050">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Images</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B × 6 × 3 × 256 × 704</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Resized and normalized views</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554050">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Image feature</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B × 6 × 256 × 32 × 88</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Selected image-neck level</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554050">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Lifted frustum</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B × 6 × 118 × 32 × 88 × 80</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Depth-weighted context</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554050">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Camera / LiDAR BEV</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B × 80 × H × W / B × 256 × H × W</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Before the custom fuser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554050">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Projected U / V</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B × 128 × H × W</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Hidden fusion features</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554050">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O / R / G maps</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B × 1 × H × W</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Feature proxies and gate</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554050">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Fuser output / shared neck</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B × 256 × H × W / B × 512 × H × W</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Before / after SECOND-FPN</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554050">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Head feature / queries</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B × 128 × H × W / B × 128 × 200</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Local sampling feature / decoder</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554050">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Sample grid / patch features</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B × 200 × 25 × 2 / B × 128 × 200 × 25</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grid_sample boundary</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554050">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Encoded geometry / class logits</a:t>
                      </a:r>
                      <a:endParaRPr b="0" sz="1729"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B × 10 × 200 / B × 10 × 200</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729" u="none" cap="none" strike="noStrike">
                          <a:solidFill>
                            <a:srgbClr val="142B3E"/>
                          </a:solidFill>
                          <a:latin typeface="Verdana"/>
                          <a:ea typeface="Verdana"/>
                          <a:cs typeface="Verdana"/>
                          <a:sym typeface="Verdana"/>
                        </a:rPr>
                        <a:t>Different semantics, equal sizes</a:t>
                      </a:r>
                      <a:endParaRPr b="0" sz="1729"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687" name="Shape 687"/>
        <p:cNvGrpSpPr/>
        <p:nvPr/>
      </p:nvGrpSpPr>
      <p:grpSpPr>
        <a:xfrm>
          <a:off x="0" y="0"/>
          <a:ext cx="0" cy="0"/>
          <a:chOff x="0" y="0"/>
          <a:chExt cx="0" cy="0"/>
        </a:xfrm>
      </p:grpSpPr>
      <p:sp>
        <p:nvSpPr>
          <p:cNvPr id="688" name="Google Shape;688;p87"/>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Appendix: timestamps and long-range alignment</a:t>
            </a:r>
            <a:endParaRPr b="0" sz="3450" strike="noStrike">
              <a:latin typeface="Arial"/>
              <a:ea typeface="Arial"/>
              <a:cs typeface="Arial"/>
              <a:sym typeface="Arial"/>
            </a:endParaRPr>
          </a:p>
        </p:txBody>
      </p:sp>
      <p:sp>
        <p:nvSpPr>
          <p:cNvPr id="689" name="Google Shape;689;p87"/>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Static calibration and time alignment solve different parts of the problem</a:t>
            </a:r>
            <a:endParaRPr b="0" sz="1870" strike="noStrike">
              <a:latin typeface="Arial"/>
              <a:ea typeface="Arial"/>
              <a:cs typeface="Arial"/>
              <a:sym typeface="Arial"/>
            </a:endParaRPr>
          </a:p>
        </p:txBody>
      </p:sp>
      <p:sp>
        <p:nvSpPr>
          <p:cNvPr id="690" name="Google Shape;690;p87"/>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22</a:t>
            </a:r>
            <a:endParaRPr b="0" sz="1280" strike="noStrike">
              <a:latin typeface="Arial"/>
              <a:ea typeface="Arial"/>
              <a:cs typeface="Arial"/>
              <a:sym typeface="Arial"/>
            </a:endParaRPr>
          </a:p>
        </p:txBody>
      </p:sp>
      <p:sp>
        <p:nvSpPr>
          <p:cNvPr id="691" name="Google Shape;691;p87"/>
          <p:cNvSpPr/>
          <p:nvPr/>
        </p:nvSpPr>
        <p:spPr>
          <a:xfrm>
            <a:off x="685800" y="209556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T(C←L) = [T(G←E,t_c) T(E←C)]⁻¹ [T(G←E,t_l) T(E←L)]</a:t>
            </a:r>
            <a:endParaRPr b="0" sz="2470" strike="noStrike">
              <a:latin typeface="Arial"/>
              <a:ea typeface="Arial"/>
              <a:cs typeface="Arial"/>
              <a:sym typeface="Arial"/>
            </a:endParaRPr>
          </a:p>
        </p:txBody>
      </p:sp>
      <p:sp>
        <p:nvSpPr>
          <p:cNvPr id="692" name="Google Shape;692;p87"/>
          <p:cNvSpPr/>
          <p:nvPr/>
        </p:nvSpPr>
        <p:spPr>
          <a:xfrm>
            <a:off x="685800" y="288612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pˡ(t₀) = [T(G←E,t₀) T(E←L)]⁻¹ [T(G←E,t_s) T(E←L)] pˡ(t_s)</a:t>
            </a:r>
            <a:endParaRPr b="0" sz="2470" strike="noStrike">
              <a:latin typeface="Arial"/>
              <a:ea typeface="Arial"/>
              <a:cs typeface="Arial"/>
              <a:sym typeface="Arial"/>
            </a:endParaRPr>
          </a:p>
        </p:txBody>
      </p:sp>
      <p:sp>
        <p:nvSpPr>
          <p:cNvPr id="693" name="Google Shape;693;p87"/>
          <p:cNvSpPr/>
          <p:nvPr/>
        </p:nvSpPr>
        <p:spPr>
          <a:xfrm>
            <a:off x="685800" y="367668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Lateral error ≈ range × angular error</a:t>
            </a:r>
            <a:endParaRPr b="0" sz="2470" strike="noStrike">
              <a:latin typeface="Arial"/>
              <a:ea typeface="Arial"/>
              <a:cs typeface="Arial"/>
              <a:sym typeface="Arial"/>
            </a:endParaRPr>
          </a:p>
        </p:txBody>
      </p:sp>
      <p:sp>
        <p:nvSpPr>
          <p:cNvPr id="694" name="Google Shape;694;p87"/>
          <p:cNvSpPr/>
          <p:nvPr/>
        </p:nvSpPr>
        <p:spPr>
          <a:xfrm>
            <a:off x="685800" y="446724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50 m × (0.1° × π/180) ≈ 0.087 m</a:t>
            </a:r>
            <a:endParaRPr b="0" sz="2470" strike="noStrike">
              <a:latin typeface="Arial"/>
              <a:ea typeface="Arial"/>
              <a:cs typeface="Arial"/>
              <a:sym typeface="Arial"/>
            </a:endParaRPr>
          </a:p>
        </p:txBody>
      </p:sp>
      <p:sp>
        <p:nvSpPr>
          <p:cNvPr id="695" name="Google Shape;695;p87"/>
          <p:cNvSpPr/>
          <p:nvPr/>
        </p:nvSpPr>
        <p:spPr>
          <a:xfrm>
            <a:off x="685800" y="556272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Extrinsics describe fixed sensor mounting transforms.</a:t>
            </a:r>
            <a:endParaRPr b="0" sz="2020" strike="noStrike">
              <a:latin typeface="Arial"/>
              <a:ea typeface="Arial"/>
              <a:cs typeface="Arial"/>
              <a:sym typeface="Arial"/>
            </a:endParaRPr>
          </a:p>
        </p:txBody>
      </p:sp>
      <p:sp>
        <p:nvSpPr>
          <p:cNvPr id="696" name="Google Shape;696;p87"/>
          <p:cNvSpPr/>
          <p:nvPr/>
        </p:nvSpPr>
        <p:spPr>
          <a:xfrm>
            <a:off x="685800" y="603324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Ego poses align measurements captured at different times.</a:t>
            </a:r>
            <a:endParaRPr b="0" sz="2020" strike="noStrike">
              <a:latin typeface="Arial"/>
              <a:ea typeface="Arial"/>
              <a:cs typeface="Arial"/>
              <a:sym typeface="Arial"/>
            </a:endParaRPr>
          </a:p>
        </p:txBody>
      </p:sp>
      <p:sp>
        <p:nvSpPr>
          <p:cNvPr id="697" name="Google Shape;697;p87"/>
          <p:cNvSpPr/>
          <p:nvPr/>
        </p:nvSpPr>
        <p:spPr>
          <a:xfrm>
            <a:off x="685800" y="650376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Ego compensation does not remove independent object motion.</a:t>
            </a:r>
            <a:endParaRPr b="0" sz="2020" strike="noStrike">
              <a:latin typeface="Arial"/>
              <a:ea typeface="Arial"/>
              <a:cs typeface="Arial"/>
              <a:sym typeface="Arial"/>
            </a:endParaRPr>
          </a:p>
        </p:txBody>
      </p:sp>
      <p:sp>
        <p:nvSpPr>
          <p:cNvPr id="698" name="Google Shape;698;p87"/>
          <p:cNvSpPr/>
          <p:nvPr/>
        </p:nvSpPr>
        <p:spPr>
          <a:xfrm>
            <a:off x="685800" y="697428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The numerical example illustrates geometry, not a measured project error.</a:t>
            </a:r>
            <a:endParaRPr b="0" sz="2020" strike="noStrike">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703" name="Shape 703"/>
        <p:cNvGrpSpPr/>
        <p:nvPr/>
      </p:nvGrpSpPr>
      <p:grpSpPr>
        <a:xfrm>
          <a:off x="0" y="0"/>
          <a:ext cx="0" cy="0"/>
          <a:chOff x="0" y="0"/>
          <a:chExt cx="0" cy="0"/>
        </a:xfrm>
      </p:grpSpPr>
      <p:sp>
        <p:nvSpPr>
          <p:cNvPr id="704" name="Google Shape;704;p88"/>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Appendix: augmentation bookkeeping</a:t>
            </a:r>
            <a:endParaRPr b="0" sz="3450" strike="noStrike">
              <a:latin typeface="Arial"/>
              <a:ea typeface="Arial"/>
              <a:cs typeface="Arial"/>
              <a:sym typeface="Arial"/>
            </a:endParaRPr>
          </a:p>
        </p:txBody>
      </p:sp>
      <p:sp>
        <p:nvSpPr>
          <p:cNvPr id="705" name="Google Shape;705;p88"/>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The image lattice, depth hypotheses and 3D labels must move consistently</a:t>
            </a:r>
            <a:endParaRPr b="0" sz="1870" strike="noStrike">
              <a:latin typeface="Arial"/>
              <a:ea typeface="Arial"/>
              <a:cs typeface="Arial"/>
              <a:sym typeface="Arial"/>
            </a:endParaRPr>
          </a:p>
        </p:txBody>
      </p:sp>
      <p:sp>
        <p:nvSpPr>
          <p:cNvPr id="706" name="Google Shape;706;p88"/>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23</a:t>
            </a:r>
            <a:endParaRPr b="0" sz="1280" strike="noStrike">
              <a:latin typeface="Arial"/>
              <a:ea typeface="Arial"/>
              <a:cs typeface="Arial"/>
              <a:sym typeface="Arial"/>
            </a:endParaRPr>
          </a:p>
        </p:txBody>
      </p:sp>
      <p:sp>
        <p:nvSpPr>
          <p:cNvPr id="707" name="Google Shape;707;p88"/>
          <p:cNvSpPr/>
          <p:nvPr/>
        </p:nvSpPr>
        <p:spPr>
          <a:xfrm>
            <a:off x="685800" y="209556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ũ = Aimg⁻¹ ũaug</a:t>
            </a:r>
            <a:endParaRPr b="0" sz="2470" strike="noStrike">
              <a:latin typeface="Arial"/>
              <a:ea typeface="Arial"/>
              <a:cs typeface="Arial"/>
              <a:sym typeface="Arial"/>
            </a:endParaRPr>
          </a:p>
        </p:txBody>
      </p:sp>
      <p:sp>
        <p:nvSpPr>
          <p:cNvPr id="708" name="Google Shape;708;p88"/>
          <p:cNvSpPr/>
          <p:nvPr/>
        </p:nvSpPr>
        <p:spPr>
          <a:xfrm>
            <a:off x="685800" y="288612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pˡaug = Maug Rᶜₗᵀ (d K⁻¹ ũ − tᶜₗ) + taug</a:t>
            </a:r>
            <a:endParaRPr b="0" sz="2470" strike="noStrike">
              <a:latin typeface="Arial"/>
              <a:ea typeface="Arial"/>
              <a:cs typeface="Arial"/>
              <a:sym typeface="Arial"/>
            </a:endParaRPr>
          </a:p>
        </p:txBody>
      </p:sp>
      <p:sp>
        <p:nvSpPr>
          <p:cNvPr id="709" name="Google Shape;709;p88"/>
          <p:cNvSpPr/>
          <p:nvPr/>
        </p:nvSpPr>
        <p:spPr>
          <a:xfrm>
            <a:off x="685800" y="367668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K′ = S K     for a pure image resize S</a:t>
            </a:r>
            <a:endParaRPr b="0" sz="2470" strike="noStrike">
              <a:latin typeface="Arial"/>
              <a:ea typeface="Arial"/>
              <a:cs typeface="Arial"/>
              <a:sym typeface="Arial"/>
            </a:endParaRPr>
          </a:p>
        </p:txBody>
      </p:sp>
      <p:sp>
        <p:nvSpPr>
          <p:cNvPr id="710" name="Google Shape;710;p88"/>
          <p:cNvSpPr/>
          <p:nvPr/>
        </p:nvSpPr>
        <p:spPr>
          <a:xfrm>
            <a:off x="685800" y="446724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R⁻¹ = Rᵀ,     t⁻¹ = −Rᵀt</a:t>
            </a:r>
            <a:endParaRPr b="0" sz="2470" strike="noStrike">
              <a:latin typeface="Arial"/>
              <a:ea typeface="Arial"/>
              <a:cs typeface="Arial"/>
              <a:sym typeface="Arial"/>
            </a:endParaRPr>
          </a:p>
        </p:txBody>
      </p:sp>
      <p:sp>
        <p:nvSpPr>
          <p:cNvPr id="711" name="Google Shape;711;p88"/>
          <p:cNvSpPr/>
          <p:nvPr/>
        </p:nvSpPr>
        <p:spPr>
          <a:xfrm>
            <a:off x="685800" y="556272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Image resize, crop, flip and rotation enter img_aug_matrix.</a:t>
            </a:r>
            <a:endParaRPr b="0" sz="2020" strike="noStrike">
              <a:latin typeface="Arial"/>
              <a:ea typeface="Arial"/>
              <a:cs typeface="Arial"/>
              <a:sym typeface="Arial"/>
            </a:endParaRPr>
          </a:p>
        </p:txBody>
      </p:sp>
      <p:sp>
        <p:nvSpPr>
          <p:cNvPr id="712" name="Google Shape;712;p88"/>
          <p:cNvSpPr/>
          <p:nvPr/>
        </p:nvSpPr>
        <p:spPr>
          <a:xfrm>
            <a:off x="685800" y="603324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3D rotation, scale, translation and flip enter lidar_aug_matrix.</a:t>
            </a:r>
            <a:endParaRPr b="0" sz="2020" strike="noStrike">
              <a:latin typeface="Arial"/>
              <a:ea typeface="Arial"/>
              <a:cs typeface="Arial"/>
              <a:sym typeface="Arial"/>
            </a:endParaRPr>
          </a:p>
        </p:txBody>
      </p:sp>
      <p:sp>
        <p:nvSpPr>
          <p:cNvPr id="713" name="Google Shape;713;p88"/>
          <p:cNvSpPr/>
          <p:nvPr/>
        </p:nvSpPr>
        <p:spPr>
          <a:xfrm>
            <a:off x="685800" y="650376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The inherited frustum spans original resized-image pixel coordinates.</a:t>
            </a:r>
            <a:endParaRPr b="0" sz="2020" strike="noStrike">
              <a:latin typeface="Arial"/>
              <a:ea typeface="Arial"/>
              <a:cs typeface="Arial"/>
              <a:sym typeface="Arial"/>
            </a:endParaRPr>
          </a:p>
        </p:txBody>
      </p:sp>
      <p:sp>
        <p:nvSpPr>
          <p:cNvPr id="714" name="Google Shape;714;p88"/>
          <p:cNvSpPr/>
          <p:nvPr/>
        </p:nvSpPr>
        <p:spPr>
          <a:xfrm>
            <a:off x="685800" y="697428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Extrinsics retain their physical meaning after image resizing.</a:t>
            </a:r>
            <a:endParaRPr b="0" sz="2020" strike="noStrike">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719" name="Shape 719"/>
        <p:cNvGrpSpPr/>
        <p:nvPr/>
      </p:nvGrpSpPr>
      <p:grpSpPr>
        <a:xfrm>
          <a:off x="0" y="0"/>
          <a:ext cx="0" cy="0"/>
          <a:chOff x="0" y="0"/>
          <a:chExt cx="0" cy="0"/>
        </a:xfrm>
      </p:grpSpPr>
      <p:sp>
        <p:nvSpPr>
          <p:cNvPr id="720" name="Google Shape;720;p89"/>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Appendix: BEV indexing and sampler conventions</a:t>
            </a:r>
            <a:endParaRPr b="0" sz="3450" strike="noStrike">
              <a:latin typeface="Arial"/>
              <a:ea typeface="Arial"/>
              <a:cs typeface="Arial"/>
              <a:sym typeface="Arial"/>
            </a:endParaRPr>
          </a:p>
        </p:txBody>
      </p:sp>
      <p:sp>
        <p:nvSpPr>
          <p:cNvPr id="721" name="Google Shape;721;p89"/>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A square grid can conceal an x/y transpose</a:t>
            </a:r>
            <a:endParaRPr b="0" sz="1870" strike="noStrike">
              <a:latin typeface="Arial"/>
              <a:ea typeface="Arial"/>
              <a:cs typeface="Arial"/>
              <a:sym typeface="Arial"/>
            </a:endParaRPr>
          </a:p>
        </p:txBody>
      </p:sp>
      <p:sp>
        <p:nvSpPr>
          <p:cNvPr id="722" name="Google Shape;722;p89"/>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24</a:t>
            </a:r>
            <a:endParaRPr b="0" sz="1280" strike="noStrike">
              <a:latin typeface="Arial"/>
              <a:ea typeface="Arial"/>
              <a:cs typeface="Arial"/>
              <a:sym typeface="Arial"/>
            </a:endParaRPr>
          </a:p>
        </p:txBody>
      </p:sp>
      <p:sp>
        <p:nvSpPr>
          <p:cNvPr id="723" name="Google Shape;723;p89"/>
          <p:cNvSpPr/>
          <p:nvPr/>
        </p:nvSpPr>
        <p:spPr>
          <a:xfrm>
            <a:off x="685800" y="209556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cₓ = (x + 54)/0.6,     cᵧ = (y + 54)/0.6</a:t>
            </a:r>
            <a:endParaRPr b="0" sz="2470" strike="noStrike">
              <a:latin typeface="Arial"/>
              <a:ea typeface="Arial"/>
              <a:cs typeface="Arial"/>
              <a:sym typeface="Arial"/>
            </a:endParaRPr>
          </a:p>
        </p:txBody>
      </p:sp>
      <p:sp>
        <p:nvSpPr>
          <p:cNvPr id="724" name="Google Shape;724;p89"/>
          <p:cNvSpPr/>
          <p:nvPr/>
        </p:nvSpPr>
        <p:spPr>
          <a:xfrm>
            <a:off x="685800" y="288612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gx = 2xsample/(W − 1) − 1</a:t>
            </a:r>
            <a:endParaRPr b="0" sz="2470" strike="noStrike">
              <a:latin typeface="Arial"/>
              <a:ea typeface="Arial"/>
              <a:cs typeface="Arial"/>
              <a:sym typeface="Arial"/>
            </a:endParaRPr>
          </a:p>
        </p:txBody>
      </p:sp>
      <p:sp>
        <p:nvSpPr>
          <p:cNvPr id="725" name="Google Shape;725;p89"/>
          <p:cNvSpPr/>
          <p:nvPr/>
        </p:nvSpPr>
        <p:spPr>
          <a:xfrm>
            <a:off x="685800" y="367668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gy = 2ysample/(H − 1) − 1</a:t>
            </a:r>
            <a:endParaRPr b="0" sz="2470" strike="noStrike">
              <a:latin typeface="Arial"/>
              <a:ea typeface="Arial"/>
              <a:cs typeface="Arial"/>
              <a:sym typeface="Arial"/>
            </a:endParaRPr>
          </a:p>
        </p:txBody>
      </p:sp>
      <p:sp>
        <p:nvSpPr>
          <p:cNvPr id="726" name="Google Shape;726;p89"/>
          <p:cNvSpPr/>
          <p:nvPr/>
        </p:nvSpPr>
        <p:spPr>
          <a:xfrm>
            <a:off x="685800" y="477216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The inherited query grid adds a 0.5 cell-center offset.</a:t>
            </a:r>
            <a:endParaRPr b="0" sz="2020" strike="noStrike">
              <a:latin typeface="Arial"/>
              <a:ea typeface="Arial"/>
              <a:cs typeface="Arial"/>
              <a:sym typeface="Arial"/>
            </a:endParaRPr>
          </a:p>
        </p:txBody>
      </p:sp>
      <p:sp>
        <p:nvSpPr>
          <p:cNvPr id="727" name="Google Shape;727;p89"/>
          <p:cNvSpPr/>
          <p:nvPr/>
        </p:nvSpPr>
        <p:spPr>
          <a:xfrm>
            <a:off x="685800" y="524268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The heatmap path includes an explicit axis swap.</a:t>
            </a:r>
            <a:endParaRPr b="0" sz="2020" strike="noStrike">
              <a:latin typeface="Arial"/>
              <a:ea typeface="Arial"/>
              <a:cs typeface="Arial"/>
              <a:sym typeface="Arial"/>
            </a:endParaRPr>
          </a:p>
        </p:txBody>
      </p:sp>
      <p:sp>
        <p:nvSpPr>
          <p:cNvPr id="728" name="Google Shape;728;p89"/>
          <p:cNvSpPr/>
          <p:nvPr/>
        </p:nvSpPr>
        <p:spPr>
          <a:xfrm>
            <a:off x="685800" y="571320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The refinement sampler expects coordinate order (x, y).</a:t>
            </a:r>
            <a:endParaRPr b="0" sz="2020" strike="noStrike">
              <a:latin typeface="Arial"/>
              <a:ea typeface="Arial"/>
              <a:cs typeface="Arial"/>
              <a:sym typeface="Arial"/>
            </a:endParaRPr>
          </a:p>
        </p:txBody>
      </p:sp>
      <p:sp>
        <p:nvSpPr>
          <p:cNvPr id="729" name="Google Shape;729;p89"/>
          <p:cNvSpPr/>
          <p:nvPr/>
        </p:nvSpPr>
        <p:spPr>
          <a:xfrm>
            <a:off x="685800" y="618372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A non-square synthetic map and known centers should verify the full chain.</a:t>
            </a:r>
            <a:endParaRPr b="0" sz="2020" strike="noStrike">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734" name="Shape 734"/>
        <p:cNvGrpSpPr/>
        <p:nvPr/>
      </p:nvGrpSpPr>
      <p:grpSpPr>
        <a:xfrm>
          <a:off x="0" y="0"/>
          <a:ext cx="0" cy="0"/>
          <a:chOff x="0" y="0"/>
          <a:chExt cx="0" cy="0"/>
        </a:xfrm>
      </p:grpSpPr>
      <p:sp>
        <p:nvSpPr>
          <p:cNvPr id="735" name="Google Shape;735;p90"/>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Appendix: bilinear sampling and gradients</a:t>
            </a:r>
            <a:endParaRPr b="0" sz="3450" strike="noStrike">
              <a:latin typeface="Arial"/>
              <a:ea typeface="Arial"/>
              <a:cs typeface="Arial"/>
              <a:sym typeface="Arial"/>
            </a:endParaRPr>
          </a:p>
        </p:txBody>
      </p:sp>
      <p:sp>
        <p:nvSpPr>
          <p:cNvPr id="736" name="Google Shape;736;p90"/>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Local context remains differentiable with respect to features and sample position</a:t>
            </a:r>
            <a:endParaRPr b="0" sz="1870" strike="noStrike">
              <a:latin typeface="Arial"/>
              <a:ea typeface="Arial"/>
              <a:cs typeface="Arial"/>
              <a:sym typeface="Arial"/>
            </a:endParaRPr>
          </a:p>
        </p:txBody>
      </p:sp>
      <p:sp>
        <p:nvSpPr>
          <p:cNvPr id="737" name="Google Shape;737;p90"/>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25</a:t>
            </a:r>
            <a:endParaRPr b="0" sz="1280" strike="noStrike">
              <a:latin typeface="Arial"/>
              <a:ea typeface="Arial"/>
              <a:cs typeface="Arial"/>
              <a:sym typeface="Arial"/>
            </a:endParaRPr>
          </a:p>
        </p:txBody>
      </p:sp>
      <p:sp>
        <p:nvSpPr>
          <p:cNvPr id="738" name="Google Shape;738;p90"/>
          <p:cNvSpPr/>
          <p:nvPr/>
        </p:nvSpPr>
        <p:spPr>
          <a:xfrm>
            <a:off x="685800" y="209556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Fs(x,y) = Σₘ,ₙ F(m,n) κ(x − n) κ(y − m)</a:t>
            </a:r>
            <a:endParaRPr b="0" sz="2470" strike="noStrike">
              <a:latin typeface="Arial"/>
              <a:ea typeface="Arial"/>
              <a:cs typeface="Arial"/>
              <a:sym typeface="Arial"/>
            </a:endParaRPr>
          </a:p>
        </p:txBody>
      </p:sp>
      <p:sp>
        <p:nvSpPr>
          <p:cNvPr id="739" name="Google Shape;739;p90"/>
          <p:cNvSpPr/>
          <p:nvPr/>
        </p:nvSpPr>
        <p:spPr>
          <a:xfrm>
            <a:off x="685800" y="288612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κ(t) = max(0, 1 − |t|)</a:t>
            </a:r>
            <a:endParaRPr b="0" sz="2470" strike="noStrike">
              <a:latin typeface="Arial"/>
              <a:ea typeface="Arial"/>
              <a:cs typeface="Arial"/>
              <a:sym typeface="Arial"/>
            </a:endParaRPr>
          </a:p>
        </p:txBody>
      </p:sp>
      <p:sp>
        <p:nvSpPr>
          <p:cNvPr id="740" name="Google Shape;740;p90"/>
          <p:cNvSpPr/>
          <p:nvPr/>
        </p:nvSpPr>
        <p:spPr>
          <a:xfrm>
            <a:off x="685800" y="367668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q̄ⱼ = (1/25) Σδ Fs(cⱼ + δ)</a:t>
            </a:r>
            <a:endParaRPr b="0" sz="2470" strike="noStrike">
              <a:latin typeface="Arial"/>
              <a:ea typeface="Arial"/>
              <a:cs typeface="Arial"/>
              <a:sym typeface="Arial"/>
            </a:endParaRPr>
          </a:p>
        </p:txBody>
      </p:sp>
      <p:sp>
        <p:nvSpPr>
          <p:cNvPr id="741" name="Google Shape;741;p90"/>
          <p:cNvSpPr/>
          <p:nvPr/>
        </p:nvSpPr>
        <p:spPr>
          <a:xfrm>
            <a:off x="685800" y="446724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∂L/∂cⱼ includes the sampling-grid path</a:t>
            </a:r>
            <a:endParaRPr b="0" sz="2470" strike="noStrike">
              <a:latin typeface="Arial"/>
              <a:ea typeface="Arial"/>
              <a:cs typeface="Arial"/>
              <a:sym typeface="Arial"/>
            </a:endParaRPr>
          </a:p>
        </p:txBody>
      </p:sp>
      <p:sp>
        <p:nvSpPr>
          <p:cNvPr id="742" name="Google Shape;742;p90"/>
          <p:cNvSpPr/>
          <p:nvPr/>
        </p:nvSpPr>
        <p:spPr>
          <a:xfrm>
            <a:off x="685800" y="556272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Only neighboring lattice values receive a bilinear sample's weights.</a:t>
            </a:r>
            <a:endParaRPr b="0" sz="2020" strike="noStrike">
              <a:latin typeface="Arial"/>
              <a:ea typeface="Arial"/>
              <a:cs typeface="Arial"/>
              <a:sym typeface="Arial"/>
            </a:endParaRPr>
          </a:p>
        </p:txBody>
      </p:sp>
      <p:sp>
        <p:nvSpPr>
          <p:cNvPr id="743" name="Google Shape;743;p90"/>
          <p:cNvSpPr/>
          <p:nvPr/>
        </p:nvSpPr>
        <p:spPr>
          <a:xfrm>
            <a:off x="685800" y="603324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The coarse center is not detached before sampling.</a:t>
            </a:r>
            <a:endParaRPr b="0" sz="2020" strike="noStrike">
              <a:latin typeface="Arial"/>
              <a:ea typeface="Arial"/>
              <a:cs typeface="Arial"/>
              <a:sym typeface="Arial"/>
            </a:endParaRPr>
          </a:p>
        </p:txBody>
      </p:sp>
      <p:sp>
        <p:nvSpPr>
          <p:cNvPr id="744" name="Google Shape;744;p90"/>
          <p:cNvSpPr/>
          <p:nvPr/>
        </p:nvSpPr>
        <p:spPr>
          <a:xfrm>
            <a:off x="685800" y="650376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Top-k selection and hard voxel assignment remain discrete.</a:t>
            </a:r>
            <a:endParaRPr b="0" sz="2020" strike="noStrike">
              <a:latin typeface="Arial"/>
              <a:ea typeface="Arial"/>
              <a:cs typeface="Arial"/>
              <a:sym typeface="Arial"/>
            </a:endParaRPr>
          </a:p>
        </p:txBody>
      </p:sp>
      <p:sp>
        <p:nvSpPr>
          <p:cNvPr id="745" name="Google Shape;745;p90"/>
          <p:cNvSpPr/>
          <p:nvPr/>
        </p:nvSpPr>
        <p:spPr>
          <a:xfrm>
            <a:off x="685800" y="697428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Zero padding can weaken context near a BEV boundary.</a:t>
            </a:r>
            <a:endParaRPr b="0" sz="2020" strike="noStrike">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750" name="Shape 750"/>
        <p:cNvGrpSpPr/>
        <p:nvPr/>
      </p:nvGrpSpPr>
      <p:grpSpPr>
        <a:xfrm>
          <a:off x="0" y="0"/>
          <a:ext cx="0" cy="0"/>
          <a:chOff x="0" y="0"/>
          <a:chExt cx="0" cy="0"/>
        </a:xfrm>
      </p:grpSpPr>
      <p:sp>
        <p:nvSpPr>
          <p:cNvPr id="751" name="Google Shape;751;p91"/>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Appendix: box coding and units</a:t>
            </a:r>
            <a:endParaRPr b="0" sz="3450" strike="noStrike">
              <a:latin typeface="Arial"/>
              <a:ea typeface="Arial"/>
              <a:cs typeface="Arial"/>
              <a:sym typeface="Arial"/>
            </a:endParaRPr>
          </a:p>
        </p:txBody>
      </p:sp>
      <p:sp>
        <p:nvSpPr>
          <p:cNvPr id="752" name="Google Shape;752;p91"/>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Regression values must be decoded before physical interpretation</a:t>
            </a:r>
            <a:endParaRPr b="0" sz="1870" strike="noStrike">
              <a:latin typeface="Arial"/>
              <a:ea typeface="Arial"/>
              <a:cs typeface="Arial"/>
              <a:sym typeface="Arial"/>
            </a:endParaRPr>
          </a:p>
        </p:txBody>
      </p:sp>
      <p:sp>
        <p:nvSpPr>
          <p:cNvPr id="753" name="Google Shape;753;p91"/>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26</a:t>
            </a:r>
            <a:endParaRPr b="0" sz="1280" strike="noStrike">
              <a:latin typeface="Arial"/>
              <a:ea typeface="Arial"/>
              <a:cs typeface="Arial"/>
              <a:sym typeface="Arial"/>
            </a:endParaRPr>
          </a:p>
        </p:txBody>
      </p:sp>
      <p:graphicFrame>
        <p:nvGraphicFramePr>
          <p:cNvPr id="754" name="Google Shape;754;p91"/>
          <p:cNvGraphicFramePr/>
          <p:nvPr/>
        </p:nvGraphicFramePr>
        <p:xfrm>
          <a:off x="685800" y="2095560"/>
          <a:ext cx="3000000" cy="3000000"/>
        </p:xfrm>
        <a:graphic>
          <a:graphicData uri="http://schemas.openxmlformats.org/drawingml/2006/table">
            <a:tbl>
              <a:tblPr>
                <a:noFill/>
                <a:tableStyleId>{95E7CD04-70E1-4013-8DFE-BD906A8056AE}</a:tableStyleId>
              </a:tblPr>
              <a:tblGrid>
                <a:gridCol w="2773450"/>
                <a:gridCol w="5547250"/>
                <a:gridCol w="5547250"/>
              </a:tblGrid>
              <a:tr h="785525">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Codes</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Encoded representation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Physical decoding</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center: 2</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(x − x₀)/(stride × voxel size)</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 × 0.6 + origin, in meters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height: 1</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Gravity-center z</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Subtract half decoded height for bottom-center boxes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dim: 3</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log dₓ, log dᵧ, log d_z</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Exponentiation yields positive dimensions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rot: 2</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sin θ, cos θ</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atan2(sin component, cos component)</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vel: 2</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vₓ, vᵧ</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Planar velocity in m/s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r>
            </a:tbl>
          </a:graphicData>
        </a:graphic>
      </p:graphicFrame>
      <p:sp>
        <p:nvSpPr>
          <p:cNvPr id="755" name="Google Shape;755;p91"/>
          <p:cNvSpPr/>
          <p:nvPr/>
        </p:nvSpPr>
        <p:spPr>
          <a:xfrm>
            <a:off x="685800" y="7496280"/>
            <a:ext cx="13867920" cy="552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650" strike="noStrike">
                <a:solidFill>
                  <a:srgbClr val="526574"/>
                </a:solidFill>
                <a:latin typeface="Verdana"/>
                <a:ea typeface="Verdana"/>
                <a:cs typeface="Verdana"/>
                <a:sym typeface="Verdana"/>
              </a:rPr>
              <a:t>Adding encoded residuals has different physical effects for center, dimensions and yaw.</a:t>
            </a:r>
            <a:endParaRPr b="0" sz="1650" strike="noStrike">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760" name="Shape 760"/>
        <p:cNvGrpSpPr/>
        <p:nvPr/>
      </p:nvGrpSpPr>
      <p:grpSpPr>
        <a:xfrm>
          <a:off x="0" y="0"/>
          <a:ext cx="0" cy="0"/>
          <a:chOff x="0" y="0"/>
          <a:chExt cx="0" cy="0"/>
        </a:xfrm>
      </p:grpSpPr>
      <p:sp>
        <p:nvSpPr>
          <p:cNvPr id="761" name="Google Shape;761;p92"/>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Appendix: focal loss and Hungarian matching</a:t>
            </a:r>
            <a:endParaRPr b="0" sz="3450" strike="noStrike">
              <a:latin typeface="Arial"/>
              <a:ea typeface="Arial"/>
              <a:cs typeface="Arial"/>
              <a:sym typeface="Arial"/>
            </a:endParaRPr>
          </a:p>
        </p:txBody>
      </p:sp>
      <p:sp>
        <p:nvSpPr>
          <p:cNvPr id="762" name="Google Shape;762;p92"/>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Assignment costs choose correspondences before the detection loss is evaluated</a:t>
            </a:r>
            <a:endParaRPr b="0" sz="1870" strike="noStrike">
              <a:latin typeface="Arial"/>
              <a:ea typeface="Arial"/>
              <a:cs typeface="Arial"/>
              <a:sym typeface="Arial"/>
            </a:endParaRPr>
          </a:p>
        </p:txBody>
      </p:sp>
      <p:sp>
        <p:nvSpPr>
          <p:cNvPr id="763" name="Google Shape;763;p92"/>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27</a:t>
            </a:r>
            <a:endParaRPr b="0" sz="1280" strike="noStrike">
              <a:latin typeface="Arial"/>
              <a:ea typeface="Arial"/>
              <a:cs typeface="Arial"/>
              <a:sym typeface="Arial"/>
            </a:endParaRPr>
          </a:p>
        </p:txBody>
      </p:sp>
      <p:sp>
        <p:nvSpPr>
          <p:cNvPr id="764" name="Google Shape;764;p92"/>
          <p:cNvSpPr/>
          <p:nvPr/>
        </p:nvSpPr>
        <p:spPr>
          <a:xfrm>
            <a:off x="685800" y="209556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Lfocal(pₜ) = −αₜ (1 − pₜ)ᵞ log(pₜ)</a:t>
            </a:r>
            <a:endParaRPr b="0" sz="2470" strike="noStrike">
              <a:latin typeface="Arial"/>
              <a:ea typeface="Arial"/>
              <a:cs typeface="Arial"/>
              <a:sym typeface="Arial"/>
            </a:endParaRPr>
          </a:p>
        </p:txBody>
      </p:sp>
      <p:sp>
        <p:nvSpPr>
          <p:cNvPr id="765" name="Google Shape;765;p92"/>
          <p:cNvSpPr/>
          <p:nvPr/>
        </p:nvSpPr>
        <p:spPr>
          <a:xfrm>
            <a:off x="685800" y="288612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π* = argminπ Σⱼ C(j, π(j))</a:t>
            </a:r>
            <a:endParaRPr b="0" sz="2470" strike="noStrike">
              <a:latin typeface="Arial"/>
              <a:ea typeface="Arial"/>
              <a:cs typeface="Arial"/>
              <a:sym typeface="Arial"/>
            </a:endParaRPr>
          </a:p>
        </p:txBody>
      </p:sp>
      <p:sp>
        <p:nvSpPr>
          <p:cNvPr id="766" name="Google Shape;766;p92"/>
          <p:cNvSpPr/>
          <p:nvPr/>
        </p:nvSpPr>
        <p:spPr>
          <a:xfrm>
            <a:off x="685800" y="367668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C = 0.15 Cfocal + 0.25 Ccenter + 0.25 CIoU</a:t>
            </a:r>
            <a:endParaRPr b="0" sz="2470" strike="noStrike">
              <a:latin typeface="Arial"/>
              <a:ea typeface="Arial"/>
              <a:cs typeface="Arial"/>
              <a:sym typeface="Arial"/>
            </a:endParaRPr>
          </a:p>
        </p:txBody>
      </p:sp>
      <p:sp>
        <p:nvSpPr>
          <p:cNvPr id="767" name="Google Shape;767;p92"/>
          <p:cNvSpPr/>
          <p:nvPr/>
        </p:nvSpPr>
        <p:spPr>
          <a:xfrm>
            <a:off x="685800" y="446724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Lᵣ = weighted L1 on matched positives, with coefficient 0.25</a:t>
            </a:r>
            <a:endParaRPr b="0" sz="2470" strike="noStrike">
              <a:latin typeface="Arial"/>
              <a:ea typeface="Arial"/>
              <a:cs typeface="Arial"/>
              <a:sym typeface="Arial"/>
            </a:endParaRPr>
          </a:p>
        </p:txBody>
      </p:sp>
      <p:sp>
        <p:nvSpPr>
          <p:cNvPr id="768" name="Google Shape;768;p92"/>
          <p:cNvSpPr/>
          <p:nvPr/>
        </p:nvSpPr>
        <p:spPr>
          <a:xfrm>
            <a:off x="685800" y="556272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Proposal focal loss uses α = 0.25 and γ = 2.</a:t>
            </a:r>
            <a:endParaRPr b="0" sz="2020" strike="noStrike">
              <a:latin typeface="Arial"/>
              <a:ea typeface="Arial"/>
              <a:cs typeface="Arial"/>
              <a:sym typeface="Arial"/>
            </a:endParaRPr>
          </a:p>
        </p:txBody>
      </p:sp>
      <p:sp>
        <p:nvSpPr>
          <p:cNvPr id="769" name="Google Shape;769;p92"/>
          <p:cNvSpPr/>
          <p:nvPr/>
        </p:nvSpPr>
        <p:spPr>
          <a:xfrm>
            <a:off x="685800" y="603324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Center matching uses normalized horizontal metric centers.</a:t>
            </a:r>
            <a:endParaRPr b="0" sz="2020" strike="noStrike">
              <a:latin typeface="Arial"/>
              <a:ea typeface="Arial"/>
              <a:cs typeface="Arial"/>
              <a:sym typeface="Arial"/>
            </a:endParaRPr>
          </a:p>
        </p:txBody>
      </p:sp>
      <p:sp>
        <p:nvSpPr>
          <p:cNvPr id="770" name="Google Shape;770;p92"/>
          <p:cNvSpPr/>
          <p:nvPr/>
        </p:nvSpPr>
        <p:spPr>
          <a:xfrm>
            <a:off x="685800" y="650376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IoU enters assignment, while L1 supplies the configured box loss.</a:t>
            </a:r>
            <a:endParaRPr b="0" sz="2020" strike="noStrike">
              <a:latin typeface="Arial"/>
              <a:ea typeface="Arial"/>
              <a:cs typeface="Arial"/>
              <a:sym typeface="Arial"/>
            </a:endParaRPr>
          </a:p>
        </p:txBody>
      </p:sp>
      <p:sp>
        <p:nvSpPr>
          <p:cNvPr id="771" name="Google Shape;771;p92"/>
          <p:cNvSpPr/>
          <p:nvPr/>
        </p:nvSpPr>
        <p:spPr>
          <a:xfrm>
            <a:off x="685800" y="697428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Classification includes positives and negatives; box loss uses positives.</a:t>
            </a:r>
            <a:endParaRPr b="0" sz="2020" strike="noStrike">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776" name="Shape 776"/>
        <p:cNvGrpSpPr/>
        <p:nvPr/>
      </p:nvGrpSpPr>
      <p:grpSpPr>
        <a:xfrm>
          <a:off x="0" y="0"/>
          <a:ext cx="0" cy="0"/>
          <a:chOff x="0" y="0"/>
          <a:chExt cx="0" cy="0"/>
        </a:xfrm>
      </p:grpSpPr>
      <p:sp>
        <p:nvSpPr>
          <p:cNvPr id="777" name="Google Shape;777;p93"/>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Appendix: fusion parameter budget</a:t>
            </a:r>
            <a:endParaRPr b="0" sz="3450" strike="noStrike">
              <a:latin typeface="Arial"/>
              <a:ea typeface="Arial"/>
              <a:cs typeface="Arial"/>
              <a:sym typeface="Arial"/>
            </a:endParaRPr>
          </a:p>
        </p:txBody>
      </p:sp>
      <p:sp>
        <p:nvSpPr>
          <p:cNvPr id="778" name="Google Shape;778;p93"/>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The custom fuser adds capacity as well as a gating mechanism</a:t>
            </a:r>
            <a:endParaRPr b="0" sz="1870" strike="noStrike">
              <a:latin typeface="Arial"/>
              <a:ea typeface="Arial"/>
              <a:cs typeface="Arial"/>
              <a:sym typeface="Arial"/>
            </a:endParaRPr>
          </a:p>
        </p:txBody>
      </p:sp>
      <p:sp>
        <p:nvSpPr>
          <p:cNvPr id="779" name="Google Shape;779;p93"/>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28</a:t>
            </a:r>
            <a:endParaRPr b="0" sz="1280" strike="noStrike">
              <a:latin typeface="Arial"/>
              <a:ea typeface="Arial"/>
              <a:cs typeface="Arial"/>
              <a:sym typeface="Arial"/>
            </a:endParaRPr>
          </a:p>
        </p:txBody>
      </p:sp>
      <p:graphicFrame>
        <p:nvGraphicFramePr>
          <p:cNvPr id="780" name="Google Shape;780;p93"/>
          <p:cNvGraphicFramePr/>
          <p:nvPr/>
        </p:nvGraphicFramePr>
        <p:xfrm>
          <a:off x="685800" y="2095560"/>
          <a:ext cx="3000000" cy="3000000"/>
        </p:xfrm>
        <a:graphic>
          <a:graphicData uri="http://schemas.openxmlformats.org/drawingml/2006/table">
            <a:tbl>
              <a:tblPr>
                <a:noFill/>
                <a:tableStyleId>{95E7CD04-70E1-4013-8DFE-BD906A8056AE}</a:tableStyleId>
              </a:tblPr>
              <a:tblGrid>
                <a:gridCol w="4992475"/>
                <a:gridCol w="3882950"/>
                <a:gridCol w="4992475"/>
              </a:tblGrid>
              <a:tr h="645475">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Submodule</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Trainable parameters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Configuration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r>
              <a:tr h="64547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Image projection</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10,496</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80 → 128, 1 × 1 + BN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64547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LiDAR projection</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33,024</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256 → 128, 1 × 1 + BN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64547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Camera reliability</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147,841</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128 → 128 → 1</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64547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Gate</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297,601</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258 → 128 → 1</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64547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Output convolution</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590,336</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256 → 256, 3 × 3 + BN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64547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LiDAR residual</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32,768</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128 → 256, 1 × 1</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64547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Custom total</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1,112,066</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43.56% above ConvFuser</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64547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ConvFuser baseline</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774,656</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336 → 256, 3 × 3 + BN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785" name="Shape 785"/>
        <p:cNvGrpSpPr/>
        <p:nvPr/>
      </p:nvGrpSpPr>
      <p:grpSpPr>
        <a:xfrm>
          <a:off x="0" y="0"/>
          <a:ext cx="0" cy="0"/>
          <a:chOff x="0" y="0"/>
          <a:chExt cx="0" cy="0"/>
        </a:xfrm>
      </p:grpSpPr>
      <p:sp>
        <p:nvSpPr>
          <p:cNvPr id="786" name="Google Shape;786;p94"/>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Appendix: activation and attention cost</a:t>
            </a:r>
            <a:endParaRPr b="0" sz="3450" strike="noStrike">
              <a:latin typeface="Arial"/>
              <a:ea typeface="Arial"/>
              <a:cs typeface="Arial"/>
              <a:sym typeface="Arial"/>
            </a:endParaRPr>
          </a:p>
        </p:txBody>
      </p:sp>
      <p:sp>
        <p:nvSpPr>
          <p:cNvPr id="787" name="Google Shape;787;p94"/>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Tensor dimensions reveal where profiling should start</a:t>
            </a:r>
            <a:endParaRPr b="0" sz="1870" strike="noStrike">
              <a:latin typeface="Arial"/>
              <a:ea typeface="Arial"/>
              <a:cs typeface="Arial"/>
              <a:sym typeface="Arial"/>
            </a:endParaRPr>
          </a:p>
        </p:txBody>
      </p:sp>
      <p:sp>
        <p:nvSpPr>
          <p:cNvPr id="788" name="Google Shape;788;p94"/>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29</a:t>
            </a:r>
            <a:endParaRPr b="0" sz="1280" strike="noStrike">
              <a:latin typeface="Arial"/>
              <a:ea typeface="Arial"/>
              <a:cs typeface="Arial"/>
              <a:sym typeface="Arial"/>
            </a:endParaRPr>
          </a:p>
        </p:txBody>
      </p:sp>
      <p:sp>
        <p:nvSpPr>
          <p:cNvPr id="789" name="Google Shape;789;p94"/>
          <p:cNvSpPr/>
          <p:nvPr/>
        </p:nvSpPr>
        <p:spPr>
          <a:xfrm>
            <a:off x="685800" y="209556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6 × 118 × 32 × 88 × 80 = 159,498,240 values</a:t>
            </a:r>
            <a:endParaRPr b="0" sz="2470" strike="noStrike">
              <a:latin typeface="Arial"/>
              <a:ea typeface="Arial"/>
              <a:cs typeface="Arial"/>
              <a:sym typeface="Arial"/>
            </a:endParaRPr>
          </a:p>
        </p:txBody>
      </p:sp>
      <p:sp>
        <p:nvSpPr>
          <p:cNvPr id="790" name="Google Shape;790;p94"/>
          <p:cNvSpPr/>
          <p:nvPr/>
        </p:nvSpPr>
        <p:spPr>
          <a:xfrm>
            <a:off x="685800" y="288612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Lifted camera tensor ≈ 638 MB at FP32 or 319 MB at FP16</a:t>
            </a:r>
            <a:endParaRPr b="0" sz="2470" strike="noStrike">
              <a:latin typeface="Arial"/>
              <a:ea typeface="Arial"/>
              <a:cs typeface="Arial"/>
              <a:sym typeface="Arial"/>
            </a:endParaRPr>
          </a:p>
        </p:txBody>
      </p:sp>
      <p:sp>
        <p:nvSpPr>
          <p:cNvPr id="791" name="Google Shape;791;p94"/>
          <p:cNvSpPr/>
          <p:nvPr/>
        </p:nvSpPr>
        <p:spPr>
          <a:xfrm>
            <a:off x="685800" y="367668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200 × 32,400 = 6,480,000 attention entries per head</a:t>
            </a:r>
            <a:endParaRPr b="0" sz="2470" strike="noStrike">
              <a:latin typeface="Arial"/>
              <a:ea typeface="Arial"/>
              <a:cs typeface="Arial"/>
              <a:sym typeface="Arial"/>
            </a:endParaRPr>
          </a:p>
        </p:txBody>
      </p:sp>
      <p:sp>
        <p:nvSpPr>
          <p:cNvPr id="792" name="Google Shape;792;p94"/>
          <p:cNvSpPr/>
          <p:nvPr/>
        </p:nvSpPr>
        <p:spPr>
          <a:xfrm>
            <a:off x="685800" y="4467240"/>
            <a:ext cx="13867920" cy="609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470" strike="noStrike">
                <a:solidFill>
                  <a:srgbClr val="142B3E"/>
                </a:solidFill>
                <a:latin typeface="Verdana"/>
                <a:ea typeface="Verdana"/>
                <a:cs typeface="Verdana"/>
                <a:sym typeface="Verdana"/>
              </a:rPr>
              <a:t>200 × 25 = 5,000 local sample locations</a:t>
            </a:r>
            <a:endParaRPr b="0" sz="2470" strike="noStrike">
              <a:latin typeface="Arial"/>
              <a:ea typeface="Arial"/>
              <a:cs typeface="Arial"/>
              <a:sym typeface="Arial"/>
            </a:endParaRPr>
          </a:p>
        </p:txBody>
      </p:sp>
      <p:sp>
        <p:nvSpPr>
          <p:cNvPr id="793" name="Google Shape;793;p94"/>
          <p:cNvSpPr/>
          <p:nvPr/>
        </p:nvSpPr>
        <p:spPr>
          <a:xfrm>
            <a:off x="685800" y="556272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Memory figures use decimal MB and one sample.</a:t>
            </a:r>
            <a:endParaRPr b="0" sz="2020" strike="noStrike">
              <a:latin typeface="Arial"/>
              <a:ea typeface="Arial"/>
              <a:cs typeface="Arial"/>
              <a:sym typeface="Arial"/>
            </a:endParaRPr>
          </a:p>
        </p:txBody>
      </p:sp>
      <p:sp>
        <p:nvSpPr>
          <p:cNvPr id="794" name="Google Shape;794;p94"/>
          <p:cNvSpPr/>
          <p:nvPr/>
        </p:nvSpPr>
        <p:spPr>
          <a:xfrm>
            <a:off x="685800" y="603324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These are tensor-size estimates, not measured peak allocation.</a:t>
            </a:r>
            <a:endParaRPr b="0" sz="2020" strike="noStrike">
              <a:latin typeface="Arial"/>
              <a:ea typeface="Arial"/>
              <a:cs typeface="Arial"/>
              <a:sym typeface="Arial"/>
            </a:endParaRPr>
          </a:p>
        </p:txBody>
      </p:sp>
      <p:sp>
        <p:nvSpPr>
          <p:cNvPr id="795" name="Google Shape;795;p94"/>
          <p:cNvSpPr/>
          <p:nvPr/>
        </p:nvSpPr>
        <p:spPr>
          <a:xfrm>
            <a:off x="685800" y="650376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Fused attention kernels can avoid materializing full score tensors.</a:t>
            </a:r>
            <a:endParaRPr b="0" sz="2020" strike="noStrike">
              <a:latin typeface="Arial"/>
              <a:ea typeface="Arial"/>
              <a:cs typeface="Arial"/>
              <a:sym typeface="Arial"/>
            </a:endParaRPr>
          </a:p>
        </p:txBody>
      </p:sp>
      <p:sp>
        <p:nvSpPr>
          <p:cNvPr id="796" name="Google Shape;796;p94"/>
          <p:cNvSpPr/>
          <p:nvPr/>
        </p:nvSpPr>
        <p:spPr>
          <a:xfrm>
            <a:off x="685800" y="6974280"/>
            <a:ext cx="13867920" cy="33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2020" strike="noStrike">
                <a:solidFill>
                  <a:srgbClr val="526574"/>
                </a:solidFill>
                <a:latin typeface="Verdana"/>
                <a:ea typeface="Verdana"/>
                <a:cs typeface="Verdana"/>
                <a:sym typeface="Verdana"/>
              </a:rPr>
              <a:t>Local sampling adds cost after the global query decoder.</a:t>
            </a:r>
            <a:endParaRPr b="0" sz="2020" strike="noStrike">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801" name="Shape 801"/>
        <p:cNvGrpSpPr/>
        <p:nvPr/>
      </p:nvGrpSpPr>
      <p:grpSpPr>
        <a:xfrm>
          <a:off x="0" y="0"/>
          <a:ext cx="0" cy="0"/>
          <a:chOff x="0" y="0"/>
          <a:chExt cx="0" cy="0"/>
        </a:xfrm>
      </p:grpSpPr>
      <p:sp>
        <p:nvSpPr>
          <p:cNvPr id="802" name="Google Shape;802;p95"/>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Appendix: optimization diagnostics</a:t>
            </a:r>
            <a:endParaRPr b="0" sz="3450" strike="noStrike">
              <a:latin typeface="Arial"/>
              <a:ea typeface="Arial"/>
              <a:cs typeface="Arial"/>
              <a:sym typeface="Arial"/>
            </a:endParaRPr>
          </a:p>
        </p:txBody>
      </p:sp>
      <p:sp>
        <p:nvSpPr>
          <p:cNvPr id="803" name="Google Shape;803;p95"/>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Proposed controls for a warm-started refinement experiment</a:t>
            </a:r>
            <a:endParaRPr b="0" sz="1870" strike="noStrike">
              <a:latin typeface="Arial"/>
              <a:ea typeface="Arial"/>
              <a:cs typeface="Arial"/>
              <a:sym typeface="Arial"/>
            </a:endParaRPr>
          </a:p>
        </p:txBody>
      </p:sp>
      <p:sp>
        <p:nvSpPr>
          <p:cNvPr id="804" name="Google Shape;804;p95"/>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30</a:t>
            </a:r>
            <a:endParaRPr b="0" sz="1280" strike="noStrike">
              <a:latin typeface="Arial"/>
              <a:ea typeface="Arial"/>
              <a:cs typeface="Arial"/>
              <a:sym typeface="Arial"/>
            </a:endParaRPr>
          </a:p>
        </p:txBody>
      </p:sp>
      <p:graphicFrame>
        <p:nvGraphicFramePr>
          <p:cNvPr id="805" name="Google Shape;805;p95"/>
          <p:cNvGraphicFramePr/>
          <p:nvPr/>
        </p:nvGraphicFramePr>
        <p:xfrm>
          <a:off x="685800" y="2095560"/>
          <a:ext cx="3000000" cy="3000000"/>
        </p:xfrm>
        <a:graphic>
          <a:graphicData uri="http://schemas.openxmlformats.org/drawingml/2006/table">
            <a:tbl>
              <a:tblPr>
                <a:noFill/>
                <a:tableStyleId>{95E7CD04-70E1-4013-8DFE-BD906A8056AE}</a:tableStyleId>
              </a:tblPr>
              <a:tblGrid>
                <a:gridCol w="3882950"/>
                <a:gridCol w="5269675"/>
                <a:gridCol w="4714925"/>
              </a:tblGrid>
              <a:tr h="785525">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Question</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Diagnostic</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Possible response</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Does adding the head perturb a trained detector?</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Compare predictions before any new update</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Test zero-initialized residual predictors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Is batch normalization unstable?</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Track train/eval gap and running statistics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Compare frozen BN or a tested alternative</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Does the gate saturate?</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Histogram G and inspect gradient norms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Evaluate initialization and residual scale</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Does the patch carry useful information?</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Remove context or shuffle proposal patches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Separate capacity from local-context benefit</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785525">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Does the new branch learn?</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Log per-branch gradients and decoded errors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Audit assignment, coordinates and supervision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AFBFA"/>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810" name="Shape 810"/>
        <p:cNvGrpSpPr/>
        <p:nvPr/>
      </p:nvGrpSpPr>
      <p:grpSpPr>
        <a:xfrm>
          <a:off x="0" y="0"/>
          <a:ext cx="0" cy="0"/>
          <a:chOff x="0" y="0"/>
          <a:chExt cx="0" cy="0"/>
        </a:xfrm>
      </p:grpSpPr>
      <p:sp>
        <p:nvSpPr>
          <p:cNvPr id="811" name="Google Shape;811;p96"/>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Appendix: a failure-analysis matrix</a:t>
            </a:r>
            <a:endParaRPr b="0" sz="3450" strike="noStrike">
              <a:latin typeface="Arial"/>
              <a:ea typeface="Arial"/>
              <a:cs typeface="Arial"/>
              <a:sym typeface="Arial"/>
            </a:endParaRPr>
          </a:p>
        </p:txBody>
      </p:sp>
      <p:sp>
        <p:nvSpPr>
          <p:cNvPr id="812" name="Google Shape;812;p96"/>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Each failure type needs a relevant slice and a discriminating intervention</a:t>
            </a:r>
            <a:endParaRPr b="0" sz="1870" strike="noStrike">
              <a:latin typeface="Arial"/>
              <a:ea typeface="Arial"/>
              <a:cs typeface="Arial"/>
              <a:sym typeface="Arial"/>
            </a:endParaRPr>
          </a:p>
        </p:txBody>
      </p:sp>
      <p:sp>
        <p:nvSpPr>
          <p:cNvPr id="813" name="Google Shape;813;p96"/>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31</a:t>
            </a:r>
            <a:endParaRPr b="0" sz="1280" strike="noStrike">
              <a:latin typeface="Arial"/>
              <a:ea typeface="Arial"/>
              <a:cs typeface="Arial"/>
              <a:sym typeface="Arial"/>
            </a:endParaRPr>
          </a:p>
        </p:txBody>
      </p:sp>
      <p:graphicFrame>
        <p:nvGraphicFramePr>
          <p:cNvPr id="814" name="Google Shape;814;p96"/>
          <p:cNvGraphicFramePr/>
          <p:nvPr/>
        </p:nvGraphicFramePr>
        <p:xfrm>
          <a:off x="685800" y="2095560"/>
          <a:ext cx="3000000" cy="3000000"/>
        </p:xfrm>
        <a:graphic>
          <a:graphicData uri="http://schemas.openxmlformats.org/drawingml/2006/table">
            <a:tbl>
              <a:tblPr>
                <a:noFill/>
                <a:tableStyleId>{95E7CD04-70E1-4013-8DFE-BD906A8056AE}</a:tableStyleId>
              </a:tblPr>
              <a:tblGrid>
                <a:gridCol w="3744350"/>
                <a:gridCol w="5131075"/>
                <a:gridCol w="4992475"/>
              </a:tblGrid>
              <a:tr h="734750">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Failure</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Evidence to collect</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Intervention to test</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Low point support</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Point count, range and mATE</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LiDAR thinning, point-density proxy</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Camera corruption</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Blur / lighting strata, AP and gate values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Controlled blur and view dropout</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Calibration or timing error</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Projected-point alignment and range trend</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Known extrinsic / timestamp perturbations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Large or elongated objects</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Truck / trailer scale and yaw errors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Larger, adaptive or yaw-aligned patches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Motion and sweep trails</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Velocity error and per-sweep alignment</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Sweep-count and motion-aware controls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BEV border artifacts</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Error versus distance to lattice boundary</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Padding and valid-sample masking</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819" name="Shape 819"/>
        <p:cNvGrpSpPr/>
        <p:nvPr/>
      </p:nvGrpSpPr>
      <p:grpSpPr>
        <a:xfrm>
          <a:off x="0" y="0"/>
          <a:ext cx="0" cy="0"/>
          <a:chOff x="0" y="0"/>
          <a:chExt cx="0" cy="0"/>
        </a:xfrm>
      </p:grpSpPr>
      <p:sp>
        <p:nvSpPr>
          <p:cNvPr id="820" name="Google Shape;820;p97"/>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Appendix: reproducible ablation protocol</a:t>
            </a:r>
            <a:endParaRPr b="0" sz="3450" strike="noStrike">
              <a:latin typeface="Arial"/>
              <a:ea typeface="Arial"/>
              <a:cs typeface="Arial"/>
              <a:sym typeface="Arial"/>
            </a:endParaRPr>
          </a:p>
        </p:txBody>
      </p:sp>
      <p:sp>
        <p:nvSpPr>
          <p:cNvPr id="821" name="Google Shape;821;p97"/>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The next report should make every comparison reconstructable</a:t>
            </a:r>
            <a:endParaRPr b="0" sz="1870" strike="noStrike">
              <a:latin typeface="Arial"/>
              <a:ea typeface="Arial"/>
              <a:cs typeface="Arial"/>
              <a:sym typeface="Arial"/>
            </a:endParaRPr>
          </a:p>
        </p:txBody>
      </p:sp>
      <p:sp>
        <p:nvSpPr>
          <p:cNvPr id="822" name="Google Shape;822;p97"/>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32</a:t>
            </a:r>
            <a:endParaRPr b="0" sz="1280" strike="noStrike">
              <a:latin typeface="Arial"/>
              <a:ea typeface="Arial"/>
              <a:cs typeface="Arial"/>
              <a:sym typeface="Arial"/>
            </a:endParaRPr>
          </a:p>
        </p:txBody>
      </p:sp>
      <p:graphicFrame>
        <p:nvGraphicFramePr>
          <p:cNvPr id="823" name="Google Shape;823;p97"/>
          <p:cNvGraphicFramePr/>
          <p:nvPr/>
        </p:nvGraphicFramePr>
        <p:xfrm>
          <a:off x="685800" y="2095560"/>
          <a:ext cx="3000000" cy="3000000"/>
        </p:xfrm>
        <a:graphic>
          <a:graphicData uri="http://schemas.openxmlformats.org/drawingml/2006/table">
            <a:tbl>
              <a:tblPr>
                <a:noFill/>
                <a:tableStyleId>{95E7CD04-70E1-4013-8DFE-BD906A8056AE}</a:tableStyleId>
              </a:tblPr>
              <a:tblGrid>
                <a:gridCol w="3466800"/>
                <a:gridCol w="5963400"/>
                <a:gridCol w="4437725"/>
              </a:tblGrid>
              <a:tr h="734750">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Control</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Required record</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Purpose</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Code and data</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Commit, upstream tag, info-file hashes and split scene IDs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Identify the exact pipeline</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Initialization</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Checkpoint identity and missing / unexpected keys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Separate warm-start differences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Budget</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Optimizer updates, batch size, schedule and seeds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Match the training opportunity</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Metrics</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Per-class AP, TP errors and distance slices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Explain aggregate behavior</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Runtime</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Hardware, precision, p50/p95 and peak memory</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Measure deployment cost</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Artifacts</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Resolved config, logs, predictions and evaluator version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Reconstruct the result</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828" name="Shape 828"/>
        <p:cNvGrpSpPr/>
        <p:nvPr/>
      </p:nvGrpSpPr>
      <p:grpSpPr>
        <a:xfrm>
          <a:off x="0" y="0"/>
          <a:ext cx="0" cy="0"/>
          <a:chOff x="0" y="0"/>
          <a:chExt cx="0" cy="0"/>
        </a:xfrm>
      </p:grpSpPr>
      <p:sp>
        <p:nvSpPr>
          <p:cNvPr id="829" name="Google Shape;829;p98"/>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Appendix: checkpoint and inference integration</a:t>
            </a:r>
            <a:endParaRPr b="0" sz="3450" strike="noStrike">
              <a:latin typeface="Arial"/>
              <a:ea typeface="Arial"/>
              <a:cs typeface="Arial"/>
              <a:sym typeface="Arial"/>
            </a:endParaRPr>
          </a:p>
        </p:txBody>
      </p:sp>
      <p:sp>
        <p:nvSpPr>
          <p:cNvPr id="830" name="Google Shape;830;p98"/>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Framework compatibility is part of the implementation</a:t>
            </a:r>
            <a:endParaRPr b="0" sz="1870" strike="noStrike">
              <a:latin typeface="Arial"/>
              <a:ea typeface="Arial"/>
              <a:cs typeface="Arial"/>
              <a:sym typeface="Arial"/>
            </a:endParaRPr>
          </a:p>
        </p:txBody>
      </p:sp>
      <p:sp>
        <p:nvSpPr>
          <p:cNvPr id="831" name="Google Shape;831;p98"/>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33</a:t>
            </a:r>
            <a:endParaRPr b="0" sz="1280" strike="noStrike">
              <a:latin typeface="Arial"/>
              <a:ea typeface="Arial"/>
              <a:cs typeface="Arial"/>
              <a:sym typeface="Arial"/>
            </a:endParaRPr>
          </a:p>
        </p:txBody>
      </p:sp>
      <p:graphicFrame>
        <p:nvGraphicFramePr>
          <p:cNvPr id="832" name="Google Shape;832;p98"/>
          <p:cNvGraphicFramePr/>
          <p:nvPr/>
        </p:nvGraphicFramePr>
        <p:xfrm>
          <a:off x="685800" y="2095560"/>
          <a:ext cx="3000000" cy="3000000"/>
        </p:xfrm>
        <a:graphic>
          <a:graphicData uri="http://schemas.openxmlformats.org/drawingml/2006/table">
            <a:tbl>
              <a:tblPr>
                <a:noFill/>
                <a:tableStyleId>{95E7CD04-70E1-4013-8DFE-BD906A8056AE}</a:tableStyleId>
              </a:tblPr>
              <a:tblGrid>
                <a:gridCol w="3466800"/>
                <a:gridCol w="5824450"/>
                <a:gridCol w="4576325"/>
              </a:tblGrid>
              <a:tr h="734750">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Boundary</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Current implementation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c>
                  <a:txBody>
                    <a:bodyPr/>
                    <a:lstStyle/>
                    <a:p>
                      <a:pPr indent="0" lvl="0" marL="0" marR="0" rtl="0" algn="l">
                        <a:lnSpc>
                          <a:spcPct val="100000"/>
                        </a:lnSpc>
                        <a:spcBef>
                          <a:spcPts val="0"/>
                        </a:spcBef>
                        <a:spcAft>
                          <a:spcPts val="0"/>
                        </a:spcAft>
                        <a:buNone/>
                      </a:pPr>
                      <a:r>
                        <a:rPr b="1" lang="en-US" sz="1800" u="none" cap="none" strike="noStrike">
                          <a:solidFill>
                            <a:srgbClr val="FFFFFF"/>
                          </a:solidFill>
                          <a:latin typeface="Verdana"/>
                          <a:ea typeface="Verdana"/>
                          <a:cs typeface="Verdana"/>
                          <a:sym typeface="Verdana"/>
                        </a:rPr>
                        <a:t>Validation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9525">
                      <a:solidFill>
                        <a:srgbClr val="CBD6DC"/>
                      </a:solidFill>
                      <a:prstDash val="solid"/>
                      <a:round/>
                      <a:headEnd len="sm" w="sm" type="none"/>
                      <a:tailEnd len="sm" w="sm" type="none"/>
                    </a:lnT>
                    <a:lnB cap="flat" cmpd="sng" w="12225">
                      <a:solidFill>
                        <a:srgbClr val="000000"/>
                      </a:solidFill>
                      <a:prstDash val="solid"/>
                      <a:round/>
                      <a:headEnd len="sm" w="sm" type="none"/>
                      <a:tailEnd len="sm" w="sm" type="none"/>
                    </a:lnB>
                    <a:solidFill>
                      <a:srgbClr val="112B3D"/>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Registry</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MODELS registrations and package exports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check_install.py verifies class discovery</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Configuration</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Thin overlays inherit the v1.4.0 base detector</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Inspect the resolved nested configuration</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Checkpoint</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New refine_* tensors may be absent in older weights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Check every missing and unexpected key</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Prediction</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Preserves the TransFusion output dictionary contract</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Compare decoded boxes, labels and scores</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0F4F5"/>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Distribution</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find_unused_parameters=True in mini config</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Confirm the actual unused paths and overhead</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rgbClr val="FAFBFA"/>
                    </a:solidFill>
                  </a:tcPr>
                </a:tc>
              </a:tr>
              <a:tr h="734750">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Media</a:t>
                      </a:r>
                      <a:endParaRPr b="0" sz="1800" u="none" cap="none" strike="noStrike">
                        <a:latin typeface="Arial"/>
                        <a:ea typeface="Arial"/>
                        <a:cs typeface="Arial"/>
                        <a:sym typeface="Arial"/>
                      </a:endParaRPr>
                    </a:p>
                  </a:txBody>
                  <a:tcPr marT="45725" marB="45725" marR="91450" marL="91450">
                    <a:lnL cap="flat" cmpd="sng" w="9525">
                      <a:solidFill>
                        <a:srgbClr val="CBD6DC"/>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Qualitative checkpoint described, large video excluded</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c>
                  <a:txBody>
                    <a:bodyPr/>
                    <a:lstStyle/>
                    <a:p>
                      <a:pPr indent="0" lvl="0" marL="0" marR="0" rtl="0" algn="l">
                        <a:lnSpc>
                          <a:spcPct val="100000"/>
                        </a:lnSpc>
                        <a:spcBef>
                          <a:spcPts val="0"/>
                        </a:spcBef>
                        <a:spcAft>
                          <a:spcPts val="0"/>
                        </a:spcAft>
                        <a:buNone/>
                      </a:pPr>
                      <a:r>
                        <a:rPr b="0" lang="en-US" sz="1800" u="none" cap="none" strike="noStrike">
                          <a:solidFill>
                            <a:srgbClr val="142B3E"/>
                          </a:solidFill>
                          <a:latin typeface="Verdana"/>
                          <a:ea typeface="Verdana"/>
                          <a:cs typeface="Verdana"/>
                          <a:sym typeface="Verdana"/>
                        </a:rPr>
                        <a:t>Inspect the original artifact before using as evidence</a:t>
                      </a:r>
                      <a:endParaRPr b="0" sz="1800" u="none" cap="none" strike="noStrike">
                        <a:latin typeface="Arial"/>
                        <a:ea typeface="Arial"/>
                        <a:cs typeface="Arial"/>
                        <a:sym typeface="Arial"/>
                      </a:endParaRPr>
                    </a:p>
                  </a:txBody>
                  <a:tcPr marT="45725" marB="45725" marR="91450" marL="91450">
                    <a:lnL cap="flat" cmpd="sng" w="12225">
                      <a:solidFill>
                        <a:srgbClr val="000000"/>
                      </a:solidFill>
                      <a:prstDash val="solid"/>
                      <a:round/>
                      <a:headEnd len="sm" w="sm" type="none"/>
                      <a:tailEnd len="sm" w="sm" type="none"/>
                    </a:lnL>
                    <a:lnR cap="flat" cmpd="sng" w="9525">
                      <a:solidFill>
                        <a:srgbClr val="CBD6DC"/>
                      </a:solidFill>
                      <a:prstDash val="solid"/>
                      <a:round/>
                      <a:headEnd len="sm" w="sm" type="none"/>
                      <a:tailEnd len="sm" w="sm" type="none"/>
                    </a:lnR>
                    <a:lnT cap="flat" cmpd="sng" w="12225">
                      <a:solidFill>
                        <a:srgbClr val="000000"/>
                      </a:solidFill>
                      <a:prstDash val="solid"/>
                      <a:round/>
                      <a:headEnd len="sm" w="sm" type="none"/>
                      <a:tailEnd len="sm" w="sm" type="none"/>
                    </a:lnT>
                    <a:lnB cap="flat" cmpd="sng" w="9525">
                      <a:solidFill>
                        <a:srgbClr val="CBD6DC"/>
                      </a:solidFill>
                      <a:prstDash val="solid"/>
                      <a:round/>
                      <a:headEnd len="sm" w="sm" type="none"/>
                      <a:tailEnd len="sm" w="sm" type="none"/>
                    </a:lnB>
                    <a:solidFill>
                      <a:srgbClr val="F0F4F5"/>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BFA"/>
        </a:solidFill>
      </p:bgPr>
    </p:bg>
    <p:spTree>
      <p:nvGrpSpPr>
        <p:cNvPr id="837" name="Shape 837"/>
        <p:cNvGrpSpPr/>
        <p:nvPr/>
      </p:nvGrpSpPr>
      <p:grpSpPr>
        <a:xfrm>
          <a:off x="0" y="0"/>
          <a:ext cx="0" cy="0"/>
          <a:chOff x="0" y="0"/>
          <a:chExt cx="0" cy="0"/>
        </a:xfrm>
      </p:grpSpPr>
      <p:sp>
        <p:nvSpPr>
          <p:cNvPr id="838" name="Google Shape;838;p99"/>
          <p:cNvSpPr/>
          <p:nvPr/>
        </p:nvSpPr>
        <p:spPr>
          <a:xfrm>
            <a:off x="685800" y="419040"/>
            <a:ext cx="13629960" cy="666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3450" strike="noStrike">
                <a:solidFill>
                  <a:srgbClr val="142B3E"/>
                </a:solidFill>
                <a:latin typeface="Verdana"/>
                <a:ea typeface="Verdana"/>
                <a:cs typeface="Verdana"/>
                <a:sym typeface="Verdana"/>
              </a:rPr>
              <a:t>Appendix: source map and attribution</a:t>
            </a:r>
            <a:endParaRPr b="0" sz="3450" strike="noStrike">
              <a:latin typeface="Arial"/>
              <a:ea typeface="Arial"/>
              <a:cs typeface="Arial"/>
              <a:sym typeface="Arial"/>
            </a:endParaRPr>
          </a:p>
        </p:txBody>
      </p:sp>
      <p:sp>
        <p:nvSpPr>
          <p:cNvPr id="839" name="Google Shape;839;p99"/>
          <p:cNvSpPr/>
          <p:nvPr/>
        </p:nvSpPr>
        <p:spPr>
          <a:xfrm>
            <a:off x="685800" y="1219320"/>
            <a:ext cx="1386792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Custom source, inherited implementation and evaluation definitions</a:t>
            </a:r>
            <a:endParaRPr b="0" sz="1870" strike="noStrike">
              <a:latin typeface="Arial"/>
              <a:ea typeface="Arial"/>
              <a:cs typeface="Arial"/>
              <a:sym typeface="Arial"/>
            </a:endParaRPr>
          </a:p>
        </p:txBody>
      </p:sp>
      <p:sp>
        <p:nvSpPr>
          <p:cNvPr id="840" name="Google Shape;840;p99"/>
          <p:cNvSpPr/>
          <p:nvPr/>
        </p:nvSpPr>
        <p:spPr>
          <a:xfrm>
            <a:off x="14211360" y="8134200"/>
            <a:ext cx="342720" cy="237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lang="en-US" sz="1280" strike="noStrike">
                <a:solidFill>
                  <a:srgbClr val="81919B"/>
                </a:solidFill>
                <a:latin typeface="Verdana"/>
                <a:ea typeface="Verdana"/>
                <a:cs typeface="Verdana"/>
                <a:sym typeface="Verdana"/>
              </a:rPr>
              <a:t>34</a:t>
            </a:r>
            <a:endParaRPr b="0" sz="1280" strike="noStrike">
              <a:latin typeface="Arial"/>
              <a:ea typeface="Arial"/>
              <a:cs typeface="Arial"/>
              <a:sym typeface="Arial"/>
            </a:endParaRPr>
          </a:p>
        </p:txBody>
      </p:sp>
      <p:sp>
        <p:nvSpPr>
          <p:cNvPr id="841" name="Google Shape;841;p99"/>
          <p:cNvSpPr/>
          <p:nvPr/>
        </p:nvSpPr>
        <p:spPr>
          <a:xfrm>
            <a:off x="685800" y="2143080"/>
            <a:ext cx="4238280" cy="49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020" strike="noStrike">
                <a:solidFill>
                  <a:srgbClr val="142B3E"/>
                </a:solidFill>
                <a:latin typeface="Verdana"/>
                <a:ea typeface="Verdana"/>
                <a:cs typeface="Verdana"/>
                <a:sym typeface="Verdana"/>
              </a:rPr>
              <a:t>Project implementation</a:t>
            </a:r>
            <a:endParaRPr b="0" sz="2020" strike="noStrike">
              <a:latin typeface="Arial"/>
              <a:ea typeface="Arial"/>
              <a:cs typeface="Arial"/>
              <a:sym typeface="Arial"/>
            </a:endParaRPr>
          </a:p>
        </p:txBody>
      </p:sp>
      <p:sp>
        <p:nvSpPr>
          <p:cNvPr id="842" name="Google Shape;842;p99"/>
          <p:cNvSpPr/>
          <p:nvPr/>
        </p:nvSpPr>
        <p:spPr>
          <a:xfrm>
            <a:off x="5429160" y="2143080"/>
            <a:ext cx="895320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Ulteraa/research-projects, bevfusion-reliable-refinement</a:t>
            </a:r>
            <a:endParaRPr b="0" sz="1870" strike="noStrike">
              <a:latin typeface="Arial"/>
              <a:ea typeface="Arial"/>
              <a:cs typeface="Arial"/>
              <a:sym typeface="Arial"/>
            </a:endParaRPr>
          </a:p>
        </p:txBody>
      </p:sp>
      <p:cxnSp>
        <p:nvCxnSpPr>
          <p:cNvPr id="843" name="Google Shape;843;p99"/>
          <p:cNvCxnSpPr/>
          <p:nvPr/>
        </p:nvCxnSpPr>
        <p:spPr>
          <a:xfrm>
            <a:off x="685800" y="2781000"/>
            <a:ext cx="13868280" cy="360"/>
          </a:xfrm>
          <a:prstGeom prst="straightConnector1">
            <a:avLst/>
          </a:prstGeom>
          <a:noFill/>
          <a:ln cap="flat" cmpd="sng" w="9525">
            <a:solidFill>
              <a:srgbClr val="CBD6DC"/>
            </a:solidFill>
            <a:prstDash val="solid"/>
            <a:round/>
            <a:headEnd len="sm" w="sm" type="none"/>
            <a:tailEnd len="sm" w="sm" type="none"/>
          </a:ln>
        </p:spPr>
      </p:cxnSp>
      <p:sp>
        <p:nvSpPr>
          <p:cNvPr id="844" name="Google Shape;844;p99"/>
          <p:cNvSpPr/>
          <p:nvPr/>
        </p:nvSpPr>
        <p:spPr>
          <a:xfrm>
            <a:off x="685800" y="3000240"/>
            <a:ext cx="4238280" cy="49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020" strike="noStrike">
                <a:solidFill>
                  <a:srgbClr val="142B3E"/>
                </a:solidFill>
                <a:latin typeface="Verdana"/>
                <a:ea typeface="Verdana"/>
                <a:cs typeface="Verdana"/>
                <a:sym typeface="Verdana"/>
              </a:rPr>
              <a:t>Recorded experiment</a:t>
            </a:r>
            <a:endParaRPr b="0" sz="2020" strike="noStrike">
              <a:latin typeface="Arial"/>
              <a:ea typeface="Arial"/>
              <a:cs typeface="Arial"/>
              <a:sym typeface="Arial"/>
            </a:endParaRPr>
          </a:p>
        </p:txBody>
      </p:sp>
      <p:sp>
        <p:nvSpPr>
          <p:cNvPr id="845" name="Google Shape;845;p99"/>
          <p:cNvSpPr/>
          <p:nvPr/>
        </p:nvSpPr>
        <p:spPr>
          <a:xfrm>
            <a:off x="5429160" y="3000240"/>
            <a:ext cx="895320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RESULTS.md and the project README</a:t>
            </a:r>
            <a:endParaRPr b="0" sz="1870" strike="noStrike">
              <a:latin typeface="Arial"/>
              <a:ea typeface="Arial"/>
              <a:cs typeface="Arial"/>
              <a:sym typeface="Arial"/>
            </a:endParaRPr>
          </a:p>
        </p:txBody>
      </p:sp>
      <p:cxnSp>
        <p:nvCxnSpPr>
          <p:cNvPr id="846" name="Google Shape;846;p99"/>
          <p:cNvCxnSpPr/>
          <p:nvPr/>
        </p:nvCxnSpPr>
        <p:spPr>
          <a:xfrm>
            <a:off x="685800" y="3638520"/>
            <a:ext cx="13868280" cy="360"/>
          </a:xfrm>
          <a:prstGeom prst="straightConnector1">
            <a:avLst/>
          </a:prstGeom>
          <a:noFill/>
          <a:ln cap="flat" cmpd="sng" w="9525">
            <a:solidFill>
              <a:srgbClr val="CBD6DC"/>
            </a:solidFill>
            <a:prstDash val="solid"/>
            <a:round/>
            <a:headEnd len="sm" w="sm" type="none"/>
            <a:tailEnd len="sm" w="sm" type="none"/>
          </a:ln>
        </p:spPr>
      </p:cxnSp>
      <p:sp>
        <p:nvSpPr>
          <p:cNvPr id="847" name="Google Shape;847;p99"/>
          <p:cNvSpPr/>
          <p:nvPr/>
        </p:nvSpPr>
        <p:spPr>
          <a:xfrm>
            <a:off x="685800" y="3857760"/>
            <a:ext cx="4238280" cy="49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020" strike="noStrike">
                <a:solidFill>
                  <a:srgbClr val="142B3E"/>
                </a:solidFill>
                <a:latin typeface="Verdana"/>
                <a:ea typeface="Verdana"/>
                <a:cs typeface="Verdana"/>
                <a:sym typeface="Verdana"/>
              </a:rPr>
              <a:t>Inherited architecture</a:t>
            </a:r>
            <a:endParaRPr b="0" sz="2020" strike="noStrike">
              <a:latin typeface="Arial"/>
              <a:ea typeface="Arial"/>
              <a:cs typeface="Arial"/>
              <a:sym typeface="Arial"/>
            </a:endParaRPr>
          </a:p>
        </p:txBody>
      </p:sp>
      <p:sp>
        <p:nvSpPr>
          <p:cNvPr id="848" name="Google Shape;848;p99"/>
          <p:cNvSpPr/>
          <p:nvPr/>
        </p:nvSpPr>
        <p:spPr>
          <a:xfrm>
            <a:off x="5429160" y="3857760"/>
            <a:ext cx="895320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MMDetection3D v1.4.0, projects/BEVFusion</a:t>
            </a:r>
            <a:endParaRPr b="0" sz="1870" strike="noStrike">
              <a:latin typeface="Arial"/>
              <a:ea typeface="Arial"/>
              <a:cs typeface="Arial"/>
              <a:sym typeface="Arial"/>
            </a:endParaRPr>
          </a:p>
        </p:txBody>
      </p:sp>
      <p:cxnSp>
        <p:nvCxnSpPr>
          <p:cNvPr id="849" name="Google Shape;849;p99"/>
          <p:cNvCxnSpPr/>
          <p:nvPr/>
        </p:nvCxnSpPr>
        <p:spPr>
          <a:xfrm>
            <a:off x="685800" y="4495680"/>
            <a:ext cx="13868280" cy="360"/>
          </a:xfrm>
          <a:prstGeom prst="straightConnector1">
            <a:avLst/>
          </a:prstGeom>
          <a:noFill/>
          <a:ln cap="flat" cmpd="sng" w="9525">
            <a:solidFill>
              <a:srgbClr val="CBD6DC"/>
            </a:solidFill>
            <a:prstDash val="solid"/>
            <a:round/>
            <a:headEnd len="sm" w="sm" type="none"/>
            <a:tailEnd len="sm" w="sm" type="none"/>
          </a:ln>
        </p:spPr>
      </p:cxnSp>
      <p:sp>
        <p:nvSpPr>
          <p:cNvPr id="850" name="Google Shape;850;p99"/>
          <p:cNvSpPr/>
          <p:nvPr/>
        </p:nvSpPr>
        <p:spPr>
          <a:xfrm>
            <a:off x="685800" y="4714920"/>
            <a:ext cx="4238280" cy="49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020" strike="noStrike">
                <a:solidFill>
                  <a:srgbClr val="142B3E"/>
                </a:solidFill>
                <a:latin typeface="Verdana"/>
                <a:ea typeface="Verdana"/>
                <a:cs typeface="Verdana"/>
                <a:sym typeface="Verdana"/>
              </a:rPr>
              <a:t>Geometry and depth</a:t>
            </a:r>
            <a:endParaRPr b="0" sz="2020" strike="noStrike">
              <a:latin typeface="Arial"/>
              <a:ea typeface="Arial"/>
              <a:cs typeface="Arial"/>
              <a:sym typeface="Arial"/>
            </a:endParaRPr>
          </a:p>
        </p:txBody>
      </p:sp>
      <p:sp>
        <p:nvSpPr>
          <p:cNvPr id="851" name="Google Shape;851;p99"/>
          <p:cNvSpPr/>
          <p:nvPr/>
        </p:nvSpPr>
        <p:spPr>
          <a:xfrm>
            <a:off x="5429160" y="4714920"/>
            <a:ext cx="895320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depth_lss.py and bevfusion.py</a:t>
            </a:r>
            <a:endParaRPr b="0" sz="1870" strike="noStrike">
              <a:latin typeface="Arial"/>
              <a:ea typeface="Arial"/>
              <a:cs typeface="Arial"/>
              <a:sym typeface="Arial"/>
            </a:endParaRPr>
          </a:p>
        </p:txBody>
      </p:sp>
      <p:cxnSp>
        <p:nvCxnSpPr>
          <p:cNvPr id="852" name="Google Shape;852;p99"/>
          <p:cNvCxnSpPr/>
          <p:nvPr/>
        </p:nvCxnSpPr>
        <p:spPr>
          <a:xfrm>
            <a:off x="685800" y="5352840"/>
            <a:ext cx="13868280" cy="360"/>
          </a:xfrm>
          <a:prstGeom prst="straightConnector1">
            <a:avLst/>
          </a:prstGeom>
          <a:noFill/>
          <a:ln cap="flat" cmpd="sng" w="9525">
            <a:solidFill>
              <a:srgbClr val="CBD6DC"/>
            </a:solidFill>
            <a:prstDash val="solid"/>
            <a:round/>
            <a:headEnd len="sm" w="sm" type="none"/>
            <a:tailEnd len="sm" w="sm" type="none"/>
          </a:ln>
        </p:spPr>
      </p:cxnSp>
      <p:sp>
        <p:nvSpPr>
          <p:cNvPr id="853" name="Google Shape;853;p99"/>
          <p:cNvSpPr/>
          <p:nvPr/>
        </p:nvSpPr>
        <p:spPr>
          <a:xfrm>
            <a:off x="685800" y="5572080"/>
            <a:ext cx="4238280" cy="49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020" strike="noStrike">
                <a:solidFill>
                  <a:srgbClr val="142B3E"/>
                </a:solidFill>
                <a:latin typeface="Verdana"/>
                <a:ea typeface="Verdana"/>
                <a:cs typeface="Verdana"/>
                <a:sym typeface="Verdana"/>
              </a:rPr>
              <a:t>Box coding and matching</a:t>
            </a:r>
            <a:endParaRPr b="0" sz="2020" strike="noStrike">
              <a:latin typeface="Arial"/>
              <a:ea typeface="Arial"/>
              <a:cs typeface="Arial"/>
              <a:sym typeface="Arial"/>
            </a:endParaRPr>
          </a:p>
        </p:txBody>
      </p:sp>
      <p:sp>
        <p:nvSpPr>
          <p:cNvPr id="854" name="Google Shape;854;p99"/>
          <p:cNvSpPr/>
          <p:nvPr/>
        </p:nvSpPr>
        <p:spPr>
          <a:xfrm>
            <a:off x="5429160" y="5572080"/>
            <a:ext cx="895320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utils.py and the configured TransFusionHead</a:t>
            </a:r>
            <a:endParaRPr b="0" sz="1870" strike="noStrike">
              <a:latin typeface="Arial"/>
              <a:ea typeface="Arial"/>
              <a:cs typeface="Arial"/>
              <a:sym typeface="Arial"/>
            </a:endParaRPr>
          </a:p>
        </p:txBody>
      </p:sp>
      <p:cxnSp>
        <p:nvCxnSpPr>
          <p:cNvPr id="855" name="Google Shape;855;p99"/>
          <p:cNvCxnSpPr/>
          <p:nvPr/>
        </p:nvCxnSpPr>
        <p:spPr>
          <a:xfrm>
            <a:off x="685800" y="6210000"/>
            <a:ext cx="13868280" cy="360"/>
          </a:xfrm>
          <a:prstGeom prst="straightConnector1">
            <a:avLst/>
          </a:prstGeom>
          <a:noFill/>
          <a:ln cap="flat" cmpd="sng" w="9525">
            <a:solidFill>
              <a:srgbClr val="CBD6DC"/>
            </a:solidFill>
            <a:prstDash val="solid"/>
            <a:round/>
            <a:headEnd len="sm" w="sm" type="none"/>
            <a:tailEnd len="sm" w="sm" type="none"/>
          </a:ln>
        </p:spPr>
      </p:cxnSp>
      <p:sp>
        <p:nvSpPr>
          <p:cNvPr id="856" name="Google Shape;856;p99"/>
          <p:cNvSpPr/>
          <p:nvPr/>
        </p:nvSpPr>
        <p:spPr>
          <a:xfrm>
            <a:off x="685800" y="6429240"/>
            <a:ext cx="4238280" cy="49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2020" strike="noStrike">
                <a:solidFill>
                  <a:srgbClr val="142B3E"/>
                </a:solidFill>
                <a:latin typeface="Verdana"/>
                <a:ea typeface="Verdana"/>
                <a:cs typeface="Verdana"/>
                <a:sym typeface="Verdana"/>
              </a:rPr>
              <a:t>Evaluation</a:t>
            </a:r>
            <a:endParaRPr b="0" sz="2020" strike="noStrike">
              <a:latin typeface="Arial"/>
              <a:ea typeface="Arial"/>
              <a:cs typeface="Arial"/>
              <a:sym typeface="Arial"/>
            </a:endParaRPr>
          </a:p>
        </p:txBody>
      </p:sp>
      <p:sp>
        <p:nvSpPr>
          <p:cNvPr id="857" name="Google Shape;857;p99"/>
          <p:cNvSpPr/>
          <p:nvPr/>
        </p:nvSpPr>
        <p:spPr>
          <a:xfrm>
            <a:off x="5429160" y="6429240"/>
            <a:ext cx="8953200" cy="61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870" strike="noStrike">
                <a:solidFill>
                  <a:srgbClr val="526574"/>
                </a:solidFill>
                <a:latin typeface="Verdana"/>
                <a:ea typeface="Verdana"/>
                <a:cs typeface="Verdana"/>
                <a:sym typeface="Verdana"/>
              </a:rPr>
              <a:t>Official nuScenes detection devkit and split definitions</a:t>
            </a:r>
            <a:endParaRPr b="0" sz="1870" strike="noStrike">
              <a:latin typeface="Arial"/>
              <a:ea typeface="Arial"/>
              <a:cs typeface="Arial"/>
              <a:sym typeface="Arial"/>
            </a:endParaRPr>
          </a:p>
        </p:txBody>
      </p:sp>
      <p:cxnSp>
        <p:nvCxnSpPr>
          <p:cNvPr id="858" name="Google Shape;858;p99"/>
          <p:cNvCxnSpPr/>
          <p:nvPr/>
        </p:nvCxnSpPr>
        <p:spPr>
          <a:xfrm>
            <a:off x="685800" y="7067520"/>
            <a:ext cx="13868280" cy="360"/>
          </a:xfrm>
          <a:prstGeom prst="straightConnector1">
            <a:avLst/>
          </a:prstGeom>
          <a:noFill/>
          <a:ln cap="flat" cmpd="sng" w="9525">
            <a:solidFill>
              <a:srgbClr val="CBD6DC"/>
            </a:solidFill>
            <a:prstDash val="solid"/>
            <a:round/>
            <a:headEnd len="sm" w="sm" type="none"/>
            <a:tailEnd len="sm" w="sm" type="none"/>
          </a:ln>
        </p:spPr>
      </p:cxnSp>
      <p:sp>
        <p:nvSpPr>
          <p:cNvPr id="859" name="Google Shape;859;p99"/>
          <p:cNvSpPr/>
          <p:nvPr/>
        </p:nvSpPr>
        <p:spPr>
          <a:xfrm>
            <a:off x="685800" y="7620120"/>
            <a:ext cx="13867920" cy="428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1650" strike="noStrike">
                <a:solidFill>
                  <a:srgbClr val="526574"/>
                </a:solidFill>
                <a:latin typeface="Verdana"/>
                <a:ea typeface="Verdana"/>
                <a:cs typeface="Verdana"/>
                <a:sym typeface="Verdana"/>
              </a:rPr>
              <a:t>Upstream attribution is retained. The quantitative claims are limited to the archived mini-dataset summary.</a:t>
            </a:r>
            <a:endParaRPr b="0" sz="1650" strike="noStrike">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